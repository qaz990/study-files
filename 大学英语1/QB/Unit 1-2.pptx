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webp" ContentType="image/webp"/>
  <Override PartName="/ppt/media/image11.webp" ContentType="image/webp"/>
  <Override PartName="/ppt/media/image12.webp" ContentType="image/webp"/>
  <Override PartName="/ppt/media/image16.webp" ContentType="image/webp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679" r:id="rId5"/>
    <p:sldId id="776" r:id="rId7"/>
    <p:sldId id="777" r:id="rId8"/>
    <p:sldId id="500" r:id="rId9"/>
    <p:sldId id="497" r:id="rId10"/>
    <p:sldId id="504" r:id="rId11"/>
    <p:sldId id="508" r:id="rId12"/>
    <p:sldId id="529" r:id="rId13"/>
    <p:sldId id="534" r:id="rId14"/>
    <p:sldId id="541" r:id="rId15"/>
    <p:sldId id="546" r:id="rId16"/>
    <p:sldId id="643" r:id="rId17"/>
    <p:sldId id="652" r:id="rId18"/>
    <p:sldId id="653" r:id="rId19"/>
    <p:sldId id="649" r:id="rId20"/>
    <p:sldId id="656" r:id="rId21"/>
    <p:sldId id="655" r:id="rId22"/>
    <p:sldId id="657" r:id="rId23"/>
    <p:sldId id="654" r:id="rId24"/>
    <p:sldId id="658" r:id="rId25"/>
    <p:sldId id="662" r:id="rId26"/>
    <p:sldId id="663" r:id="rId27"/>
    <p:sldId id="664" r:id="rId28"/>
    <p:sldId id="659" r:id="rId29"/>
    <p:sldId id="665" r:id="rId30"/>
    <p:sldId id="667" r:id="rId31"/>
    <p:sldId id="668" r:id="rId32"/>
    <p:sldId id="666" r:id="rId33"/>
    <p:sldId id="669" r:id="rId34"/>
    <p:sldId id="644" r:id="rId35"/>
    <p:sldId id="661" r:id="rId36"/>
    <p:sldId id="672" r:id="rId37"/>
    <p:sldId id="673" r:id="rId38"/>
    <p:sldId id="670" r:id="rId39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Jenny" initials="ZJ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66"/>
    <a:srgbClr val="FF6699"/>
    <a:srgbClr val="FFFFFF"/>
    <a:srgbClr val="F6F8FB"/>
    <a:srgbClr val="A1DFE1"/>
    <a:srgbClr val="E5A592"/>
    <a:srgbClr val="C1CADB"/>
    <a:srgbClr val="C0DBEE"/>
    <a:srgbClr val="94D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52" autoAdjust="0"/>
    <p:restoredTop sz="91245" autoAdjust="0"/>
  </p:normalViewPr>
  <p:slideViewPr>
    <p:cSldViewPr snapToGrid="0">
      <p:cViewPr varScale="1">
        <p:scale>
          <a:sx n="108" d="100"/>
          <a:sy n="108" d="100"/>
        </p:scale>
        <p:origin x="7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4" Type="http://schemas.openxmlformats.org/officeDocument/2006/relationships/tags" Target="tags/tag6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image" Target="../media/image3.webp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9.xml"/><Relationship Id="rId12" Type="http://schemas.openxmlformats.org/officeDocument/2006/relationships/image" Target="../media/image12.webp"/><Relationship Id="rId11" Type="http://schemas.openxmlformats.org/officeDocument/2006/relationships/image" Target="../media/image11.webp"/><Relationship Id="rId10" Type="http://schemas.openxmlformats.org/officeDocument/2006/relationships/image" Target="../media/image10.webp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9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webp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12.xml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15.xml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25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25.xml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25.xml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29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image" Target="../media/image4.png"/><Relationship Id="rId2" Type="http://schemas.openxmlformats.org/officeDocument/2006/relationships/slide" Target="slide31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31.xml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31.xml"/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QQ截图20210612110252"/>
          <p:cNvPicPr>
            <a:picLocks noChangeAspect="1"/>
          </p:cNvPicPr>
          <p:nvPr/>
        </p:nvPicPr>
        <p:blipFill>
          <a:blip r:embed="rId1"/>
          <a:srcRect r="9238" b="7980"/>
          <a:stretch>
            <a:fillRect/>
          </a:stretch>
        </p:blipFill>
        <p:spPr>
          <a:xfrm>
            <a:off x="0" y="1905"/>
            <a:ext cx="12192000" cy="6856730"/>
          </a:xfrm>
          <a:prstGeom prst="rect">
            <a:avLst/>
          </a:prstGeom>
        </p:spPr>
      </p:pic>
      <p:sp>
        <p:nvSpPr>
          <p:cNvPr id="31" name="文本框 86"/>
          <p:cNvSpPr txBox="1"/>
          <p:nvPr/>
        </p:nvSpPr>
        <p:spPr>
          <a:xfrm>
            <a:off x="0" y="352425"/>
            <a:ext cx="3420745" cy="37642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Unit  1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  <a:p>
            <a:pPr marL="0" marR="0" lvl="0" indent="3035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1. Lead-in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  <a:p>
            <a:pPr marL="0" marR="0" lvl="0" indent="3035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2. Text analysis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  <a:p>
            <a:pPr marL="0" marR="0" lvl="0" indent="3035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3. Glossary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  <a:p>
            <a:pPr marL="0" marR="0" lvl="0" indent="3035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4. Exercise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  <a:p>
            <a:pPr marL="0" marR="0" lvl="0" indent="3035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5. Extension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/>
          <p:nvPr/>
        </p:nvPicPr>
        <p:blipFill>
          <a:blip r:embed="rId2"/>
          <a:stretch>
            <a:fillRect/>
          </a:stretch>
        </p:blipFill>
        <p:spPr>
          <a:xfrm>
            <a:off x="9176385" y="4408805"/>
            <a:ext cx="2350770" cy="1812925"/>
          </a:xfrm>
          <a:prstGeom prst="rect">
            <a:avLst/>
          </a:prstGeom>
        </p:spPr>
      </p:pic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0" name="图片 9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4250" y="1052195"/>
            <a:ext cx="10542905" cy="5219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2800">
                <a:latin typeface="Arial Narrow" panose="020B0606020202030204" charset="0"/>
                <a:cs typeface="Arial Narrow" panose="020B0606020202030204" charset="0"/>
              </a:rPr>
              <a:t>clutch    intricate     irritated     perseverance   revolve   rivalry    spin   startled       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6"/>
          <a:stretch>
            <a:fillRect/>
          </a:stretch>
        </p:blipFill>
        <p:spPr>
          <a:xfrm>
            <a:off x="3495675" y="4271010"/>
            <a:ext cx="2529840" cy="20999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84250" y="1764665"/>
            <a:ext cx="2212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perseverance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96055" y="1750695"/>
            <a:ext cx="11099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clutch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04990" y="1589405"/>
            <a:ext cx="11099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spin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653905" y="1658620"/>
            <a:ext cx="1396365" cy="52197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revolve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90320" y="3989705"/>
            <a:ext cx="1328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irritated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78250" y="4005580"/>
            <a:ext cx="1841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startled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879965" y="5849620"/>
            <a:ext cx="1093470" cy="52197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rivalry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pic>
        <p:nvPicPr>
          <p:cNvPr id="21" name="图片 20"/>
          <p:cNvPicPr/>
          <p:nvPr/>
        </p:nvPicPr>
        <p:blipFill>
          <a:blip r:embed="rId7"/>
          <a:srcRect l="6896" r="29021" b="13858"/>
          <a:stretch>
            <a:fillRect/>
          </a:stretch>
        </p:blipFill>
        <p:spPr>
          <a:xfrm>
            <a:off x="3923665" y="2264410"/>
            <a:ext cx="1550035" cy="168656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8"/>
          <a:stretch>
            <a:fillRect/>
          </a:stretch>
        </p:blipFill>
        <p:spPr>
          <a:xfrm>
            <a:off x="6431915" y="4316095"/>
            <a:ext cx="2139950" cy="190627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9"/>
          <a:stretch>
            <a:fillRect/>
          </a:stretch>
        </p:blipFill>
        <p:spPr>
          <a:xfrm>
            <a:off x="9081135" y="2264410"/>
            <a:ext cx="2515870" cy="17653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776085" y="5909310"/>
            <a:ext cx="1367155" cy="5219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intricate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pic>
        <p:nvPicPr>
          <p:cNvPr id="25" name="图片 24"/>
          <p:cNvPicPr/>
          <p:nvPr/>
        </p:nvPicPr>
        <p:blipFill>
          <a:blip r:embed="rId10"/>
          <a:stretch>
            <a:fillRect/>
          </a:stretch>
        </p:blipFill>
        <p:spPr>
          <a:xfrm>
            <a:off x="640080" y="4527550"/>
            <a:ext cx="2856230" cy="184404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1"/>
          <a:stretch>
            <a:fillRect/>
          </a:stretch>
        </p:blipFill>
        <p:spPr>
          <a:xfrm>
            <a:off x="6613525" y="2111375"/>
            <a:ext cx="1692910" cy="200977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12"/>
          <a:srcRect r="7070"/>
          <a:stretch>
            <a:fillRect/>
          </a:stretch>
        </p:blipFill>
        <p:spPr>
          <a:xfrm>
            <a:off x="640080" y="2308225"/>
            <a:ext cx="2954655" cy="1665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/>
      <p:bldP spid="18" grpId="0"/>
      <p:bldP spid="19" grpId="0" bldLvl="0" animBg="1"/>
      <p:bldP spid="2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1046480" y="883920"/>
            <a:ext cx="10217785" cy="53949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Chinese to English translation.</a:t>
            </a:r>
            <a:endParaRPr lang="en-US" altLang="zh-CN" dirty="0" smtClean="0">
              <a:solidFill>
                <a:srgbClr val="00B0F0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</a:t>
            </a:r>
            <a:r>
              <a:rPr lang="en-US" altLang="zh-CN" i="1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她坚持相信他是清白的</a:t>
            </a:r>
            <a:r>
              <a:rPr 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。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(cling to)</a:t>
            </a:r>
            <a:endParaRPr lang="zh-CN" dirty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zh-CN" altLang="en-US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2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) </a:t>
            </a:r>
            <a:r>
              <a:rPr lang="zh-CN" altLang="en-US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自从听到那个消息，我一直茫然不知所措</a:t>
            </a:r>
            <a:r>
              <a:rPr lang="zh-CN" altLang="en-US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。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(daze)</a:t>
            </a:r>
            <a:endParaRPr lang="zh-CN" altLang="en-US" dirty="0" smtClean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3) 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如果不是那么绝望的话我是不会诉诸法庭的。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(resort)</a:t>
            </a:r>
            <a:r>
              <a:rPr lang="zh-CN" altLang="en-US" dirty="0" smtClean="0">
                <a:solidFill>
                  <a:schemeClr val="tx1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</a:t>
            </a:r>
            <a:endParaRPr lang="en-US" altLang="zh-CN" dirty="0" smtClean="0">
              <a:solidFill>
                <a:schemeClr val="tx1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English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to 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Chinese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 translation</a:t>
            </a:r>
            <a:r>
              <a:rPr lang="en-US" altLang="zh-CN" dirty="0" smtClean="0">
                <a:solidFill>
                  <a:srgbClr val="00B0F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lang="en-US" altLang="zh-CN" dirty="0" smtClean="0">
              <a:solidFill>
                <a:srgbClr val="00B0F0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1)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She had the tightest </a:t>
            </a:r>
            <a:r>
              <a:rPr lang="en-US" altLang="zh-CN" u="sng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clutch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 on a pound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lang="en-US" altLang="zh-CN" dirty="0" smtClean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2)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Once you make your decision, don't be overtaken by </a:t>
            </a:r>
            <a:r>
              <a:rPr lang="en-US" altLang="zh-CN" u="sng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misgivings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and fear</a:t>
            </a:r>
            <a:r>
              <a:rPr lang="en-US" altLang="zh-CN" dirty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lang="en-US" altLang="zh-CN" dirty="0">
              <a:latin typeface="Calibri" panose="020F0502020204030204" charset="0"/>
              <a:ea typeface="华文楷体" panose="02010600040101010101" charset="-122"/>
              <a:cs typeface="Calibri" panose="020F0502020204030204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3)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A double room with a balcony </a:t>
            </a:r>
            <a:r>
              <a:rPr lang="en-US" altLang="zh-CN" u="sng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overlooking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the sea had been reserved for him</a:t>
            </a:r>
            <a:r>
              <a:rPr lang="en-US" altLang="zh-CN" dirty="0" smtClean="0"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lvl="0" algn="just" ea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SzPct val="12000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4)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Through great </a:t>
            </a:r>
            <a:r>
              <a:rPr lang="en-US" altLang="zh-CN" u="sng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exertion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, the team managed to meet the deadline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  <a:sym typeface="+mn-ea"/>
              </a:rPr>
              <a:t>.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Translation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 bwMode="auto">
          <a:xfrm>
            <a:off x="255905" y="791210"/>
            <a:ext cx="11633835" cy="52590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355600" algn="just" defTabSz="914400" rtl="0" eaLnBrk="1" fontAlgn="base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cling            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vi.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C0C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(clung, clung) 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55600" marR="0" lvl="0" indent="-355600" algn="just" defTabSz="914400" rtl="0" eaLnBrk="1" fontAlgn="base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hold onto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sth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or sb. tightly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with your hands or arms, for example because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you are afraid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+mn-cs"/>
              </a:rPr>
              <a:t>因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+mn-cs"/>
              </a:rPr>
              <a:t>害怕等）抓住，抱紧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55600" marR="0" lvl="0" indent="-355600" algn="just" defTabSz="914400" rtl="0" eaLnBrk="1" fontAlgn="base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girl </a:t>
            </a:r>
            <a:r>
              <a:rPr kumimoji="0" lang="en-US" altLang="zh-CN" b="0" i="0" u="sng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clung to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her boyfriend's arm when a dog was coming near.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55600" marR="0" lvl="0" indent="-355600" algn="just" defTabSz="914400" rtl="0" eaLnBrk="1" fontAlgn="base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一条狗走近时，那个女孩挽紧了她男朋友的手臂。</a:t>
            </a:r>
            <a:endParaRPr kumimoji="0" lang="zh-CN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(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~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to) stick to or fit very tightly on </a:t>
            </a:r>
            <a:r>
              <a:rPr lang="en-US" altLang="zh-CN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sth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r>
              <a:rPr lang="zh-CN" altLang="en-US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rPr>
              <a:t>黏着</a:t>
            </a:r>
            <a:r>
              <a:rPr lang="zh-CN" altLang="en-US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rPr>
              <a:t>；紧贴；坚持</a:t>
            </a:r>
            <a:endParaRPr kumimoji="0" lang="en-US" altLang="zh-CN" b="0" i="1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1) </a:t>
            </a:r>
            <a:r>
              <a:rPr lang="zh-CN" altLang="en-US" b="1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她坚持相信他是清白的。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She clung to the belief that he was innocent.   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zh-CN" altLang="en-US" b="1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2) I do not cling to my children. In fact, I‘m pretty free-range. </a:t>
            </a:r>
            <a:r>
              <a:rPr lang="en-US" altLang="zh-CN" noProof="0" dirty="0" smtClean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    </a:t>
            </a:r>
            <a:r>
              <a:rPr lang="zh-CN" altLang="en-US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我不粘着我的孩子。其实上，我对孩子还是很放手散养的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9" y="902326"/>
            <a:ext cx="695325" cy="372060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4" name="图片 1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9488805" y="3252470"/>
            <a:ext cx="2400935" cy="163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772160" y="915035"/>
            <a:ext cx="10328910" cy="5477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733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clutch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  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v.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(at)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hold sb. or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sth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firmly, for example because you are afraid or in pain, or do not want to lose them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紧抓；紧握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The mother clutched her baby in her arms.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母亲紧紧地把婴儿抱在怀里。</a:t>
            </a:r>
            <a:endParaRPr kumimoji="0" lang="zh-CN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2. </a:t>
            </a:r>
            <a:r>
              <a:rPr lang="en-US" sz="2800" i="1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n. </a:t>
            </a:r>
            <a:r>
              <a:rPr lang="en-US" sz="28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1) 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握住；紧抓</a:t>
            </a:r>
            <a:r>
              <a:rPr lang="en-US" altLang="zh-CN" sz="280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2) 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掌握，控制</a:t>
            </a:r>
            <a:r>
              <a:rPr lang="en-US" altLang="zh-CN" sz="280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3</a:t>
            </a:r>
            <a:r>
              <a:rPr lang="zh-CN" altLang="en-US" sz="280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）离合器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1" indent="-180975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She had the tightest clutch on a pound.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1" indent="-180975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 b="1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她是一个嗜钱如命的家伙。</a:t>
            </a:r>
            <a:endParaRPr lang="zh-CN" altLang="en-US" sz="2800" b="1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180975" marR="0" lvl="1" indent="-180975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Tony fell into the clutches of the police.</a:t>
            </a:r>
            <a:endParaRPr kumimoji="0" lang="en-US" altLang="zh-CN" sz="28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托尼落入了警察的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手掌之中。</a:t>
            </a:r>
            <a:endParaRPr kumimoji="0" lang="zh-CN" altLang="en-US" sz="28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87" y="1048375"/>
            <a:ext cx="677673" cy="313167"/>
          </a:xfrm>
          <a:prstGeom prst="rect">
            <a:avLst/>
          </a:prstGeom>
        </p:spPr>
      </p:pic>
      <p:pic>
        <p:nvPicPr>
          <p:cNvPr id="10" name="图片 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8420418" y="3428683"/>
            <a:ext cx="2981325" cy="2390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1"/>
          <p:cNvSpPr txBox="1"/>
          <p:nvPr/>
        </p:nvSpPr>
        <p:spPr bwMode="auto">
          <a:xfrm>
            <a:off x="307975" y="758190"/>
            <a:ext cx="11581765" cy="3933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daze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sing.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]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 state of stunned confusion or bewilderment 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眩晕；迷茫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lvl="0" eaLnBrk="1" hangingPunct="1">
              <a:buSzPct val="12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 a daze: in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state of being unable to think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clearly </a:t>
            </a:r>
            <a:r>
              <a:rPr lang="zh-CN" altLang="en-US" sz="2400" dirty="0" smtClean="0">
                <a:solidFill>
                  <a:srgbClr val="0070C0"/>
                </a:solidFill>
                <a:latin typeface="Calibri" panose="020F0502020204030204"/>
                <a:ea typeface="宋体" panose="02010600030101010101" pitchFamily="2" charset="-122"/>
              </a:rPr>
              <a:t>处于</a:t>
            </a:r>
            <a:r>
              <a:rPr lang="zh-CN" altLang="en-US" sz="2400" dirty="0">
                <a:solidFill>
                  <a:srgbClr val="0070C0"/>
                </a:solidFill>
                <a:latin typeface="Calibri" panose="020F0502020204030204"/>
                <a:ea typeface="宋体" panose="02010600030101010101" pitchFamily="2" charset="-122"/>
              </a:rPr>
              <a:t>茫然</a:t>
            </a:r>
            <a:r>
              <a:rPr lang="zh-CN" altLang="en-US" sz="2400" dirty="0" smtClean="0">
                <a:solidFill>
                  <a:srgbClr val="0070C0"/>
                </a:solidFill>
                <a:latin typeface="Calibri" panose="020F0502020204030204"/>
                <a:ea typeface="宋体" panose="02010600030101010101" pitchFamily="2" charset="-122"/>
              </a:rPr>
              <a:t>状态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b="1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自从听到那个消息，我一直茫然不知所措。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I've been in a complete daze since hearing the news.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我茫然地走了一个小时。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For an hour I was walking around in a daze.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588" y="826936"/>
            <a:ext cx="754277" cy="344627"/>
          </a:xfrm>
          <a:prstGeom prst="rect">
            <a:avLst/>
          </a:prstGeom>
        </p:spPr>
      </p:pic>
      <p:pic>
        <p:nvPicPr>
          <p:cNvPr id="12" name="图片 1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9312910" y="3244850"/>
            <a:ext cx="2211070" cy="2865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339725" y="788670"/>
            <a:ext cx="11513185" cy="519493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exertion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C0C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　 　　     </a:t>
            </a:r>
            <a:r>
              <a:rPr kumimoji="0" lang="en-US" altLang="zh-CN" sz="2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n. 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[C, U] </a:t>
            </a:r>
            <a:r>
              <a:rPr kumimoji="0" lang="en-US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great physical or mental effort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费力；努力；尽力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Solving the complex mathematical problem required tremendous mental exertion.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解决那个复杂的数学问题需要巨大的脑力消耗。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Through great exertion, the team managed to meet the deadline.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通过巨大的努力，团队设法在最后期限前完成了任务。</a:t>
            </a:r>
            <a:endParaRPr kumimoji="0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exert</a:t>
            </a:r>
            <a:r>
              <a:rPr lang="en-US" altLang="zh-CN" sz="2600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600" i="1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v. </a:t>
            </a:r>
            <a:r>
              <a:rPr lang="en-US" altLang="zh-CN" sz="260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1) </a:t>
            </a:r>
            <a:r>
              <a:rPr lang="en-US" altLang="zh-CN" sz="26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use your power, influence etc. in order to make </a:t>
            </a:r>
            <a:r>
              <a:rPr lang="en-US" altLang="zh-CN" sz="260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sth</a:t>
            </a:r>
            <a:r>
              <a:rPr lang="en-US" altLang="zh-CN" sz="26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happen </a:t>
            </a:r>
            <a:r>
              <a:rPr lang="zh-CN" altLang="en-US" sz="260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运用（权力）；施加（影响力）</a:t>
            </a:r>
            <a:r>
              <a:rPr lang="en-US" altLang="zh-CN" sz="260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2) 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~ oneself </a:t>
            </a: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努力；竭力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en-US" altLang="zh-CN" sz="26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His books exerted immense influence on the youth.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lang="zh-CN" altLang="en-US" sz="260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   他的书对年轻人产生了巨大的影响。</a:t>
            </a:r>
            <a:endParaRPr lang="zh-CN" altLang="en-US" sz="260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 order to be successful he would have to exert himself.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他必须努力才能成功。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1854" y="951985"/>
            <a:ext cx="1060587" cy="300166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6"/>
          <a:srcRect b="10359"/>
          <a:stretch>
            <a:fillRect/>
          </a:stretch>
        </p:blipFill>
        <p:spPr>
          <a:xfrm>
            <a:off x="8794750" y="4398010"/>
            <a:ext cx="2834640" cy="1998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1"/>
          <p:cNvSpPr txBox="1"/>
          <p:nvPr/>
        </p:nvSpPr>
        <p:spPr bwMode="auto">
          <a:xfrm>
            <a:off x="316865" y="762000"/>
            <a:ext cx="11572875" cy="3343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misgiving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[usu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pl.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]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feelings of doubt and fear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疑虑；顾虑；担忧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He looked with misgiving at the strange food on his plate.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lvl="0" algn="just" eaLnBrk="1" hangingPunct="1">
              <a:lnSpc>
                <a:spcPct val="100000"/>
              </a:lnSpc>
              <a:buSzPct val="120000"/>
              <a:buNone/>
              <a:defRPr/>
            </a:pP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b="0" i="0" u="none" strike="noStrike" cap="none" spc="0" normalizeH="0" baseline="0" dirty="0">
                <a:solidFill>
                  <a:srgbClr val="0563C1"/>
                </a:solidFill>
                <a:latin typeface="Calibri" panose="020F0502020204030204"/>
                <a:ea typeface="宋体" panose="02010600030101010101" pitchFamily="2" charset="-122"/>
              </a:rPr>
              <a:t>他用疑虑的眼光看看他碟子上奇怪的食物</a:t>
            </a: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</a:t>
            </a:r>
            <a:r>
              <a:rPr kumimoji="0" lang="en-US" altLang="zh-CN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Once you make your decision, don't be overtaken by misgivings and fear. 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一旦做了决定，就不要瞻前顾后，畏首畏尾。</a:t>
            </a:r>
            <a:endParaRPr kumimoji="0" lang="zh-CN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963" y="994610"/>
            <a:ext cx="1069504" cy="266267"/>
          </a:xfrm>
          <a:prstGeom prst="rect">
            <a:avLst/>
          </a:prstGeom>
        </p:spPr>
      </p:pic>
      <p:pic>
        <p:nvPicPr>
          <p:cNvPr id="11" name="图片 10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7910830" y="3927475"/>
            <a:ext cx="2950845" cy="2283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255270" y="737235"/>
            <a:ext cx="11634470" cy="4582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overlook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v.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have a view of </a:t>
            </a:r>
            <a:r>
              <a:rPr kumimoji="0" lang="en-US" altLang="zh-CN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sth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from above </a:t>
            </a: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俯视；眺望</a:t>
            </a:r>
            <a:endParaRPr kumimoji="0" lang="zh-CN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 double room with a balcony overlooking the sea had been reserved for him.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zh-CN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一个带阳台的海景双人间已预留给他了。</a:t>
            </a:r>
            <a:endParaRPr kumimoji="0" lang="zh-CN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2.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fail to notice </a:t>
            </a:r>
            <a:r>
              <a:rPr lang="en-US" altLang="zh-CN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sth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r>
              <a:rPr lang="zh-CN" altLang="en-US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忽视；忽略；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The parents should not overlook their own roles in shaping children's minds. 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    父母不应该忽视他们自己对塑造孩子心智方面的影响。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873" y="867970"/>
            <a:ext cx="1019819" cy="279857"/>
          </a:xfrm>
          <a:prstGeom prst="rect">
            <a:avLst/>
          </a:prstGeom>
        </p:spPr>
      </p:pic>
      <p:pic>
        <p:nvPicPr>
          <p:cNvPr id="10" name="图片 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4336415" y="4660900"/>
            <a:ext cx="3307080" cy="1912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559435" y="859155"/>
            <a:ext cx="11073130" cy="5125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resort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0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</a:t>
            </a:r>
            <a:r>
              <a:rPr kumimoji="0" lang="en-US" altLang="zh-CN" b="1" i="1" u="none" strike="noStrike" kern="1200" cap="none" spc="0" normalizeH="0" baseline="0" noProof="0" dirty="0" smtClean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1" u="none" strike="noStrike" kern="1200" cap="none" spc="-100" normalizeH="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v.</a:t>
            </a:r>
            <a:r>
              <a:rPr kumimoji="0" lang="en-US" altLang="zh-CN" b="1" i="0" u="none" strike="noStrike" kern="1200" cap="none" spc="-100" normalizeH="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-10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do or use </a:t>
            </a:r>
            <a:r>
              <a:rPr kumimoji="0" lang="en-US" altLang="zh-CN" b="0" i="0" u="none" strike="noStrike" kern="1200" cap="none" spc="-10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sth</a:t>
            </a:r>
            <a:r>
              <a:rPr kumimoji="0" lang="en-US" altLang="zh-CN" b="0" i="0" u="none" strike="noStrike" kern="1200" cap="none" spc="-10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esp. because no other choices are possible </a:t>
            </a:r>
            <a:r>
              <a:rPr kumimoji="0" lang="zh-CN" altLang="en-US" b="0" i="0" u="none" strike="noStrike" kern="1200" cap="none" spc="-10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采取，诉诸</a:t>
            </a:r>
            <a:endParaRPr kumimoji="0" lang="zh-CN" altLang="en-US" b="0" i="0" u="none" strike="noStrike" kern="1200" cap="none" spc="-100" normalizeH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just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If other means fail, we shall 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resort to</a:t>
            </a:r>
            <a:r>
              <a:rPr kumimoji="0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force. </a:t>
            </a:r>
            <a:endParaRPr kumimoji="0" lang="zh-CN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如果其他手段均告失败，我们就将诉诸武力。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1905" algn="just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95000"/>
              <a:buFont typeface="Arial" panose="020B0604020202020204" pitchFamily="34" charset="0"/>
              <a:buNone/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2) </a:t>
            </a:r>
            <a:r>
              <a:rPr lang="zh-CN" altLang="en-US" b="1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如果不是那么绝望的话我是不会诉诸法庭的。</a:t>
            </a:r>
            <a:endParaRPr lang="zh-CN" altLang="en-US" b="1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marR="0" lvl="0" indent="1905" algn="just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95000"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 would never have </a:t>
            </a:r>
            <a:r>
              <a:rPr lang="en-US" altLang="zh-CN" b="1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resorted to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 court of law if I hadn’t been so desperate. 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1905" algn="just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95000"/>
              <a:buFont typeface="Arial" panose="020B0604020202020204" pitchFamily="34" charset="0"/>
              <a:buNone/>
              <a:tabLst>
                <a:tab pos="2153920" algn="l"/>
                <a:tab pos="5201920" algn="l"/>
              </a:tabLst>
              <a:defRPr/>
            </a:pPr>
            <a:r>
              <a:rPr lang="en-US" altLang="zh-CN" b="1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2. </a:t>
            </a:r>
            <a:r>
              <a:rPr lang="en-US" altLang="zh-CN" i="1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n. </a:t>
            </a:r>
            <a:r>
              <a:rPr lang="en-US" altLang="zh-CN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[C]</a:t>
            </a:r>
            <a:r>
              <a:rPr lang="en-US" altLang="zh-CN" i="1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a place many people go to for a holiday </a:t>
            </a:r>
            <a:r>
              <a:rPr lang="zh-CN" altLang="en-US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度假地；游览胜地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4625" marR="0" lvl="0" indent="-1746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 summer resort.   </a:t>
            </a:r>
            <a:endParaRPr lang="en-US" altLang="zh-CN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174625" marR="0" lvl="0" indent="-1746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避暑胜地。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15" y="997612"/>
            <a:ext cx="889395" cy="327068"/>
          </a:xfrm>
          <a:prstGeom prst="rect">
            <a:avLst/>
          </a:prstGeom>
        </p:spPr>
      </p:pic>
      <p:pic>
        <p:nvPicPr>
          <p:cNvPr id="14" name="图片 1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7649210" y="4585970"/>
            <a:ext cx="3317240" cy="1790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"/>
          <p:cNvSpPr txBox="1"/>
          <p:nvPr/>
        </p:nvSpPr>
        <p:spPr bwMode="auto">
          <a:xfrm>
            <a:off x="689610" y="762000"/>
            <a:ext cx="10574655" cy="33058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733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stretch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           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I leaned back in the chair and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stretched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noProof="0" dirty="0" smtClean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with a yawn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Make sure that the rope is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stretched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tight.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Fields and hills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stretched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out as far as we could see.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I need a job that will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stretch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me.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 5. It's a very dangerous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stretch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of road.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733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Pct val="12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142" y="868749"/>
            <a:ext cx="750158" cy="299049"/>
          </a:xfrm>
          <a:prstGeom prst="rect">
            <a:avLst/>
          </a:prstGeom>
        </p:spPr>
      </p:pic>
      <p:pic>
        <p:nvPicPr>
          <p:cNvPr id="10" name="图片 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3" name="图片 1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9401810" y="1557655"/>
            <a:ext cx="2158365" cy="26555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52905" y="4067810"/>
            <a:ext cx="60248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伸懒腰</a:t>
            </a:r>
            <a:endParaRPr lang="en-US" altLang="zh-CN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拉直，绷紧</a:t>
            </a:r>
            <a:endParaRPr lang="en-US" altLang="zh-CN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延伸；绵延</a:t>
            </a:r>
            <a:endParaRPr lang="en-US" altLang="zh-CN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 使竭尽所能；使发挥出全部本领</a:t>
            </a:r>
            <a:endParaRPr lang="en-US" altLang="zh-CN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5. </a:t>
            </a:r>
            <a:r>
              <a:rPr lang="en-US" altLang="zh-CN" sz="28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n.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一段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9492" y="778476"/>
            <a:ext cx="11630248" cy="5791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Complete the sentences with different forms of the word given.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differ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Opinions still ________ among economists as to whether the economy will soon recover.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People often think _________ because they have __________ positions.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I can’t tell the _________ between the two. They seem the same to me.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b="1" dirty="0" smtClean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    serious</a:t>
            </a:r>
            <a:endParaRPr lang="en-US" altLang="zh-CN" b="1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4) The situation is getting very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But the most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 thing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is that not many people take it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5) I know the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 of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matter. Today our rivers and lakes are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  polluted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and so are our land and air.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63490" y="1711913"/>
            <a:ext cx="1102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differ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14699" y="2585183"/>
            <a:ext cx="1717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differently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3054" y="2585183"/>
            <a:ext cx="1437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different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39922" y="3068242"/>
            <a:ext cx="1775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difference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99381" y="3999117"/>
            <a:ext cx="1304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serious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67816" y="3999117"/>
            <a:ext cx="1363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serious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46389" y="4420252"/>
            <a:ext cx="1552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seriously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48466" y="4874949"/>
            <a:ext cx="199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seriousness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1979" y="5333648"/>
            <a:ext cx="1462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seriously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0" name="图片 1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84149" y="627063"/>
            <a:ext cx="11752477" cy="6065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Complete the sentences with different forms of the word given.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attention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6) We must pay close __________ to it.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7) The students all listened to the teacher very __________ . But to be ________ is not enough. There should be more interaction between the students and the teacher.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37206" y="1560348"/>
            <a:ext cx="1673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attention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49834" y="1992720"/>
            <a:ext cx="1741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attentively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9541" y="2452424"/>
            <a:ext cx="1593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attentive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4" name="图片 1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99070"/>
            <a:ext cx="11638486" cy="5754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Complete the following verb + noun collocations according to the Chinese in the brackets.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__________ a few steps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走几步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	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__________ one’s way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迷路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__________ one’s tears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擦干眼泪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4) __________ a nap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小睡片刻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5) __________ life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面对生活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6) __________ the street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穿过街道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7) __________ one’s mind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改变主意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8) __________ a place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涌入某地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8483" y="1686351"/>
            <a:ext cx="172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walk/take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53298" y="2159486"/>
            <a:ext cx="1050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lose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87804" y="2582537"/>
            <a:ext cx="937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dry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53297" y="3072742"/>
            <a:ext cx="972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take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95273" y="3528808"/>
            <a:ext cx="129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face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37968" y="4019013"/>
            <a:ext cx="1351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cross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0857" y="4440848"/>
            <a:ext cx="1790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change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0857" y="4931039"/>
            <a:ext cx="1608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invade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9" name="图片 1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7134" y="720811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Fill in the blanks with the correct form of the phrases listed below.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in vain 	show off 	resort to 	cling to	bring</a:t>
            </a:r>
            <a:r>
              <a:rPr lang="en-US" altLang="zh-CN" sz="26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about	</a:t>
            </a:r>
            <a:endParaRPr kumimoji="0" lang="en-US" altLang="zh-CN" sz="26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lang="en-US" altLang="zh-CN" sz="26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600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burst into 	on one’s own 	take advantage of	find one’s way 	be lined with</a:t>
            </a:r>
            <a:endParaRPr kumimoji="0" lang="en-US" altLang="zh-CN" sz="26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kumimoji="0" lang="en-US" altLang="zh-CN" sz="24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Unlike high school students who have many classes to go to, university students should spend most of their time studying ___________.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Peter loves to __________ his new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fancy car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for it is just about the only property he has.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When the speaker stepped onto the platform, the audience __________ a thunderous applause.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Clearly, it was the town’s poverty that had ____________ its high crime rate.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Both sides are willing to sit down and talk because they know it is stupid to __________ force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72719" y="3072416"/>
            <a:ext cx="1573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show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05613" y="2644505"/>
            <a:ext cx="2372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their own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774200" y="3859428"/>
            <a:ext cx="1845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burst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35839" y="4675089"/>
            <a:ext cx="2356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brought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about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7508" y="5489644"/>
            <a:ext cx="1610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resort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7134" y="720811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Fill in the blanks with the correct form of the phrases listed below.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in vain 	show off 	resort to 	cling to	bring</a:t>
            </a:r>
            <a:r>
              <a:rPr lang="en-US" altLang="zh-CN" sz="26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about	</a:t>
            </a:r>
            <a:endParaRPr kumimoji="0" lang="en-US" altLang="zh-CN" sz="26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lang="en-US" altLang="zh-CN" sz="26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600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burst into 	on one’s own 	take advantage of	find one’s way 	be lined with</a:t>
            </a:r>
            <a:endParaRPr kumimoji="0" lang="en-US" altLang="zh-CN" sz="26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kumimoji="0" lang="en-US" altLang="zh-CN" sz="24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He was caught in the rain and returned home, wet all over and trembling with his clothes __________ his body.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When he was in England, he ________________ every opportunity to improve his spoken English.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He tried to make his father change his mind, but it was all __________ because his stubborn father was determined to make him a great musician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</a:t>
            </a:r>
            <a:r>
              <a:rPr lang="en-US" altLang="zh-CN" spc="-6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Nobody knew how these strange animal bones _______________ into this cave.</a:t>
            </a:r>
            <a:endParaRPr lang="en-US" altLang="zh-CN" spc="-6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 This is a well-known </a:t>
            </a:r>
            <a:r>
              <a:rPr lang="en-US" altLang="zh-CN" dirty="0">
                <a:solidFill>
                  <a:schemeClr val="accent2"/>
                </a:solidFill>
                <a:latin typeface="Calibri" panose="020F0502020204030204"/>
                <a:ea typeface="宋体" panose="02010600030101010101" pitchFamily="2" charset="-122"/>
              </a:rPr>
              <a:t>tourist attraction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The street ____________ about a dozen 18th-century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houses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 </a:t>
            </a:r>
            <a:r>
              <a:rPr lang="en-US" altLang="zh-CN" dirty="0">
                <a:solidFill>
                  <a:schemeClr val="accent2"/>
                </a:solidFill>
                <a:latin typeface="Calibri" panose="020F0502020204030204"/>
                <a:ea typeface="宋体" panose="02010600030101010101" pitchFamily="2" charset="-122"/>
              </a:rPr>
              <a:t>survived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World War II destruction.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62040" y="2644511"/>
            <a:ext cx="2372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clinging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39946" y="3074718"/>
            <a:ext cx="2963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took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advantage 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221577" y="3871791"/>
            <a:ext cx="1668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vain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35993" y="4664444"/>
            <a:ext cx="2854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found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their way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75630" y="5097959"/>
            <a:ext cx="2108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is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lined 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3" name="图片 1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329514" y="749644"/>
            <a:ext cx="11560226" cy="58159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Fill in the blanks with the correct prepositions or adverbs that collocate with the verbs “make” and “show”.</a:t>
            </a:r>
            <a:endParaRPr kumimoji="0" lang="en-US" altLang="zh-CN" sz="2800" b="1" i="0" u="none" strike="noStrike" kern="120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Houses in that part of the country were mostly made _____ cheap material. They all collapsed in the earthquake.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The wine is made ________ the best grapes in our country.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In the distance, we saw the ship making _____(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前往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the shore.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Mr. Shaw’s views are changing all the time. Nobody can make ____ (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理解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)what he really means.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John said that he had made ____ his mind to study Information Technology).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8756821" y="1682348"/>
            <a:ext cx="71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20530" y="2585806"/>
            <a:ext cx="1161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from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46988" y="3109026"/>
            <a:ext cx="757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23525" y="3632246"/>
            <a:ext cx="72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55256" y="4532262"/>
            <a:ext cx="58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80086" y="782595"/>
            <a:ext cx="11609654" cy="579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Fill in the blanks with the correct prepositions or adverbs that collocate with the verbs “make” and “show”.</a:t>
            </a:r>
            <a:endParaRPr kumimoji="0" lang="en-US" altLang="zh-CN" sz="2800" b="1" i="0" u="none" strike="noStrike" kern="120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It was not long before people found out that the story was made ____ by the man. In truth, he had never seen a tiger on that mountain.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Mary worked harder than before; she knew she had to make ______ (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弥补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)the time she had lost.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Mr. Brand soon made friends ____ the young people in his office.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It is important to make use ____ our rivers’ water power, but dams can create environmental problems.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People made fun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 him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because he really made a fool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 himself(</a:t>
            </a:r>
            <a:r>
              <a:rPr lang="zh-CN" altLang="en-US" dirty="0" smtClean="0">
                <a:solidFill>
                  <a:schemeClr val="accent2"/>
                </a:solidFill>
                <a:latin typeface="Calibri" panose="020F0502020204030204"/>
                <a:ea typeface="宋体" panose="02010600030101010101" pitchFamily="2" charset="-122"/>
              </a:rPr>
              <a:t>出洋相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10698446" y="1654751"/>
            <a:ext cx="71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25912" y="2592511"/>
            <a:ext cx="1095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 for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7989" y="3568820"/>
            <a:ext cx="864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85920" y="4092040"/>
            <a:ext cx="72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29066" y="5022410"/>
            <a:ext cx="58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427359" y="5022410"/>
            <a:ext cx="58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56519" y="823784"/>
            <a:ext cx="11733221" cy="57500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Fill in the blanks with the correct prepositions or adverbs that collocate with the verbs “make” and “show”.</a:t>
            </a:r>
            <a:endParaRPr kumimoji="0" lang="en-US" altLang="zh-CN" sz="2800" b="1" i="0" u="none" strike="noStrike" kern="120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11. They had a big argument the other day and did not speak to each other for several days, but now they have already made ____ (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言归于好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12. Show Mr. Freeman ____ when he arrives. I need to talk to him immediately.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13. That party is being thrown in your honor; so, naturally people expect you to show ____ 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14. When you settle down, I’ll show you ______ (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带领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……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参观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)and introduce you to the department managers.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7327754" y="2149310"/>
            <a:ext cx="71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19378" y="2707355"/>
            <a:ext cx="589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49859" y="3580825"/>
            <a:ext cx="71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62756" y="4104034"/>
            <a:ext cx="1330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around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63611" y="766119"/>
            <a:ext cx="11626129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Fill in the blanks with the correct form of the appropriate words or phrases in the brackets. Note that more than one of them may be appropriate.</a:t>
            </a:r>
            <a:endParaRPr kumimoji="0" lang="en-US" altLang="zh-CN" sz="2800" b="1" i="0" u="none" strike="noStrike" kern="120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kumimoji="0" lang="en-US" altLang="zh-CN" sz="2800" b="0" i="0" u="none" strike="noStrike" kern="1200" cap="none" spc="-5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We came to a __________ (high; tall) building with a ______ (huge; vast) gate.</a:t>
            </a:r>
            <a:endParaRPr kumimoji="0" lang="en-US" altLang="zh-CN" sz="2800" b="0" i="0" u="none" strike="noStrike" kern="1200" cap="none" spc="-50" normalizeH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In this _____ (big; huge; vast) land, there is not a single ______ (high; tall) mountain.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Our oral English teacher is a ____ (high; tall) young woman with ____ (big; large; huge; vast; great) bright eyes.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As college students _______ (each; every) one of us must pay attention to current _______ (matter; affair).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Social stability has become an extremely serious _______ (matter; affair) in many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(country; nation; state). They will be in ______________ (large; big; huge; great; vast) trouble if they don’t take immediate action.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2788508" y="1505564"/>
            <a:ext cx="198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high / tall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97795" y="1505564"/>
            <a:ext cx="1902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huge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18141" y="1932841"/>
            <a:ext cx="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high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373497" y="2712103"/>
            <a:ext cx="696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big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10166" y="1947230"/>
            <a:ext cx="920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vast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51854" y="2759558"/>
            <a:ext cx="77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tall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03216" y="3524697"/>
            <a:ext cx="1322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every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82346" y="3955554"/>
            <a:ext cx="1136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affairs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 flipH="1">
            <a:off x="7949513" y="4348812"/>
            <a:ext cx="1316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matter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09348" y="4749692"/>
            <a:ext cx="3974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countries/nations/states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3838" y="5120189"/>
            <a:ext cx="2453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big/huge/great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2" name="图片 2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23" name="图片 2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5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63611" y="766119"/>
            <a:ext cx="11626129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Fill in the blanks with the correct form of the appropriate words or phrases in the brackets. Note that more than one of them may be appropriate.</a:t>
            </a:r>
            <a:endParaRPr kumimoji="0" lang="en-US" altLang="zh-CN" sz="2800" b="1" i="0" u="none" strike="noStrike" kern="120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In a(n) ______ (affair; matter) of decades, the members of the United _______ (state; nation) jumped to almost two hundred.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With the reform policy, business enterprises were no longer owned by the ______ (country; nation; state) only, and prices also were no longer controlled by the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(country; nation; state).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In _____ (few; a few) months, we all made ______________ (big; large; huge; vast; great) progress in our studies. Everybody was in _____ (high; tall) spirits.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People today know ______ (little; a little) about that history because it happened long ago, and ______ (few; a few) books have been written on it. I know _______ (little; a little) because my father is a historian. He has told me ______ (few; a few) things.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5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50307" y="1525488"/>
            <a:ext cx="126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matter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0214" y="2708990"/>
            <a:ext cx="1066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state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09592" y="1923932"/>
            <a:ext cx="1631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Nations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91815" y="3098202"/>
            <a:ext cx="952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state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 flipH="1">
            <a:off x="1022216" y="3555255"/>
            <a:ext cx="125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 few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18230" y="3500910"/>
            <a:ext cx="2434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big/huge/great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41804" y="4356642"/>
            <a:ext cx="116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little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78772" y="5108038"/>
            <a:ext cx="1323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 little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392829" y="3899354"/>
            <a:ext cx="930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high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90568" y="4721316"/>
            <a:ext cx="934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few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0213" y="5506482"/>
            <a:ext cx="1066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 few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9" name="图片 18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5968" y="770238"/>
            <a:ext cx="11644182" cy="579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spc="-14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</a:t>
            </a: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the Chinese in the brackets, paying attention to the object complements in the sentences.</a:t>
            </a:r>
            <a:endParaRPr kumimoji="0" lang="en-US" altLang="zh-CN" sz="2800" b="0" i="0" u="none" strike="noStrike" kern="1200" cap="none" spc="-14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He found 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门锁上了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from the outside, and this made him 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很生气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When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Sima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Yi saw _____________________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城门大开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Zhuge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Liang 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弹琴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on the city wall, he found 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这十分奇怪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).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I think it _________________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很清楚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that he’d like to make his son 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他的接班人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You really made me 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担心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I heard you 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自言自语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loudly in your dream last night.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05684" y="1634037"/>
            <a:ext cx="2498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door locked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1360" y="2034547"/>
            <a:ext cx="1701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very angry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45924" y="2537467"/>
            <a:ext cx="4024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the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city gate wide open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5503" y="2925130"/>
            <a:ext cx="266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playing the </a:t>
            </a:r>
            <a:r>
              <a:rPr lang="en-US" altLang="zh-CN" dirty="0" err="1">
                <a:latin typeface="Calibri" panose="020F0502020204030204" charset="0"/>
                <a:ea typeface="宋体" panose="02010600030101010101" pitchFamily="2" charset="-122"/>
              </a:rPr>
              <a:t>guqin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12667" y="2933368"/>
            <a:ext cx="2311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it very strange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63113" y="3750229"/>
            <a:ext cx="301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quite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obvious/clear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0514" y="4229551"/>
            <a:ext cx="213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his successor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31741" y="4701381"/>
            <a:ext cx="266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worried/anxious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94575" y="4671591"/>
            <a:ext cx="2795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talking to yourself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0" name="图片 1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24930"/>
            <a:ext cx="11668896" cy="581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the Chinese in the brackets, paying attention to the object complements in the sentences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I have never seen some of our rivers and lakes 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污染得如此严重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Sooner or later, it will make us 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付出代价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for what we have done to our environment.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I could feel _________________________________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大地在颤抖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 I could see huge rocks 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滚下来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from the top of the mountain.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She found a young wounded soldier 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躺在草地里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 ________________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身上全是血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42576" y="1621498"/>
            <a:ext cx="3211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so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heavily polluted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83943" y="2018987"/>
            <a:ext cx="303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pay (the price)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91946" y="2907162"/>
            <a:ext cx="593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the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ground shaking/trembling/quaking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43780" y="3334551"/>
            <a:ext cx="2349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rolling down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64732" y="3788581"/>
            <a:ext cx="3072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lying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in the grass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1009" y="4248698"/>
            <a:ext cx="324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covered with blood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80086" y="819666"/>
            <a:ext cx="11609654" cy="57376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the Chinese in the brackets, paying attention to the object complements in the sentences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I have been trying to get my father _____________________________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对种花养草或者画画产生兴趣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something to _________________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能使他有事干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Did you 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听她说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yesterday that she wanted to have the meeting ________________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延期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99438" y="1663688"/>
            <a:ext cx="5214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interested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in gardening or painting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29632" y="2115679"/>
            <a:ext cx="3097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keep him busy with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87983" y="2601283"/>
            <a:ext cx="214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hear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her say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90583" y="2998510"/>
            <a:ext cx="3361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put off/postponed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84150" y="627063"/>
            <a:ext cx="11705590" cy="6065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他们利用我们求助无门的困境把我们公司接管了。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(take)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They are taking advantage of our helpless situation to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take over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our company.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虽然前面有很多困难，但我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确信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我们能克服这些困难。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(own)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Even though we are faced with a lot of difficulties ahead, I am sure we can overcome them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on our own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现在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我们认识到以破坏生态环境来换取利益是错误的，它会引起很多严重的问题。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(give rise to)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-6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Now 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we realize that it is wrong to destroy the environment in exchange for profits because it will </a:t>
            </a:r>
            <a:r>
              <a:rPr lang="en-US" altLang="zh-CN" u="sng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give rise to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a lot of serious problems.</a:t>
            </a:r>
            <a:endParaRPr kumimoji="0" lang="en-US" altLang="zh-CN" sz="2800" b="0" i="0" u="none" strike="noStrike" kern="1200" cap="none" spc="-6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3016" y="815546"/>
            <a:ext cx="11677134" cy="5770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sz="26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</a:t>
            </a:r>
            <a:r>
              <a:rPr lang="en-US" altLang="zh-CN" sz="26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Translate the following sentences, using the words and expressions in the brackets.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他喜欢炫耀他的财富，但是这完全是徒劳的，人们仍然像躲避毒药那样躲他。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(show; vain)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He likes to </a:t>
            </a:r>
            <a:r>
              <a:rPr kumimoji="0" lang="en-US" altLang="zh-CN" sz="26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show off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his wealth, but it’s all </a:t>
            </a:r>
            <a:r>
              <a:rPr kumimoji="0" lang="en-US" altLang="zh-CN" sz="26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 vain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Most people still avoid him like poison.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应对全球变暖不只是钱的问题，我们还必须采取严厉的法律措施。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(resort)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To deal with global warming is not just a matter of money; we have to </a:t>
            </a:r>
            <a:r>
              <a:rPr kumimoji="0" lang="en-US" altLang="zh-CN" sz="26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resort to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strict legal actions as well.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当格列佛</a:t>
            </a:r>
            <a:r>
              <a:rPr kumimoji="0" lang="en-US" altLang="zh-CN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(Gulliver)</a:t>
            </a:r>
            <a:r>
              <a:rPr kumimoji="0" lang="zh-CN" alt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醒来的时候，他还处于一种茫然不知所措的状态。他发现自己躺在地上，胳膊和腿都动不了。</a:t>
            </a: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(daze)</a:t>
            </a:r>
            <a:endParaRPr kumimoji="0" lang="en-US" altLang="zh-CN" sz="26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600" b="0" i="0" u="none" strike="noStrike" kern="1200" cap="none" spc="-6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When </a:t>
            </a:r>
            <a:r>
              <a:rPr lang="en-US" altLang="zh-CN" sz="2600" spc="-6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he </a:t>
            </a:r>
            <a:r>
              <a:rPr kumimoji="0" lang="en-US" altLang="zh-CN" sz="2600" b="0" i="0" u="none" strike="noStrike" kern="1200" cap="none" spc="-6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woke up, </a:t>
            </a:r>
            <a:r>
              <a:rPr lang="en-US" altLang="zh-CN" sz="2600" spc="-60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Gulliver </a:t>
            </a:r>
            <a:r>
              <a:rPr kumimoji="0" lang="en-US" altLang="zh-CN" sz="2600" b="0" i="0" u="none" strike="noStrike" kern="1200" cap="none" spc="-6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was still </a:t>
            </a:r>
            <a:r>
              <a:rPr kumimoji="0" lang="en-US" altLang="zh-CN" sz="2600" b="0" i="0" u="sng" strike="noStrike" kern="1200" cap="none" spc="-6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 a daze</a:t>
            </a:r>
            <a:r>
              <a:rPr kumimoji="0" lang="en-US" altLang="zh-CN" sz="2600" b="0" i="0" u="none" strike="noStrike" kern="1200" cap="none" spc="-6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He found himself lying on the ground and could not move his arms and legs.</a:t>
            </a:r>
            <a:endParaRPr kumimoji="0" lang="en-US" altLang="zh-CN" sz="2600" b="0" i="0" u="none" strike="noStrike" kern="1200" cap="none" spc="-6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09580" y="158149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80086" y="794951"/>
            <a:ext cx="11644184" cy="5782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很多人总是死死抓住财富不放，以为金钱一定能给他们带来幸福。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(cling)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Many people will desperately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cling to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their fortune, believing that money is sure to bring them happiness.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当那个人进入视野时，我发现原来是我父亲。不知他怎么在这大雪中找到这个地方的。我放声大哭起来。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(come into view; find one’s way; burst into)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When the man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came into view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I saw it was my father. I didn’t know how he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found his way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here in the heavy snow. I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burst into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tears.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09580" y="15814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860854"/>
            <a:ext cx="11597297" cy="57047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迈进大学校园的那一天，你的人生就开启了新的篇章。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(the day)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day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you step into college, you begin/start a new chapter of your life.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10.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把自己的错误归咎于别人是没有好处的。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(there is no good)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There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is no good to be had in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blami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ng others for our own mistakes.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09580" y="15814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6545" y="852805"/>
            <a:ext cx="11593195" cy="44208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Fill in each blank of the passage with ONE suitable word.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Time management is all-important for college success, and learning how to plan your time is an essential lesson for first-year students.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Time is tricky. It is difficult to control and (1) ____ to waste. When you look ahead, you think you have more time than you need. For example, at the (2) ________ of a semester, you may feel that you have plenty of time on your hands. (3) ____ toward the end of the term you may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suddenly find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that time is running (4) _____. You don’t have enough time to cover all your duties, so you get (5) _______ . What is the answer? Control!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63931" y="2224014"/>
            <a:ext cx="854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easy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7442" y="3027972"/>
            <a:ext cx="1677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beginning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23077" y="3512913"/>
            <a:ext cx="704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But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70070" y="3923658"/>
            <a:ext cx="886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out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74857" y="4336075"/>
            <a:ext cx="143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worried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848498"/>
            <a:ext cx="11597297" cy="56923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Fill in each blank of the passage with ONE suitable word.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Time is dangerous. If you don’t control it, it will control you. (6) ___ you don’t make it work for you, it will work against you. So you must become the</a:t>
            </a:r>
            <a:r>
              <a:rPr kumimoji="0" lang="en-US" altLang="zh-CN" sz="28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(7) ________ of time, not its servant. As a first-year college student, time management will be your (8) ________ one problem.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Time is valuable. Wasting time is a bad (9) _______ . It is like a drug. The more time you waste, the easier it is to (10) _____ on wasting time. If you seriously wish to get the most out of college, you must put time management into practice.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5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61590" y="1330208"/>
            <a:ext cx="541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If</a:t>
            </a:r>
            <a:endParaRPr lang="zh-CN" altLang="en-US" sz="28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6825" y="2149386"/>
            <a:ext cx="1478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master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78301" y="2601778"/>
            <a:ext cx="1412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number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66569" y="3074997"/>
            <a:ext cx="1038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habit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66568" y="3446387"/>
            <a:ext cx="586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go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Every day, my father brings me to school himself, and I walk alongside him, clinging his hand.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Every day, my father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takes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me to school himself, and I walk alongside him,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clinging to/ clutching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his hand.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There is no question to avoid hardships. Actually they can turn us to useful people.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There is no question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 avoiding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hardships. Actually they can </a:t>
            </a:r>
            <a:r>
              <a:rPr kumimoji="0" lang="en-US" altLang="zh-CN" sz="2800" i="0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turn us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into </a:t>
            </a:r>
            <a:r>
              <a:rPr kumimoji="0" lang="en-US" altLang="zh-CN" sz="2800" i="0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useful people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1849" y="757881"/>
            <a:ext cx="11656539" cy="5811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We persuaded him to take the job over, but however, he wouldn’t listen.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persuaded him to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take the job/take over the job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,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but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he wouldn’t listen. (We persuaded him to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take the job/take over the job; however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, he wouldn’t listen.).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I read a story taken place during World War II about more than a thousand fully-armed German soldiers were found literally eaten alive by millions of killer ants in Africa.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I read a story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taking place/that took place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during World War II about more than a thousand fully-armed German soldiers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who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were found literally eaten alive by millions of killer ants in Africa.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5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63610" y="815546"/>
            <a:ext cx="11626129" cy="57500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The police searched for her room to look for the man, but failed in vain.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police searched </a:t>
            </a:r>
            <a:r>
              <a:rPr kumimoji="0" lang="en-US" altLang="zh-CN" sz="2800" b="1" i="0" u="sng" strike="sng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for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her room to look for the man, but </a:t>
            </a:r>
            <a:r>
              <a:rPr kumimoji="0" lang="en-US" altLang="zh-CN" sz="2800" b="1" i="0" u="sng" strike="sng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failed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in vain.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We must take the advantage of the opportunities coming to our way.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We must take </a:t>
            </a:r>
            <a:r>
              <a:rPr kumimoji="0" lang="en-US" altLang="zh-CN" sz="2800" b="1" i="0" u="sng" strike="sng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advantage of the opportunities coming </a:t>
            </a:r>
            <a:r>
              <a:rPr kumimoji="0" lang="en-US" altLang="zh-CN" sz="2800" b="1" i="0" u="sng" strike="sng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to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our way.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come one’s way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意外落在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……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头上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5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1848" y="753762"/>
            <a:ext cx="11617891" cy="5791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 sentence.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When I was a small boy, I had often sat for hours to play with the few toys I had.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When I was a small boy, I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often sat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for hours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playing</a:t>
            </a:r>
            <a:r>
              <a:rPr kumimoji="0" lang="en-US" altLang="zh-CN" sz="2800" i="0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with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few toys I had.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Before I came, I imagine college would be a paradise I could relax after the three stressful years of high school.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Before I came, I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had imagined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college would be a paradise </a:t>
            </a:r>
            <a:r>
              <a:rPr kumimoji="0" lang="en-US" altLang="zh-CN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where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 could relax after the three stressful years of high school.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Exercises · Language Exercises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5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17613</Words>
  <Application>WPS 演示</Application>
  <PresentationFormat>宽屏</PresentationFormat>
  <Paragraphs>535</Paragraphs>
  <Slides>34</Slides>
  <Notes>99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Wingdings</vt:lpstr>
      <vt:lpstr>Arial Black</vt:lpstr>
      <vt:lpstr>思源黑体 CN Regular</vt:lpstr>
      <vt:lpstr>黑体</vt:lpstr>
      <vt:lpstr>Arial Narrow</vt:lpstr>
      <vt:lpstr>华文中宋</vt:lpstr>
      <vt:lpstr>Calibri</vt:lpstr>
      <vt:lpstr>华文楷体</vt:lpstr>
      <vt:lpstr>Calibri</vt:lpstr>
      <vt:lpstr>Times New Roman</vt:lpstr>
      <vt:lpstr>Arial Unicode MS</vt:lpstr>
      <vt:lpstr>等线 Light</vt:lpstr>
      <vt:lpstr>等线</vt:lpstr>
      <vt:lpstr>2_Office 主题​​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Dilys</dc:creator>
  <cp:lastModifiedBy>Cooper</cp:lastModifiedBy>
  <cp:revision>725</cp:revision>
  <dcterms:created xsi:type="dcterms:W3CDTF">2021-05-22T03:56:00Z</dcterms:created>
  <dcterms:modified xsi:type="dcterms:W3CDTF">2025-10-14T11:43:44Z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6EE37EB9CF854B38A47709C67C314B71_12</vt:lpwstr>
  </property>
</Properties>
</file>