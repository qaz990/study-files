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webp" ContentType="image/webp"/>
  <Override PartName="/ppt/media/image12.webp" ContentType="image/webp"/>
  <Override PartName="/ppt/media/image13.webp" ContentType="image/webp"/>
  <Override PartName="/ppt/media/image14.webp" ContentType="image/webp"/>
  <Override PartName="/ppt/media/image15.webp" ContentType="image/webp"/>
  <Override PartName="/ppt/media/image16.webp" ContentType="image/webp"/>
  <Override PartName="/ppt/media/image17.webp" ContentType="image/webp"/>
  <Override PartName="/ppt/media/image18.webp" ContentType="image/webp"/>
  <Override PartName="/ppt/media/image24.webp" ContentType="image/webp"/>
  <Override PartName="/ppt/media/image3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0" r:id="rId3"/>
    <p:sldId id="359" r:id="rId5"/>
    <p:sldId id="608" r:id="rId6"/>
    <p:sldId id="467" r:id="rId7"/>
    <p:sldId id="477" r:id="rId8"/>
    <p:sldId id="485" r:id="rId9"/>
    <p:sldId id="487" r:id="rId10"/>
    <p:sldId id="493" r:id="rId11"/>
    <p:sldId id="569" r:id="rId12"/>
    <p:sldId id="570" r:id="rId13"/>
    <p:sldId id="571" r:id="rId14"/>
    <p:sldId id="572" r:id="rId15"/>
    <p:sldId id="573" r:id="rId16"/>
    <p:sldId id="574" r:id="rId17"/>
    <p:sldId id="580" r:id="rId18"/>
    <p:sldId id="581" r:id="rId19"/>
    <p:sldId id="582" r:id="rId20"/>
    <p:sldId id="583" r:id="rId21"/>
    <p:sldId id="584" r:id="rId22"/>
    <p:sldId id="585" r:id="rId23"/>
    <p:sldId id="586" r:id="rId24"/>
    <p:sldId id="587" r:id="rId25"/>
    <p:sldId id="588" r:id="rId26"/>
    <p:sldId id="589" r:id="rId27"/>
    <p:sldId id="590" r:id="rId28"/>
    <p:sldId id="591" r:id="rId29"/>
    <p:sldId id="592" r:id="rId30"/>
    <p:sldId id="594" r:id="rId31"/>
    <p:sldId id="595" r:id="rId32"/>
    <p:sldId id="596" r:id="rId33"/>
    <p:sldId id="597" r:id="rId34"/>
    <p:sldId id="598" r:id="rId35"/>
    <p:sldId id="599" r:id="rId36"/>
    <p:sldId id="600" r:id="rId37"/>
    <p:sldId id="601" r:id="rId38"/>
    <p:sldId id="603" r:id="rId39"/>
    <p:sldId id="368" r:id="rId40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5C5B2"/>
    <a:srgbClr val="808080"/>
    <a:srgbClr val="EFEFEF"/>
    <a:srgbClr val="F2F2F2"/>
    <a:srgbClr val="FFFFFF"/>
    <a:srgbClr val="F6F8FB"/>
    <a:srgbClr val="A1DFE1"/>
    <a:srgbClr val="E5A592"/>
    <a:srgbClr val="C1CA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79" autoAdjust="0"/>
    <p:restoredTop sz="91245" autoAdjust="0"/>
  </p:normalViewPr>
  <p:slideViewPr>
    <p:cSldViewPr snapToGrid="0">
      <p:cViewPr varScale="1">
        <p:scale>
          <a:sx n="116" d="100"/>
          <a:sy n="116" d="100"/>
        </p:scale>
        <p:origin x="1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slide" Target="slide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" Target="slide1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ebp"/><Relationship Id="rId8" Type="http://schemas.openxmlformats.org/officeDocument/2006/relationships/image" Target="../media/image13.webp"/><Relationship Id="rId7" Type="http://schemas.openxmlformats.org/officeDocument/2006/relationships/image" Target="../media/image12.webp"/><Relationship Id="rId6" Type="http://schemas.openxmlformats.org/officeDocument/2006/relationships/image" Target="../media/image11.webp"/><Relationship Id="rId5" Type="http://schemas.openxmlformats.org/officeDocument/2006/relationships/image" Target="../media/image10.png"/><Relationship Id="rId4" Type="http://schemas.openxmlformats.org/officeDocument/2006/relationships/hyperlink" Target="U2-1.mp3" TargetMode="Externa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8.webp"/><Relationship Id="rId12" Type="http://schemas.openxmlformats.org/officeDocument/2006/relationships/image" Target="../media/image17.webp"/><Relationship Id="rId11" Type="http://schemas.openxmlformats.org/officeDocument/2006/relationships/image" Target="../media/image16.webp"/><Relationship Id="rId10" Type="http://schemas.openxmlformats.org/officeDocument/2006/relationships/image" Target="../media/image15.webp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1.jpeg"/><Relationship Id="rId6" Type="http://schemas.openxmlformats.org/officeDocument/2006/relationships/image" Target="../media/image9.png"/><Relationship Id="rId5" Type="http://schemas.openxmlformats.org/officeDocument/2006/relationships/slide" Target="slide1.xml"/><Relationship Id="rId4" Type="http://schemas.openxmlformats.org/officeDocument/2006/relationships/image" Target="../media/image19.png"/><Relationship Id="rId3" Type="http://schemas.openxmlformats.org/officeDocument/2006/relationships/slide" Target="slide2.xml"/><Relationship Id="rId2" Type="http://schemas.openxmlformats.org/officeDocument/2006/relationships/image" Target="../media/image20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4.webp"/><Relationship Id="rId7" Type="http://schemas.openxmlformats.org/officeDocument/2006/relationships/image" Target="../media/image23.jpeg"/><Relationship Id="rId6" Type="http://schemas.openxmlformats.org/officeDocument/2006/relationships/image" Target="../media/image9.png"/><Relationship Id="rId5" Type="http://schemas.openxmlformats.org/officeDocument/2006/relationships/slide" Target="slide1.xml"/><Relationship Id="rId4" Type="http://schemas.openxmlformats.org/officeDocument/2006/relationships/image" Target="../media/image19.png"/><Relationship Id="rId3" Type="http://schemas.openxmlformats.org/officeDocument/2006/relationships/slide" Target="slide2.xml"/><Relationship Id="rId2" Type="http://schemas.openxmlformats.org/officeDocument/2006/relationships/image" Target="../media/image22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6" Type="http://schemas.openxmlformats.org/officeDocument/2006/relationships/slide" Target="slide1.xml"/><Relationship Id="rId5" Type="http://schemas.openxmlformats.org/officeDocument/2006/relationships/image" Target="../media/image19.png"/><Relationship Id="rId4" Type="http://schemas.openxmlformats.org/officeDocument/2006/relationships/slide" Target="slide2.xml"/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8.jpeg"/><Relationship Id="rId6" Type="http://schemas.openxmlformats.org/officeDocument/2006/relationships/image" Target="../media/image9.png"/><Relationship Id="rId5" Type="http://schemas.openxmlformats.org/officeDocument/2006/relationships/slide" Target="slide1.xml"/><Relationship Id="rId4" Type="http://schemas.openxmlformats.org/officeDocument/2006/relationships/image" Target="../media/image19.png"/><Relationship Id="rId3" Type="http://schemas.openxmlformats.org/officeDocument/2006/relationships/slide" Target="slide2.xml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1.webp"/><Relationship Id="rId7" Type="http://schemas.openxmlformats.org/officeDocument/2006/relationships/image" Target="../media/image30.jpeg"/><Relationship Id="rId6" Type="http://schemas.openxmlformats.org/officeDocument/2006/relationships/image" Target="../media/image9.png"/><Relationship Id="rId5" Type="http://schemas.openxmlformats.org/officeDocument/2006/relationships/slide" Target="slide1.xml"/><Relationship Id="rId4" Type="http://schemas.openxmlformats.org/officeDocument/2006/relationships/image" Target="../media/image19.png"/><Relationship Id="rId3" Type="http://schemas.openxmlformats.org/officeDocument/2006/relationships/slide" Target="slide2.xml"/><Relationship Id="rId2" Type="http://schemas.openxmlformats.org/officeDocument/2006/relationships/image" Target="../media/image29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slide" Target="slide9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slide" Target="slide9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slide" Target="slide9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9.xml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14.xml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14.xml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slide" Target="slide17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slide" Target="slide17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17.xml"/><Relationship Id="rId1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21.xml"/><Relationship Id="rId1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21.xml"/><Relationship Id="rId1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24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26.xml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28.xml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30.xml"/><Relationship Id="rId1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30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9.png"/><Relationship Id="rId2" Type="http://schemas.openxmlformats.org/officeDocument/2006/relationships/slide" Target="slide34.xml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slide" Target="slide1.xml"/><Relationship Id="rId4" Type="http://schemas.openxmlformats.org/officeDocument/2006/relationships/image" Target="../media/image19.png"/><Relationship Id="rId3" Type="http://schemas.openxmlformats.org/officeDocument/2006/relationships/slide" Target="slide34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20" y="-3953"/>
            <a:ext cx="9064888" cy="6861953"/>
          </a:xfrm>
          <a:prstGeom prst="rect">
            <a:avLst/>
          </a:prstGeom>
        </p:spPr>
      </p:pic>
      <p:pic>
        <p:nvPicPr>
          <p:cNvPr id="2" name="图片 1" descr="未标题-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8848" r="27500"/>
          <a:stretch>
            <a:fillRect/>
          </a:stretch>
        </p:blipFill>
        <p:spPr>
          <a:xfrm>
            <a:off x="0" y="6350"/>
            <a:ext cx="7977505" cy="6847205"/>
          </a:xfrm>
          <a:prstGeom prst="rect">
            <a:avLst/>
          </a:prstGeom>
        </p:spPr>
      </p:pic>
      <p:sp>
        <p:nvSpPr>
          <p:cNvPr id="31" name="文本框 86"/>
          <p:cNvSpPr txBox="1"/>
          <p:nvPr/>
        </p:nvSpPr>
        <p:spPr>
          <a:xfrm>
            <a:off x="817634" y="1250139"/>
            <a:ext cx="2697975" cy="707886"/>
          </a:xfrm>
          <a:prstGeom prst="rect">
            <a:avLst/>
          </a:prstGeom>
          <a:noFill/>
          <a:effectLst>
            <a:outerShdw blurRad="393700" dist="698500" dir="8100000" sx="119000" sy="119000" algn="tr" rotWithShape="0">
              <a:prstClr val="black">
                <a:alpha val="6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9700"/>
                </a:solidFill>
                <a:latin typeface="Arial Black" panose="020B0A04020102020204" pitchFamily="34" charset="0"/>
                <a:ea typeface="思源黑体 CN Regular" panose="020B0500000000000000" charset="-122"/>
              </a:rPr>
              <a:t>Unit  2</a:t>
            </a:r>
            <a:endParaRPr lang="en-US" altLang="zh-CN" sz="4000" b="1" dirty="0">
              <a:solidFill>
                <a:srgbClr val="FF9700"/>
              </a:solidFill>
              <a:latin typeface="Arial Black" panose="020B0A04020102020204" pitchFamily="34" charset="0"/>
              <a:ea typeface="思源黑体 CN Regular" panose="020B0500000000000000" charset="-122"/>
            </a:endParaRPr>
          </a:p>
        </p:txBody>
      </p:sp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2516437"/>
            <a:ext cx="3016405" cy="501676"/>
          </a:xfrm>
          <a:prstGeom prst="rect">
            <a:avLst/>
          </a:prstGeom>
        </p:spPr>
      </p:pic>
      <p:pic>
        <p:nvPicPr>
          <p:cNvPr id="17" name="图片 1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3268056"/>
            <a:ext cx="5004057" cy="501676"/>
          </a:xfrm>
          <a:prstGeom prst="rect">
            <a:avLst/>
          </a:prstGeom>
        </p:spPr>
      </p:pic>
      <p:pic>
        <p:nvPicPr>
          <p:cNvPr id="19" name="图片 18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019675"/>
            <a:ext cx="3016405" cy="495325"/>
          </a:xfrm>
          <a:prstGeom prst="rect">
            <a:avLst/>
          </a:prstGeom>
        </p:spPr>
      </p:pic>
      <p:pic>
        <p:nvPicPr>
          <p:cNvPr id="21" name="图片 20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764943"/>
            <a:ext cx="3733992" cy="488975"/>
          </a:xfrm>
          <a:prstGeom prst="rect">
            <a:avLst/>
          </a:prstGeom>
        </p:spPr>
      </p:pic>
      <p:pic>
        <p:nvPicPr>
          <p:cNvPr id="23" name="图片 2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71" y="5503862"/>
            <a:ext cx="5512083" cy="5016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38" name="图片 3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34" name="图片 33">
            <a:hlinkClick r:id="rId4" action="ppaction://hlinkfile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0" t="19885" r="16444" b="17973"/>
          <a:stretch>
            <a:fillRect/>
          </a:stretch>
        </p:blipFill>
        <p:spPr>
          <a:xfrm>
            <a:off x="10659408" y="176530"/>
            <a:ext cx="481330" cy="4127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84250" y="1052195"/>
            <a:ext cx="10542905" cy="5219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 sz="2800">
                <a:latin typeface="Arial Narrow" panose="020B0606020202030204" charset="0"/>
                <a:cs typeface="Arial Narrow" panose="020B0606020202030204" charset="0"/>
              </a:rPr>
              <a:t>condemn    craft     infancy      ripple      scarcity      scent       shimmer     textile   </a:t>
            </a:r>
            <a:endParaRPr lang="en-US" altLang="zh-CN" sz="2800"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4250" y="1764665"/>
            <a:ext cx="22123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infancy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59785" y="1750695"/>
            <a:ext cx="28219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craft / handicraft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103745" y="1725930"/>
            <a:ext cx="11099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textile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653905" y="1748155"/>
            <a:ext cx="1396365" cy="52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ripple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27455" y="5831840"/>
            <a:ext cx="15271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condemn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20490" y="5894070"/>
            <a:ext cx="18415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scent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31375" y="5849620"/>
            <a:ext cx="1409065" cy="52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shimmer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78550" y="5909310"/>
            <a:ext cx="2590800" cy="52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(water) scarcity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6"/>
          <a:srcRect t="18871"/>
          <a:stretch>
            <a:fillRect/>
          </a:stretch>
        </p:blipFill>
        <p:spPr>
          <a:xfrm>
            <a:off x="984250" y="2355850"/>
            <a:ext cx="2389505" cy="174117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7"/>
          <a:stretch>
            <a:fillRect/>
          </a:stretch>
        </p:blipFill>
        <p:spPr>
          <a:xfrm>
            <a:off x="3519170" y="2393950"/>
            <a:ext cx="2658745" cy="170307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8"/>
          <a:srcRect l="9455" r="6963"/>
          <a:stretch>
            <a:fillRect/>
          </a:stretch>
        </p:blipFill>
        <p:spPr>
          <a:xfrm>
            <a:off x="8971915" y="2358390"/>
            <a:ext cx="2555875" cy="176276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9"/>
          <a:stretch>
            <a:fillRect/>
          </a:stretch>
        </p:blipFill>
        <p:spPr>
          <a:xfrm>
            <a:off x="6273165" y="2355850"/>
            <a:ext cx="2581910" cy="174180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0"/>
          <a:stretch>
            <a:fillRect/>
          </a:stretch>
        </p:blipFill>
        <p:spPr>
          <a:xfrm>
            <a:off x="984250" y="4166235"/>
            <a:ext cx="2389505" cy="174307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11"/>
          <a:stretch>
            <a:fillRect/>
          </a:stretch>
        </p:blipFill>
        <p:spPr>
          <a:xfrm>
            <a:off x="3519170" y="4218305"/>
            <a:ext cx="2662555" cy="168529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2"/>
          <a:stretch>
            <a:fillRect/>
          </a:stretch>
        </p:blipFill>
        <p:spPr>
          <a:xfrm>
            <a:off x="8971280" y="4166235"/>
            <a:ext cx="2555875" cy="172847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13"/>
          <a:stretch>
            <a:fillRect/>
          </a:stretch>
        </p:blipFill>
        <p:spPr>
          <a:xfrm>
            <a:off x="6273165" y="4159250"/>
            <a:ext cx="2585720" cy="1735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/>
      <p:bldP spid="18" grpId="0"/>
      <p:bldP spid="19" grpId="0" bldLvl="0" animBg="1"/>
      <p:bldP spid="2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"/>
          <p:cNvSpPr txBox="1"/>
          <p:nvPr/>
        </p:nvSpPr>
        <p:spPr bwMode="auto">
          <a:xfrm>
            <a:off x="1046480" y="883920"/>
            <a:ext cx="10316210" cy="53663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Chinese to English translation.</a:t>
            </a:r>
            <a:endParaRPr lang="en-US" altLang="zh-CN" dirty="0" smtClean="0">
              <a:solidFill>
                <a:srgbClr val="00B0F0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1)</a:t>
            </a:r>
            <a:r>
              <a:rPr lang="en-US" altLang="zh-CN" i="1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</a:t>
            </a:r>
            <a:r>
              <a:rPr lang="zh-CN" altLang="en-US" b="1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该行动受到人权组织的普遍谴责</a:t>
            </a:r>
            <a:r>
              <a:rPr lang="zh-CN" b="1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。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(condemn)</a:t>
            </a:r>
            <a:endParaRPr lang="zh-CN" dirty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zh-CN" altLang="en-US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2</a:t>
            </a: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) </a:t>
            </a:r>
            <a:r>
              <a:rPr lang="zh-CN" altLang="en-US" b="1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这一地区矿产丰富、农田肥沃、气候温和。</a:t>
            </a: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(fertile)</a:t>
            </a:r>
            <a:endParaRPr lang="zh-CN" altLang="en-US" dirty="0" smtClean="0"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3) </a:t>
            </a:r>
            <a:r>
              <a:rPr lang="zh-CN" altLang="en-US" b="1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这个雄心勃勃的太空旅游项目目前还处于起步阶段，需要大量投资和广泛测试才能迎来第一批乘客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。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(in one’s infancy)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</a:t>
            </a:r>
            <a:endParaRPr lang="en-US" altLang="zh-CN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algn="just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English</a:t>
            </a: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to </a:t>
            </a: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Chinese</a:t>
            </a: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translation</a:t>
            </a: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</a:t>
            </a:r>
            <a:endParaRPr lang="en-US" altLang="zh-CN" dirty="0" smtClean="0">
              <a:solidFill>
                <a:srgbClr val="00B0F0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lvl="0" algn="just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1) </a:t>
            </a:r>
            <a:r>
              <a:rPr lang="en-US" altLang="zh-CN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A good class is a fertile soil in which the student grows</a:t>
            </a: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</a:t>
            </a:r>
            <a:endParaRPr lang="en-US" altLang="zh-CN" dirty="0" smtClean="0"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lvl="0" algn="just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2) </a:t>
            </a:r>
            <a:r>
              <a:rPr lang="en-US" altLang="zh-CN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It was raining heavily, and then to add insult to injury, a gust of wind blew away my umbrella.</a:t>
            </a:r>
            <a:endParaRPr lang="en-US" altLang="zh-CN" dirty="0"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lvl="0" algn="just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3) </a:t>
            </a:r>
            <a:r>
              <a:rPr lang="en-US" altLang="zh-CN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Her sudden scream pierced the tranquil night, startling everyone who was peacefully asleep.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Translation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4" name="图片 1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"/>
          <p:cNvSpPr txBox="1"/>
          <p:nvPr/>
        </p:nvSpPr>
        <p:spPr bwMode="auto">
          <a:xfrm>
            <a:off x="410210" y="756285"/>
            <a:ext cx="11216005" cy="5405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en-US" altLang="zh-CN" sz="32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condemn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           </a:t>
            </a:r>
            <a:r>
              <a:rPr kumimoji="0" lang="zh-CN" altLang="en-US" sz="28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8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v.</a:t>
            </a:r>
            <a:r>
              <a:rPr kumimoji="0" lang="zh-CN" altLang="en-US" sz="28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 </a:t>
            </a:r>
            <a:r>
              <a:rPr kumimoji="0" lang="en-US" altLang="zh-CN" sz="28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kumimoji="0" lang="zh-CN" altLang="en-US" sz="28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  </a:t>
            </a:r>
            <a:r>
              <a:rPr lang="en-US" altLang="zh-CN" i="1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8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</a:t>
            </a:r>
            <a:endParaRPr kumimoji="0" lang="en-US" altLang="zh-CN" sz="2800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sz="2600" b="1" spc="-40" noProof="0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1.</a:t>
            </a:r>
            <a:r>
              <a:rPr lang="en-US" altLang="zh-CN" sz="2600" b="1" spc="-100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600" spc="-40" noProof="0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say very strongly that you do not approve of sb. or </a:t>
            </a:r>
            <a:r>
              <a:rPr lang="en-US" altLang="zh-CN" sz="2600" spc="-40" noProof="0" dirty="0" err="1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sth</a:t>
            </a:r>
            <a:r>
              <a:rPr lang="en-US" altLang="zh-CN" sz="2600" spc="-40" noProof="0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., esp. because you think it is morally wrong</a:t>
            </a:r>
            <a:r>
              <a:rPr lang="en-US" altLang="zh-CN" sz="2600" spc="-40" noProof="0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谴责</a:t>
            </a:r>
            <a:endParaRPr kumimoji="0" lang="zh-CN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1)</a:t>
            </a:r>
            <a:r>
              <a:rPr kumimoji="0" lang="en-US" altLang="zh-CN" sz="2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</a:t>
            </a:r>
            <a:r>
              <a:rPr lang="en-US" altLang="zh-CN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他们因为约翰的背信弃义</a:t>
            </a:r>
            <a:r>
              <a:rPr lang="en-US" altLang="zh-CN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谴责他</a:t>
            </a:r>
            <a:r>
              <a:rPr lang="en-US" altLang="zh-CN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     </a:t>
            </a:r>
            <a:endParaRPr lang="en-US" altLang="zh-CN" sz="2600" dirty="0"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    They </a:t>
            </a:r>
            <a:r>
              <a:rPr lang="en-US" altLang="zh-CN" sz="2600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condemned</a:t>
            </a:r>
            <a:r>
              <a:rPr lang="en-US" altLang="zh-CN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John </a:t>
            </a:r>
            <a:r>
              <a:rPr lang="en-US" altLang="zh-CN" sz="2600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for</a:t>
            </a:r>
            <a:r>
              <a:rPr lang="en-US" altLang="zh-CN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his treacherous behaviour.</a:t>
            </a:r>
            <a:endParaRPr lang="en-US" altLang="zh-CN" sz="2600" dirty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sz="2600" b="1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2)</a:t>
            </a:r>
            <a:r>
              <a:rPr lang="en-US" altLang="zh-CN" sz="2600" b="1" i="1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</a:t>
            </a:r>
            <a:r>
              <a:rPr lang="zh-CN" altLang="en-US" sz="2600" b="1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这一行动受到人权组织的普遍谴责</a:t>
            </a:r>
            <a:r>
              <a:rPr lang="zh-CN" altLang="en-US" sz="2600" b="1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。</a:t>
            </a:r>
            <a:endParaRPr lang="zh-CN" altLang="en-US" sz="2600" b="1" dirty="0"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zh-CN" altLang="en-US" sz="2600" b="1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600" b="1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  </a:t>
            </a:r>
            <a:r>
              <a:rPr lang="en-US" altLang="zh-CN" sz="2600" b="1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The action has been widely </a:t>
            </a:r>
            <a:r>
              <a:rPr lang="en-US" altLang="zh-CN" sz="2600" b="1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condemned</a:t>
            </a:r>
            <a:r>
              <a:rPr lang="en-US" altLang="zh-CN" sz="2600" b="1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by human rights groups</a:t>
            </a:r>
            <a:r>
              <a:rPr lang="en-US" altLang="zh-CN" sz="2600" b="1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</a:t>
            </a:r>
            <a:r>
              <a:rPr lang="zh-CN" altLang="en-US" sz="2600" b="1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    </a:t>
            </a:r>
            <a:endParaRPr lang="en-US" altLang="zh-CN" sz="2600" b="1" dirty="0" smtClean="0">
              <a:solidFill>
                <a:schemeClr val="accent2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algn="just" ea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sz="2600" b="1" spc="-40" noProof="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2.</a:t>
            </a:r>
            <a:r>
              <a:rPr lang="en-US" altLang="zh-CN" sz="2600" b="1" spc="-1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</a:t>
            </a:r>
            <a:r>
              <a:rPr lang="zh-CN" altLang="en-US" sz="26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给</a:t>
            </a:r>
            <a:r>
              <a:rPr lang="en-US" altLang="zh-CN" sz="26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……</a:t>
            </a:r>
            <a:r>
              <a:rPr lang="zh-CN" altLang="en-US" sz="26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判罪；给</a:t>
            </a:r>
            <a:r>
              <a:rPr lang="en-US" altLang="zh-CN" sz="26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……</a:t>
            </a:r>
            <a:r>
              <a:rPr lang="zh-CN" altLang="en-US" sz="26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判刑</a:t>
            </a:r>
            <a:endParaRPr kumimoji="0" lang="zh-CN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algn="just" ea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sz="26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He was found guilty and </a:t>
            </a:r>
            <a:r>
              <a:rPr lang="en-US" altLang="zh-CN" sz="2600" dirty="0" smtClean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condemned</a:t>
            </a:r>
            <a:r>
              <a:rPr lang="en-US" altLang="zh-CN" sz="26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to death.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228600" marR="0" lvl="0" indent="-22733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lang="zh-CN" altLang="en-US" sz="26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    </a:t>
            </a:r>
            <a:r>
              <a:rPr lang="zh-CN" altLang="en-US" sz="26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他被裁定有罪，判了死刑。</a:t>
            </a:r>
            <a:endParaRPr lang="zh-CN" altLang="en-US" sz="2600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marL="228600" marR="0" lvl="0" indent="-22733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6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n.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condemnation</a:t>
            </a:r>
            <a:endParaRPr kumimoji="0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685" y="930412"/>
            <a:ext cx="1157357" cy="318273"/>
          </a:xfrm>
          <a:prstGeom prst="rect">
            <a:avLst/>
          </a:prstGeom>
        </p:spPr>
      </p:pic>
      <p:pic>
        <p:nvPicPr>
          <p:cNvPr id="13" name="图片 1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4" name="图片 13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7"/>
          <a:stretch>
            <a:fillRect/>
          </a:stretch>
        </p:blipFill>
        <p:spPr>
          <a:xfrm>
            <a:off x="8889365" y="4537075"/>
            <a:ext cx="2438400" cy="1912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内容占位符 1"/>
          <p:cNvSpPr txBox="1"/>
          <p:nvPr/>
        </p:nvSpPr>
        <p:spPr bwMode="auto">
          <a:xfrm>
            <a:off x="608330" y="782320"/>
            <a:ext cx="11417935" cy="4449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eaLnBrk="1" hangingPunct="1">
              <a:lnSpc>
                <a:spcPct val="90000"/>
              </a:lnSpc>
              <a:buSzPct val="120000"/>
              <a:buNone/>
              <a:defRPr/>
            </a:pPr>
            <a:r>
              <a:rPr lang="en-US" altLang="zh-CN" sz="32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fertile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          </a:t>
            </a:r>
            <a:r>
              <a:rPr lang="en-US" altLang="zh-CN" i="1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en-US" altLang="zh-CN" i="1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b="1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lvl="0" algn="just" eaLnBrk="1" hangingPunct="1">
              <a:lnSpc>
                <a:spcPct val="90000"/>
              </a:lnSpc>
              <a:buClrTx/>
              <a:buSzPct val="120000"/>
              <a:buNone/>
              <a:defRPr/>
            </a:pPr>
            <a:r>
              <a:rPr lang="en-US" altLang="zh-CN" sz="2600" b="1" dirty="0" smtClean="0">
                <a:latin typeface="Arial Narrow" panose="020B0606020202030204" charset="0"/>
                <a:ea typeface="Calibri" panose="020F0502020204030204" charset="0"/>
                <a:cs typeface="Arial Narrow" panose="020B0606020202030204" charset="0"/>
              </a:rPr>
              <a:t>1.</a:t>
            </a:r>
            <a:r>
              <a:rPr lang="zh-CN" altLang="en-US" sz="2600" b="1" dirty="0" smtClean="0">
                <a:latin typeface="Arial Narrow" panose="020B0606020202030204" charset="0"/>
                <a:ea typeface="Calibri" panose="020F0502020204030204" charset="0"/>
                <a:cs typeface="Arial Narrow" panose="020B0606020202030204" charset="0"/>
              </a:rPr>
              <a:t> </a:t>
            </a:r>
            <a:r>
              <a:rPr lang="en-US" altLang="zh-CN" sz="2600" spc="-40" dirty="0" smtClean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(of land or soil) that plants grow well in </a:t>
            </a:r>
            <a:r>
              <a:rPr lang="en-US" altLang="zh-CN" sz="2600" b="1" spc="-40" dirty="0" smtClean="0">
                <a:solidFill>
                  <a:sysClr val="windowText" lastClr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肥沃的；富饶</a:t>
            </a:r>
            <a:r>
              <a:rPr kumimoji="0" lang="en-US" altLang="zh-CN" sz="2600" b="1" i="0" u="none" strike="noStrike" kern="1200" cap="none" spc="-40" normalizeH="0" baseline="0" dirty="0" smtClean="0">
                <a:solidFill>
                  <a:sysClr val="windowText" lastClr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</a:t>
            </a:r>
            <a:endParaRPr kumimoji="0" lang="en-US" altLang="zh-CN" sz="2600" b="1" i="0" u="none" strike="noStrike" kern="1200" cap="none" spc="-40" normalizeH="0" baseline="0" dirty="0" smtClean="0">
              <a:solidFill>
                <a:sysClr val="windowText" lastClr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lvl="0" algn="just" eaLnBrk="1" hangingPunct="1">
              <a:lnSpc>
                <a:spcPct val="90000"/>
              </a:lnSpc>
              <a:buSzPct val="120000"/>
              <a:buNone/>
              <a:defRPr/>
            </a:pPr>
            <a:r>
              <a:rPr kumimoji="0" lang="en-US" altLang="zh-CN" sz="2600" b="1" i="0" u="none" strike="noStrike" kern="1200" cap="none" spc="-40" normalizeH="0" baseline="0" dirty="0" smtClean="0">
                <a:solidFill>
                  <a:sysClr val="windowText" lastClr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</a:t>
            </a:r>
            <a:r>
              <a:rPr kumimoji="0" lang="en-US" altLang="zh-CN" sz="2600" b="1" i="0" u="none" strike="noStrike" kern="1200" cap="none" spc="-40" normalizeH="0" baseline="0" dirty="0" smtClean="0">
                <a:solidFill>
                  <a:sysClr val="windowText" lastClr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能生育的；可繁殖的  3. </a:t>
            </a:r>
            <a:r>
              <a:rPr kumimoji="0" lang="en-US" altLang="zh-CN" sz="2600" b="1" i="0" u="none" strike="noStrike" kern="1200" cap="none" spc="-40" normalizeH="0" baseline="0" dirty="0" smtClean="0">
                <a:solidFill>
                  <a:sysClr val="windowText" lastClr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丰富的；富于思想的</a:t>
            </a:r>
            <a:endParaRPr kumimoji="0" lang="en-US" altLang="zh-CN" sz="2600" b="1" i="0" u="none" strike="noStrike" kern="1200" cap="none" spc="-40" normalizeH="0" baseline="0" dirty="0" smtClean="0">
              <a:solidFill>
                <a:sysClr val="windowText" lastClr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lvl="0" eaLnBrk="1" hangingPunct="1">
              <a:lnSpc>
                <a:spcPct val="90000"/>
              </a:lnSpc>
              <a:buSzPct val="120000"/>
              <a:buNone/>
              <a:defRPr/>
            </a:pPr>
            <a:r>
              <a:rPr lang="en-US" altLang="zh-CN" sz="2600" b="1" dirty="0" smtClean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1</a:t>
            </a:r>
            <a:r>
              <a:rPr lang="en-US" altLang="zh-CN" sz="2600" b="1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) </a:t>
            </a:r>
            <a:r>
              <a:rPr lang="zh-CN" altLang="en-US" sz="2600" b="1" dirty="0" smtClean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这一地区</a:t>
            </a:r>
            <a:r>
              <a:rPr lang="zh-CN" altLang="en-US" sz="2600" b="1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矿产丰富、农田肥沃、气候温和</a:t>
            </a:r>
            <a:r>
              <a:rPr lang="zh-CN" altLang="en-US" sz="2600" b="1" dirty="0" smtClean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。</a:t>
            </a:r>
            <a:endParaRPr kumimoji="0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eaLnBrk="1" hangingPunct="1">
              <a:lnSpc>
                <a:spcPct val="90000"/>
              </a:lnSpc>
              <a:buSzPct val="120000"/>
              <a:buNone/>
              <a:defRPr/>
            </a:pPr>
            <a:r>
              <a:rPr lang="en-US" altLang="zh-CN" sz="2600" dirty="0" smtClean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The region is rich in mineral resources, with </a:t>
            </a:r>
            <a:r>
              <a:rPr lang="en-US" altLang="zh-CN" sz="2600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fertile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farmland and moderate climate.</a:t>
            </a:r>
            <a:endParaRPr lang="en-US" altLang="zh-CN" sz="2600" dirty="0">
              <a:solidFill>
                <a:schemeClr val="accent2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lvl="0" eaLnBrk="1" hangingPunct="1">
              <a:lnSpc>
                <a:spcPct val="90000"/>
              </a:lnSpc>
              <a:buSzPct val="120000"/>
              <a:buNone/>
              <a:defRPr/>
            </a:pPr>
            <a:r>
              <a:rPr lang="en-US" altLang="zh-CN" sz="2600" b="1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The region </a:t>
            </a:r>
            <a:r>
              <a:rPr lang="en-US" altLang="zh-CN" sz="2600" b="1" u="sng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boasts</a:t>
            </a:r>
            <a:r>
              <a:rPr lang="en-US" altLang="zh-CN" sz="2600" b="1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rich mineral resources, </a:t>
            </a:r>
            <a:r>
              <a:rPr lang="en-US" altLang="zh-CN" sz="2600" b="1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fertile</a:t>
            </a:r>
            <a:r>
              <a:rPr lang="en-US" altLang="zh-CN" sz="2600" b="1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farmland and moderate climate.</a:t>
            </a:r>
            <a:endParaRPr lang="en-US" altLang="zh-CN" sz="2600" dirty="0" smtClean="0">
              <a:solidFill>
                <a:schemeClr val="accent2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eaLnBrk="1" hangingPunct="1">
              <a:lnSpc>
                <a:spcPct val="90000"/>
              </a:lnSpc>
              <a:buSzPct val="120000"/>
              <a:buNone/>
              <a:defRPr/>
            </a:pPr>
            <a:r>
              <a:rPr lang="en-US" altLang="zh-CN" sz="2600" dirty="0" smtClean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2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) A good class is a </a:t>
            </a:r>
            <a:r>
              <a:rPr lang="en-US" altLang="zh-CN" sz="2600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fertile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soil in which the student grows</a:t>
            </a:r>
            <a:r>
              <a:rPr lang="en-US" altLang="zh-CN" sz="2600" dirty="0" smtClean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.</a:t>
            </a:r>
            <a:endParaRPr lang="en-US" altLang="zh-CN" sz="2600" dirty="0" smtClean="0">
              <a:solidFill>
                <a:schemeClr val="accent2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eaLnBrk="1" hangingPunct="1">
              <a:lnSpc>
                <a:spcPct val="90000"/>
              </a:lnSpc>
              <a:buSzPct val="120000"/>
              <a:buNone/>
              <a:defRPr/>
            </a:pPr>
            <a:r>
              <a:rPr lang="en-US" altLang="zh-CN" sz="2600" dirty="0" smtClean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   </a:t>
            </a:r>
            <a:r>
              <a:rPr lang="zh-CN" altLang="en-US" sz="2600" dirty="0" smtClean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一</a:t>
            </a:r>
            <a:r>
              <a:rPr lang="zh-CN" altLang="en-US" sz="2600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个好的班级体是学生成长的沃土</a:t>
            </a:r>
            <a:r>
              <a:rPr lang="zh-CN" altLang="en-US" sz="2600" dirty="0" smtClean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。</a:t>
            </a:r>
            <a:endParaRPr lang="en-US" altLang="zh-CN" sz="2600" dirty="0" smtClean="0">
              <a:solidFill>
                <a:schemeClr val="accent2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eaLnBrk="1" hangingPunct="1">
              <a:lnSpc>
                <a:spcPct val="90000"/>
              </a:lnSpc>
              <a:buSzPct val="120000"/>
              <a:buNone/>
              <a:defRPr/>
            </a:pPr>
            <a:r>
              <a:rPr lang="en-US" altLang="zh-CN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3) fertile imagination </a:t>
            </a:r>
            <a:r>
              <a:rPr lang="en-US" altLang="zh-CN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丰富</a:t>
            </a:r>
            <a:r>
              <a:rPr lang="zh-CN" altLang="en-US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的</a:t>
            </a:r>
            <a:r>
              <a:rPr lang="en-US" altLang="zh-CN" sz="2600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想象力</a:t>
            </a:r>
            <a:endParaRPr lang="en-US" altLang="zh-CN" sz="2600" dirty="0"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924615"/>
            <a:ext cx="1143000" cy="317500"/>
          </a:xfrm>
          <a:prstGeom prst="rect">
            <a:avLst/>
          </a:prstGeom>
        </p:spPr>
      </p:pic>
      <p:pic>
        <p:nvPicPr>
          <p:cNvPr id="15" name="图片 14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6" name="图片 15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56615" y="5126990"/>
            <a:ext cx="732091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eaLnBrk="1" hangingPunct="1">
              <a:lnSpc>
                <a:spcPct val="100000"/>
              </a:lnSpc>
              <a:buSzPct val="120000"/>
              <a:buNone/>
              <a:defRPr/>
            </a:pPr>
            <a:r>
              <a:rPr lang="en-US" altLang="zh-CN" sz="2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Word family:    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fertility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n.</a:t>
            </a:r>
            <a:r>
              <a:rPr lang="en-US" altLang="zh-CN" sz="2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 富饶；丰产；生育</a:t>
            </a:r>
            <a:r>
              <a:rPr lang="zh-CN" altLang="en-US" sz="2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力</a:t>
            </a:r>
            <a:endParaRPr lang="zh-CN" altLang="en-US" sz="26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algn="just" eaLnBrk="1" hangingPunct="1">
              <a:lnSpc>
                <a:spcPct val="100000"/>
              </a:lnSpc>
              <a:buSzPct val="120000"/>
              <a:buNone/>
              <a:defRPr/>
            </a:pPr>
            <a:r>
              <a:rPr lang="en-US" altLang="zh-CN" sz="2600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600" b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fertilize</a:t>
            </a:r>
            <a:r>
              <a:rPr lang="en-US" altLang="zh-CN" sz="2600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v. </a:t>
            </a:r>
            <a:r>
              <a:rPr lang="en-US" altLang="zh-CN" sz="2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使授粉；使肥沃</a:t>
            </a:r>
            <a:r>
              <a:rPr lang="en-US" altLang="zh-CN" sz="2600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2600" b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fertilizer</a:t>
            </a:r>
            <a:r>
              <a:rPr lang="en-US" altLang="zh-CN" sz="2600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n. </a:t>
            </a:r>
            <a:r>
              <a:rPr lang="en-US" altLang="zh-CN" sz="2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肥料</a:t>
            </a:r>
            <a:endParaRPr lang="en-US" altLang="zh-CN" sz="26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  <a:p>
            <a:pPr algn="just" eaLnBrk="1" hangingPunct="1">
              <a:lnSpc>
                <a:spcPct val="100000"/>
              </a:lnSpc>
              <a:buSzPct val="120000"/>
              <a:buNone/>
              <a:defRPr/>
            </a:pPr>
            <a:r>
              <a:rPr lang="en-US" altLang="zh-CN" sz="2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Antonym</a:t>
            </a:r>
            <a:r>
              <a:rPr lang="en-US" altLang="zh-CN" sz="2600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: </a:t>
            </a:r>
            <a:r>
              <a:rPr lang="en-US" altLang="zh-CN" sz="2600" b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barren</a:t>
            </a:r>
            <a:r>
              <a:rPr lang="en-US" altLang="zh-CN" sz="2600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600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贫瘠的</a:t>
            </a:r>
            <a:endParaRPr lang="zh-CN" altLang="en-US" sz="2600" dirty="0" smtClean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7"/>
          <a:stretch>
            <a:fillRect/>
          </a:stretch>
        </p:blipFill>
        <p:spPr>
          <a:xfrm>
            <a:off x="9664065" y="924560"/>
            <a:ext cx="1886585" cy="162750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8"/>
          <a:srcRect t="8048"/>
          <a:stretch>
            <a:fillRect/>
          </a:stretch>
        </p:blipFill>
        <p:spPr>
          <a:xfrm>
            <a:off x="9123045" y="3915410"/>
            <a:ext cx="2719705" cy="2376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内容占位符 1"/>
          <p:cNvSpPr txBox="1"/>
          <p:nvPr/>
        </p:nvSpPr>
        <p:spPr bwMode="auto">
          <a:xfrm>
            <a:off x="566420" y="782320"/>
            <a:ext cx="8794115" cy="54876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eaLnBrk="1" hangingPunct="1">
              <a:lnSpc>
                <a:spcPct val="120000"/>
              </a:lnSpc>
              <a:buSzPct val="120000"/>
              <a:buNone/>
              <a:defRPr/>
            </a:pPr>
            <a:r>
              <a:rPr lang="en-US" altLang="zh-CN" sz="32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infancy </a:t>
            </a:r>
            <a:r>
              <a:rPr lang="zh-CN" altLang="en-US" sz="32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               </a:t>
            </a:r>
            <a:r>
              <a:rPr lang="en-US" altLang="zh-CN" i="1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n</a:t>
            </a:r>
            <a:r>
              <a:rPr lang="en-US" altLang="zh-CN" i="1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 </a:t>
            </a: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lvl="0" algn="just" eaLnBrk="1" hangingPunct="1">
              <a:lnSpc>
                <a:spcPct val="120000"/>
              </a:lnSpc>
              <a:buSzPct val="120000"/>
              <a:buNone/>
              <a:defRPr/>
            </a:pPr>
            <a:r>
              <a:rPr lang="en-US" altLang="zh-CN" spc="-40" dirty="0" smtClean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en-US" sz="2600" b="1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婴儿期。</a:t>
            </a:r>
            <a:r>
              <a:rPr lang="zh-CN" altLang="en-US" sz="2600" b="1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初期；初创期</a:t>
            </a:r>
            <a:endParaRPr lang="en-US" altLang="zh-CN" sz="2400" dirty="0" smtClean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1) 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人工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智能的研究仍然处于初期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阶段。</a:t>
            </a:r>
            <a:endParaRPr lang="zh-CN" altLang="en-US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Artificial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intelligence research is still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in its 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infancy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</a:t>
            </a:r>
            <a:endParaRPr lang="en-US" altLang="zh-CN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2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) </a:t>
            </a:r>
            <a:r>
              <a:rPr lang="zh-CN" altLang="en-US" b="1" dirty="0" smtClean="0">
                <a:solidFill>
                  <a:srgbClr val="0563C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</a:t>
            </a:r>
            <a:r>
              <a:rPr lang="zh-CN" altLang="en-US" b="1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这个雄心勃勃的太空旅游项目目前还处于起步阶段，需要大量投资和广泛测试才能迎来第一批乘客。</a:t>
            </a:r>
            <a:endParaRPr lang="zh-CN" altLang="en-US" b="1" dirty="0" smtClean="0"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  <a:buNone/>
              <a:defRPr/>
            </a:pP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The ambitious space tourism project is currently 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in its infancy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, requiring substantial investment and extensive testing before it can welcome its first passengers.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  <a:buNone/>
              <a:defRPr/>
            </a:pPr>
            <a:r>
              <a:rPr lang="zh-CN" altLang="en-US" dirty="0" smtClean="0">
                <a:solidFill>
                  <a:srgbClr val="0563C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   </a:t>
            </a:r>
            <a:endParaRPr lang="zh-CN" altLang="en-US" sz="2400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675" y="1071852"/>
            <a:ext cx="1270000" cy="342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1" r="29585"/>
          <a:stretch>
            <a:fillRect/>
          </a:stretch>
        </p:blipFill>
        <p:spPr>
          <a:xfrm>
            <a:off x="9502140" y="1071880"/>
            <a:ext cx="2082800" cy="2177415"/>
          </a:xfrm>
          <a:prstGeom prst="rect">
            <a:avLst/>
          </a:prstGeom>
        </p:spPr>
      </p:pic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6" name="图片 1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内容占位符 1"/>
          <p:cNvSpPr txBox="1"/>
          <p:nvPr/>
        </p:nvSpPr>
        <p:spPr bwMode="auto">
          <a:xfrm>
            <a:off x="561975" y="769620"/>
            <a:ext cx="11205845" cy="55899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1" hangingPunct="1">
              <a:lnSpc>
                <a:spcPct val="10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en-US" altLang="zh-CN" sz="32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en-US" altLang="zh-CN" sz="32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nsult          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b="1" dirty="0" smtClean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en-US" altLang="zh-CN" sz="2600" b="1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1.</a:t>
            </a:r>
            <a:r>
              <a:rPr lang="zh-CN" altLang="en-US" sz="2600" b="1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 </a:t>
            </a:r>
            <a:r>
              <a:rPr lang="en-US" altLang="zh-CN" sz="2600" b="1" i="1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v.</a:t>
            </a:r>
            <a:r>
              <a:rPr lang="zh-CN" altLang="en-US" sz="2600" b="1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 </a:t>
            </a:r>
            <a:r>
              <a:rPr lang="en-US" altLang="zh-CN" sz="2600" b="1" spc="-40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offend; say or do </a:t>
            </a:r>
            <a:r>
              <a:rPr lang="en-US" altLang="zh-CN" sz="2600" b="1" spc="-40" dirty="0" err="1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sth</a:t>
            </a:r>
            <a:r>
              <a:rPr lang="en-US" altLang="zh-CN" sz="2600" b="1" spc="-40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. that is rude; act offensively to sb. </a:t>
            </a:r>
            <a:r>
              <a:rPr lang="zh-CN" altLang="en-US" sz="2600" b="1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侮辱</a:t>
            </a:r>
            <a:endParaRPr lang="zh-CN" altLang="en-US" sz="2600" b="1" dirty="0" smtClean="0">
              <a:solidFill>
                <a:schemeClr val="tx1"/>
              </a:solidFill>
              <a:latin typeface="Arial Narrow" panose="020B0606020202030204" charset="0"/>
              <a:ea typeface="华文楷体" panose="02010600040101010101" charset="-122"/>
              <a:cs typeface="Arial Narrow" panose="020B0606020202030204" charset="0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en-US" altLang="zh-CN" sz="2600" b="1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  <a:sym typeface="+mn-ea"/>
              </a:rPr>
              <a:t>2. </a:t>
            </a:r>
            <a:r>
              <a:rPr lang="en-US" altLang="zh-CN" sz="2600" b="1" i="1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  <a:sym typeface="+mn-ea"/>
              </a:rPr>
              <a:t>n.</a:t>
            </a:r>
            <a:r>
              <a:rPr lang="zh-CN" altLang="en-US" sz="2600" b="1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  <a:sym typeface="+mn-ea"/>
              </a:rPr>
              <a:t> 辱骂；侮辱；冒犯</a:t>
            </a:r>
            <a:endParaRPr lang="en-US" altLang="zh-CN" sz="2600" b="1" dirty="0" smtClean="0">
              <a:solidFill>
                <a:schemeClr val="tx1"/>
              </a:solidFill>
              <a:latin typeface="Arial Narrow" panose="020B0606020202030204" charset="0"/>
              <a:ea typeface="华文楷体" panose="02010600040101010101" charset="-122"/>
              <a:cs typeface="Arial Narrow" panose="020B0606020202030204" charset="0"/>
            </a:endParaRPr>
          </a:p>
          <a:p>
            <a:pPr marL="360680" lvl="0" indent="-360680" algn="just" eaLnBrk="1" hangingPunct="1">
              <a:lnSpc>
                <a:spcPct val="10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1) </a:t>
            </a:r>
            <a:r>
              <a:rPr lang="zh-CN" altLang="en-US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她没请我参加会议，我感到深受侮辱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。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</a:t>
            </a:r>
            <a:endParaRPr lang="en-US" altLang="zh-CN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    </a:t>
            </a:r>
            <a:r>
              <a:rPr lang="en-US" altLang="zh-CN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I felt deeply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insulted</a:t>
            </a:r>
            <a:r>
              <a:rPr lang="en-US" altLang="zh-CN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that she hadn’t invited me to the meeting</a:t>
            </a:r>
            <a:r>
              <a:rPr lang="en-US" altLang="zh-CN" sz="24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.</a:t>
            </a:r>
            <a:endParaRPr lang="en-US" altLang="zh-CN" sz="2400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360680" lvl="0" indent="-360680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2) The questions were an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insult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to our intelligence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.</a:t>
            </a:r>
            <a:endParaRPr lang="en-US" altLang="zh-CN" dirty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  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那些问题（简单得）有辱我们的智慧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。</a:t>
            </a:r>
            <a:endParaRPr lang="en-US" altLang="zh-CN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360680" lvl="0" indent="-360680"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add insult to injury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:</a:t>
            </a:r>
            <a:r>
              <a:rPr lang="en-US" altLang="zh-CN" b="1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伤害之外又加以侮辱；雪上加霜，更糟的是</a:t>
            </a:r>
            <a:endParaRPr lang="en-US" altLang="zh-CN" sz="2400" dirty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</a:t>
            </a:r>
            <a:r>
              <a:rPr lang="en-US" altLang="zh-CN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It was raining heavily, and then to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add insult to injury</a:t>
            </a:r>
            <a:r>
              <a:rPr lang="en-US" altLang="zh-CN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, a gust of wind blew away my umbrella.</a:t>
            </a:r>
            <a:endParaRPr lang="en-US" altLang="zh-CN" dirty="0">
              <a:solidFill>
                <a:schemeClr val="accent2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ts val="600"/>
              </a:spcBef>
              <a:buSzPct val="120000"/>
              <a:buNone/>
              <a:defRPr/>
            </a:pPr>
            <a:r>
              <a:rPr lang="en-US" altLang="zh-CN" dirty="0">
                <a:solidFill>
                  <a:schemeClr val="accent2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雨下得很大，更糟的是，一阵狂风把我的伞吹走了。</a:t>
            </a:r>
            <a:endParaRPr lang="en-US" altLang="zh-CN" dirty="0">
              <a:solidFill>
                <a:schemeClr val="accent2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11" y="946432"/>
            <a:ext cx="1227208" cy="296688"/>
          </a:xfrm>
          <a:prstGeom prst="rect">
            <a:avLst/>
          </a:prstGeom>
        </p:spPr>
      </p:pic>
      <p:pic>
        <p:nvPicPr>
          <p:cNvPr id="13" name="图片 1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4" name="图片 13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7"/>
          <a:stretch>
            <a:fillRect/>
          </a:stretch>
        </p:blipFill>
        <p:spPr>
          <a:xfrm>
            <a:off x="8963025" y="882650"/>
            <a:ext cx="3010535" cy="1675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内容占位符 1"/>
          <p:cNvSpPr txBox="1"/>
          <p:nvPr/>
        </p:nvSpPr>
        <p:spPr bwMode="auto">
          <a:xfrm>
            <a:off x="968375" y="918845"/>
            <a:ext cx="9806305" cy="4616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eaLnBrk="1" hangingPunct="1">
              <a:lnSpc>
                <a:spcPct val="100000"/>
              </a:lnSpc>
              <a:buSzPct val="120000"/>
              <a:buNone/>
              <a:defRPr/>
            </a:pPr>
            <a:r>
              <a:rPr lang="en-US" altLang="zh-CN" sz="32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pierce              </a:t>
            </a:r>
            <a:r>
              <a:rPr lang="en-US" altLang="zh-CN" i="1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v.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</a:t>
            </a:r>
            <a:r>
              <a:rPr lang="en-US" altLang="zh-CN" spc="-40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make a hole through </a:t>
            </a:r>
            <a:r>
              <a:rPr lang="en-US" altLang="zh-CN" spc="-40" dirty="0" err="1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sth</a:t>
            </a:r>
            <a:r>
              <a:rPr lang="en-US" altLang="zh-CN" spc="-40" dirty="0" smtClean="0">
                <a:solidFill>
                  <a:schemeClr val="tx1"/>
                </a:solidFill>
                <a:latin typeface="Arial Narrow" panose="020B0606020202030204" charset="0"/>
                <a:ea typeface="华文楷体" panose="02010600040101010101" charset="-122"/>
                <a:cs typeface="Arial Narrow" panose="020B0606020202030204" charset="0"/>
              </a:rPr>
              <a:t>. </a:t>
            </a:r>
            <a:r>
              <a:rPr lang="zh-CN" altLang="en-US" sz="24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刺入；刺穿；刺破</a:t>
            </a:r>
            <a:endParaRPr lang="en-US" altLang="zh-CN" sz="2400" dirty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algn="just" eaLnBrk="1" hangingPunct="1">
              <a:lnSpc>
                <a:spcPct val="100000"/>
              </a:lnSpc>
              <a:buSzPct val="120000"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1) One bullet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pierced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the left side of his chest.</a:t>
            </a:r>
            <a:endParaRPr lang="en-US" altLang="zh-CN" dirty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algn="just" eaLnBrk="1" hangingPunct="1">
              <a:lnSpc>
                <a:spcPct val="100000"/>
              </a:lnSpc>
              <a:buSzPct val="120000"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     一颗子弹射入了他的左胸。</a:t>
            </a:r>
            <a:endParaRPr lang="en-US" altLang="zh-CN" dirty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algn="just" eaLnBrk="1" hangingPunct="1">
              <a:lnSpc>
                <a:spcPct val="100000"/>
              </a:lnSpc>
              <a:buSzPct val="120000"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2) 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Her sudden scream pierced the tranquil night, startling everyone who was peacefully asleep.</a:t>
            </a:r>
            <a:endParaRPr lang="en-US" altLang="zh-CN" b="1" dirty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algn="just" eaLnBrk="1" hangingPunct="1">
              <a:lnSpc>
                <a:spcPct val="100000"/>
              </a:lnSpc>
              <a:buSzPct val="120000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 </a:t>
            </a:r>
            <a:r>
              <a:rPr lang="zh-CN" altLang="en-US" b="1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她突然的尖叫声划破了宁静的夜空，惊醒了所有安睡的人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。</a:t>
            </a:r>
            <a:endParaRPr lang="en-US" altLang="zh-CN" sz="2400" b="1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1270" indent="0" eaLnBrk="1" hangingPunct="1">
              <a:spcBef>
                <a:spcPct val="50000"/>
              </a:spcBef>
              <a:buNone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3) Her memories sometimes 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pierced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her heart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.</a:t>
            </a:r>
            <a:endParaRPr lang="en-US" altLang="zh-CN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1270" indent="0" eaLnBrk="1" hangingPunct="1">
              <a:spcBef>
                <a:spcPct val="50000"/>
              </a:spcBef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回忆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有时让她心如刀割。</a:t>
            </a:r>
            <a:endParaRPr lang="en-US" altLang="zh-CN" sz="2400" dirty="0">
              <a:solidFill>
                <a:srgbClr val="0563C1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335" y="1026132"/>
            <a:ext cx="825500" cy="355600"/>
          </a:xfrm>
          <a:prstGeom prst="rect">
            <a:avLst/>
          </a:prstGeom>
        </p:spPr>
      </p:pic>
      <p:pic>
        <p:nvPicPr>
          <p:cNvPr id="12" name="图片 1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5" name="图片 14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7"/>
          <a:stretch>
            <a:fillRect/>
          </a:stretch>
        </p:blipFill>
        <p:spPr>
          <a:xfrm>
            <a:off x="10001885" y="1026160"/>
            <a:ext cx="1390650" cy="147701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8"/>
          <a:stretch>
            <a:fillRect/>
          </a:stretch>
        </p:blipFill>
        <p:spPr>
          <a:xfrm>
            <a:off x="9380220" y="4352925"/>
            <a:ext cx="2137410" cy="20586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49435" y="5982970"/>
            <a:ext cx="1981200" cy="36830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Georgia" panose="02040502050405020303" charset="0"/>
                <a:cs typeface="Georgia" panose="02040502050405020303" charset="0"/>
              </a:rPr>
              <a:t>ear piercings</a:t>
            </a:r>
            <a:endParaRPr lang="en-US" altLang="zh-CN" b="1">
              <a:solidFill>
                <a:srgbClr val="FF0000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2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Fill in the blanks with the correct prepositions or adverbs, paying attention to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verb phrases with “get.”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I know that ____ spite _____ the progress we have made in all these years, many people are still unhappy because their life is filled _____ worries and anxiety. But _____ my age, I am already at peace _____ the world. I have stopped complaining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things. I know I have done my best, and the world belongs _____ the young. When I die _____ old age(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终其天年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), I will have no regret because I know what I have left unfinished will be passed _____ _____ them.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84845" y="1687239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61244" y="1688018"/>
            <a:ext cx="4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11671" y="2117934"/>
            <a:ext cx="832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898376" y="2549428"/>
            <a:ext cx="473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06476" y="2547897"/>
            <a:ext cx="832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112009" y="2965341"/>
            <a:ext cx="1475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</a:t>
            </a: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bout/of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41154" y="3398365"/>
            <a:ext cx="490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234250" y="3397307"/>
            <a:ext cx="4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083272" y="4134514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45594" y="4134387"/>
            <a:ext cx="490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8" name="图片 2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9" name="图片 28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715" y="758190"/>
            <a:ext cx="11630025" cy="3909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2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Fill in the blanks with the correct prepositions or adverbs, paying attention to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verb phrases with “get.”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When I think ____ my great grandfather, I always feel pity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him. My father told me that he used to work ______ morning _______ dusk, 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______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 strip of land, year _____ year, but he was never able to protect his family ____________ hunger and cold. Actually his first two children died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infancy(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夭折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06585" y="3398473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62214" y="1677336"/>
            <a:ext cx="4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787366" y="1690588"/>
            <a:ext cx="600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49374" y="2121284"/>
            <a:ext cx="889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from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787182" y="2121284"/>
            <a:ext cx="995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</a:t>
            </a: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ill/to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50867" y="2449167"/>
            <a:ext cx="882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after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596349" y="2951572"/>
            <a:ext cx="2061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gainst/from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8" name="图片 1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4" name="图片 1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32107" y="2448944"/>
            <a:ext cx="5568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8" grpId="0"/>
      <p:bldP spid="29" grpId="0"/>
      <p:bldP spid="30" grpId="0"/>
      <p:bldP spid="31" grpId="0"/>
      <p:bldP spid="33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2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Fill in the blanks with the correct prepositions or adverbs, paying attention to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verb phrases with “get.”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Does it occur ____ you that _____ my day, nobody I knew ever complained _________ being overweight because we were always short _____ food? As _____ me, I belonged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 the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lucky ones. I never really starved, but I never was full either. As _____ clothes, we were usually _____ rags. Now and then, my father would buy a new pair of trousers. After a few years, they would be passed _____ the first-born child(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长子、长女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), and then to the next and still the next until they became rags.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62214" y="1677336"/>
            <a:ext cx="490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213364" y="1684899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35259" y="2094741"/>
            <a:ext cx="1475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of/about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157433" y="2122143"/>
            <a:ext cx="4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482030" y="2543035"/>
            <a:ext cx="600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92905" y="2543035"/>
            <a:ext cx="490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26136" y="2972998"/>
            <a:ext cx="600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513871" y="2972998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08081" y="3817882"/>
            <a:ext cx="490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2" name="图片 2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23" name="图片 2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8" grpId="0"/>
      <p:bldP spid="29" grpId="0"/>
      <p:bldP spid="30" grpId="0"/>
      <p:bldP spid="31" grpId="0"/>
      <p:bldP spid="33" grpId="0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715" y="758190"/>
            <a:ext cx="11630025" cy="49333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2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Fill in the blanks with the correct prepositions or adverbs, paying attention to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verb phrases with “get.”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We haven’t got much time. Let’s get _______ to business. I hate to leave the others to finish the job. Let’s get it ______ and done ______ (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结束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Her son didn’t get paid very much, but mother and son managed to get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_____(勉强过活)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So her son’s sudden death was a terrible blow to her. She just couldn’t get _____ it(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从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……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恢复过来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She was very easy to get ______ ______. She knew a bit of Chinese, and I knew a bit of Russian, so we managed to get our ideas ______(被理解; 把…讲清楚). We soon became good friends.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574041" y="1677336"/>
            <a:ext cx="1007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down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67559" y="2120800"/>
            <a:ext cx="834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over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153366" y="2120800"/>
            <a:ext cx="832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76166" y="3028573"/>
            <a:ext cx="53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by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870351" y="3455079"/>
            <a:ext cx="834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over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704862" y="3948104"/>
            <a:ext cx="984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along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60319" y="3944209"/>
            <a:ext cx="832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756476" y="4326895"/>
            <a:ext cx="1099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across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8" name="图片 1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4" grpId="0"/>
      <p:bldP spid="25" grpId="0"/>
      <p:bldP spid="26" grpId="0"/>
      <p:bldP spid="27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715" y="758190"/>
            <a:ext cx="11630025" cy="47269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2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Fill in the blanks with the correct prepositions or adverbs, paying attention to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verb phrases with “get.”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The news of the scandal(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丑闻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got _____________ quickly, and he was condemned by public opinion. But he still thought that with his lawyer’s effort he would get _______ _______ it(逃脱惩罚).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I found it challenging to start a company of my own. Sometimes, I barely had enough money to get ____________(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熬过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). It was my team members’ support that got me ____________ those difficult days. We must get _________ for a dinner once the company starts to bring in some profit.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86226" y="1660582"/>
            <a:ext cx="2247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round/round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891109" y="2547412"/>
            <a:ext cx="9334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away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238061" y="2547412"/>
            <a:ext cx="832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77631" y="3445284"/>
            <a:ext cx="18173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through/by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254287" y="3868592"/>
            <a:ext cx="2131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hrough/over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58042" y="4307822"/>
            <a:ext cx="1444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together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7" name="图片 1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4" grpId="0"/>
      <p:bldP spid="26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noProof="0" dirty="0">
                <a:latin typeface="Calibri" panose="020F0502020204030204"/>
                <a:ea typeface="宋体" panose="02010600030101010101" pitchFamily="2" charset="-122"/>
              </a:rPr>
              <a:t>3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Fill in the blanks with the correct form of the appropriate words or phrases in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brackets. Note that more than one of them may be appropriate.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 She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(hope; wish)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her sister great success, and kissed her goodbye.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 He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told me that he was ________ 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(hope; wish)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 find a job in Beijing.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—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(hope; wish)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you can join us this Sunday. I assure you we’ll have great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fun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—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(hope; wish) I could, but I’m not feeling very well.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Many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people _______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(hope; wish)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 we had paid more attention to global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warming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16536" y="1686020"/>
            <a:ext cx="1220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wished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20588" y="2607046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hoping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70760" y="3090510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hope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91405" y="4511761"/>
            <a:ext cx="1220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wished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56820" y="4028297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wish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8" name="图片 1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9" name="图片 18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715" y="758190"/>
            <a:ext cx="11630025" cy="51333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noProof="0" dirty="0">
                <a:latin typeface="Calibri" panose="020F0502020204030204"/>
                <a:ea typeface="宋体" panose="02010600030101010101" pitchFamily="2" charset="-122"/>
              </a:rPr>
              <a:t>3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Fill in the blanks with the correct form of the appropriate words or phrases in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brackets. Note that more than one of them may be appropriate.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They ______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(hope; wish)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 the rate of exchange (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汇率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would not drop any further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Mark Twain said that he was different from George Washington in that Washington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can’t; won’t)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lie. He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can; will)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but he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can’t; won’t)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She insisted that they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should; would; could; might)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have given their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mother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operation because it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should; would; could; might)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have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prolonged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her life for a few months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41238" y="1685539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hope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42932" y="3030400"/>
            <a:ext cx="13824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ouldn’t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32374" y="3030400"/>
            <a:ext cx="983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could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53555" y="3464604"/>
            <a:ext cx="1486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</a:t>
            </a: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ouldn’t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05746" y="3950105"/>
            <a:ext cx="1164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should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90079" y="4367548"/>
            <a:ext cx="3001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would/could/might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5569" y="5198003"/>
            <a:ext cx="10790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spc="-15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(“Would” would mean certainty while “could” and “might” would mean possibility.)</a:t>
            </a:r>
            <a:endParaRPr lang="zh-CN" altLang="en-US" sz="2800" spc="-15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9" name="图片 18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0" name="图片 19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715" y="758190"/>
            <a:ext cx="11630025" cy="4580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noProof="0" dirty="0">
                <a:latin typeface="Calibri" panose="020F0502020204030204"/>
                <a:ea typeface="宋体" panose="02010600030101010101" pitchFamily="2" charset="-122"/>
              </a:rPr>
              <a:t>3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Fill in the blanks with the correct form of the appropriate words or phrases in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brackets. Note that more than one of them may be appropriate.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The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event ___________________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happen; occur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 broad daylight. There were hundreds of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people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who saw this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happen; occur)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Has it ever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happen; occur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to you that all these changes have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____________________________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happen; occur; take place)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 the past three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decades?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Do you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happen; occur)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 know when and where the first Winter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Olympics ___________ 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happen; occur; take place)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?	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36579" y="1662308"/>
            <a:ext cx="30865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happened/occurred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90231" y="2099630"/>
            <a:ext cx="223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</a:t>
            </a: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appen/occur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2839" y="2596346"/>
            <a:ext cx="1480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occurred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0303" y="3014030"/>
            <a:ext cx="4886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appened/occurred/taken place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04059" y="3935296"/>
            <a:ext cx="1290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happen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476556" y="4357092"/>
            <a:ext cx="1697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ook place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9" name="图片 18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0" name="图片 19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4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Translate the following sentences, paying attention to the words in bold type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which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may have different meanings in different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contexts.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 Shortly after my wound was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dressed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my fever was gone, but a dull pain still remained near my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temples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and the doctor told me that I had to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rest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for the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rest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of the week.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的伤口</a:t>
            </a:r>
            <a:r>
              <a:rPr lang="zh-CN" altLang="en-US" u="sng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包扎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完不久烧就退了，但</a:t>
            </a:r>
            <a:r>
              <a:rPr lang="zh-CN" altLang="en-US" u="sng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太阳穴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处仍然感到隐隐作痛。医生告诉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我在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这周余下的几天内要多休息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Well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they dug three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wells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last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spring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but all turned out to be dry. Many began to doubt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they would ever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strike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oil in this desert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嗯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，去年春天他们挖了三口井，结果都是干的。很多人开始怀疑他们在这</a:t>
            </a:r>
            <a:r>
              <a:rPr lang="zh-CN" altLang="en-US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片沙漠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里能否</a:t>
            </a:r>
            <a:r>
              <a:rPr lang="zh-CN" altLang="en-US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打出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石油。</a:t>
            </a:r>
            <a:endParaRPr lang="en-US" altLang="zh-CN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4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Translate the following sentences, paying attention to the words in bold type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which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may have different meanings in different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contexts.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 The color of that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dress strikes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me as a bit too loud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</a:t>
            </a:r>
            <a:r>
              <a:rPr lang="zh-CN" altLang="en-US" u="sng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觉得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那条连衣裙的颜色有点太花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哨。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I saw the snake lying in the grass, perfectly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still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I thought it was dead. I did not expect it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suddenly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strike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me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spc="-1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zh-CN" altLang="en-US" spc="-15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我</a:t>
            </a:r>
            <a:r>
              <a:rPr lang="zh-CN" altLang="en-US" spc="-15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看到一条蛇躺在草地</a:t>
            </a:r>
            <a:r>
              <a:rPr lang="zh-CN" altLang="en-US" spc="-15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里</a:t>
            </a:r>
            <a:r>
              <a:rPr lang="zh-CN" altLang="en-US" spc="-15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，</a:t>
            </a:r>
            <a:r>
              <a:rPr lang="zh-CN" altLang="en-US" spc="-15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一</a:t>
            </a:r>
            <a:r>
              <a:rPr lang="zh-CN" altLang="en-US" spc="-15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动也不动。我以为它死了，没想到它会突然</a:t>
            </a:r>
            <a:r>
              <a:rPr lang="zh-CN" altLang="en-US" spc="-15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攻击我。</a:t>
            </a:r>
            <a:endParaRPr lang="en-US" altLang="zh-CN" spc="-150" dirty="0" smtClean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 I don’t know how old she is; she must be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well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over 90, but she is still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well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and strong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不知道她多大年纪了，肯定有九十好几了吧，但她依然健硕。</a:t>
            </a: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7" name="图片 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4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Translate the following sentences, paying attention to the words in bold type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which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may have different meanings in different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contexts.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Even the monks in the Buddhist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temple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showed their support for the bus drivers’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strike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就连寺庙里的和尚也对公交车司机的</a:t>
            </a:r>
            <a:r>
              <a:rPr lang="zh-CN" altLang="en-US" u="sng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罢工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表示支持。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Tears began to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well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up in my eyes when she described how they used to have only one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dress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between her mother and all the grown-up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sisters.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spc="-1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当她说到她妈妈曾经与她们几个成年姐妹共穿一件衣服时，我的泪水不禁</a:t>
            </a:r>
            <a:r>
              <a:rPr lang="zh-CN" altLang="en-US" u="sng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涌上</a:t>
            </a:r>
            <a:r>
              <a:rPr lang="zh-CN" altLang="en-US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眼眶。</a:t>
            </a:r>
            <a:endParaRPr lang="en-US" altLang="zh-CN" dirty="0" smtClean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7" name="图片 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4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Translate the following sentences, paying attention to the words in bold type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which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may have different meanings in different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contexts.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Look at the new buildings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springing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up. I’m sure life here will be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still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better in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future.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看看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这拔地而起的座座新大楼，我相信这里的生活将会更加美好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 smtClean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 The deer were drinking from a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spring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not knowing that there was a tiger hiding in the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nearby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bushes, and in one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spring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it would be on one of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them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那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群鹿正饮着泉水，全然不知附近的灌木丛里躲着一只老虎。它只要一扑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，就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能扑到一只小鹿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身上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4" name="图片 1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noProof="0" dirty="0"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Study the following examples and complete the sentences by translating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Chinese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in the brackets.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50000"/>
              </a:lnSpc>
              <a:buNone/>
              <a:defRPr/>
            </a:pP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Example 1: </a:t>
            </a: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…</a:t>
            </a: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 it was I who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stayed with my parents till they died. (para. 1)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5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 Maybe ______________</a:t>
            </a: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是命运）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sent them away.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5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 I don’t believe that ___________________</a:t>
            </a: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（是他的儿子）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took his money.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5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 I remember that ___________________</a:t>
            </a: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（是在法国的时候）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 first got interested in baking.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12860" y="2533675"/>
            <a:ext cx="2360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 was fate that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73635" y="3235035"/>
            <a:ext cx="3207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</a:t>
            </a: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 was/is his son who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30861" y="3934219"/>
            <a:ext cx="3129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 was in France that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5" name="图片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noProof="0" dirty="0"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Study the following examples and complete the sentences by translating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Chinese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in the brackets.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50000"/>
              </a:lnSpc>
              <a:buNone/>
              <a:defRPr/>
            </a:pP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Example 2: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…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it is like a knife </a:t>
            </a: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piercing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my heart. (para. 2)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5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It’s like a man _______________________________</a:t>
            </a: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（拿着金饭碗要饭）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5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It’s like a man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_________________________</a:t>
            </a: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（想抓自己头发让自己飞起来）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5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It’s like the blind _______________</a:t>
            </a: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（给盲人领路）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67016" y="2522599"/>
            <a:ext cx="5440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egging for food with a golden bowl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16393" y="3223641"/>
            <a:ext cx="43751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</a:t>
            </a:r>
            <a:r>
              <a:rPr lang="en-US" altLang="zh-CN" sz="280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rying to fly by lifting his hair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21263" y="3934219"/>
            <a:ext cx="2626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eading the blind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5" name="图片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6" name="图片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noProof="0" dirty="0"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Study the following examples and complete the sentences by translating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the Chinese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in the brackets.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Example 3: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Men </a:t>
            </a: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used to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make things with bamboo pieces, but no longer. (para. 4)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________________________________</a:t>
            </a: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（她过去英语方面相当弱）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but now she is one of the top students in our class.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8. ____________________________________</a:t>
            </a: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（我们国家以前被称为一个自行车国家）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but now there are almost as many cars in our cities as in any modern city in the world.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 _________________________________________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（过去我们有很多鱼、虾和螃蟹）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in our rivers and lakes and ponds, but now no longer.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65937" y="2604184"/>
            <a:ext cx="5621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She used to be rather weak in English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5937" y="3518041"/>
            <a:ext cx="64729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Ours used to be called a country of bicycles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65937" y="4865073"/>
            <a:ext cx="7135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There used to be lots of fish, shrimps, and crabs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7" name="图片 1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noProof="0" dirty="0"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Study the sentence pattern and rewrite each of the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sentences.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Example: </a:t>
            </a:r>
            <a:r>
              <a:rPr lang="en-US" altLang="zh-CN" sz="28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Pattern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: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if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subject + verb (past perfect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), subject +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would/should/could/might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+ main verb (have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done)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en-US" altLang="zh-CN" sz="28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If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 kind of thing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had happened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when I was young, the whole village </a:t>
            </a:r>
            <a:r>
              <a:rPr lang="en-US" altLang="zh-CN" sz="28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would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have condemned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such an ungrateful son … (para. 6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used when you are talking about something that might have happened in </a:t>
            </a:r>
            <a:r>
              <a:rPr lang="en-US" altLang="zh-CN" sz="2800" i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sz="2800" i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past but did not happen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 The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patient wasn’t sent to the hospital soon enough, and he died on the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way.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If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the patient had been sent to the hospital soon enough, he wouldn’t have died on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way.</a:t>
            </a:r>
            <a:endParaRPr lang="en-US" altLang="zh-CN" sz="2800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5" name="图片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noProof="0" dirty="0"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Study the sentence pattern and rewrite each of the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sentences.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 The firefighters arrived in time, and the fire did not spread to other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rooms.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	If the firefighters hadn’t arrived in time, the fire might have spread to other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rooms.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 He was aware of the danger, so he ran out of the house in time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If he hadn’t been aware of the danger, he wouldn’t have run out of the house in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time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They didn’t know Professor Ji was in town last week, and, therefore, they missed the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chance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 invite him to speak at the university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If they had known Professor Ji was in town last week, they would have invited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him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to speak at the university.</a:t>
            </a:r>
            <a:endParaRPr lang="en-US" altLang="zh-CN" sz="2800" dirty="0" smtClean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4" name="图片 1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7</a:t>
            </a:r>
            <a:r>
              <a:rPr kumimoji="0" lang="en-US" altLang="zh-CN" b="1" i="0" u="none" strike="noStrike" kern="1200" cap="none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 Study the use of “as” in the example and translate the sentences into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Chinese.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Example: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My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husband moved into our house,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as is the way with us in </a:t>
            </a:r>
            <a:r>
              <a:rPr lang="en-US" altLang="zh-CN" sz="2800" b="1" dirty="0" err="1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Esarn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(para. 1)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i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“</a:t>
            </a:r>
            <a:r>
              <a:rPr lang="en-US" altLang="zh-CN" sz="2800" i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As” can take the place of subjects in clauses, rather like a relative </a:t>
            </a:r>
            <a:r>
              <a:rPr lang="en-US" altLang="zh-CN" sz="2800" i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pronoun.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endParaRPr lang="en-US" altLang="zh-CN" sz="2800" i="1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 As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so often happens, the darkest hour comes just before dawn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黎明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前往往是最黑暗的时刻。</a:t>
            </a:r>
            <a:endParaRPr lang="en-US" altLang="zh-CN" dirty="0" smtClean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 As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is known to all, China remains a developing country in many ways in spite of her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rapid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economic development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众所周知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，尽管经济发展很快，中国仍然是个发展中国家。</a:t>
            </a:r>
            <a:endParaRPr lang="en-US" altLang="zh-CN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7. Study the use of “as” in the example and translate the sentences into Chinese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 As is the case with many men, he seems to be having a midlife crisis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他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好像正处于中年危机之中，不少男人都有这样的经历。</a:t>
            </a: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As is announced in the newspaper, the conference will be held next month.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正如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报上所宣布的那样，这次会议将于下月召开。</a:t>
            </a: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He is a foreigner, as is evident (=clear) from his accent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他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是个外国人，他的口音很清楚地表明这点。</a:t>
            </a: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The boy is interested in the game, as can be seen from the expression on his face.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这个男孩脸上的表情可以看出，他对这个游戏很感兴趣。</a:t>
            </a:r>
            <a:endParaRPr lang="zh-CN" altLang="en-US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4" name="图片 1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8. Study the use of the “link verb + predicative” pattern in the example and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translate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the sentences into English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Example: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Pattern: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link verb + predicative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Our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piece of land 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gets old and exhausted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sz="28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</a:t>
            </a:r>
            <a:r>
              <a:rPr lang="zh-CN" altLang="en-US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那个</a:t>
            </a:r>
            <a:r>
              <a:rPr lang="zh-CN" altLang="en-US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人从来没见过这么漂亮的丝绸。他</a:t>
            </a:r>
            <a:r>
              <a:rPr lang="zh-CN" altLang="en-US" dirty="0" smtClean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说：“</a:t>
            </a:r>
            <a:r>
              <a:rPr lang="zh-CN" altLang="en-US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这东西看着好，摸着也好，的确就是好！</a:t>
            </a:r>
            <a:r>
              <a:rPr lang="zh-CN" altLang="en-US" dirty="0" smtClean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en-US" altLang="zh-CN" dirty="0" smtClean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The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man had never seen such beautiful silk. He said, “It looks good, feels good,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and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it is good!”</a:t>
            </a:r>
            <a:endParaRPr lang="en-US" altLang="zh-CN" sz="2800" dirty="0" smtClean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 </a:t>
            </a:r>
            <a:r>
              <a:rPr lang="zh-CN" altLang="en-US" dirty="0" smtClean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树叶</a:t>
            </a:r>
            <a:r>
              <a:rPr lang="zh-CN" altLang="en-US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都变黄，变红，变紫了。这里看起来真是如天堂一样</a:t>
            </a:r>
            <a:r>
              <a:rPr lang="zh-CN" altLang="en-US" dirty="0" smtClean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美。</a:t>
            </a:r>
            <a:endParaRPr lang="en-US" altLang="zh-CN" dirty="0" smtClean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Leaves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had turned/gone/become yellow, red, and purple. It really looked heavenly (beautiful like heaven) here. </a:t>
            </a:r>
            <a:endParaRPr lang="en-US" altLang="zh-CN" sz="2800" dirty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8. Study the use of the “link verb + predicative” pattern in the example and 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translate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the sentences into English</a:t>
            </a: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zh-CN" altLang="en-US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随着年纪越来越大，她开始很容易感到疲惫</a:t>
            </a:r>
            <a:r>
              <a:rPr lang="zh-CN" altLang="en-US" dirty="0" smtClean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 smtClean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As she grew older, she began to feel tired more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easily.</a:t>
            </a:r>
            <a:endParaRPr lang="en-US" altLang="zh-CN" sz="2800" dirty="0" smtClean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他的话听起来很有说服力，但好听的理由并不等于好的理由，两者之间存在很大的区别</a:t>
            </a:r>
            <a:r>
              <a:rPr lang="zh-CN" altLang="en-US" dirty="0" smtClean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 smtClean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What he said sounded very convincing, but reasons that sound good do not always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equal/equate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to sound reasons. There is a big difference between the two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.</a:t>
            </a:r>
            <a:endParaRPr lang="en-US" altLang="zh-CN" sz="2800" dirty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他爱说话，他永远无法保持沉默，而他说的往往被证明是错的</a:t>
            </a:r>
            <a:r>
              <a:rPr lang="zh-CN" altLang="en-US" dirty="0" smtClean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He likes to talk. He can never keep quiet, but what he says often proves (turns out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to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be) incorrect. </a:t>
            </a:r>
            <a:endParaRPr lang="en-US" altLang="zh-CN" sz="2800" dirty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4" name="图片 1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9.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Translate the following sentences, using the words in the brackets.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 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祝英台虽然不愿意嫁给马家少爷，但在她父亲的压力下她不得不服从。她的心都碎了。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(force)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Zhu </a:t>
            </a:r>
            <a:r>
              <a:rPr lang="en-US" altLang="zh-CN" sz="2800" dirty="0" err="1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Yingtai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was forced to obey her father and marry the young master of the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rich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Ma family although she was extremely unwilling. She was heartbroken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.</a:t>
            </a:r>
            <a:endParaRPr lang="en-US" altLang="zh-CN" sz="2800" dirty="0" smtClean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 </a:t>
            </a:r>
            <a:r>
              <a:rPr lang="zh-CN" altLang="en-US" spc="-1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他在战斗中受了伤，流了很多血。他的领导命令他留在医院，直到他完全痊愈。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(heal)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 smtClean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He got wounded in battle and lost a lot of blood. His leader ordered him to stay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in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the hospital until he was completely healed.</a:t>
            </a:r>
            <a:endParaRPr lang="en-US" altLang="zh-CN" sz="2800" dirty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 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许多鸟类年复一年地回到同一个栖息地。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(year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Many birds return to the same habitat year after year. </a:t>
            </a:r>
            <a:endParaRPr lang="en-US" altLang="zh-CN" sz="2800" dirty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9.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Translate the following sentences, using the words in the brackets.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尽管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下着大雨，我们还是去医院探望了祖母。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(spite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We went to the hospital to visit our grandma in spite of the heavy rain.</a:t>
            </a:r>
            <a:endParaRPr lang="en-US" altLang="zh-CN" sz="2800" dirty="0" smtClean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 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当地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人过去一向用谷物换取食盐。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(barter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 smtClean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The local people used to barter grain for salt.</a:t>
            </a:r>
            <a:endParaRPr lang="en-US" altLang="zh-CN" sz="2800" dirty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快餐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店一家家地涌现出来，遍布整个城镇。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(spring</a:t>
            </a:r>
            <a:r>
              <a:rPr lang="en-US" altLang="zh-CN" sz="2800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Fast-food restaurants sprang up all over the town. </a:t>
            </a:r>
            <a:endParaRPr lang="en-US" altLang="zh-CN" sz="2800" dirty="0" smtClean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你要是对你父亲说了实话，他肯定会原谅你的。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(would)</a:t>
            </a:r>
            <a:endParaRPr lang="zh-CN" altLang="en-US" sz="2800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Your father would have forgiven you if you had told him the truth.</a:t>
            </a:r>
            <a:endParaRPr lang="en-US" altLang="zh-CN" sz="2800" dirty="0" smtClean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00000"/>
              </a:lnSpc>
              <a:buNone/>
              <a:defRPr/>
            </a:pPr>
            <a:endParaRPr lang="en-US" altLang="zh-CN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3" name="图片 1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715" y="758190"/>
            <a:ext cx="11630025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9.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Translate the following sentences, using the words in the brackets.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8. 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祸不单行，事情往往如此。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(as) </a:t>
            </a:r>
            <a:endParaRPr lang="en-US" altLang="zh-CN" sz="2800" dirty="0" smtClean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As so often happens, misfortunes never come singly.</a:t>
            </a:r>
            <a:endParaRPr lang="en-US" altLang="zh-CN" sz="2800" dirty="0" smtClean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 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我国南方常遭水灾，北方则常遭旱灾。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(strike) </a:t>
            </a:r>
            <a:endParaRPr lang="en-US" altLang="zh-CN" sz="2800" dirty="0" smtClean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 smtClean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We are often stricken by floods in the south and droughts in the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north.</a:t>
            </a:r>
            <a:endParaRPr lang="en-US" altLang="zh-CN" sz="2800" dirty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10. 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我非常感激帮助我适应新环境的邻居们。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(adapt)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1" indent="-27178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	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 was extremely grateful to the neighbors who helped me adapt to the new 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conditions. </a:t>
            </a:r>
            <a:endParaRPr lang="en-US" altLang="zh-CN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4" name="图片 1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259492" y="757882"/>
            <a:ext cx="11630248" cy="5804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spcBef>
                <a:spcPts val="600"/>
              </a:spcBef>
              <a:buNone/>
              <a:defRPr/>
            </a:pPr>
            <a:r>
              <a:rPr lang="en-US" altLang="zh-CN" b="1" dirty="0" smtClean="0">
                <a:latin typeface="Calibri" panose="020F0502020204030204"/>
                <a:ea typeface="宋体" panose="02010600030101010101" pitchFamily="2" charset="-122"/>
              </a:rPr>
              <a:t>10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. Fill in each blank of the passage with ONE suitable word.</a:t>
            </a:r>
            <a:r>
              <a:rPr kumimoji="0" lang="en-US" altLang="zh-CN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lang="en-US" altLang="zh-CN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ts val="600"/>
              </a:spcBef>
              <a:buNone/>
              <a:defRPr/>
            </a:pPr>
            <a:r>
              <a:rPr lang="en-US" altLang="zh-CN" sz="2800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Jack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Hawkins was the football coach at an American college, and he was always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______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 find good players, but they weren’t always smart (2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_______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be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accepted by the college. One day the coach (3)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 an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excellent young player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dean of the college and asked that the student be allowed to enter the college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4)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 an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examination. “Well,” the dean said after some persuasion, “I’d better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ask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him a few questions (5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.” Then he turned to the student and asked him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some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very (6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________________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questions, but the student didn’t know (7)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____of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answers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Finally, the dean said, “Well, what’s five (8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______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seven?” The student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thought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for a long time and then said, “Thirty-six.” The dean threw up his hands and looked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at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coach (9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___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despair, but the coach said earnestly, “Oh, please let him in,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sir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! He was (10) </a:t>
            </a:r>
            <a:r>
              <a:rPr lang="en-US" altLang="zh-CN" sz="28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 wrong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by two.”</a:t>
            </a:r>
            <a:endParaRPr lang="en-US" altLang="zh-CN" sz="2800" dirty="0">
              <a:solidFill>
                <a:srgbClr val="C0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538480" lvl="1" indent="-271780" algn="just" eaLnBrk="1" hangingPunct="1">
              <a:spcBef>
                <a:spcPts val="600"/>
              </a:spcBef>
              <a:buNone/>
              <a:defRPr/>
            </a:pPr>
            <a:endParaRPr lang="en-US" altLang="zh-CN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33345" y="1554662"/>
            <a:ext cx="1032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trying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7189" y="1925718"/>
            <a:ext cx="1287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enough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913205" y="1934378"/>
            <a:ext cx="1345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brought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08267" y="2699696"/>
            <a:ext cx="133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without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949336" y="3078637"/>
            <a:ext cx="75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first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979468" y="3468285"/>
            <a:ext cx="2797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</a:t>
            </a: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imple/basic/easy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83637" y="3853512"/>
            <a:ext cx="700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any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07599" y="4243493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times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833704" y="5015423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166662" y="5385756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only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4" name="图片 2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5" name="图片 2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内容占位符 2"/>
          <p:cNvSpPr txBox="1"/>
          <p:nvPr/>
        </p:nvSpPr>
        <p:spPr bwMode="auto">
          <a:xfrm>
            <a:off x="292442" y="774357"/>
            <a:ext cx="11597297" cy="57788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11.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Find and correct the TWO mistakes in each sentence.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 I had been reading for three hours and felt rather exhausting. Therefore, I determine to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take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 little walk and stretch my arms and legs.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I had been reading for three hours and felt rather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exhausted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. Therefore, I </a:t>
            </a:r>
            <a:r>
              <a:rPr lang="en-US" altLang="zh-CN" b="1" u="sng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determined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to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take a little walk and stretch my arms and legs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 The old lady finds that the shops are filled with goods and plastic craft that she has no use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for them.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The old lady finds that the shops are filled with goods and plastic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crafts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that she has 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no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use for </a:t>
            </a:r>
            <a:r>
              <a:rPr lang="en-US" altLang="zh-CN" b="1" u="sng" strike="sngStrike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them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4" name="图片 2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5" name="图片 2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内容占位符 2"/>
          <p:cNvSpPr txBox="1"/>
          <p:nvPr/>
        </p:nvSpPr>
        <p:spPr bwMode="auto">
          <a:xfrm>
            <a:off x="292735" y="774065"/>
            <a:ext cx="11597005" cy="5514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11.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Find and correct the TWO mistakes in each sentence.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 If it wasn’t for my bad cold, I would certainly join you for that trip the other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day.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If it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hadn’t been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for my bad cold, I would certainly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have joined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you for that trip the 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other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day.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The old couple told me that they have nothing to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complain.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The old couple told me that they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had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nothing to complain </a:t>
            </a:r>
            <a:r>
              <a:rPr lang="en-US" altLang="zh-CN" b="1" u="sng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about/of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dirty="0" smtClean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 My grandfather suggested me to apply for a local university for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admission.</a:t>
            </a:r>
            <a:endParaRPr lang="en-US" altLang="zh-CN" sz="40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	My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grandfather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advised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me to apply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a local university for admission.</a:t>
            </a:r>
            <a:endParaRPr lang="en-US" altLang="zh-CN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	[My grandfather suggested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(that) I (should)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apply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a local university for admission./My grandfather suggested my apply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a local university for admission.]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内容占位符 2"/>
          <p:cNvSpPr txBox="1"/>
          <p:nvPr/>
        </p:nvSpPr>
        <p:spPr bwMode="auto">
          <a:xfrm>
            <a:off x="292442" y="774357"/>
            <a:ext cx="11597297" cy="57788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11.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Find and correct the TWO mistakes in each sentence.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He promised that he will pass the message onto all his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friends.</a:t>
            </a:r>
            <a:endParaRPr lang="en-US" altLang="zh-CN" sz="4000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	He promised that he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would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pass the message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on to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all his friends.</a:t>
            </a:r>
            <a:endParaRPr lang="en-US" altLang="zh-CN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Sooner or later, a country will fall back if it fails to keep up with the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time.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Sooner or later, a country will fall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behind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if it fails to keep up with the </a:t>
            </a:r>
            <a:r>
              <a:rPr lang="en-US" altLang="zh-CN" b="1" u="sng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times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8. May be it was fate that brought all my children away from our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hometown.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Maybe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it was fate that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sent/took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all my children away from our 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hometown.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" name="图片 10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749" y="6007035"/>
            <a:ext cx="1103630" cy="554990"/>
          </a:xfrm>
          <a:prstGeom prst="rect">
            <a:avLst/>
          </a:prstGeom>
        </p:spPr>
      </p:pic>
      <p:pic>
        <p:nvPicPr>
          <p:cNvPr id="12" name="图片 1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3" name="图片 12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-6350" ty="2540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 txBox="1"/>
          <p:nvPr/>
        </p:nvSpPr>
        <p:spPr bwMode="auto">
          <a:xfrm>
            <a:off x="292380" y="753762"/>
            <a:ext cx="11597360" cy="5939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Memorable Quotes</a:t>
            </a:r>
            <a:endParaRPr kumimoji="0" lang="en-US" altLang="zh-CN" sz="3200" b="1" i="0" u="none" strike="noStrike" kern="1200" cap="none" normalizeH="0" baseline="0" noProof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0" marR="0" lvl="1" indent="0" algn="just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000" b="1" dirty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457200" lvl="1" indent="-45720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We could never learn to be brave and patient, if there were only joy in the </a:t>
            </a: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world.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1" indent="0" algn="just" eaLnBrk="1" hangingPunct="1">
              <a:buNone/>
              <a:defRPr/>
            </a:pP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                                                                                     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——Helen </a:t>
            </a: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Keller</a:t>
            </a:r>
            <a:endParaRPr lang="en-US" altLang="zh-CN" sz="2800" b="1" dirty="0" smtClean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1" indent="0" algn="just" eaLnBrk="1" hangingPunct="1">
              <a:buNone/>
              <a:defRPr/>
            </a:pP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42900" lvl="1" indent="-34290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A pessimist sees the difficulty in every opportunity; an optimist sees the opportunity </a:t>
            </a: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in 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every difficulty.</a:t>
            </a:r>
            <a:endParaRPr lang="en-US" altLang="zh-CN" sz="2800" b="1" dirty="0" smtClean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1" indent="0" algn="just" eaLnBrk="1" hangingPunct="1">
              <a:buNone/>
              <a:defRPr/>
            </a:pP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                                                                                    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——Winston </a:t>
            </a: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Churchill</a:t>
            </a:r>
            <a:endParaRPr lang="en-US" altLang="zh-CN" sz="2800" b="1" dirty="0" smtClean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171450" lvl="1" indent="-171450" algn="just" eaLnBrk="1" hangingPunct="1">
              <a:buFont typeface="Wingdings" panose="05000000000000000000" pitchFamily="2" charset="2"/>
              <a:buChar char="Ø"/>
              <a:defRPr/>
            </a:pPr>
            <a:endParaRPr lang="en-US" altLang="zh-CN" sz="1000" b="1" dirty="0" smtClean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457200" lvl="1" indent="-45720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The happiest of people don’t necessarily have the best of everything; they just make </a:t>
            </a: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most of everything that comes along their </a:t>
            </a: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way.</a:t>
            </a:r>
            <a:endParaRPr lang="en-US" altLang="zh-CN" sz="2800" b="1" dirty="0" smtClean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58775" lvl="1" indent="-358775" algn="just" eaLnBrk="1" hangingPunct="1">
              <a:buNone/>
              <a:defRPr/>
            </a:pP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                                                                                    ——Source 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unknown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143000" marR="0" lvl="2" indent="-22733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Extension </a:t>
            </a: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Activities 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2" name="图片 1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8910,&quot;width&quot;:15840}"/>
</p:tagLst>
</file>

<file path=ppt/tags/tag2.xml><?xml version="1.0" encoding="utf-8"?>
<p:tagLst xmlns:p="http://schemas.openxmlformats.org/presentationml/2006/main">
  <p:tag name="commondata" val="eyJoZGlkIjoiZTY1NThmYzJlMWRjMDNhYzFmMTdkNmU1NThkNTc3ODEifQ=="/>
</p:tagLst>
</file>

<file path=ppt/theme/theme1.xml><?xml version="1.0" encoding="utf-8"?>
<a:theme xmlns:a="http://schemas.openxmlformats.org/drawingml/2006/main" name="2_Office 主题​​">
  <a:themeElements>
    <a:clrScheme name="自定义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0C0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19739</Words>
  <Application>WPS 演示</Application>
  <PresentationFormat>宽屏</PresentationFormat>
  <Paragraphs>518</Paragraphs>
  <Slides>37</Slides>
  <Notes>87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5" baseType="lpstr">
      <vt:lpstr>Arial</vt:lpstr>
      <vt:lpstr>宋体</vt:lpstr>
      <vt:lpstr>Wingdings</vt:lpstr>
      <vt:lpstr>Arial Black</vt:lpstr>
      <vt:lpstr>思源黑体 CN Regular</vt:lpstr>
      <vt:lpstr>黑体</vt:lpstr>
      <vt:lpstr>Arial Narrow</vt:lpstr>
      <vt:lpstr>华文中宋</vt:lpstr>
      <vt:lpstr>Calibri</vt:lpstr>
      <vt:lpstr>华文楷体</vt:lpstr>
      <vt:lpstr>Calibri</vt:lpstr>
      <vt:lpstr>Times New Roman</vt:lpstr>
      <vt:lpstr>Georgia</vt:lpstr>
      <vt:lpstr>微软雅黑</vt:lpstr>
      <vt:lpstr>Arial Unicode MS</vt:lpstr>
      <vt:lpstr>等线 Light</vt:lpstr>
      <vt:lpstr>等线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Dilys</dc:creator>
  <cp:lastModifiedBy>Cooper</cp:lastModifiedBy>
  <cp:revision>417</cp:revision>
  <dcterms:created xsi:type="dcterms:W3CDTF">2021-05-22T03:56:00Z</dcterms:created>
  <dcterms:modified xsi:type="dcterms:W3CDTF">2025-10-26T14:56:07Z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EC4FE5E93ADC4671A24FC236B85B7D01_12</vt:lpwstr>
  </property>
</Properties>
</file>