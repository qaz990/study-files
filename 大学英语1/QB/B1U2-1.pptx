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1.webp" ContentType="image/webp"/>
  <Override PartName="/ppt/media/image22.webp" ContentType="image/webp"/>
  <Override PartName="/ppt/media/image24.webp" ContentType="image/webp"/>
  <Override PartName="/ppt/media/image26.webp" ContentType="image/webp"/>
  <Override PartName="/ppt/media/image2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0" r:id="rId3"/>
    <p:sldId id="353" r:id="rId5"/>
    <p:sldId id="577" r:id="rId6"/>
    <p:sldId id="698" r:id="rId7"/>
    <p:sldId id="516" r:id="rId8"/>
    <p:sldId id="667" r:id="rId9"/>
    <p:sldId id="526" r:id="rId10"/>
    <p:sldId id="687" r:id="rId11"/>
    <p:sldId id="678" r:id="rId12"/>
    <p:sldId id="540" r:id="rId13"/>
    <p:sldId id="699" r:id="rId14"/>
    <p:sldId id="543" r:id="rId15"/>
    <p:sldId id="694" r:id="rId16"/>
    <p:sldId id="685" r:id="rId17"/>
    <p:sldId id="700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5C5B2"/>
    <a:srgbClr val="808080"/>
    <a:srgbClr val="EFEFEF"/>
    <a:srgbClr val="F2F2F2"/>
    <a:srgbClr val="FFFFFF"/>
    <a:srgbClr val="F6F8FB"/>
    <a:srgbClr val="A1DFE1"/>
    <a:srgbClr val="E5A592"/>
    <a:srgbClr val="C1C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79" autoAdjust="0"/>
    <p:restoredTop sz="91245" autoAdjust="0"/>
  </p:normalViewPr>
  <p:slideViewPr>
    <p:cSldViewPr snapToGrid="0">
      <p:cViewPr varScale="1">
        <p:scale>
          <a:sx n="116" d="100"/>
          <a:sy n="116" d="100"/>
        </p:scale>
        <p:origin x="1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79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ED925-CA01-421B-AFEF-F76D4320BF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3C63-A1AE-4441-B6AD-2013F73B0D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" Target="slide1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18.jpeg"/><Relationship Id="rId2" Type="http://schemas.openxmlformats.org/officeDocument/2006/relationships/tags" Target="../tags/tag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image" Target="../media/image19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webp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webp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5.xml"/><Relationship Id="rId16" Type="http://schemas.openxmlformats.org/officeDocument/2006/relationships/image" Target="../media/image19.png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jpe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4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3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24.webp"/><Relationship Id="rId2" Type="http://schemas.openxmlformats.org/officeDocument/2006/relationships/tags" Target="../tags/tag45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2.xml"/><Relationship Id="rId10" Type="http://schemas.openxmlformats.org/officeDocument/2006/relationships/image" Target="../media/image25.png"/><Relationship Id="rId1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image" Target="../media/image26.webp"/><Relationship Id="rId2" Type="http://schemas.openxmlformats.org/officeDocument/2006/relationships/tags" Target="../tags/tag5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1.xml"/><Relationship Id="rId10" Type="http://schemas.openxmlformats.org/officeDocument/2006/relationships/image" Target="../media/image19.png"/><Relationship Id="rId1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jpeg"/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9" Type="http://schemas.openxmlformats.org/officeDocument/2006/relationships/tags" Target="../tags/tag78.xml"/><Relationship Id="rId18" Type="http://schemas.openxmlformats.org/officeDocument/2006/relationships/image" Target="../media/image25.png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image" Target="../media/image28.webp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20" y="-3953"/>
            <a:ext cx="9064888" cy="6861953"/>
          </a:xfrm>
          <a:prstGeom prst="rect">
            <a:avLst/>
          </a:prstGeom>
        </p:spPr>
      </p:pic>
      <p:pic>
        <p:nvPicPr>
          <p:cNvPr id="2" name="图片 1" descr="未标题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848" r="27500"/>
          <a:stretch>
            <a:fillRect/>
          </a:stretch>
        </p:blipFill>
        <p:spPr>
          <a:xfrm>
            <a:off x="0" y="6350"/>
            <a:ext cx="7977505" cy="6847205"/>
          </a:xfrm>
          <a:prstGeom prst="rect">
            <a:avLst/>
          </a:prstGeom>
        </p:spPr>
      </p:pic>
      <p:sp>
        <p:nvSpPr>
          <p:cNvPr id="31" name="文本框 86"/>
          <p:cNvSpPr txBox="1"/>
          <p:nvPr/>
        </p:nvSpPr>
        <p:spPr>
          <a:xfrm>
            <a:off x="246134" y="250014"/>
            <a:ext cx="2697975" cy="706755"/>
          </a:xfrm>
          <a:prstGeom prst="rect">
            <a:avLst/>
          </a:prstGeom>
          <a:noFill/>
          <a:effectLst>
            <a:outerShdw blurRad="393700" dist="698500" dir="8100000" sx="119000" sy="119000" algn="tr" rotWithShape="0">
              <a:prstClr val="black">
                <a:alpha val="6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9700"/>
                </a:solidFill>
                <a:latin typeface="Arial Black" panose="020B0A04020102020204" pitchFamily="34" charset="0"/>
                <a:ea typeface="思源黑体 CN Regular" panose="020B0500000000000000" charset="-122"/>
              </a:rPr>
              <a:t>Unit  2 A</a:t>
            </a:r>
            <a:endParaRPr lang="en-US" altLang="zh-CN" sz="4000" b="1" dirty="0">
              <a:solidFill>
                <a:srgbClr val="FF9700"/>
              </a:solidFill>
              <a:latin typeface="Arial Black" panose="020B0A04020102020204" pitchFamily="34" charset="0"/>
              <a:ea typeface="思源黑体 CN Regular" panose="020B0500000000000000" charset="-122"/>
            </a:endParaRPr>
          </a:p>
        </p:txBody>
      </p:sp>
      <p:pic>
        <p:nvPicPr>
          <p:cNvPr id="15" name="图片 14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2516437"/>
            <a:ext cx="3016405" cy="501676"/>
          </a:xfrm>
          <a:prstGeom prst="rect">
            <a:avLst/>
          </a:prstGeom>
        </p:spPr>
      </p:pic>
      <p:pic>
        <p:nvPicPr>
          <p:cNvPr id="17" name="图片 1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3268056"/>
            <a:ext cx="5004057" cy="501676"/>
          </a:xfrm>
          <a:prstGeom prst="rect">
            <a:avLst/>
          </a:prstGeom>
        </p:spPr>
      </p:pic>
      <p:pic>
        <p:nvPicPr>
          <p:cNvPr id="19" name="图片 18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019675"/>
            <a:ext cx="3016405" cy="495325"/>
          </a:xfrm>
          <a:prstGeom prst="rect">
            <a:avLst/>
          </a:prstGeom>
        </p:spPr>
      </p:pic>
      <p:pic>
        <p:nvPicPr>
          <p:cNvPr id="21" name="图片 2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63" y="4764943"/>
            <a:ext cx="3733992" cy="488975"/>
          </a:xfrm>
          <a:prstGeom prst="rect">
            <a:avLst/>
          </a:prstGeom>
        </p:spPr>
      </p:pic>
      <p:pic>
        <p:nvPicPr>
          <p:cNvPr id="23" name="图片 2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71" y="5503862"/>
            <a:ext cx="5512083" cy="501676"/>
          </a:xfrm>
          <a:prstGeom prst="rect">
            <a:avLst/>
          </a:prstGeom>
        </p:spPr>
      </p:pic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726886" y="1217811"/>
            <a:ext cx="5585120" cy="8309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wrap="none">
            <a:spAutoFit/>
          </a:bodyPr>
          <a:p>
            <a:pPr marL="127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 smtClean="0">
                <a:solidFill>
                  <a:srgbClr val="CE7431"/>
                </a:solidFill>
                <a:latin typeface="Calibri" panose="020F0502020204030204" charset="0"/>
                <a:ea typeface="宋体" panose="02010600030101010101" pitchFamily="2" charset="-122"/>
              </a:rPr>
              <a:t>Message</a:t>
            </a:r>
            <a:r>
              <a:rPr lang="zh-CN" altLang="en-US" sz="4800" b="1" dirty="0" smtClean="0">
                <a:solidFill>
                  <a:srgbClr val="CE7431"/>
                </a:solidFill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en-US" altLang="zh-CN" sz="4800" b="1" dirty="0" smtClean="0">
                <a:solidFill>
                  <a:srgbClr val="CE7431"/>
                </a:solidFill>
                <a:latin typeface="Calibri" panose="020F0502020204030204" charset="0"/>
                <a:ea typeface="宋体" panose="02010600030101010101" pitchFamily="2" charset="-122"/>
              </a:rPr>
              <a:t>of the Land </a:t>
            </a:r>
            <a:endParaRPr lang="zh-CN" altLang="en-US" sz="5400" dirty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y="19050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Lead-in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2" name="图片 4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9" name="图片 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1" name="内容占位符 2"/>
          <p:cNvSpPr>
            <a:spLocks noGrp="1"/>
          </p:cNvSpPr>
          <p:nvPr/>
        </p:nvSpPr>
        <p:spPr>
          <a:xfrm>
            <a:off x="4394200" y="971550"/>
            <a:ext cx="3900170" cy="22929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lvl="0" indent="0" algn="ctr" eaLnBrk="1" hangingPunct="1">
              <a:lnSpc>
                <a:spcPct val="100000"/>
              </a:lnSpc>
              <a:buNone/>
              <a:defRPr/>
            </a:pPr>
            <a:r>
              <a:rPr lang="en-US" altLang="zh-CN" sz="3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/>
                <a:ea typeface="宋体" panose="02010600030101010101" pitchFamily="2" charset="-122"/>
              </a:rPr>
              <a:t>Thailand</a:t>
            </a:r>
            <a:endParaRPr lang="en-US" altLang="zh-CN" sz="32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/>
              <a:ea typeface="宋体" panose="02010600030101010101" pitchFamily="2" charset="-122"/>
            </a:endParaRPr>
          </a:p>
          <a:p>
            <a:pPr marL="1270" lvl="0" indent="0" algn="ctr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Southeast Asia</a:t>
            </a:r>
            <a:endParaRPr lang="en-US" altLang="zh-CN" b="1" dirty="0" smtClea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1270" lvl="0" indent="0" algn="ctr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Buddhism</a:t>
            </a:r>
            <a:endParaRPr lang="en-US" altLang="zh-CN" b="1" dirty="0" smtClean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1270" lvl="0" indent="0" algn="ctr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tourism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4689475" y="3791585"/>
            <a:ext cx="3399790" cy="23495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6"/>
          <a:stretch>
            <a:fillRect/>
          </a:stretch>
        </p:blipFill>
        <p:spPr>
          <a:xfrm>
            <a:off x="8294370" y="940435"/>
            <a:ext cx="3541395" cy="331279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7"/>
          <a:stretch>
            <a:fillRect/>
          </a:stretch>
        </p:blipFill>
        <p:spPr>
          <a:xfrm>
            <a:off x="8514715" y="4401185"/>
            <a:ext cx="3101340" cy="216408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8"/>
          <a:stretch>
            <a:fillRect/>
          </a:stretch>
        </p:blipFill>
        <p:spPr>
          <a:xfrm>
            <a:off x="784225" y="1066800"/>
            <a:ext cx="3705860" cy="249999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9"/>
          <a:stretch>
            <a:fillRect/>
          </a:stretch>
        </p:blipFill>
        <p:spPr>
          <a:xfrm>
            <a:off x="784225" y="3791585"/>
            <a:ext cx="3700145" cy="2471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y="19050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338"/>
            <a:ext cx="221615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</a:rPr>
              <a:t>Lead-in</a:t>
            </a:r>
            <a:endParaRPr lang="en-US" altLang="zh-C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2" name="图片 41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8" b="31548"/>
          <a:stretch>
            <a:fillRect/>
          </a:stretch>
        </p:blipFill>
        <p:spPr>
          <a:xfrm>
            <a:off x="10627995" y="160020"/>
            <a:ext cx="524510" cy="427355"/>
          </a:xfrm>
          <a:prstGeom prst="rect">
            <a:avLst/>
          </a:prstGeom>
        </p:spPr>
      </p:pic>
      <p:pic>
        <p:nvPicPr>
          <p:cNvPr id="9" name="图片 8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 bwMode="auto">
          <a:xfrm>
            <a:off x="531495" y="852805"/>
            <a:ext cx="10732770" cy="49726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" lvl="0" indent="0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dirty="0">
                <a:latin typeface="Calibri" panose="020F0502020204030204"/>
                <a:ea typeface="宋体" panose="02010600030101010101" pitchFamily="2" charset="-122"/>
              </a:rPr>
              <a:t>Warming-up questions </a:t>
            </a:r>
            <a:endParaRPr lang="en-US" altLang="zh-CN" b="1" dirty="0" smtClean="0">
              <a:latin typeface="Calibri" panose="020F0502020204030204"/>
              <a:ea typeface="宋体" panose="02010600030101010101" pitchFamily="2" charset="-122"/>
            </a:endParaRPr>
          </a:p>
          <a:p>
            <a:pPr marL="0" lvl="0" indent="0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i="1" dirty="0">
                <a:latin typeface="Calibri" panose="020F0502020204030204"/>
                <a:ea typeface="宋体" panose="02010600030101010101" pitchFamily="2" charset="-122"/>
              </a:rPr>
              <a:t>What changes have happened in the Chinese countryside in recent years? </a:t>
            </a:r>
            <a:r>
              <a:rPr lang="en-US" altLang="zh-CN" b="1" i="1" dirty="0" smtClean="0">
                <a:latin typeface="Calibri" panose="020F0502020204030204"/>
                <a:ea typeface="宋体" panose="02010600030101010101" pitchFamily="2" charset="-122"/>
              </a:rPr>
              <a:t>How </a:t>
            </a:r>
            <a:r>
              <a:rPr lang="en-US" altLang="zh-CN" b="1" i="1" dirty="0">
                <a:latin typeface="Calibri" panose="020F0502020204030204"/>
                <a:ea typeface="宋体" panose="02010600030101010101" pitchFamily="2" charset="-122"/>
              </a:rPr>
              <a:t>do you feel about the changes?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fewer young farmers (urbanization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城市化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, rural-urban migration)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left behind </a:t>
            </a: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children and elderly  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old customs fading away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newly-built roads and houses 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</a:rPr>
              <a:t>less impoverished rural residents </a:t>
            </a:r>
            <a:endParaRPr lang="en-US" altLang="zh-CN" dirty="0">
              <a:latin typeface="Calibri" panose="020F0502020204030204"/>
              <a:ea typeface="宋体" panose="02010600030101010101" pitchFamily="2" charset="-122"/>
            </a:endParaRPr>
          </a:p>
          <a:p>
            <a:pPr marL="457200" lvl="0" indent="-45720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4G or 5G network 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5"/>
          <a:stretch>
            <a:fillRect/>
          </a:stretch>
        </p:blipFill>
        <p:spPr>
          <a:xfrm>
            <a:off x="6859905" y="4482465"/>
            <a:ext cx="3376295" cy="210883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8500110" y="3153410"/>
            <a:ext cx="3375660" cy="193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1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If you could choose, would you like to live in a village or in a big city in future? Please give a brief reason. (No more than 15 words)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2750185" y="3151505"/>
            <a:ext cx="6096000" cy="292608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908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</a:rPr>
              <a:t>Text 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400050" y="774065"/>
            <a:ext cx="11196955" cy="45789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	My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husband moved into our house, </a:t>
            </a:r>
            <a:r>
              <a:rPr lang="en-US" altLang="zh-CN" b="1" u="sng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as</a:t>
            </a:r>
            <a:r>
              <a:rPr lang="en-US" altLang="zh-CN" b="1" u="sng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is the way with us in </a:t>
            </a:r>
            <a:r>
              <a:rPr lang="en-US" altLang="zh-CN" b="1" u="sng" dirty="0" err="1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Esarn</a:t>
            </a:r>
            <a:r>
              <a:rPr lang="en-US" altLang="zh-CN" b="1" u="sng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.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358775" lvl="0" indent="-35750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(When we got married) my husband came to live in our house. It was the tradition here in </a:t>
            </a:r>
            <a:r>
              <a:rPr lang="en-US" altLang="zh-CN" dirty="0" err="1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Esarn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that the 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bridegroom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should come to live with the bride’s family.  </a:t>
            </a:r>
            <a:r>
              <a:rPr lang="en-US" altLang="zh-CN" dirty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按照我们伊萨的习俗……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266700" indent="-266700" algn="just" eaLnBrk="1" hangingPunct="1">
              <a:lnSpc>
                <a:spcPct val="13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1. As is the case with many men, he seems to be having a midlife crisis.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266700" indent="-266700" algn="just" eaLnBrk="1" hangingPunct="1">
              <a:lnSpc>
                <a:spcPct val="13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他好像正处于中年危机之中，不少男人都有这样的经历。</a:t>
            </a:r>
            <a:endParaRPr lang="en-US" altLang="zh-CN" dirty="0">
              <a:solidFill>
                <a:sysClr val="windowText" lastClr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66700" indent="-266700" algn="just" eaLnBrk="1" hangingPunct="1">
              <a:lnSpc>
                <a:spcPct val="13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</a:t>
            </a:r>
            <a:r>
              <a:rPr lang="zh-CN" altLang="en-US" dirty="0">
                <a:solidFill>
                  <a:sysClr val="windowText" lastClr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从他的口音就能</a:t>
            </a:r>
            <a:r>
              <a:rPr lang="zh-CN" altLang="en-US" dirty="0">
                <a:solidFill>
                  <a:sysClr val="windowText" lastClr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明显听出来，他是个外国人。</a:t>
            </a:r>
            <a:endParaRPr lang="en-US" altLang="zh-CN" dirty="0">
              <a:solidFill>
                <a:sysClr val="windowText" lastClr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66700" indent="-266700" algn="just" eaLnBrk="1" hangingPunct="1">
              <a:lnSpc>
                <a:spcPct val="130000"/>
              </a:lnSpc>
              <a:spcBef>
                <a:spcPts val="300"/>
              </a:spcBef>
              <a:buNone/>
              <a:defRPr/>
            </a:pPr>
            <a:r>
              <a:rPr lang="en-US" altLang="zh-CN" dirty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rPr>
              <a:t> He is a foreigner, as _________________________ </a:t>
            </a:r>
            <a:endParaRPr lang="en-US" altLang="zh-CN" dirty="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3" name="图片 1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542030" y="4432935"/>
            <a:ext cx="44316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is evident from his accent.</a:t>
            </a:r>
            <a:endParaRPr lang="en-US" altLang="zh-CN" sz="2800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8906510" y="4105275"/>
            <a:ext cx="2690495" cy="2262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72820" y="662305"/>
            <a:ext cx="9172575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What does the sentence mean? </a:t>
            </a:r>
            <a:endParaRPr lang="en-US" altLang="zh-CN" sz="2600" i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He has ears which don’t hear, a mouth which doesn’t speak, and eyes that don’t see. (para. 2)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He is a bit deaf, dumb and blind.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8191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He</a:t>
            </a:r>
            <a:r>
              <a:rPr lang="en-US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’s unsatisfied with</a:t>
            </a:r>
            <a:r>
              <a:rPr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 their children for seldom coming back</a:t>
            </a:r>
            <a:r>
              <a:rPr lang="en-US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 home.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Their</a:t>
            </a:r>
            <a:r>
              <a:rPr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children’s hardships don’t</a:t>
            </a:r>
            <a:r>
              <a:rPr lang="en-US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seem to bother him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.</a:t>
            </a:r>
            <a:endParaRPr lang="en-US" altLang="zh-CN" sz="28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/>
          <p:nvPr/>
        </p:nvPicPr>
        <p:blipFill>
          <a:blip r:embed="rId9"/>
          <a:srcRect b="11154"/>
          <a:stretch>
            <a:fillRect/>
          </a:stretch>
        </p:blipFill>
        <p:spPr>
          <a:xfrm>
            <a:off x="9982835" y="887730"/>
            <a:ext cx="1789430" cy="2357755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4A4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</a:rPr>
              <a:t>Text 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517525" y="774065"/>
            <a:ext cx="11250295" cy="5389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	...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but in a bad year, it’s not only the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ploughs that break, but our hearts, too.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   ... but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when there is a drought, the soil is so hard that the ploughs break. And we become very 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sad.</a:t>
            </a:r>
            <a:endParaRPr lang="en-US" altLang="zh-CN" dirty="0" smtClean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358775" lvl="0" indent="-35750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Figure of speech: Zeugma </a:t>
            </a:r>
            <a:r>
              <a:rPr lang="en-US" altLang="zh-CN" b="1" dirty="0" smtClean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Calibri" panose="020F0502020204030204" charset="0"/>
              </a:rPr>
              <a:t>轭式搭配（一个词以不同的词义同时与两个词搭配使用</a:t>
            </a:r>
            <a:r>
              <a:rPr lang="zh-CN" altLang="en-US" b="1" dirty="0" smtClean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Calibri" panose="020F0502020204030204" charset="0"/>
              </a:rPr>
              <a:t>，其中一个为自然搭配，另一个为比喻或牵强搭配</a:t>
            </a:r>
            <a:r>
              <a:rPr lang="en-US" altLang="zh-CN" b="1" dirty="0" smtClean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Calibri" panose="020F0502020204030204" charset="0"/>
              </a:rPr>
              <a:t>）</a:t>
            </a:r>
            <a:endParaRPr lang="en-US" altLang="zh-CN" b="1" dirty="0" smtClean="0">
              <a:solidFill>
                <a:prstClr val="black"/>
              </a:solidFill>
              <a:latin typeface="华文楷体" panose="02010600040101010101" charset="-122"/>
              <a:ea typeface="华文楷体" panose="0201060004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1. 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He lost his money and his temper.</a:t>
            </a:r>
            <a:endParaRPr lang="en-US" altLang="zh-CN" dirty="0">
              <a:solidFill>
                <a:prstClr val="black"/>
              </a:solidFill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2. A young widow and a fortune fell in love with him.</a:t>
            </a:r>
            <a:endParaRPr lang="en-US" altLang="zh-CN" dirty="0">
              <a:solidFill>
                <a:prstClr val="black"/>
              </a:solidFill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3. "Yes, my teeth and ambitions are bared." ("The Lion King")</a:t>
            </a:r>
            <a:endParaRPr lang="en-US" altLang="zh-CN" dirty="0">
              <a:solidFill>
                <a:prstClr val="black"/>
              </a:solidFill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charset="0"/>
                <a:ea typeface="等线" panose="02010600030101010101" charset="-122"/>
                <a:cs typeface="Times New Roman" panose="02020603050405020304" charset="0"/>
              </a:rPr>
              <a:t>4. He's got a one-hand feel on the steering wheel/ The other on my heart. ("Our Song" by Taylor Swift)</a:t>
            </a:r>
            <a:endParaRPr lang="en-US" altLang="zh-CN" dirty="0">
              <a:solidFill>
                <a:prstClr val="black"/>
              </a:solidFill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</p:txBody>
      </p:sp>
      <p:pic>
        <p:nvPicPr>
          <p:cNvPr id="10" name="图片 9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9992995" y="3526790"/>
            <a:ext cx="1798320" cy="1593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47834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2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What do the underlined words mean? Choose the correct answer from A, B, C, D, or E.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lnSpc>
                <a:spcPct val="120000"/>
              </a:lnSpc>
              <a:buNone/>
            </a:pPr>
            <a:r>
              <a:rPr lang="en-US" altLang="zh-CN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春天</a:t>
            </a:r>
            <a:r>
              <a:rPr lang="en-US" altLang="zh-CN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b.</a:t>
            </a:r>
            <a:r>
              <a:rPr lang="zh-CN" altLang="en-US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弹簧</a:t>
            </a:r>
            <a:r>
              <a:rPr lang="en-US" altLang="zh-CN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c. </a:t>
            </a:r>
            <a:r>
              <a:rPr lang="zh-CN" altLang="en-US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泉</a:t>
            </a:r>
            <a:r>
              <a:rPr lang="en-US" altLang="zh-CN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d. </a:t>
            </a:r>
            <a:r>
              <a:rPr lang="zh-CN" altLang="en-US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跳跃</a:t>
            </a:r>
            <a:r>
              <a:rPr lang="en-US" altLang="zh-CN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e. </a:t>
            </a:r>
            <a:r>
              <a:rPr lang="zh-CN" altLang="en-US" sz="280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涌现</a:t>
            </a:r>
            <a:endParaRPr lang="en-US" altLang="zh-CN" sz="280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0" algn="l">
              <a:lnSpc>
                <a:spcPct val="12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1. New buildings are </a:t>
            </a:r>
            <a:r>
              <a:rPr lang="en-US" altLang="zh-CN" sz="2800" u="sng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springing up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everywhere.  </a:t>
            </a:r>
            <a:r>
              <a:rPr lang="en-US" altLang="zh-CN" sz="280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[填空1]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endParaRPr lang="en-US" altLang="zh-CN" sz="28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0" algn="l">
              <a:lnSpc>
                <a:spcPct val="120000"/>
              </a:lnSpc>
              <a:buNone/>
            </a:pP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 The deer were drinking from a </a:t>
            </a:r>
            <a:r>
              <a:rPr lang="en-US" altLang="zh-CN" sz="2800" u="sng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spring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80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[填空2], 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not knowing that there was a tiger hiding in the nearby bushes, and in one </a:t>
            </a:r>
            <a:r>
              <a:rPr lang="en-US" altLang="zh-CN" sz="2800" u="sng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spring </a:t>
            </a:r>
            <a:r>
              <a:rPr lang="en-US" altLang="zh-CN" sz="2800" u="sng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[填空3]</a:t>
            </a:r>
            <a:r>
              <a:rPr lang="en-US" altLang="zh-CN" sz="2800" u="sng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it would be on one of them</a:t>
            </a:r>
            <a:r>
              <a:rPr lang="en-US" altLang="zh-CN" sz="280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</a:t>
            </a:r>
            <a:endParaRPr lang="en-US" altLang="zh-CN" sz="28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15分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823F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42329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30000"/>
              </a:lnSpc>
              <a:buNone/>
            </a:pPr>
            <a:r>
              <a:rPr lang="en-US" altLang="zh-CN" sz="3200" i="1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What changes in the village does the wife dislike?</a:t>
            </a:r>
            <a:endParaRPr lang="en-US" altLang="zh-CN" sz="3200" i="1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1. Instead of bartering for things, now it’s all  </a:t>
            </a:r>
            <a:r>
              <a:rPr lang="en-US" altLang="zh-CN" sz="3200">
                <a:solidFill>
                  <a:srgbClr val="639EF4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[填空1].</a:t>
            </a:r>
            <a:endParaRPr lang="en-US" altLang="zh-CN" sz="3200">
              <a:solidFill>
                <a:srgbClr val="639EF4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320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2. Plastic bags</a:t>
            </a:r>
            <a:r>
              <a:rPr lang="en-US" altLang="zh-CN" sz="3200">
                <a:solidFill>
                  <a:srgbClr val="639EF4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 [填空2] </a:t>
            </a: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the village.</a:t>
            </a:r>
            <a:endParaRPr lang="en-US" altLang="zh-CN" sz="32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3. Young girls put on  </a:t>
            </a:r>
            <a:r>
              <a:rPr lang="en-US" altLang="zh-CN" sz="3200">
                <a:solidFill>
                  <a:srgbClr val="639EF4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[填空3]</a:t>
            </a: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and look like boys.</a:t>
            </a:r>
            <a:endParaRPr lang="en-US" altLang="zh-CN" sz="32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4. Young people seldom go to the temple.</a:t>
            </a:r>
            <a:endParaRPr lang="en-US" altLang="zh-CN" sz="3200">
              <a:solidFill>
                <a:srgbClr val="000000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5. Some boys become </a:t>
            </a:r>
            <a:r>
              <a:rPr lang="en-US" altLang="zh-CN" sz="3200">
                <a:solidFill>
                  <a:srgbClr val="639EF4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[填空4]</a:t>
            </a:r>
            <a:r>
              <a:rPr lang="en-US" altLang="zh-CN" sz="3200">
                <a:solidFill>
                  <a:srgbClr val="000000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lang="en-US" altLang="zh-CN" sz="3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</a:t>
            </a:r>
            <a:r>
              <a:rPr lang="zh-CN" altLang="en-US" sz="3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不孝的</a:t>
            </a:r>
            <a:r>
              <a:rPr lang="en-US" altLang="zh-CN" sz="320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). </a:t>
            </a:r>
            <a:endParaRPr lang="en-US" altLang="zh-CN" sz="320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CB9F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800100" y="774065"/>
            <a:ext cx="10464165" cy="5530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9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	This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question has never occurred to me.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   I’ve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never asked myself/thought about the question—whether or not I am happy.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358775" lvl="0" indent="-357505" algn="just"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occur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to </a:t>
            </a: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sb.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:</a:t>
            </a: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(of an idea or thought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)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come into 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sb.’s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mind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   The idea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occurred to him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in a dream.</a:t>
            </a:r>
            <a:r>
              <a:rPr lang="en-US" altLang="zh-CN" dirty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这个主意是他在梦中想到的。</a:t>
            </a:r>
            <a:endParaRPr lang="en-US" altLang="zh-CN" dirty="0">
              <a:solidFill>
                <a:prstClr val="black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lvl="0" algn="just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It occurs to sb. that</a:t>
            </a:r>
            <a:endParaRPr lang="en-US" altLang="zh-CN" b="1" dirty="0" smtClean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It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suddenly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occurs to me that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 forgot to lock the door!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270" lvl="0" indent="0" algn="just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我突然想到我忘记锁门了！</a:t>
            </a:r>
            <a:endParaRPr lang="zh-CN" altLang="en-US" dirty="0" smtClean="0">
              <a:solidFill>
                <a:prstClr val="black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她没有想到她的行为可能会对别人产生意想不到的后果。</a:t>
            </a:r>
            <a:endParaRPr lang="en-US" altLang="zh-CN" dirty="0" smtClean="0">
              <a:solidFill>
                <a:prstClr val="black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  <a:p>
            <a:pPr marL="1270" lvl="0" indent="0" algn="just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 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It didn't occur to her that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华文楷体" panose="02010600040101010101" charset="-122"/>
                <a:cs typeface="Calibri" panose="020F0502020204030204" charset="0"/>
              </a:rPr>
              <a:t> her actions might have unintended consequences on others.</a:t>
            </a:r>
            <a:endParaRPr lang="en-US" altLang="zh-CN" dirty="0" smtClean="0">
              <a:solidFill>
                <a:prstClr val="black"/>
              </a:solidFill>
              <a:latin typeface="Calibri" panose="020F0502020204030204" charset="0"/>
              <a:ea typeface="华文楷体" panose="02010600040101010101" charset="-122"/>
              <a:cs typeface="Calibri" panose="020F0502020204030204" charset="0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802640"/>
            <a:ext cx="9753600" cy="27666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Make a sentence with “It occurs to sb. that ...”.</a:t>
            </a:r>
            <a:endParaRPr lang="en-US" altLang="zh-CN" sz="28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e.g. 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It occurs to me that I forgot to lock the door!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It never occurred to me that she was a spy.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It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didn’t occur to me that he would refuse the invitation.</a:t>
            </a:r>
            <a:endParaRPr lang="en-US" altLang="zh-CN" sz="2800">
              <a:solidFill>
                <a:srgbClr val="0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rcRect b="18486"/>
          <a:stretch>
            <a:fillRect/>
          </a:stretch>
        </p:blipFill>
        <p:spPr>
          <a:xfrm>
            <a:off x="2889250" y="4060190"/>
            <a:ext cx="3848100" cy="194881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400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08305" y="774065"/>
            <a:ext cx="11359515" cy="4864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	My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eyes do see—they see more than they should. My ears do hear—they hear more than is good for me.</a:t>
            </a:r>
            <a:endParaRPr lang="en-US" altLang="zh-CN" b="1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360045" lvl="0" indent="-36004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 I do see and hear—I see and hear too much evil, too many ugly and 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terrible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things, things that I wish I did not have to see and hear. And this is not good for me. </a:t>
            </a:r>
            <a:r>
              <a:rPr lang="en-US" altLang="zh-CN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我的眼睛能看——看到了太多本不该看到的事情；我的耳朵能听——听到了太多对我不好的事情</a:t>
            </a:r>
            <a:r>
              <a:rPr lang="zh-CN" altLang="en-US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en-US" altLang="zh-CN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360045" lvl="0" indent="-36004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They hear more than is good for me =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They hear more than </a:t>
            </a:r>
            <a:r>
              <a:rPr lang="en-US" altLang="zh-CN" b="1" dirty="0">
                <a:solidFill>
                  <a:schemeClr val="accent1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what </a:t>
            </a:r>
            <a:r>
              <a:rPr lang="en-US" altLang="zh-CN" b="1" dirty="0">
                <a:solidFill>
                  <a:schemeClr val="tx1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is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 good for me </a:t>
            </a:r>
            <a:r>
              <a:rPr lang="en-US" altLang="zh-CN" b="1" dirty="0">
                <a:solidFill>
                  <a:schemeClr val="accent1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to hear.</a:t>
            </a:r>
            <a:endParaRPr lang="en-US" altLang="zh-CN" b="1" dirty="0">
              <a:solidFill>
                <a:schemeClr val="accent1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  <a:p>
            <a:pPr marL="0" lvl="0" indent="0" algn="just"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 smtClean="0">
                <a:solidFill>
                  <a:schemeClr val="accent1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e.g. He bought more than was needed.</a:t>
            </a:r>
            <a:endParaRPr lang="en-US" altLang="zh-CN" b="1" dirty="0" smtClean="0">
              <a:solidFill>
                <a:schemeClr val="accent1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36944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Chinese to Englihs translation:</a:t>
            </a:r>
            <a:endParaRPr lang="en-US" altLang="zh-CN" sz="3200">
              <a:solidFill>
                <a:srgbClr val="000000"/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1.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狠揍他一顿：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to give hime a good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[填空1]</a:t>
            </a:r>
            <a:endParaRPr lang="en-US" altLang="zh-CN" sz="3200">
              <a:solidFill>
                <a:srgbClr val="639EF4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2. 衣衫褴褛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dressed in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[填空2]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3.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万恶之源：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the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[填空3]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of all evils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4.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和谐相处，安心接受：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be at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[填空4]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with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lvl="0" algn="l">
              <a:lnSpc>
                <a:spcPct val="110000"/>
              </a:lnSpc>
              <a:buNone/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5.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这片狭长的土地：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this  </a:t>
            </a:r>
            <a:r>
              <a:rPr lang="en-US" altLang="zh-CN" sz="3200">
                <a:solidFill>
                  <a:srgbClr val="639EF4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[填空5]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 of land</a:t>
            </a:r>
            <a:endParaRPr lang="en-US" altLang="zh-CN" sz="32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4019550" y="4347210"/>
            <a:ext cx="3111500" cy="207137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345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文本框 4"/>
          <p:cNvSpPr txBox="1">
            <a:spLocks noChangeArrowheads="1"/>
          </p:cNvSpPr>
          <p:nvPr/>
        </p:nvSpPr>
        <p:spPr bwMode="auto">
          <a:xfrm>
            <a:off x="184150" y="160655"/>
            <a:ext cx="4390390" cy="46037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prstClr val="white"/>
                </a:solidFill>
                <a:latin typeface="Arial Black" panose="020B0A04020102020204" pitchFamily="34" charset="0"/>
                <a:ea typeface="等线" panose="02010600030101010101" charset="-122"/>
              </a:rPr>
              <a:t>Text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等线" panose="02010600030101010101" charset="-122"/>
                <a:cs typeface="+mn-cs"/>
              </a:rPr>
              <a:t>Analysis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979170" y="913765"/>
            <a:ext cx="10118725" cy="2886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2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4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733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sz="3200" b="1" dirty="0" smtClean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	</a:t>
            </a:r>
            <a:r>
              <a:rPr lang="en-US" altLang="zh-CN" sz="3200" b="1" dirty="0"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 soft cool breeze moves the sheaves, which ripple and shimmer like waves of gold.</a:t>
            </a:r>
            <a:endParaRPr lang="en-US" altLang="zh-CN" sz="3200" b="1" dirty="0"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  <a:p>
            <a:pPr marL="360045" indent="-360045" algn="just" eaLnBrk="1" hangingPunct="1">
              <a:lnSpc>
                <a:spcPct val="100000"/>
              </a:lnSpc>
              <a:buNone/>
              <a:defRPr/>
            </a:pPr>
            <a:r>
              <a:rPr lang="en-US" altLang="zh-CN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ripple: </a:t>
            </a:r>
            <a:r>
              <a:rPr lang="zh-CN" altLang="en-US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泛起涟漪；如波浪般起伏。</a:t>
            </a:r>
            <a:r>
              <a:rPr lang="en-US" altLang="zh-CN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shimmer: </a:t>
            </a:r>
            <a:r>
              <a:rPr lang="zh-CN" altLang="en-US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泛着微光；闪烁</a:t>
            </a:r>
            <a:endParaRPr lang="en-US" altLang="zh-CN" b="1" dirty="0">
              <a:solidFill>
                <a:schemeClr val="tx1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   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清凉的微风吹动着地里密密的稻禾，掀起了层层稻浪，像金色的波涛闪闪发光。</a:t>
            </a:r>
            <a:endParaRPr lang="zh-CN" altLang="en-US" dirty="0">
              <a:solidFill>
                <a:prstClr val="black"/>
              </a:solidFill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  <a:sym typeface="+mn-ea"/>
            </a:endParaRPr>
          </a:p>
        </p:txBody>
      </p:sp>
      <p:pic>
        <p:nvPicPr>
          <p:cNvPr id="11" name="图片 10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7" t="37811" r="43034" b="24326"/>
          <a:stretch>
            <a:fillRect/>
          </a:stretch>
        </p:blipFill>
        <p:spPr>
          <a:xfrm>
            <a:off x="11264265" y="174625"/>
            <a:ext cx="503555" cy="45466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4740275" y="3720465"/>
            <a:ext cx="4377690" cy="2637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13436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What are the secret messages of the land that </a:t>
            </a:r>
            <a:r>
              <a:rPr lang="en-US" altLang="zh-CN" sz="2800" b="1" dirty="0"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he wishes to pass on to his grandchildren</a:t>
            </a:r>
            <a:r>
              <a:rPr lang="en-US" altLang="zh-CN" sz="2800" b="1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? </a:t>
            </a:r>
            <a:endParaRPr lang="en-US" altLang="zh-CN" sz="2800" b="1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905635" y="197675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 inner peace and reconciliation(</a:t>
            </a:r>
            <a:r>
              <a:rPr lang="zh-CN" altLang="en-US" sz="2800" dirty="0">
                <a:solidFill>
                  <a:prstClr val="black"/>
                </a:solidFill>
                <a:latin typeface="华文楷体" panose="02010600040101010101" charset="-122"/>
                <a:ea typeface="华文楷体" panose="02010600040101010101" charset="-122"/>
                <a:cs typeface="Calibri" panose="020F0502020204030204" charset="0"/>
                <a:sym typeface="+mn-ea"/>
              </a:rPr>
              <a:t>和解；调和</a:t>
            </a: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)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905635" y="283400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 virtue of working hard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905635" y="369125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 virtue of staying with parents when they are old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905635" y="454850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  <a:sym typeface="+mn-ea"/>
              </a:rPr>
              <a:t>The virtue of loving one’s home and hometown</a:t>
            </a:r>
            <a:endParaRPr lang="en-US" altLang="zh-CN" sz="2800" dirty="0">
              <a:solidFill>
                <a:prstClr val="black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038860" y="204089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38860" y="289814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038860" y="375539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38860" y="461264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1"/>
          <a:stretch>
            <a:fillRect/>
          </a:stretch>
        </p:blipFill>
        <p:spPr>
          <a:xfrm>
            <a:off x="9339580" y="1837055"/>
            <a:ext cx="2472690" cy="1509395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800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32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8910,&quot;width&quot;:15840}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Submit"/>
  <p:tag name="RAINPROBLEMTYPE" val="ShortAnsw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" val="ProblemSetting"/>
  <p:tag name="RAINPROBLEMTYPE" val="ShortAnswer"/>
</p:tagLst>
</file>

<file path=ppt/tags/tag10.xml><?xml version="1.0" encoding="utf-8"?>
<p:tagLst xmlns:p="http://schemas.openxmlformats.org/presentationml/2006/main">
  <p:tag name="RAINPROBLEM" val="ShortAnswer"/>
  <p:tag name="PROBLEMSCORE" val="20.0"/>
  <p:tag name="PROBLEMVOICEALLOWED" val="False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3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7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8.xml><?xml version="1.0" encoding="utf-8"?>
<p:tagLst xmlns:p="http://schemas.openxmlformats.org/presentationml/2006/main">
  <p:tag name="RAINPROBLEM" val="ProblemSubmit"/>
  <p:tag name="RAINPROBLEMTYPE" val="MultipleChoice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" val="ProblemSetting"/>
  <p:tag name="RAINPROBLEMTYPE" val="MultipleChoice"/>
</p:tagLst>
</file>

<file path=ppt/tags/tag25.xml><?xml version="1.0" encoding="utf-8"?>
<p:tagLst xmlns:p="http://schemas.openxmlformats.org/presentationml/2006/main">
  <p:tag name="RAINPROBLEM" val="MultipleChoice"/>
  <p:tag name="PROBLEMSCORE" val="15.0"/>
</p:tagLst>
</file>

<file path=ppt/tags/tag26.xml><?xml version="1.0" encoding="utf-8"?>
<p:tagLst xmlns:p="http://schemas.openxmlformats.org/presentationml/2006/main">
  <p:tag name="RAINPROBLEM" val="ProblemBody"/>
</p:tagLst>
</file>

<file path=ppt/tags/tag27.xml><?xml version="1.0" encoding="utf-8"?>
<p:tagLst xmlns:p="http://schemas.openxmlformats.org/presentationml/2006/main">
  <p:tag name="RAINPROBLEM" val="ProblemSubmit"/>
  <p:tag name="RAINPROBLEMTYPE" val="FillBlank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FillBlank"/>
</p:tagLst>
</file>

<file path=ppt/tags/tag34.xml><?xml version="1.0" encoding="utf-8"?>
<p:tagLst xmlns:p="http://schemas.openxmlformats.org/presentationml/2006/main">
  <p:tag name="RAINPROBLEM" val="FillBlank"/>
  <p:tag name="PROBLEMSCORE" val="15.0"/>
  <p:tag name="PROBLEMBLANK" val="[{&quot;num&quot;:1,&quot;caseSensitive&quot;:false,&quot;fuzzyMatch&quot;:false,&quot;Score&quot;:5.0,&quot;answers&quot;:[&quot;E&quot;]},{&quot;num&quot;:2,&quot;caseSensitive&quot;:false,&quot;fuzzyMatch&quot;:false,&quot;Score&quot;:5.0,&quot;answers&quot;:[&quot;C&quot;]},{&quot;num&quot;:3,&quot;caseSensitive&quot;:false,&quot;fuzzyMatch&quot;:false,&quot;Score&quot;:5.0,&quot;answers&quot;:[&quot;D&quot;]}]"/>
  <p:tag name="PROBLEMBLANKKEYWORD" val="填空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Submit"/>
  <p:tag name="RAINPROBLEMTYPE" val="FillBlank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" val="ProblemSetting"/>
  <p:tag name="RAINPROBLEMTYPE" val="FillBlank"/>
</p:tagLst>
</file>

<file path=ppt/tags/tag43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5.0,&quot;answers&quot;:[&quot;cash&quot;]},{&quot;num&quot;:2,&quot;caseSensitive&quot;:false,&quot;fuzzyMatch&quot;:false,&quot;Score&quot;:5.0,&quot;answers&quot;:[&quot;litter&quot;]},{&quot;num&quot;:3,&quot;caseSensitive&quot;:false,&quot;fuzzyMatch&quot;:false,&quot;Score&quot;:5.0,&quot;answers&quot;:[&quot;jeans&quot;]},{&quot;num&quot;:4,&quot;caseSensitive&quot;:false,&quot;fuzzyMatch&quot;:false,&quot;Score&quot;:5.0,&quot;answers&quot;:[&quot;Ungrateful&quot;]}]"/>
  <p:tag name="PROBLEMBLANKKEYWORD" val="填空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Submit"/>
  <p:tag name="RAINPROBLEMTYPE" val="ShortAnsw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ShortAnswer"/>
</p:tagLst>
</file>

<file path=ppt/tags/tag5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Submit"/>
  <p:tag name="RAINPROBLEMTYPE" val="FillBlank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" val="ProblemSetting"/>
  <p:tag name="RAINPROBLEMTYPE" val="FillBlank"/>
</p:tagLst>
</file>

<file path=ppt/tags/tag61.xml><?xml version="1.0" encoding="utf-8"?>
<p:tagLst xmlns:p="http://schemas.openxmlformats.org/presentationml/2006/main">
  <p:tag name="RAINPROBLEM" val="FillBlank"/>
  <p:tag name="PROBLEMSCORE" val="20.0"/>
  <p:tag name="PROBLEMBLANK" val="[{&quot;num&quot;:1,&quot;caseSensitive&quot;:false,&quot;fuzzyMatch&quot;:false,&quot;Score&quot;:4.0,&quot;answers&quot;:[&quot;beating&quot;]},{&quot;num&quot;:2,&quot;caseSensitive&quot;:false,&quot;fuzzyMatch&quot;:false,&quot;Score&quot;:4.0,&quot;answers&quot;:[&quot;rags&quot;]},{&quot;num&quot;:3,&quot;caseSensitive&quot;:false,&quot;fuzzyMatch&quot;:false,&quot;Score&quot;:4.0,&quot;answers&quot;:[&quot;root&quot;]},{&quot;num&quot;:4,&quot;caseSensitive&quot;:false,&quot;fuzzyMatch&quot;:false,&quot;Score&quot;:4.0,&quot;answers&quot;:[&quot;peace&quot;]},{&quot;num&quot;:5,&quot;caseSensitive&quot;:false,&quot;fuzzyMatch&quot;:false,&quot;Score&quot;:4.0,&quot;answers&quot;:[&quot;strip&quot;]}]"/>
  <p:tag name="PROBLEMBLANKKEYWORD" val="填空"/>
</p:tagLst>
</file>

<file path=ppt/tags/tag62.xml><?xml version="1.0" encoding="utf-8"?>
<p:tagLst xmlns:p="http://schemas.openxmlformats.org/presentationml/2006/main">
  <p:tag name="RAINPROBLEM" val="ProblemBody"/>
</p:tagLst>
</file>

<file path=ppt/tags/tag63.xml><?xml version="1.0" encoding="utf-8"?>
<p:tagLst xmlns:p="http://schemas.openxmlformats.org/presentationml/2006/main">
  <p:tag name="RAINPROBLEM" val="ProblemItem"/>
  <p:tag name="KSO_WM_DIAGRAM_VIRTUALLY_FRAME" val="{&quot;height&quot;:253.1,&quot;left&quot;:81.8,&quot;top&quot;:155.65,&quot;width&quot;:740.25}"/>
</p:tagLst>
</file>

<file path=ppt/tags/tag64.xml><?xml version="1.0" encoding="utf-8"?>
<p:tagLst xmlns:p="http://schemas.openxmlformats.org/presentationml/2006/main">
  <p:tag name="RAINPROBLEM" val="ProblemItem"/>
  <p:tag name="KSO_WM_DIAGRAM_VIRTUALLY_FRAME" val="{&quot;height&quot;:253.1,&quot;left&quot;:81.8,&quot;top&quot;:155.65,&quot;width&quot;:740.25}"/>
</p:tagLst>
</file>

<file path=ppt/tags/tag65.xml><?xml version="1.0" encoding="utf-8"?>
<p:tagLst xmlns:p="http://schemas.openxmlformats.org/presentationml/2006/main">
  <p:tag name="RAINPROBLEM" val="ProblemItem"/>
  <p:tag name="KSO_WM_DIAGRAM_VIRTUALLY_FRAME" val="{&quot;height&quot;:253.1,&quot;left&quot;:81.8,&quot;top&quot;:155.65,&quot;width&quot;:740.25}"/>
</p:tagLst>
</file>

<file path=ppt/tags/tag66.xml><?xml version="1.0" encoding="utf-8"?>
<p:tagLst xmlns:p="http://schemas.openxmlformats.org/presentationml/2006/main">
  <p:tag name="RAINPROBLEM" val="ProblemItem"/>
  <p:tag name="KSO_WM_DIAGRAM_VIRTUALLY_FRAME" val="{&quot;height&quot;:253.1,&quot;left&quot;:81.8,&quot;top&quot;:155.65,&quot;width&quot;:740.25}"/>
</p:tagLst>
</file>

<file path=ppt/tags/tag67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253.1,&quot;left&quot;:81.8,&quot;top&quot;:155.65,&quot;width&quot;:740.25}"/>
</p:tagLst>
</file>

<file path=ppt/tags/tag68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253.1,&quot;left&quot;:81.8,&quot;top&quot;:155.65,&quot;width&quot;:740.25}"/>
</p:tagLst>
</file>

<file path=ppt/tags/tag69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253.1,&quot;left&quot;:81.8,&quot;top&quot;:155.65,&quot;width&quot;:740.25}"/>
</p:tagLst>
</file>

<file path=ppt/tags/tag70.xml><?xml version="1.0" encoding="utf-8"?>
<p:tagLst xmlns:p="http://schemas.openxmlformats.org/presentationml/2006/main">
  <p:tag name="RAINPROBLEM" val="ProblemBullet"/>
  <p:tag name="RAINPROBLEMTYPE" val="Polling"/>
  <p:tag name="RAINBULLET" val="Wrong"/>
  <p:tag name="KSO_WM_DIAGRAM_VIRTUALLY_FRAME" val="{&quot;height&quot;:253.1,&quot;left&quot;:81.8,&quot;top&quot;:155.65,&quot;width&quot;:740.25}"/>
</p:tagLst>
</file>

<file path=ppt/tags/tag71.xml><?xml version="1.0" encoding="utf-8"?>
<p:tagLst xmlns:p="http://schemas.openxmlformats.org/presentationml/2006/main">
  <p:tag name="RAINPROBLEM" val="ProblemSubmit"/>
  <p:tag name="RAINPROBLEMTYPE" val="Polling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  <p:tag name="RAINPROBLEM" val="PollingAnswer"/>
</p:tagLst>
</file>

<file path=ppt/tags/tag77.xml><?xml version="1.0" encoding="utf-8"?>
<p:tagLst xmlns:p="http://schemas.openxmlformats.org/presentationml/2006/main">
  <p:tag name="RAINPROBLEM" val="ProblemSetting"/>
  <p:tag name="RAINPROBLEMTYPE" val="Polling"/>
</p:tagLst>
</file>

<file path=ppt/tags/tag78.xml><?xml version="1.0" encoding="utf-8"?>
<p:tagLst xmlns:p="http://schemas.openxmlformats.org/presentationml/2006/main">
  <p:tag name="RAINPROBLEM" val="Polling"/>
  <p:tag name="PROBLEMSCORE" val="0.0"/>
  <p:tag name="ANONYMOUSPOLLING" val="False"/>
</p:tagLst>
</file>

<file path=ppt/tags/tag79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2_Office 主题​​">
  <a:themeElements>
    <a:clrScheme name="自定义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0C0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4163</Words>
  <Application>WPS 演示</Application>
  <PresentationFormat>宽屏</PresentationFormat>
  <Paragraphs>170</Paragraphs>
  <Slides>15</Slides>
  <Notes>87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Arial Black</vt:lpstr>
      <vt:lpstr>思源黑体 CN Regular</vt:lpstr>
      <vt:lpstr>黑体</vt:lpstr>
      <vt:lpstr>Calibri</vt:lpstr>
      <vt:lpstr>Calibri</vt:lpstr>
      <vt:lpstr>Wingdings</vt:lpstr>
      <vt:lpstr>华文楷体</vt:lpstr>
      <vt:lpstr>微软雅黑</vt:lpstr>
      <vt:lpstr>等线</vt:lpstr>
      <vt:lpstr>华文中宋</vt:lpstr>
      <vt:lpstr>Times New Roman</vt:lpstr>
      <vt:lpstr>Arial Unicode MS</vt:lpstr>
      <vt:lpstr>等线 Light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Dilys</dc:creator>
  <cp:lastModifiedBy>Cooper</cp:lastModifiedBy>
  <cp:revision>429</cp:revision>
  <dcterms:created xsi:type="dcterms:W3CDTF">2021-05-22T03:56:00Z</dcterms:created>
  <dcterms:modified xsi:type="dcterms:W3CDTF">2025-10-19T15:25:48Z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CC3FE406F8EA475D90BD1E274FC59020_12</vt:lpwstr>
  </property>
</Properties>
</file>