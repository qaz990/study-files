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webp" ContentType="image/webp"/>
  <Override PartName="/ppt/media/image12.webp" ContentType="image/webp"/>
  <Override PartName="/ppt/media/image13.webp" ContentType="image/webp"/>
  <Override PartName="/ppt/media/image14.webp" ContentType="image/webp"/>
  <Override PartName="/ppt/media/image17.webp" ContentType="image/webp"/>
  <Override PartName="/ppt/media/image18.webp" ContentType="image/webp"/>
  <Override PartName="/ppt/media/image19.webp" ContentType="image/webp"/>
  <Override PartName="/ppt/media/image20.webp" ContentType="image/webp"/>
  <Override PartName="/ppt/media/image23.webp" ContentType="image/webp"/>
  <Override PartName="/ppt/media/image25.webp" ContentType="image/webp"/>
  <Override PartName="/ppt/media/image26.webp" ContentType="image/webp"/>
  <Override PartName="/ppt/media/image27.webp" ContentType="image/webp"/>
  <Override PartName="/ppt/media/image28.webp" ContentType="image/webp"/>
  <Override PartName="/ppt/media/image29.webp" ContentType="image/webp"/>
  <Override PartName="/ppt/media/image30.webp" ContentType="image/webp"/>
  <Override PartName="/ppt/media/image31.webp" ContentType="image/webp"/>
  <Override PartName="/ppt/media/image32.webp" ContentType="image/webp"/>
  <Override PartName="/ppt/media/image33.webp" ContentType="image/webp"/>
  <Override PartName="/ppt/media/image34.webp" ContentType="image/webp"/>
  <Override PartName="/ppt/media/image35.webp" ContentType="image/webp"/>
  <Override PartName="/ppt/media/image36.webp" ContentType="image/webp"/>
  <Override PartName="/ppt/media/image37.webp" ContentType="image/webp"/>
  <Override PartName="/ppt/media/image38.webp" ContentType="image/webp"/>
  <Override PartName="/ppt/media/image39.webp" ContentType="image/webp"/>
  <Override PartName="/ppt/media/image41.webp" ContentType="image/webp"/>
  <Override PartName="/ppt/media/image4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0" r:id="rId3"/>
    <p:sldId id="270" r:id="rId5"/>
    <p:sldId id="646" r:id="rId6"/>
    <p:sldId id="653" r:id="rId7"/>
    <p:sldId id="258" r:id="rId8"/>
    <p:sldId id="655" r:id="rId9"/>
    <p:sldId id="539" r:id="rId10"/>
    <p:sldId id="656" r:id="rId11"/>
    <p:sldId id="659" r:id="rId12"/>
    <p:sldId id="657" r:id="rId13"/>
    <p:sldId id="658" r:id="rId14"/>
    <p:sldId id="573" r:id="rId15"/>
    <p:sldId id="654" r:id="rId16"/>
    <p:sldId id="65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A600"/>
    <a:srgbClr val="FDD84D"/>
    <a:srgbClr val="A50021"/>
    <a:srgbClr val="808080"/>
    <a:srgbClr val="EFEFEF"/>
    <a:srgbClr val="F2F2F2"/>
    <a:srgbClr val="000000"/>
    <a:srgbClr val="FFFFFF"/>
    <a:srgbClr val="F6F8FB"/>
    <a:srgbClr val="A1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2" autoAdjust="0"/>
    <p:restoredTop sz="91245" autoAdjust="0"/>
  </p:normalViewPr>
  <p:slideViewPr>
    <p:cSldViewPr snapToGrid="0">
      <p:cViewPr varScale="1">
        <p:scale>
          <a:sx n="116" d="100"/>
          <a:sy n="116" d="100"/>
        </p:scale>
        <p:origin x="46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slide" Target="slide1.xml"/><Relationship Id="rId5" Type="http://schemas.openxmlformats.org/officeDocument/2006/relationships/image" Target="../media/image3.png"/><Relationship Id="rId4" Type="http://schemas.openxmlformats.org/officeDocument/2006/relationships/slide" Target="slide2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.webp"/><Relationship Id="rId7" Type="http://schemas.openxmlformats.org/officeDocument/2006/relationships/image" Target="../media/image13.webp"/><Relationship Id="rId6" Type="http://schemas.openxmlformats.org/officeDocument/2006/relationships/image" Target="../media/image12.webp"/><Relationship Id="rId5" Type="http://schemas.openxmlformats.org/officeDocument/2006/relationships/image" Target="../media/image11.webp"/><Relationship Id="rId4" Type="http://schemas.openxmlformats.org/officeDocument/2006/relationships/image" Target="../media/image10.tiff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9.webp"/><Relationship Id="rId6" Type="http://schemas.openxmlformats.org/officeDocument/2006/relationships/image" Target="../media/image18.webp"/><Relationship Id="rId5" Type="http://schemas.openxmlformats.org/officeDocument/2006/relationships/image" Target="../media/image17.webp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0.xml"/><Relationship Id="rId20" Type="http://schemas.openxmlformats.org/officeDocument/2006/relationships/image" Target="../media/image21.png"/><Relationship Id="rId2" Type="http://schemas.openxmlformats.org/officeDocument/2006/relationships/tags" Target="../tags/tag3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image" Target="../media/image20.webp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webp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9" Type="http://schemas.openxmlformats.org/officeDocument/2006/relationships/tags" Target="../tags/tag37.xml"/><Relationship Id="rId18" Type="http://schemas.openxmlformats.org/officeDocument/2006/relationships/image" Target="../media/image21.png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image" Target="../media/image24.jpeg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7.webp"/><Relationship Id="rId5" Type="http://schemas.openxmlformats.org/officeDocument/2006/relationships/image" Target="../media/image26.webp"/><Relationship Id="rId4" Type="http://schemas.openxmlformats.org/officeDocument/2006/relationships/image" Target="../media/image25.webp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image" Target="../media/image31.webp"/><Relationship Id="rId5" Type="http://schemas.openxmlformats.org/officeDocument/2006/relationships/image" Target="../media/image30.webp"/><Relationship Id="rId4" Type="http://schemas.openxmlformats.org/officeDocument/2006/relationships/image" Target="../media/image29.webp"/><Relationship Id="rId3" Type="http://schemas.openxmlformats.org/officeDocument/2006/relationships/image" Target="../media/image28.webp"/><Relationship Id="rId2" Type="http://schemas.openxmlformats.org/officeDocument/2006/relationships/tags" Target="../tags/tag39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46.xml"/><Relationship Id="rId13" Type="http://schemas.openxmlformats.org/officeDocument/2006/relationships/image" Target="../media/image21.png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webp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image" Target="../media/image35.webp"/><Relationship Id="rId4" Type="http://schemas.openxmlformats.org/officeDocument/2006/relationships/image" Target="../media/image34.webp"/><Relationship Id="rId3" Type="http://schemas.openxmlformats.org/officeDocument/2006/relationships/image" Target="../media/image33.webp"/><Relationship Id="rId2" Type="http://schemas.openxmlformats.org/officeDocument/2006/relationships/tags" Target="../tags/tag48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55.xml"/><Relationship Id="rId12" Type="http://schemas.openxmlformats.org/officeDocument/2006/relationships/image" Target="../media/image21.png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37.webp"/><Relationship Id="rId3" Type="http://schemas.openxmlformats.org/officeDocument/2006/relationships/image" Target="../media/image36.webp"/><Relationship Id="rId2" Type="http://schemas.openxmlformats.org/officeDocument/2006/relationships/tags" Target="../tags/tag57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64.xml"/><Relationship Id="rId11" Type="http://schemas.openxmlformats.org/officeDocument/2006/relationships/image" Target="../media/image21.png"/><Relationship Id="rId10" Type="http://schemas.openxmlformats.org/officeDocument/2006/relationships/tags" Target="../tags/tag63.xml"/><Relationship Id="rId1" Type="http://schemas.openxmlformats.org/officeDocument/2006/relationships/tags" Target="../tags/tag5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8.webp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image" Target="../media/image39.webp"/><Relationship Id="rId2" Type="http://schemas.openxmlformats.org/officeDocument/2006/relationships/tags" Target="../tags/tag6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73.xml"/><Relationship Id="rId10" Type="http://schemas.openxmlformats.org/officeDocument/2006/relationships/image" Target="../media/image21.png"/><Relationship Id="rId1" Type="http://schemas.openxmlformats.org/officeDocument/2006/relationships/tags" Target="../tags/tag65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2.webp"/><Relationship Id="rId5" Type="http://schemas.openxmlformats.org/officeDocument/2006/relationships/image" Target="../media/image41.webp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slide" Target="slide1.xml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015" y="2407357"/>
            <a:ext cx="5512083" cy="3719156"/>
          </a:xfrm>
          <a:prstGeom prst="rect">
            <a:avLst/>
          </a:prstGeom>
        </p:spPr>
      </p:pic>
      <p:pic>
        <p:nvPicPr>
          <p:cNvPr id="2" name="图片 1" descr="未标题-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8848" r="27500"/>
          <a:stretch>
            <a:fillRect/>
          </a:stretch>
        </p:blipFill>
        <p:spPr>
          <a:xfrm>
            <a:off x="0" y="-2886"/>
            <a:ext cx="7977505" cy="6860886"/>
          </a:xfrm>
          <a:prstGeom prst="rect">
            <a:avLst/>
          </a:prstGeom>
        </p:spPr>
      </p:pic>
      <p:sp>
        <p:nvSpPr>
          <p:cNvPr id="31" name="文本框 86"/>
          <p:cNvSpPr txBox="1"/>
          <p:nvPr/>
        </p:nvSpPr>
        <p:spPr>
          <a:xfrm>
            <a:off x="621419" y="826594"/>
            <a:ext cx="2697975" cy="707886"/>
          </a:xfrm>
          <a:prstGeom prst="rect">
            <a:avLst/>
          </a:prstGeom>
          <a:noFill/>
          <a:effectLst>
            <a:outerShdw blurRad="393700" dist="698500" dir="8100000" sx="119000" sy="119000" algn="tr" rotWithShape="0">
              <a:prstClr val="black">
                <a:alpha val="6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9700"/>
                </a:solidFill>
                <a:latin typeface="Arial Black" panose="020B0A04020102020204" pitchFamily="34" charset="0"/>
                <a:ea typeface="思源黑体 CN Regular" panose="020B0500000000000000" charset="-122"/>
              </a:rPr>
              <a:t>Unit  4</a:t>
            </a:r>
            <a:endParaRPr lang="en-US" altLang="zh-CN" sz="4000" b="1" dirty="0">
              <a:solidFill>
                <a:srgbClr val="FF9700"/>
              </a:solidFill>
              <a:latin typeface="Arial Black" panose="020B0A04020102020204" pitchFamily="34" charset="0"/>
              <a:ea typeface="思源黑体 CN Regular" panose="020B0500000000000000" charset="-122"/>
            </a:endParaRPr>
          </a:p>
        </p:txBody>
      </p:sp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2516437"/>
            <a:ext cx="3016405" cy="501676"/>
          </a:xfrm>
          <a:prstGeom prst="rect">
            <a:avLst/>
          </a:prstGeom>
        </p:spPr>
      </p:pic>
      <p:pic>
        <p:nvPicPr>
          <p:cNvPr id="17" name="图片 16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3268056"/>
            <a:ext cx="5004057" cy="501676"/>
          </a:xfrm>
          <a:prstGeom prst="rect">
            <a:avLst/>
          </a:prstGeom>
        </p:spPr>
      </p:pic>
      <p:pic>
        <p:nvPicPr>
          <p:cNvPr id="19" name="图片 1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019675"/>
            <a:ext cx="3016405" cy="495325"/>
          </a:xfrm>
          <a:prstGeom prst="rect">
            <a:avLst/>
          </a:prstGeom>
        </p:spPr>
      </p:pic>
      <p:pic>
        <p:nvPicPr>
          <p:cNvPr id="21" name="图片 20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764943"/>
            <a:ext cx="3733992" cy="488975"/>
          </a:xfrm>
          <a:prstGeom prst="rect">
            <a:avLst/>
          </a:prstGeom>
        </p:spPr>
      </p:pic>
      <p:pic>
        <p:nvPicPr>
          <p:cNvPr id="23" name="图片 22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71" y="5503862"/>
            <a:ext cx="5512083" cy="50167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26205" y="210820"/>
            <a:ext cx="7624445" cy="2122805"/>
          </a:xfrm>
          <a:prstGeom prst="rect">
            <a:avLst/>
          </a:prstGeom>
          <a:solidFill>
            <a:srgbClr val="F6F8FB">
              <a:alpha val="70000"/>
            </a:srgbClr>
          </a:solidFill>
        </p:spPr>
        <p:txBody>
          <a:bodyPr wrap="square" rtlCol="0" anchor="t">
            <a:spAutoFit/>
          </a:bodyPr>
          <a:p>
            <a:pPr algn="ctr"/>
            <a:r>
              <a:rPr lang="en-US" altLang="zh-CN" sz="6600" noProof="0" dirty="0">
                <a:ln>
                  <a:noFill/>
                </a:ln>
                <a:solidFill>
                  <a:srgbClr val="FF9700"/>
                </a:solidFill>
                <a:effectLst/>
                <a:uLnTx/>
                <a:uFillTx/>
                <a:latin typeface="Arial Black" panose="020B0A04020102020204" pitchFamily="34" charset="0"/>
                <a:ea typeface="思源黑体 CN Regular" panose="020B0500000000000000" charset="-122"/>
                <a:sym typeface="+mn-ea"/>
              </a:rPr>
              <a:t>The Nightingale and the Rose</a:t>
            </a:r>
            <a:endParaRPr lang="en-US" altLang="zh-CN" sz="6600" noProof="0" dirty="0">
              <a:ln>
                <a:noFill/>
              </a:ln>
              <a:solidFill>
                <a:srgbClr val="FF9700"/>
              </a:solidFill>
              <a:effectLst/>
              <a:uLnTx/>
              <a:uFillTx/>
              <a:latin typeface="Arial Black" panose="020B0A04020102020204" pitchFamily="34" charset="0"/>
              <a:ea typeface="思源黑体 CN Regular" panose="020B0500000000000000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y="19050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Lead-in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2" name="内容占位符 2"/>
          <p:cNvSpPr>
            <a:spLocks noGrp="1"/>
          </p:cNvSpPr>
          <p:nvPr/>
        </p:nvSpPr>
        <p:spPr>
          <a:xfrm>
            <a:off x="900430" y="806450"/>
            <a:ext cx="6796405" cy="295465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" indent="0" algn="just" eaLnBrk="1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Which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hlinkClick r:id="rId2" action="ppaction://hlinksldjump"/>
              </a:rPr>
              <a:t>fairy tales</a:t>
            </a:r>
            <a:r>
              <a:rPr lang="en-US" altLang="zh-CN" sz="2400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童话</a:t>
            </a:r>
            <a:r>
              <a:rPr lang="en-US" altLang="zh-CN" sz="2400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 </a:t>
            </a:r>
            <a:r>
              <a:rPr lang="en-US" altLang="zh-CN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were written by Oscar Wilde</a:t>
            </a:r>
            <a:r>
              <a:rPr lang="en-US" altLang="zh-CN" sz="2400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王尔德</a:t>
            </a:r>
            <a:r>
              <a:rPr lang="en-US" altLang="zh-CN" sz="2400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 </a:t>
            </a:r>
            <a:r>
              <a:rPr lang="en-US" altLang="zh-CN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？</a:t>
            </a:r>
            <a:endParaRPr lang="zh-CN" altLang="en-US" b="1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indent="0" algn="just" eaLnBrk="1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 A. </a:t>
            </a:r>
            <a:r>
              <a:rPr lang="en-US" altLang="zh-CN" b="1" i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The Happy Prince</a:t>
            </a:r>
            <a:endParaRPr lang="en-US" altLang="zh-CN" b="1" i="1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  <a:sym typeface="+mn-ea"/>
            </a:endParaRPr>
          </a:p>
          <a:p>
            <a:pPr marL="1270" indent="0" algn="just" eaLnBrk="1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 B. </a:t>
            </a:r>
            <a:r>
              <a:rPr lang="en-US" altLang="zh-CN" b="1" i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The Little Match Girl</a:t>
            </a:r>
            <a:endParaRPr lang="en-US" altLang="zh-CN" b="1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indent="0" algn="just" eaLnBrk="1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 C. </a:t>
            </a:r>
            <a:r>
              <a:rPr lang="en-US" altLang="zh-CN" b="1" i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The Selfish Giant</a:t>
            </a:r>
            <a:endParaRPr lang="en-US" altLang="zh-CN" b="1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indent="0" algn="just" eaLnBrk="1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 D. </a:t>
            </a:r>
            <a:r>
              <a:rPr lang="en-US" altLang="zh-CN" b="1" i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Snow White</a:t>
            </a:r>
            <a:endParaRPr lang="en-US" altLang="zh-CN" b="1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/>
          <a:srcRect r="2311" b="1443"/>
          <a:stretch>
            <a:fillRect/>
          </a:stretch>
        </p:blipFill>
        <p:spPr>
          <a:xfrm>
            <a:off x="8244205" y="840105"/>
            <a:ext cx="3622675" cy="532765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541655" y="3945890"/>
            <a:ext cx="1858645" cy="198818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6"/>
          <a:srcRect l="6065" t="6787" r="6955" b="4525"/>
          <a:stretch>
            <a:fillRect/>
          </a:stretch>
        </p:blipFill>
        <p:spPr>
          <a:xfrm>
            <a:off x="2400300" y="3945890"/>
            <a:ext cx="1877695" cy="198882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7"/>
          <a:srcRect b="15458"/>
          <a:stretch>
            <a:fillRect/>
          </a:stretch>
        </p:blipFill>
        <p:spPr>
          <a:xfrm>
            <a:off x="4286250" y="3912870"/>
            <a:ext cx="1973580" cy="202120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8"/>
          <a:stretch>
            <a:fillRect/>
          </a:stretch>
        </p:blipFill>
        <p:spPr>
          <a:xfrm>
            <a:off x="6268085" y="3912870"/>
            <a:ext cx="1799590" cy="2098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Text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6" name="内容占位符 2"/>
          <p:cNvSpPr>
            <a:spLocks noGrp="1"/>
          </p:cNvSpPr>
          <p:nvPr/>
        </p:nvSpPr>
        <p:spPr>
          <a:xfrm>
            <a:off x="184150" y="802005"/>
            <a:ext cx="8708390" cy="313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3755" indent="-457200" eaLnBrk="1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E5A592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Oscar Wilde (1854-1900), Ir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ish poet and playwright.  </a:t>
            </a:r>
            <a:endParaRPr lang="en-US" altLang="zh-CN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815975" indent="-457200" algn="just" eaLnBrk="1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E5A592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An advocate of aestheticism(</a:t>
            </a: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唯美主义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 --- “art for art's sake”(art serves no other purpose than to be beautiful).</a:t>
            </a:r>
            <a:endParaRPr lang="en-US" altLang="zh-CN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815975" indent="-457200" algn="just" eaLnBrk="1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E5A592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His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famous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works include </a:t>
            </a:r>
            <a:r>
              <a:rPr lang="en-US" altLang="zh-CN" i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The Picture of Dorian Gray</a:t>
            </a:r>
            <a:r>
              <a:rPr lang="en-US" altLang="zh-CN" i="1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, The Importance of Being Earnest, An Ideal Husband.</a:t>
            </a:r>
            <a:endParaRPr lang="en-US" altLang="zh-CN" i="1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815975" indent="-457200" algn="just" eaLnBrk="1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E5A592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 master of the epigram(</a:t>
            </a: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</a:rPr>
              <a:t>警句，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隽语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55" name="图片 5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4" name="图片 1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5"/>
          <a:stretch>
            <a:fillRect/>
          </a:stretch>
        </p:blipFill>
        <p:spPr>
          <a:xfrm>
            <a:off x="9234170" y="1103630"/>
            <a:ext cx="2604770" cy="4064635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6"/>
          <a:srcRect t="14661" b="13811"/>
          <a:stretch>
            <a:fillRect/>
          </a:stretch>
        </p:blipFill>
        <p:spPr>
          <a:xfrm>
            <a:off x="467995" y="4118610"/>
            <a:ext cx="4210685" cy="235204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7"/>
          <a:srcRect b="24892"/>
          <a:stretch>
            <a:fillRect/>
          </a:stretch>
        </p:blipFill>
        <p:spPr>
          <a:xfrm>
            <a:off x="4803775" y="4117975"/>
            <a:ext cx="4305300" cy="2326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755015"/>
            <a:ext cx="9753600" cy="114998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Which sayings about love do you approve of?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936115" y="2076133"/>
            <a:ext cx="7050405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All is fair in love and war. (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情场如战场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936115" y="276193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Absence makes the heart grow fonder.(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小别胜新婚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936115" y="344773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Out of sight, out of mind.(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久别情疏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991995" y="4133215"/>
            <a:ext cx="8534400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30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In true love you want your partner to be happy. In false love you want your partner.</a:t>
            </a:r>
            <a:endParaRPr lang="en-US" altLang="zh-CN" sz="30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069340" y="214042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69340" y="282622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069340" y="351202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069340" y="4261961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1924050" y="5061585"/>
            <a:ext cx="9691370" cy="8686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30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Women are made to be loved, not understood.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(Oscar Wilde)</a:t>
            </a:r>
            <a:endParaRPr lang="en-US" altLang="zh-CN" sz="28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19" name="矩形 18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069340" y="523875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/>
          <p:cNvPicPr/>
          <p:nvPr/>
        </p:nvPicPr>
        <p:blipFill>
          <a:blip r:embed="rId13"/>
          <a:stretch>
            <a:fillRect/>
          </a:stretch>
        </p:blipFill>
        <p:spPr>
          <a:xfrm>
            <a:off x="8915400" y="930275"/>
            <a:ext cx="2920365" cy="1536700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6035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solidFill>
                  <a:prstClr val="white"/>
                </a:solidFill>
                <a:latin typeface="Arial Black" panose="020B0A04020102020204" pitchFamily="34" charset="0"/>
              </a:rPr>
              <a:t>Text Analysis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1" name="内容占位符 2"/>
          <p:cNvSpPr txBox="1"/>
          <p:nvPr/>
        </p:nvSpPr>
        <p:spPr bwMode="auto">
          <a:xfrm>
            <a:off x="497205" y="935990"/>
            <a:ext cx="10767060" cy="2808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zh-CN" altLang="en-US" b="1" spc="-1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b="1" spc="-1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“</a:t>
            </a:r>
            <a:r>
              <a:rPr lang="en-US" b="1" spc="-1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...</a:t>
            </a:r>
            <a:r>
              <a:rPr lang="en-US" altLang="zh-CN" b="1" spc="-1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zh-CN" b="1" spc="-100" dirty="0">
                <a:latin typeface="Calibri" panose="020F0502020204030204" charset="0"/>
                <a:cs typeface="Calibri" panose="020F0502020204030204" charset="0"/>
              </a:rPr>
              <a:t>yet </a:t>
            </a:r>
            <a:r>
              <a:rPr lang="en-US" altLang="zh-CN" b="1" spc="-100" dirty="0">
                <a:solidFill>
                  <a:schemeClr val="accent4"/>
                </a:solidFill>
                <a:latin typeface="Calibri" panose="020F0502020204030204" charset="0"/>
                <a:cs typeface="Calibri" panose="020F0502020204030204" charset="0"/>
              </a:rPr>
              <a:t>for want of </a:t>
            </a:r>
            <a:r>
              <a:rPr lang="en-US" altLang="zh-CN" b="1" spc="-1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a red rose my life is made </a:t>
            </a:r>
            <a:r>
              <a:rPr lang="en-US" altLang="zh-CN" b="1" spc="-1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wretched.” (Para.3)</a:t>
            </a:r>
            <a:endParaRPr kumimoji="0" lang="en-US" altLang="zh-CN" sz="2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457200" indent="-457200" algn="just" eaLnBrk="1" hangingPunct="1">
              <a:spcBef>
                <a:spcPts val="3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for want of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: for the lack of; because of the lack of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58775" lvl="0" indent="-358775" algn="just" eaLnBrk="1" hangingPunct="1">
              <a:spcBef>
                <a:spcPts val="600"/>
              </a:spcBef>
              <a:buNone/>
              <a:defRPr/>
            </a:pPr>
            <a:r>
              <a:rPr lang="en-GB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1) </a:t>
            </a:r>
            <a:r>
              <a:rPr lang="en-US" altLang="zh-CN" dirty="0">
                <a:solidFill>
                  <a:srgbClr val="DCA60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For want of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something better to do, she decided to try gardening. 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358775" lvl="0" indent="-358775" algn="just" eaLnBrk="1" hangingPunct="1"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2) </a:t>
            </a:r>
            <a:r>
              <a:rPr lang="en-US" altLang="zh-CN" dirty="0">
                <a:solidFill>
                  <a:srgbClr val="DCA60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For want of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a better word, let’s call it Me-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firstism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. 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358775" lvl="0" indent="-358775" algn="just" eaLnBrk="1" hangingPunct="1"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3) </a:t>
            </a:r>
            <a:r>
              <a:rPr lang="zh-CN" altLang="en-US" dirty="0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  <a:cs typeface="Calibri" panose="020F0502020204030204" charset="0"/>
              </a:rPr>
              <a:t>这个项目由于缺少</a:t>
            </a:r>
            <a:r>
              <a:rPr lang="zh-CN" altLang="en-US" dirty="0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  <a:cs typeface="Calibri" panose="020F0502020204030204" charset="0"/>
              </a:rPr>
              <a:t>资金而告吹。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58775" lvl="0" indent="-358775" algn="just" eaLnBrk="1" hangingPunct="1"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The project failed </a:t>
            </a:r>
            <a:r>
              <a:rPr lang="en-US" altLang="zh-CN" dirty="0">
                <a:solidFill>
                  <a:srgbClr val="DCA600"/>
                </a:solidFill>
                <a:latin typeface="Calibri" panose="020F0502020204030204" charset="0"/>
                <a:cs typeface="Calibri" panose="020F0502020204030204" charset="0"/>
              </a:rPr>
              <a:t>for want of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funding.</a:t>
            </a:r>
            <a:endParaRPr lang="zh-CN" altLang="en-US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4"/>
          <a:srcRect b="6414"/>
          <a:stretch>
            <a:fillRect/>
          </a:stretch>
        </p:blipFill>
        <p:spPr>
          <a:xfrm>
            <a:off x="7632700" y="3260090"/>
            <a:ext cx="4311650" cy="27793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2775" y="3903345"/>
            <a:ext cx="6363335" cy="2284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marL="360045" lvl="0" indent="-360045" algn="just" eaLnBrk="1" hangingPunct="1">
              <a:spcBef>
                <a:spcPts val="3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in want of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: 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in need of</a:t>
            </a:r>
            <a:endParaRPr lang="en-US" altLang="zh-CN" sz="2800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just" eaLnBrk="1" hangingPunct="1">
              <a:spcBef>
                <a:spcPts val="300"/>
              </a:spcBef>
              <a:buNone/>
              <a:defRPr/>
            </a:pPr>
            <a:r>
              <a:rPr lang="en-US" altLang="zh-CN" sz="2800" i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   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It is universally acknowledged that a single young man with a large fortune  is </a:t>
            </a:r>
            <a:r>
              <a:rPr lang="en-US" altLang="zh-CN" sz="2800" dirty="0">
                <a:solidFill>
                  <a:srgbClr val="DCA60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in want of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a wife. (from </a:t>
            </a:r>
            <a:r>
              <a:rPr lang="en-US" altLang="zh-CN" sz="2800" i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Pride and Prejudice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)</a:t>
            </a:r>
            <a:endParaRPr lang="en-US" altLang="zh-CN" sz="2800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12509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Which explanation of the underlined words is incorrect?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616710" y="167830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my life is made </a:t>
            </a:r>
            <a:r>
              <a:rPr lang="en-US" altLang="zh-CN" sz="2800" u="sng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wretched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-- pitiful</a:t>
            </a:r>
            <a:endParaRPr lang="en-US" altLang="zh-CN" sz="28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616710" y="253555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 u="sng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for want of 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a red rose --</a:t>
            </a:r>
            <a:r>
              <a:rPr lang="en-US" altLang="zh-CN" sz="32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because of the lack of </a:t>
            </a:r>
            <a:endParaRPr lang="en-US" altLang="zh-CN" sz="28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616710" y="339280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 u="sng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flung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himself down on the grass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-- 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threw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616710" y="425005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 u="sng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murmured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the young Student -- cried </a:t>
            </a:r>
            <a:endParaRPr lang="en-US" altLang="zh-CN" sz="28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749935" y="174244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749935" y="259969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749935" y="345694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749935" y="431419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1"/>
          <a:srcRect l="4308" r="8643"/>
          <a:stretch>
            <a:fillRect/>
          </a:stretch>
        </p:blipFill>
        <p:spPr>
          <a:xfrm>
            <a:off x="8081645" y="3364230"/>
            <a:ext cx="3919855" cy="2352040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124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prstClr val="white"/>
                </a:solidFill>
                <a:latin typeface="Arial Black" panose="020B0A04020102020204" pitchFamily="34" charset="0"/>
                <a:ea typeface="等线" panose="02010600030101010101" charset="-122"/>
              </a:rPr>
              <a:t>Text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Analysis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1" name="内容占位符 2"/>
          <p:cNvSpPr txBox="1"/>
          <p:nvPr/>
        </p:nvSpPr>
        <p:spPr bwMode="auto">
          <a:xfrm>
            <a:off x="486410" y="857250"/>
            <a:ext cx="11082655" cy="3561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... and the little Lizard, who was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something of</a:t>
            </a:r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 a cynic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, laughed outright. (Para.12) 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那只有些愤世嫉俗的小蜥蜴当即大笑起来。</a:t>
            </a:r>
            <a:endParaRPr lang="en-US" altLang="zh-CN" b="1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something of: </a:t>
            </a:r>
            <a:r>
              <a:rPr lang="en-US" altLang="zh-CN" i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to some degree; not fully deserving the name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1. He is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something of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an economist among us because his grandfather used to own a little store.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2. </a:t>
            </a:r>
            <a:r>
              <a:rPr lang="zh-CN" altLang="en-US" dirty="0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  <a:cs typeface="Calibri" panose="020F0502020204030204" charset="0"/>
              </a:rPr>
              <a:t>她在我们村里</a:t>
            </a:r>
            <a:r>
              <a:rPr lang="zh-CN" altLang="en-US" dirty="0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  <a:cs typeface="Calibri" panose="020F0502020204030204" charset="0"/>
              </a:rPr>
              <a:t>算是个牙医，不过她用的方法相当粗糙。</a:t>
            </a:r>
            <a:endParaRPr lang="zh-CN" altLang="en-US" dirty="0">
              <a:solidFill>
                <a:prstClr val="black"/>
              </a:solidFill>
              <a:latin typeface="楷体" panose="02010609060101010101" charset="-122"/>
              <a:ea typeface="楷体" panose="02010609060101010101" charset="-122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She is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something of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a dentist in our village although the method she uses is  quite crude. 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53245" y="5999480"/>
            <a:ext cx="710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opal</a:t>
            </a:r>
            <a:endParaRPr lang="en-US" altLang="zh-CN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1665" y="4832985"/>
            <a:ext cx="6525260" cy="1445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 sz="3200" b="1">
                <a:latin typeface="Calibri" panose="020F0502020204030204" charset="0"/>
                <a:cs typeface="Calibri" panose="020F0502020204030204" charset="0"/>
              </a:rPr>
              <a:t>cynic</a:t>
            </a:r>
            <a:r>
              <a:rPr lang="en-US" altLang="zh-CN" sz="2400">
                <a:latin typeface="Calibri" panose="020F0502020204030204" charset="0"/>
                <a:cs typeface="Calibri" panose="020F0502020204030204" charset="0"/>
              </a:rPr>
              <a:t>: </a:t>
            </a:r>
            <a:r>
              <a:rPr lang="en-US" altLang="zh-CN" sz="2800">
                <a:latin typeface="Calibri" panose="020F0502020204030204" charset="0"/>
                <a:cs typeface="Calibri" panose="020F0502020204030204" charset="0"/>
              </a:rPr>
              <a:t>a person who distrusts the goodness of others, believing that people are motivated purely by self-interest.</a:t>
            </a:r>
            <a:endParaRPr lang="en-US" altLang="zh-CN" sz="28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4"/>
          <a:srcRect t="8858" b="14948"/>
          <a:stretch>
            <a:fillRect/>
          </a:stretch>
        </p:blipFill>
        <p:spPr>
          <a:xfrm>
            <a:off x="9919970" y="1376045"/>
            <a:ext cx="1101090" cy="88011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5"/>
          <a:stretch>
            <a:fillRect/>
          </a:stretch>
        </p:blipFill>
        <p:spPr>
          <a:xfrm>
            <a:off x="11151870" y="1290955"/>
            <a:ext cx="615950" cy="88011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6"/>
          <a:srcRect l="15447" t="19602" r="9612" b="23825"/>
          <a:stretch>
            <a:fillRect/>
          </a:stretch>
        </p:blipFill>
        <p:spPr>
          <a:xfrm>
            <a:off x="7566025" y="4418965"/>
            <a:ext cx="4003040" cy="1948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514475" y="826135"/>
            <a:ext cx="7920990" cy="337629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1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Fill in the blanks with the words given.</a:t>
            </a:r>
            <a:endParaRPr lang="en-US" altLang="zh-CN" sz="32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sz="3200" spc="-15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</a:t>
            </a:r>
            <a:r>
              <a:rPr lang="en-US" sz="3200" u="sng" spc="-15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fluttered,  soared,  bloomed,  chilled </a:t>
            </a:r>
            <a:endParaRPr lang="en-US" sz="3200" u="sng" spc="-15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1.  </a:t>
            </a:r>
            <a:r>
              <a:rPr lang="en-US" altLang="zh-CN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The rocket  </a:t>
            </a:r>
            <a:r>
              <a:rPr lang="en-US" altLang="zh-CN" sz="3200" spc="-150" dirty="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[填空1]</a:t>
            </a:r>
            <a:r>
              <a:rPr lang="en-US" altLang="zh-CN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  up into the air.</a:t>
            </a:r>
            <a:endParaRPr lang="en-US" altLang="zh-CN" sz="3200" spc="-150" dirty="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2.  </a:t>
            </a:r>
            <a:r>
              <a:rPr lang="en-US" altLang="zh-CN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I'm  </a:t>
            </a:r>
            <a:r>
              <a:rPr lang="en-US" altLang="zh-CN" sz="3200" spc="-150" dirty="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[填空2]</a:t>
            </a:r>
            <a:r>
              <a:rPr lang="en-US" altLang="zh-CN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  to the bone by the icy wind.</a:t>
            </a:r>
            <a:endParaRPr lang="en-US" altLang="zh-CN" sz="3200" spc="-150" dirty="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3. Their business   </a:t>
            </a:r>
            <a:r>
              <a:rPr lang="en-US" sz="3200" spc="-150" dirty="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[填空3]</a:t>
            </a:r>
            <a:r>
              <a:rPr lang="en-US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in the golden age.</a:t>
            </a:r>
            <a:r>
              <a:rPr lang="en-US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 </a:t>
            </a:r>
            <a:endParaRPr lang="en-US" sz="3200" spc="-150" dirty="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4. 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Flags  </a:t>
            </a:r>
            <a:r>
              <a:rPr lang="en-US" altLang="zh-CN" sz="320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[填空4]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 in the breeze.</a:t>
            </a:r>
            <a:endParaRPr lang="en-US" altLang="zh-CN" sz="320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662305" y="4411345"/>
            <a:ext cx="2239645" cy="1895475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4"/>
          <a:stretch>
            <a:fillRect/>
          </a:stretch>
        </p:blipFill>
        <p:spPr>
          <a:xfrm>
            <a:off x="6263005" y="4393565"/>
            <a:ext cx="1882140" cy="2091055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rcRect l="29838"/>
          <a:stretch>
            <a:fillRect/>
          </a:stretch>
        </p:blipFill>
        <p:spPr>
          <a:xfrm>
            <a:off x="3215005" y="4411345"/>
            <a:ext cx="2593340" cy="20732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297940" y="5815965"/>
            <a:ext cx="967740" cy="39878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sundial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13480" y="6085840"/>
            <a:ext cx="1499235" cy="39878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fans of coral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57670" y="6019800"/>
            <a:ext cx="1045210" cy="39878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daffodil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图片 18"/>
          <p:cNvPicPr/>
          <p:nvPr/>
        </p:nvPicPr>
        <p:blipFill>
          <a:blip r:embed="rId6"/>
          <a:stretch>
            <a:fillRect/>
          </a:stretch>
        </p:blipFill>
        <p:spPr>
          <a:xfrm>
            <a:off x="8751570" y="3775710"/>
            <a:ext cx="2163445" cy="224409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124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prstClr val="white"/>
                </a:solidFill>
                <a:latin typeface="Arial Black" panose="020B0A04020102020204" pitchFamily="34" charset="0"/>
                <a:ea typeface="等线" panose="02010600030101010101" charset="-122"/>
              </a:rPr>
              <a:t>Text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Analysis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0" name="内容占位符 2"/>
          <p:cNvSpPr txBox="1"/>
          <p:nvPr/>
        </p:nvSpPr>
        <p:spPr bwMode="auto">
          <a:xfrm>
            <a:off x="588010" y="774065"/>
            <a:ext cx="11036300" cy="3090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“She has </a:t>
            </a:r>
            <a:r>
              <a:rPr lang="en-US" altLang="zh-CN" b="1" dirty="0">
                <a:latin typeface="Calibri" panose="020F0502020204030204" charset="0"/>
                <a:cs typeface="Calibri" panose="020F0502020204030204" charset="0"/>
                <a:sym typeface="+mn-ea"/>
              </a:rPr>
              <a:t>form... That cannot be </a:t>
            </a:r>
            <a:r>
              <a:rPr lang="en-US" altLang="zh-CN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denied</a:t>
            </a:r>
            <a:r>
              <a:rPr lang="en-US" altLang="zh-CN" b="1" dirty="0">
                <a:latin typeface="Calibri" panose="020F0502020204030204" charset="0"/>
                <a:cs typeface="Calibri" panose="020F0502020204030204" charset="0"/>
                <a:sym typeface="+mn-ea"/>
              </a:rPr>
              <a:t>. But has she got feeling? I’m afraid not. In fact, she is like most artists: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he is all style without any sincerity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” (Para.52) </a:t>
            </a:r>
            <a:endParaRPr lang="en-US" altLang="zh-CN" b="1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她懂得一点音乐的形式。这点不可否认。但是她有真正的感情吗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? 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恐怕未必。实际上她同大多数艺术家一样，只有花哨的表现形式，就是缺乏真情。</a:t>
            </a:r>
            <a:endParaRPr lang="en-US" altLang="zh-CN" b="1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 Why did the student say this? What does this imply?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6750" y="3864610"/>
            <a:ext cx="4269740" cy="2213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pPr marL="0" indent="0" algn="just"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1. The Student didn’t understand emotions or the sacrifice of the Nightingale; in a sense he didn’t understand love and was not likely to be a true lover. </a:t>
            </a:r>
            <a:endParaRPr lang="en-US" altLang="zh-CN" sz="2400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17770" y="3864610"/>
            <a:ext cx="3954145" cy="2213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pPr marL="0" indent="0" algn="just"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2.  “All style without any sincerity” is similar to what people at that time said about Oscar Wilde’s views on art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.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(art for art’s sake) </a:t>
            </a:r>
            <a:endParaRPr lang="en-US" altLang="zh-CN" sz="2400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4"/>
          <a:srcRect l="7665" r="10691"/>
          <a:stretch>
            <a:fillRect/>
          </a:stretch>
        </p:blipFill>
        <p:spPr>
          <a:xfrm>
            <a:off x="9053195" y="3790315"/>
            <a:ext cx="3024505" cy="236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0075" y="862965"/>
            <a:ext cx="7113270" cy="382841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What do they refer to? Choose from a, b, and c.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1.“Love in the heart of a boy and a girl” refers to  </a:t>
            </a:r>
            <a:r>
              <a:rPr lang="en-US" altLang="zh-CN" sz="2800">
                <a:solidFill>
                  <a:srgbClr val="639EF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[填空1]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; 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2.“Passion in the soul of a man and a maid” refers to  </a:t>
            </a:r>
            <a:r>
              <a:rPr lang="en-US" altLang="zh-CN" sz="2800">
                <a:solidFill>
                  <a:srgbClr val="639EF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[填空2]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; 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 “Love that dies not in the tomb” refers to  </a:t>
            </a:r>
            <a:r>
              <a:rPr lang="en-US" altLang="zh-CN" sz="2800">
                <a:solidFill>
                  <a:srgbClr val="639EF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[填空3]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8610" y="1240155"/>
            <a:ext cx="3834765" cy="29343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800">
                <a:latin typeface="Arial Narrow" panose="020B0606020202030204" charset="0"/>
                <a:cs typeface="Arial Narrow" panose="020B0606020202030204" charset="0"/>
                <a:sym typeface="+mn-ea"/>
              </a:rPr>
              <a:t>a. immortal(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Arial Narrow" panose="020B0606020202030204" charset="0"/>
                <a:sym typeface="+mn-ea"/>
              </a:rPr>
              <a:t>不朽的</a:t>
            </a:r>
            <a:r>
              <a:rPr lang="en-US" altLang="zh-CN" sz="2800">
                <a:latin typeface="Arial Narrow" panose="020B0606020202030204" charset="0"/>
                <a:cs typeface="Arial Narrow" panose="020B0606020202030204" charset="0"/>
                <a:sym typeface="+mn-ea"/>
              </a:rPr>
              <a:t>) love between lifelong couples</a:t>
            </a:r>
            <a:endParaRPr lang="en-US" altLang="zh-CN" sz="2800">
              <a:latin typeface="Arial Narrow" panose="020B0606020202030204" charset="0"/>
              <a:cs typeface="Arial Narrow" panose="020B06060202020302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800">
                <a:latin typeface="Arial Narrow" panose="020B0606020202030204" charset="0"/>
                <a:cs typeface="Arial Narrow" panose="020B0606020202030204" charset="0"/>
              </a:rPr>
              <a:t>b. a more mature kind of love </a:t>
            </a:r>
            <a:r>
              <a:rPr lang="en-US" altLang="zh-CN" sz="2800">
                <a:latin typeface="Arial Narrow" panose="020B0606020202030204" charset="0"/>
                <a:cs typeface="Arial Narrow" panose="020B0606020202030204" charset="0"/>
                <a:sym typeface="+mn-ea"/>
              </a:rPr>
              <a:t>between adults</a:t>
            </a:r>
            <a:endParaRPr lang="en-US" altLang="zh-CN" sz="2800">
              <a:latin typeface="Arial Narrow" panose="020B0606020202030204" charset="0"/>
              <a:cs typeface="Arial Narrow" panose="020B06060202020302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800">
                <a:latin typeface="Arial Narrow" panose="020B0606020202030204" charset="0"/>
                <a:cs typeface="Arial Narrow" panose="020B0606020202030204" charset="0"/>
                <a:sym typeface="+mn-ea"/>
              </a:rPr>
              <a:t>c. sweet, first love, or puppy love</a:t>
            </a:r>
            <a:endParaRPr lang="en-US" altLang="zh-CN" sz="2800">
              <a:latin typeface="Arial Narrow" panose="020B0606020202030204" charset="0"/>
              <a:cs typeface="Arial Narrow" panose="020B0606020202030204" charset="0"/>
            </a:endParaRPr>
          </a:p>
        </p:txBody>
      </p:sp>
      <p:pic>
        <p:nvPicPr>
          <p:cNvPr id="12" name="图片 11"/>
          <p:cNvPicPr/>
          <p:nvPr/>
        </p:nvPicPr>
        <p:blipFill>
          <a:blip r:embed="rId3"/>
          <a:srcRect b="11288"/>
          <a:stretch>
            <a:fillRect/>
          </a:stretch>
        </p:blipFill>
        <p:spPr>
          <a:xfrm>
            <a:off x="1139190" y="4594860"/>
            <a:ext cx="2266950" cy="161925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4"/>
          <a:stretch>
            <a:fillRect/>
          </a:stretch>
        </p:blipFill>
        <p:spPr>
          <a:xfrm>
            <a:off x="3519805" y="4434205"/>
            <a:ext cx="2475865" cy="175514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5"/>
          <a:stretch>
            <a:fillRect/>
          </a:stretch>
        </p:blipFill>
        <p:spPr>
          <a:xfrm>
            <a:off x="6096635" y="4433570"/>
            <a:ext cx="2421255" cy="1755775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124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339580" cy="33115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0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Fill in the blanks with the words given.</a:t>
            </a:r>
            <a:endParaRPr lang="en-US" altLang="zh-CN" sz="32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en-US" sz="3200" spc="-15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</a:t>
            </a:r>
            <a:r>
              <a:rPr lang="en-US" sz="3200" u="sng" spc="-15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denied</a:t>
            </a:r>
            <a:r>
              <a:rPr lang="en-US" sz="3200" u="sng" spc="-15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,  ebbed,  lingered,  flushed  </a:t>
            </a:r>
            <a:endParaRPr lang="en-US" sz="3200" u="sng" spc="-15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en-US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1.  </a:t>
            </a:r>
            <a:r>
              <a:rPr lang="en-US" altLang="zh-CN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As night fell, our enthusiasm  </a:t>
            </a:r>
            <a:r>
              <a:rPr lang="en-US" altLang="zh-CN" sz="3200" spc="-150" dirty="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[填空1]</a:t>
            </a:r>
            <a:r>
              <a:rPr lang="en-US" altLang="zh-CN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  away.</a:t>
            </a:r>
            <a:r>
              <a:rPr lang="en-US" altLang="zh-CN" sz="3200" spc="-150" dirty="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3200" spc="-150" dirty="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en-US" altLang="zh-CN" sz="3200" spc="-150" dirty="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2.  She  </a:t>
            </a:r>
            <a:r>
              <a:rPr lang="en-US" altLang="zh-CN" sz="3200" spc="-150" dirty="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[填空2]</a:t>
            </a:r>
            <a:r>
              <a:rPr lang="en-US" altLang="zh-CN" sz="3200" spc="-150" dirty="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  when people talked about her boyfriend.</a:t>
            </a:r>
            <a:endParaRPr lang="en-US" altLang="zh-CN" sz="3200" spc="-150" dirty="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en-US" altLang="zh-CN" sz="3200" spc="-150" dirty="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3. The spokesman  </a:t>
            </a:r>
            <a:r>
              <a:rPr lang="en-US" altLang="zh-CN" sz="3200" spc="-150" dirty="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[填空3]</a:t>
            </a:r>
            <a:r>
              <a:rPr lang="en-US" altLang="zh-CN" sz="3200" spc="-150" dirty="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  the rumor.</a:t>
            </a:r>
            <a:endParaRPr lang="en-US" altLang="zh-CN" sz="3200" spc="-150" dirty="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en-US" altLang="zh-CN" sz="3200" spc="-150" dirty="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4. </a:t>
            </a:r>
            <a:r>
              <a:rPr lang="en-US" altLang="zh-CN" sz="3200" spc="-150" dirty="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The scent of her perfume  </a:t>
            </a:r>
            <a:r>
              <a:rPr lang="en-US" altLang="zh-CN" sz="3200" spc="-150" dirty="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[填空4]</a:t>
            </a:r>
            <a:r>
              <a:rPr lang="en-US" altLang="zh-CN" sz="3200" spc="-150" dirty="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  in the room.</a:t>
            </a:r>
            <a:endParaRPr lang="en-US" altLang="zh-CN" sz="3200" spc="-150" dirty="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856615" y="4046220"/>
            <a:ext cx="3704590" cy="216852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4"/>
          <a:srcRect b="13978"/>
          <a:stretch>
            <a:fillRect/>
          </a:stretch>
        </p:blipFill>
        <p:spPr>
          <a:xfrm>
            <a:off x="4921885" y="4081145"/>
            <a:ext cx="6198870" cy="198628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124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prstClr val="white"/>
                </a:solidFill>
                <a:latin typeface="Arial Black" panose="020B0A04020102020204" pitchFamily="34" charset="0"/>
                <a:ea typeface="等线" panose="02010600030101010101" charset="-122"/>
              </a:rPr>
              <a:t>Text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Analysis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0" name="内容占位符 2"/>
          <p:cNvSpPr txBox="1"/>
          <p:nvPr/>
        </p:nvSpPr>
        <p:spPr bwMode="auto">
          <a:xfrm>
            <a:off x="874395" y="774065"/>
            <a:ext cx="10749915" cy="4076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“It is 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not half as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useful 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as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logic.” (Para.52) </a:t>
            </a:r>
            <a:endParaRPr lang="en-US" altLang="zh-CN" b="1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爱情赶不上逻辑学的一半儿有用。</a:t>
            </a:r>
            <a:endParaRPr lang="en-US" altLang="zh-CN" b="1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not half as... as...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The sequel(</a:t>
            </a:r>
            <a:r>
              <a:rPr lang="zh-CN" altLang="en-US" dirty="0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  <a:cs typeface="Calibri" panose="020F0502020204030204" charset="0"/>
              </a:rPr>
              <a:t>续集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) is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not half as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interesting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as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the original movie.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</a:rPr>
              <a:t>这个牌子的流行程度不如十年前的一半了。</a:t>
            </a:r>
            <a:endParaRPr lang="zh-CN" altLang="en-US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This brand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isn't half as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popular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as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</a:rPr>
              <a:t>it was a decade ago.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7830185" y="3207385"/>
            <a:ext cx="4070350" cy="3152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352488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2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Make a sentence with“not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half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as ... as...”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lnSpc>
                <a:spcPct val="12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e.g.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The sequel is not half as interesting as the original movie.</a:t>
            </a:r>
            <a:endParaRPr lang="en-US" altLang="zh-CN" sz="2800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This brand isn't half as popular as it was a decade ago.</a:t>
            </a:r>
            <a:endParaRPr lang="en-US" altLang="zh-CN" sz="2800" dirty="0">
              <a:solidFill>
                <a:prstClr val="black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In autumn, the mountains are not half as crowded as they are in summer.</a:t>
            </a:r>
            <a:endParaRPr lang="en-US" altLang="zh-CN" sz="2800" dirty="0">
              <a:solidFill>
                <a:prstClr val="black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3713163" y="3922395"/>
            <a:ext cx="4162424" cy="236220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124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-6350" ty="2540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46" name="内容占位符 2"/>
          <p:cNvSpPr>
            <a:spLocks noGrp="1"/>
          </p:cNvSpPr>
          <p:nvPr/>
        </p:nvSpPr>
        <p:spPr>
          <a:xfrm>
            <a:off x="765175" y="881380"/>
            <a:ext cx="11132185" cy="660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" indent="0" algn="just" eaLnBrk="1" hangingPunct="1">
              <a:buNone/>
              <a:defRPr/>
            </a:pPr>
            <a:r>
              <a:rPr lang="en-US" altLang="zh-CN" sz="3200" b="1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What are their different attitudes toward love?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458470" lvl="1" indent="0" eaLnBrk="1" hangingPunct="1">
              <a:buNone/>
              <a:defRPr/>
            </a:pPr>
            <a:endParaRPr lang="en-US" altLang="zh-CN" dirty="0">
              <a:latin typeface="Calibri" panose="020F0502020204030204" charset="0"/>
              <a:ea typeface="宋体" panose="02010600030101010101" pitchFamily="2" charset="-122"/>
            </a:endParaRPr>
          </a:p>
          <a:p>
            <a:pPr marL="915670" lvl="2" indent="0" eaLnBrk="1" hangingPunct="1">
              <a:buNone/>
              <a:defRPr/>
            </a:pP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Summary</a:t>
            </a: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18255" y="1672590"/>
            <a:ext cx="7869555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en-US" altLang="zh-CN" sz="28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Love is a sweet fancy, the joy and perhaps vanity of being able to dance with the girl he likes. </a:t>
            </a:r>
            <a:endParaRPr lang="en-US" altLang="zh-CN" sz="28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en-US" altLang="zh-CN" sz="28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Love is materialistic and can be measured by the value of the gift she receives.</a:t>
            </a:r>
            <a:endParaRPr lang="en-US" altLang="zh-CN" sz="28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en-US" altLang="zh-CN" sz="28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Love is the greatest and most valuable and perfect of all things, even more important than life. </a:t>
            </a:r>
            <a:endParaRPr lang="en-US" altLang="zh-CN" sz="28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6455" y="1776095"/>
            <a:ext cx="2971800" cy="26371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pPr>
              <a:lnSpc>
                <a:spcPct val="9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The Student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Professor’s daughter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90000"/>
              </a:lnSpc>
            </a:pP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Nightingale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5"/>
          <a:stretch>
            <a:fillRect/>
          </a:stretch>
        </p:blipFill>
        <p:spPr>
          <a:xfrm>
            <a:off x="6508750" y="4549140"/>
            <a:ext cx="3042920" cy="184848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6"/>
          <a:stretch>
            <a:fillRect/>
          </a:stretch>
        </p:blipFill>
        <p:spPr>
          <a:xfrm>
            <a:off x="2995295" y="4549140"/>
            <a:ext cx="3408680" cy="1848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8910,&quot;width&quot;:15840}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  <p:tag name="KSO_WM_DIAGRAM_VIRTUALLY_FRAME" val="{&quot;height&quot;:303.825,&quot;left&quot;:84.2,&quot;top&quot;:91.25,&quot;width&quot;:745.4}"/>
</p:tagLst>
</file>

<file path=ppt/tags/tag4.xml><?xml version="1.0" encoding="utf-8"?>
<p:tagLst xmlns:p="http://schemas.openxmlformats.org/presentationml/2006/main">
  <p:tag name="RAINPROBLEM" val="ProblemItem"/>
  <p:tag name="KSO_WM_DIAGRAM_VIRTUALLY_FRAME" val="{&quot;height&quot;:303.825,&quot;left&quot;:84.2,&quot;top&quot;:91.25,&quot;width&quot;:745.4}"/>
</p:tagLst>
</file>

<file path=ppt/tags/tag5.xml><?xml version="1.0" encoding="utf-8"?>
<p:tagLst xmlns:p="http://schemas.openxmlformats.org/presentationml/2006/main">
  <p:tag name="RAINPROBLEM" val="ProblemItem"/>
  <p:tag name="KSO_WM_DIAGRAM_VIRTUALLY_FRAME" val="{&quot;height&quot;:303.825,&quot;left&quot;:84.2,&quot;top&quot;:91.25,&quot;width&quot;:745.4}"/>
</p:tagLst>
</file>

<file path=ppt/tags/tag6.xml><?xml version="1.0" encoding="utf-8"?>
<p:tagLst xmlns:p="http://schemas.openxmlformats.org/presentationml/2006/main">
  <p:tag name="RAINPROBLEM" val="ProblemItem"/>
  <p:tag name="KSO_WM_DIAGRAM_VIRTUALLY_FRAME" val="{&quot;height&quot;:303.825,&quot;left&quot;:84.2,&quot;top&quot;:91.25,&quot;width&quot;:745.4}"/>
</p:tagLst>
</file>

<file path=ppt/tags/tag7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303.825,&quot;left&quot;:84.2,&quot;top&quot;:91.25,&quot;width&quot;:745.4}"/>
</p:tagLst>
</file>

<file path=ppt/tags/tag8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303.825,&quot;left&quot;:84.2,&quot;top&quot;:91.25,&quot;width&quot;:745.4}"/>
</p:tagLst>
</file>

<file path=ppt/tags/tag9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303.825,&quot;left&quot;:84.2,&quot;top&quot;:91.25,&quot;width&quot;:745.4}"/>
</p:tagLst>
</file>

<file path=ppt/tags/tag10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303.825,&quot;left&quot;:84.2,&quot;top&quot;:91.25,&quot;width&quot;:745.4}"/>
</p:tagLst>
</file>

<file path=ppt/tags/tag11.xml><?xml version="1.0" encoding="utf-8"?>
<p:tagLst xmlns:p="http://schemas.openxmlformats.org/presentationml/2006/main">
  <p:tag name="RAINPROBLEM" val="ProblemSubmit"/>
  <p:tag name="RAINPROBLEMTYPE" val="Polling"/>
</p:tagLst>
</file>

<file path=ppt/tags/tag12.xml><?xml version="1.0" encoding="utf-8"?>
<p:tagLst xmlns:p="http://schemas.openxmlformats.org/presentationml/2006/main">
  <p:tag name="RAINPROBLEM" val="ProblemItem"/>
</p:tagLst>
</file>

<file path=ppt/tags/tag13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  <p:tag name="RAINPROBLEM" val="PollingAnswer"/>
</p:tagLst>
</file>

<file path=ppt/tags/tag19.xml><?xml version="1.0" encoding="utf-8"?>
<p:tagLst xmlns:p="http://schemas.openxmlformats.org/presentationml/2006/main">
  <p:tag name="RAINPROBLEM" val="ProblemSetting"/>
  <p:tag name="RAINPROBLEMTYPE" val="Polling"/>
</p:tagLst>
</file>

<file path=ppt/tags/tag20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21.xml><?xml version="1.0" encoding="utf-8"?>
<p:tagLst xmlns:p="http://schemas.openxmlformats.org/presentationml/2006/main">
  <p:tag name="RAINPROBLEM" val="ProblemBody"/>
</p:tagLst>
</file>

<file path=ppt/tags/tag22.xml><?xml version="1.0" encoding="utf-8"?>
<p:tagLst xmlns:p="http://schemas.openxmlformats.org/presentationml/2006/main">
  <p:tag name="RAINPROBLEM" val="ProblemItem"/>
  <p:tag name="KSO_WM_DIAGRAM_VIRTUALLY_FRAME" val="{&quot;height&quot;:253.1,&quot;left&quot;:87.05,&quot;top&quot;:176.15,&quot;width&quot;:740.25}"/>
</p:tagLst>
</file>

<file path=ppt/tags/tag23.xml><?xml version="1.0" encoding="utf-8"?>
<p:tagLst xmlns:p="http://schemas.openxmlformats.org/presentationml/2006/main">
  <p:tag name="RAINPROBLEM" val="ProblemItem"/>
  <p:tag name="KSO_WM_DIAGRAM_VIRTUALLY_FRAME" val="{&quot;height&quot;:253.1,&quot;left&quot;:87.05,&quot;top&quot;:176.15,&quot;width&quot;:740.25}"/>
</p:tagLst>
</file>

<file path=ppt/tags/tag24.xml><?xml version="1.0" encoding="utf-8"?>
<p:tagLst xmlns:p="http://schemas.openxmlformats.org/presentationml/2006/main">
  <p:tag name="RAINPROBLEM" val="ProblemItem"/>
  <p:tag name="KSO_WM_DIAGRAM_VIRTUALLY_FRAME" val="{&quot;height&quot;:253.1,&quot;left&quot;:87.05,&quot;top&quot;:176.15,&quot;width&quot;:740.25}"/>
</p:tagLst>
</file>

<file path=ppt/tags/tag25.xml><?xml version="1.0" encoding="utf-8"?>
<p:tagLst xmlns:p="http://schemas.openxmlformats.org/presentationml/2006/main">
  <p:tag name="RAINPROBLEM" val="ProblemItem"/>
  <p:tag name="KSO_WM_DIAGRAM_VIRTUALLY_FRAME" val="{&quot;height&quot;:253.1,&quot;left&quot;:87.05,&quot;top&quot;:176.15,&quot;width&quot;:740.25}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87.05,&quot;top&quot;:176.15,&quot;width&quot;:740.25}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87.05,&quot;top&quot;:176.15,&quot;width&quot;:740.25}"/>
</p:tagLst>
</file>

<file path=ppt/tags/tag28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87.05,&quot;top&quot;:176.15,&quot;width&quot;:740.25}"/>
</p:tagLst>
</file>

<file path=ppt/tags/tag29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87.05,&quot;top&quot;:176.15,&quot;width&quot;:740.25}"/>
</p:tagLst>
</file>

<file path=ppt/tags/tag30.xml><?xml version="1.0" encoding="utf-8"?>
<p:tagLst xmlns:p="http://schemas.openxmlformats.org/presentationml/2006/main">
  <p:tag name="RAINPROBLEM" val="ProblemSubmit"/>
  <p:tag name="RAINPROBLEMTYPE" val="MultipleChoice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" val="ProblemSetting"/>
  <p:tag name="RAINPROBLEMTYPE" val="MultipleChoice"/>
</p:tagLst>
</file>

<file path=ppt/tags/tag37.xml><?xml version="1.0" encoding="utf-8"?>
<p:tagLst xmlns:p="http://schemas.openxmlformats.org/presentationml/2006/main">
  <p:tag name="RAINPROBLEM" val="MultipleChoice"/>
  <p:tag name="PROBLEMSCORE" val="20.0"/>
</p:tagLst>
</file>

<file path=ppt/tags/tag38.xml><?xml version="1.0" encoding="utf-8"?>
<p:tagLst xmlns:p="http://schemas.openxmlformats.org/presentationml/2006/main">
  <p:tag name="RAINPROBLEM" val="ProblemBody"/>
</p:tagLst>
</file>

<file path=ppt/tags/tag39.xml><?xml version="1.0" encoding="utf-8"?>
<p:tagLst xmlns:p="http://schemas.openxmlformats.org/presentationml/2006/main">
  <p:tag name="RAINPROBLEM" val="ProblemSubmit"/>
  <p:tag name="RAINPROBLEMTYPE" val="FillBlank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" val="ProblemSetting"/>
  <p:tag name="RAINPROBLEMTYPE" val="FillBlank"/>
</p:tagLst>
</file>

<file path=ppt/tags/tag46.xml><?xml version="1.0" encoding="utf-8"?>
<p:tagLst xmlns:p="http://schemas.openxmlformats.org/presentationml/2006/main">
  <p:tag name="RAINPROBLEM" val="FillBlank"/>
  <p:tag name="PROBLEMSCORE" val="20.0"/>
  <p:tag name="PROBLEMBLANK" val="[{&quot;num&quot;:1,&quot;caseSensitive&quot;:false,&quot;fuzzyMatch&quot;:false,&quot;Score&quot;:5.0,&quot;answers&quot;:[&quot;soared&quot;]},{&quot;num&quot;:2,&quot;caseSensitive&quot;:false,&quot;fuzzyMatch&quot;:false,&quot;Score&quot;:5.0,&quot;answers&quot;:[&quot;chilled&quot;]},{&quot;num&quot;:3,&quot;caseSensitive&quot;:false,&quot;fuzzyMatch&quot;:false,&quot;Score&quot;:5.0,&quot;answers&quot;:[&quot;bloomed&quot;]},{&quot;num&quot;:4,&quot;caseSensitive&quot;:false,&quot;fuzzyMatch&quot;:false,&quot;Score&quot;:5.0,&quot;answers&quot;:[&quot;fluttered&quot;]}]"/>
  <p:tag name="PROBLEMBLANKKEYWORD" val="填空"/>
</p:tagLst>
</file>

<file path=ppt/tags/tag47.xml><?xml version="1.0" encoding="utf-8"?>
<p:tagLst xmlns:p="http://schemas.openxmlformats.org/presentationml/2006/main">
  <p:tag name="RAINPROBLEM" val="ProblemBody"/>
</p:tagLst>
</file>

<file path=ppt/tags/tag48.xml><?xml version="1.0" encoding="utf-8"?>
<p:tagLst xmlns:p="http://schemas.openxmlformats.org/presentationml/2006/main">
  <p:tag name="RAINPROBLEM" val="ProblemSubmit"/>
  <p:tag name="RAINPROBLEMTYPE" val="FillBlank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" val="ProblemSetting"/>
  <p:tag name="RAINPROBLEMTYPE" val="FillBlank"/>
</p:tagLst>
</file>

<file path=ppt/tags/tag55.xml><?xml version="1.0" encoding="utf-8"?>
<p:tagLst xmlns:p="http://schemas.openxmlformats.org/presentationml/2006/main">
  <p:tag name="RAINPROBLEM" val="FillBlank"/>
  <p:tag name="PROBLEMSCORE" val="20.0"/>
  <p:tag name="PROBLEMBLANK" val="[{&quot;num&quot;:1,&quot;caseSensitive&quot;:false,&quot;fuzzyMatch&quot;:false,&quot;Score&quot;:7.0,&quot;answers&quot;:[&quot;c&quot;]},{&quot;num&quot;:2,&quot;caseSensitive&quot;:false,&quot;fuzzyMatch&quot;:false,&quot;Score&quot;:7.0,&quot;answers&quot;:[&quot;b&quot;]},{&quot;num&quot;:3,&quot;caseSensitive&quot;:false,&quot;fuzzyMatch&quot;:false,&quot;Score&quot;:6.0,&quot;answers&quot;:[&quot;a&quot;]}]"/>
  <p:tag name="PROBLEMBLANKKEYWORD" val="填空"/>
</p:tagLst>
</file>

<file path=ppt/tags/tag56.xml><?xml version="1.0" encoding="utf-8"?>
<p:tagLst xmlns:p="http://schemas.openxmlformats.org/presentationml/2006/main">
  <p:tag name="RAINPROBLEM" val="ProblemBody"/>
</p:tagLst>
</file>

<file path=ppt/tags/tag57.xml><?xml version="1.0" encoding="utf-8"?>
<p:tagLst xmlns:p="http://schemas.openxmlformats.org/presentationml/2006/main">
  <p:tag name="RAINPROBLEM" val="ProblemSubmit"/>
  <p:tag name="RAINPROBLEMTYPE" val="FillBlank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" val="ProblemSetting"/>
  <p:tag name="RAINPROBLEMTYPE" val="FillBlank"/>
</p:tagLst>
</file>

<file path=ppt/tags/tag64.xml><?xml version="1.0" encoding="utf-8"?>
<p:tagLst xmlns:p="http://schemas.openxmlformats.org/presentationml/2006/main">
  <p:tag name="RAINPROBLEM" val="FillBlank"/>
  <p:tag name="PROBLEMSCORE" val="20.0"/>
  <p:tag name="PROBLEMBLANK" val="[{&quot;num&quot;:1,&quot;caseSensitive&quot;:false,&quot;fuzzyMatch&quot;:false,&quot;Score&quot;:5.0,&quot;answers&quot;:[&quot;ebbed&quot;]},{&quot;num&quot;:2,&quot;caseSensitive&quot;:false,&quot;fuzzyMatch&quot;:false,&quot;Score&quot;:5.0,&quot;answers&quot;:[&quot;flushed&quot;]},{&quot;num&quot;:3,&quot;caseSensitive&quot;:false,&quot;fuzzyMatch&quot;:false,&quot;Score&quot;:5.0,&quot;answers&quot;:[&quot;denied&quot;]},{&quot;num&quot;:4,&quot;caseSensitive&quot;:false,&quot;fuzzyMatch&quot;:false,&quot;Score&quot;:5.0,&quot;answers&quot;:[&quot;lingered&quot;]}]"/>
  <p:tag name="PROBLEMBLANKKEYWORD" val="填空"/>
</p:tagLst>
</file>

<file path=ppt/tags/tag65.xml><?xml version="1.0" encoding="utf-8"?>
<p:tagLst xmlns:p="http://schemas.openxmlformats.org/presentationml/2006/main">
  <p:tag name="RAINPROBLEM" val="ProblemBody"/>
</p:tagLst>
</file>

<file path=ppt/tags/tag66.xml><?xml version="1.0" encoding="utf-8"?>
<p:tagLst xmlns:p="http://schemas.openxmlformats.org/presentationml/2006/main">
  <p:tag name="RAINPROBLEM" val="ProblemSubmit"/>
  <p:tag name="RAINPROBLEMTYPE" val="ShortAnsw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" val="ProblemSetting"/>
  <p:tag name="RAINPROBLEMTYPE" val="ShortAnswer"/>
</p:tagLst>
</file>

<file path=ppt/tags/tag73.xml><?xml version="1.0" encoding="utf-8"?>
<p:tagLst xmlns:p="http://schemas.openxmlformats.org/presentationml/2006/main">
  <p:tag name="RAINPROBLEM" val="ShortAnswer"/>
  <p:tag name="PROBLEMSCORE" val="20.0"/>
  <p:tag name="PROBLEMVOICEALLOWED" val="False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472C4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4385</Words>
  <Application>WPS 演示</Application>
  <PresentationFormat>宽屏</PresentationFormat>
  <Paragraphs>190</Paragraphs>
  <Slides>14</Slides>
  <Notes>129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Arial Black</vt:lpstr>
      <vt:lpstr>思源黑体 CN Regular</vt:lpstr>
      <vt:lpstr>黑体</vt:lpstr>
      <vt:lpstr>Calibri</vt:lpstr>
      <vt:lpstr>Wingdings</vt:lpstr>
      <vt:lpstr>微软雅黑</vt:lpstr>
      <vt:lpstr>等线</vt:lpstr>
      <vt:lpstr>楷体</vt:lpstr>
      <vt:lpstr>华文中宋</vt:lpstr>
      <vt:lpstr>Times New Roman</vt:lpstr>
      <vt:lpstr>Arial Narrow</vt:lpstr>
      <vt:lpstr>Calibri</vt:lpstr>
      <vt:lpstr>Arial Unicode MS</vt:lpstr>
      <vt:lpstr>等线 Light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Dilys</dc:creator>
  <cp:lastModifiedBy>Cooper</cp:lastModifiedBy>
  <cp:revision>755</cp:revision>
  <dcterms:created xsi:type="dcterms:W3CDTF">2021-05-22T03:56:00Z</dcterms:created>
  <dcterms:modified xsi:type="dcterms:W3CDTF">2025-10-28T13:42:07Z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1864550C8FBF4E4C8DF512A7CCB45057_12</vt:lpwstr>
  </property>
</Properties>
</file>