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314" r:id="rId4"/>
    <p:sldId id="317" r:id="rId5"/>
    <p:sldId id="318" r:id="rId6"/>
    <p:sldId id="320" r:id="rId7"/>
    <p:sldId id="319" r:id="rId8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663300"/>
    <a:srgbClr val="996633"/>
    <a:srgbClr val="333399"/>
    <a:srgbClr val="FF0000"/>
    <a:srgbClr val="0099CC"/>
    <a:srgbClr val="0066CC"/>
    <a:srgbClr val="0081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7"/>
      </p:cViewPr>
      <p:guideLst>
        <p:guide orient="horz" pos="2147"/>
        <p:guide pos="292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1EE3B-5B24-4CE2-BDA6-C565AED9200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CD892-2F77-4E37-902C-B07F8F4C92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4AAAE-04B1-4F3B-BA35-495641B338A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8FECC-7EFC-4C02-AF5A-004C786CC2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ACEFC-CC43-4A95-8F35-82786263E14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99DE5-EBB8-437C-ABA4-FF976BAC78D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448F0-014A-4BC0-9D06-9B81B42102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7DB4F-ECD3-43C2-9490-51670D92B0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D99B9-0F2A-4E82-A2CF-92735D1BF75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9E556-987C-4570-800B-A7158FCD88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285A9-927B-4873-9B36-F5C706A983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989500D1-8A72-46C7-9912-3BA275B110E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3555" y="2110740"/>
            <a:ext cx="8137525" cy="273304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3600" b="1">
                <a:solidFill>
                  <a:srgbClr val="00817E"/>
                </a:solidFill>
                <a:latin typeface="Garamond" panose="02020404030301010803" pitchFamily="18" charset="0"/>
              </a:rPr>
              <a:t>Bamboo-structured sentences</a:t>
            </a:r>
            <a:endParaRPr lang="en-US" altLang="zh-CN" sz="3600" b="1">
              <a:solidFill>
                <a:srgbClr val="00817E"/>
              </a:solidFill>
              <a:latin typeface="Garamond" panose="02020404030301010803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3600" b="1">
                <a:solidFill>
                  <a:srgbClr val="00817E"/>
                </a:solidFill>
                <a:latin typeface="Garamond" panose="02020404030301010803" pitchFamily="18" charset="0"/>
              </a:rPr>
              <a:t>vs.</a:t>
            </a:r>
            <a:endParaRPr lang="en-US" altLang="zh-CN" sz="3600" b="1">
              <a:solidFill>
                <a:srgbClr val="00817E"/>
              </a:solidFill>
              <a:latin typeface="Garamond" panose="02020404030301010803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3600" b="1">
                <a:solidFill>
                  <a:srgbClr val="00817E"/>
                </a:solidFill>
                <a:latin typeface="Garamond" panose="02020404030301010803" pitchFamily="18" charset="0"/>
              </a:rPr>
              <a:t>Tree-structured sentences</a:t>
            </a:r>
            <a:endParaRPr lang="en-US" altLang="zh-CN" sz="3600" b="1">
              <a:solidFill>
                <a:srgbClr val="00817E"/>
              </a:solidFill>
              <a:latin typeface="Garamond" panose="02020404030301010803" pitchFamily="18" charset="0"/>
            </a:endParaRPr>
          </a:p>
        </p:txBody>
      </p:sp>
      <p:grpSp>
        <p:nvGrpSpPr>
          <p:cNvPr id="2051" name="Group 4"/>
          <p:cNvGrpSpPr/>
          <p:nvPr/>
        </p:nvGrpSpPr>
        <p:grpSpPr bwMode="auto">
          <a:xfrm>
            <a:off x="-1908493" y="930275"/>
            <a:ext cx="9000257" cy="1079500"/>
            <a:chOff x="-2040" y="0"/>
            <a:chExt cx="7512" cy="2400"/>
          </a:xfrm>
        </p:grpSpPr>
        <p:sp>
          <p:nvSpPr>
            <p:cNvPr id="2053" name="AutoShape 5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-807 h 64000"/>
                <a:gd name="T2" fmla="*/ 2592 w 64000"/>
                <a:gd name="T3" fmla="*/ 0 h 64000"/>
                <a:gd name="T4" fmla="*/ 2037 w 64000"/>
                <a:gd name="T5" fmla="*/ 807 h 64000"/>
                <a:gd name="T6" fmla="*/ 2037 w 64000"/>
                <a:gd name="T7" fmla="*/ 807 h 64000"/>
                <a:gd name="T8" fmla="*/ 2037 w 64000"/>
                <a:gd name="T9" fmla="*/ 807 h 64000"/>
                <a:gd name="T10" fmla="*/ 2037 w 64000"/>
                <a:gd name="T11" fmla="*/ 807 h 64000"/>
                <a:gd name="T12" fmla="*/ 2037 w 64000"/>
                <a:gd name="T13" fmla="*/ -807 h 64000"/>
                <a:gd name="T14" fmla="*/ 2037 w 64000"/>
                <a:gd name="T15" fmla="*/ -807 h 64000"/>
                <a:gd name="T16" fmla="*/ 2037 w 64000"/>
                <a:gd name="T17" fmla="*/ -80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2054" name="AutoShape 6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-820 h 64000"/>
                <a:gd name="T2" fmla="*/ 1949 w 64000"/>
                <a:gd name="T3" fmla="*/ 0 h 64000"/>
                <a:gd name="T4" fmla="*/ 1525 w 64000"/>
                <a:gd name="T5" fmla="*/ 820 h 64000"/>
                <a:gd name="T6" fmla="*/ 1525 w 64000"/>
                <a:gd name="T7" fmla="*/ 820 h 64000"/>
                <a:gd name="T8" fmla="*/ 1525 w 64000"/>
                <a:gd name="T9" fmla="*/ 820 h 64000"/>
                <a:gd name="T10" fmla="*/ 1525 w 64000"/>
                <a:gd name="T11" fmla="*/ 820 h 64000"/>
                <a:gd name="T12" fmla="*/ 1525 w 64000"/>
                <a:gd name="T13" fmla="*/ -820 h 64000"/>
                <a:gd name="T14" fmla="*/ 1525 w 64000"/>
                <a:gd name="T15" fmla="*/ -820 h 64000"/>
                <a:gd name="T16" fmla="*/ 1525 w 64000"/>
                <a:gd name="T17" fmla="*/ -82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2055" name="Line 7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052" name="Picture 9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235825" y="333375"/>
            <a:ext cx="10668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563620" y="548640"/>
            <a:ext cx="2224405" cy="632460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p>
            <a:pPr indent="0" eaLnBrk="1" hangingPunct="1">
              <a:lnSpc>
                <a:spcPct val="110000"/>
              </a:lnSpc>
              <a:buClr>
                <a:srgbClr val="0066CC"/>
              </a:buCl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汉译英技巧</a:t>
            </a:r>
            <a:endParaRPr lang="zh-CN" alt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/>
          <p:nvPr/>
        </p:nvGrpSpPr>
        <p:grpSpPr bwMode="auto">
          <a:xfrm>
            <a:off x="-900113" y="477838"/>
            <a:ext cx="4752976" cy="1079500"/>
            <a:chOff x="-2040" y="0"/>
            <a:chExt cx="7512" cy="2400"/>
          </a:xfrm>
        </p:grpSpPr>
        <p:sp>
          <p:nvSpPr>
            <p:cNvPr id="8202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-807 h 64000"/>
                <a:gd name="T2" fmla="*/ 2592 w 64000"/>
                <a:gd name="T3" fmla="*/ 0 h 64000"/>
                <a:gd name="T4" fmla="*/ 2037 w 64000"/>
                <a:gd name="T5" fmla="*/ 807 h 64000"/>
                <a:gd name="T6" fmla="*/ 2037 w 64000"/>
                <a:gd name="T7" fmla="*/ 807 h 64000"/>
                <a:gd name="T8" fmla="*/ 2037 w 64000"/>
                <a:gd name="T9" fmla="*/ 807 h 64000"/>
                <a:gd name="T10" fmla="*/ 2037 w 64000"/>
                <a:gd name="T11" fmla="*/ 807 h 64000"/>
                <a:gd name="T12" fmla="*/ 2037 w 64000"/>
                <a:gd name="T13" fmla="*/ -807 h 64000"/>
                <a:gd name="T14" fmla="*/ 2037 w 64000"/>
                <a:gd name="T15" fmla="*/ -807 h 64000"/>
                <a:gd name="T16" fmla="*/ 2037 w 64000"/>
                <a:gd name="T17" fmla="*/ -80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8203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-820 h 64000"/>
                <a:gd name="T2" fmla="*/ 1949 w 64000"/>
                <a:gd name="T3" fmla="*/ 0 h 64000"/>
                <a:gd name="T4" fmla="*/ 1525 w 64000"/>
                <a:gd name="T5" fmla="*/ 820 h 64000"/>
                <a:gd name="T6" fmla="*/ 1525 w 64000"/>
                <a:gd name="T7" fmla="*/ 820 h 64000"/>
                <a:gd name="T8" fmla="*/ 1525 w 64000"/>
                <a:gd name="T9" fmla="*/ 820 h 64000"/>
                <a:gd name="T10" fmla="*/ 1525 w 64000"/>
                <a:gd name="T11" fmla="*/ 820 h 64000"/>
                <a:gd name="T12" fmla="*/ 1525 w 64000"/>
                <a:gd name="T13" fmla="*/ -820 h 64000"/>
                <a:gd name="T14" fmla="*/ 1525 w 64000"/>
                <a:gd name="T15" fmla="*/ -820 h 64000"/>
                <a:gd name="T16" fmla="*/ 1525 w 64000"/>
                <a:gd name="T17" fmla="*/ -82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8204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95" name="Line 6"/>
          <p:cNvSpPr>
            <a:spLocks noChangeShapeType="1"/>
          </p:cNvSpPr>
          <p:nvPr/>
        </p:nvSpPr>
        <p:spPr bwMode="auto">
          <a:xfrm>
            <a:off x="5003800" y="6524625"/>
            <a:ext cx="3889375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971550" y="1009650"/>
            <a:ext cx="7489825" cy="525463"/>
          </a:xfrm>
          <a:prstGeom prst="rect">
            <a:avLst/>
          </a:prstGeom>
          <a:noFill/>
          <a:ln w="19050">
            <a:solidFill>
              <a:srgbClr val="0099CC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化“竹节句”为“树状句”</a:t>
            </a:r>
            <a:endParaRPr lang="zh-CN" altLang="en-US" sz="2800" b="1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197" name="Group 8"/>
          <p:cNvGrpSpPr/>
          <p:nvPr/>
        </p:nvGrpSpPr>
        <p:grpSpPr bwMode="auto">
          <a:xfrm>
            <a:off x="971550" y="219075"/>
            <a:ext cx="6696075" cy="955675"/>
            <a:chOff x="1156" y="1116"/>
            <a:chExt cx="1996" cy="602"/>
          </a:xfrm>
        </p:grpSpPr>
        <p:pic>
          <p:nvPicPr>
            <p:cNvPr id="8200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889" b="25333"/>
            <a:stretch>
              <a:fillRect/>
            </a:stretch>
          </p:blipFill>
          <p:spPr bwMode="auto">
            <a:xfrm>
              <a:off x="1158" y="1116"/>
              <a:ext cx="1970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1" name="Text Box 10"/>
            <p:cNvSpPr txBox="1">
              <a:spLocks noChangeArrowheads="1"/>
            </p:cNvSpPr>
            <p:nvPr/>
          </p:nvSpPr>
          <p:spPr bwMode="auto">
            <a:xfrm>
              <a:off x="1156" y="1117"/>
              <a:ext cx="1996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chemeClr val="bg1"/>
                  </a:solidFill>
                  <a:latin typeface="Tahoma" panose="020B0604030504040204" pitchFamily="34" charset="0"/>
                  <a:ea typeface="楷体_GB2312" pitchFamily="49" charset="-122"/>
                </a:rPr>
                <a:t>Writing tree-structured sentences</a:t>
              </a:r>
              <a:endParaRPr lang="en-US" altLang="zh-CN" sz="2800">
                <a:solidFill>
                  <a:schemeClr val="bg1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</p:grp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395288" y="1773238"/>
            <a:ext cx="8424862" cy="954087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2075" indent="-920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</a:rPr>
              <a:t>天目山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林深人少，古树掩映，清泉石上流，雾生半山腰，如仙境一般。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7" name="Rectangle 13"/>
          <p:cNvSpPr>
            <a:spLocks noChangeArrowheads="1"/>
          </p:cNvSpPr>
          <p:nvPr/>
        </p:nvSpPr>
        <p:spPr bwMode="auto">
          <a:xfrm>
            <a:off x="360363" y="3213100"/>
            <a:ext cx="8423275" cy="1816100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</a:rPr>
              <a:t>Densely forested and scarcely populated, 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Mt. Tianmu is like a fairyland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</a:rPr>
              <a:t>, where heavy fogs envelop halfway up the mountain and clear streams flow along the valleys.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animBg="1"/>
      <p:bldP spid="72715" grpId="0" animBg="1" build="p"/>
      <p:bldP spid="727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/>
          <p:nvPr/>
        </p:nvGrpSpPr>
        <p:grpSpPr bwMode="auto">
          <a:xfrm>
            <a:off x="-900113" y="477838"/>
            <a:ext cx="4752976" cy="1079500"/>
            <a:chOff x="-2040" y="0"/>
            <a:chExt cx="7512" cy="2400"/>
          </a:xfrm>
        </p:grpSpPr>
        <p:sp>
          <p:nvSpPr>
            <p:cNvPr id="9226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-807 h 64000"/>
                <a:gd name="T2" fmla="*/ 2592 w 64000"/>
                <a:gd name="T3" fmla="*/ 0 h 64000"/>
                <a:gd name="T4" fmla="*/ 2037 w 64000"/>
                <a:gd name="T5" fmla="*/ 807 h 64000"/>
                <a:gd name="T6" fmla="*/ 2037 w 64000"/>
                <a:gd name="T7" fmla="*/ 807 h 64000"/>
                <a:gd name="T8" fmla="*/ 2037 w 64000"/>
                <a:gd name="T9" fmla="*/ 807 h 64000"/>
                <a:gd name="T10" fmla="*/ 2037 w 64000"/>
                <a:gd name="T11" fmla="*/ 807 h 64000"/>
                <a:gd name="T12" fmla="*/ 2037 w 64000"/>
                <a:gd name="T13" fmla="*/ -807 h 64000"/>
                <a:gd name="T14" fmla="*/ 2037 w 64000"/>
                <a:gd name="T15" fmla="*/ -807 h 64000"/>
                <a:gd name="T16" fmla="*/ 2037 w 64000"/>
                <a:gd name="T17" fmla="*/ -80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9227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-820 h 64000"/>
                <a:gd name="T2" fmla="*/ 1949 w 64000"/>
                <a:gd name="T3" fmla="*/ 0 h 64000"/>
                <a:gd name="T4" fmla="*/ 1525 w 64000"/>
                <a:gd name="T5" fmla="*/ 820 h 64000"/>
                <a:gd name="T6" fmla="*/ 1525 w 64000"/>
                <a:gd name="T7" fmla="*/ 820 h 64000"/>
                <a:gd name="T8" fmla="*/ 1525 w 64000"/>
                <a:gd name="T9" fmla="*/ 820 h 64000"/>
                <a:gd name="T10" fmla="*/ 1525 w 64000"/>
                <a:gd name="T11" fmla="*/ 820 h 64000"/>
                <a:gd name="T12" fmla="*/ 1525 w 64000"/>
                <a:gd name="T13" fmla="*/ -820 h 64000"/>
                <a:gd name="T14" fmla="*/ 1525 w 64000"/>
                <a:gd name="T15" fmla="*/ -820 h 64000"/>
                <a:gd name="T16" fmla="*/ 1525 w 64000"/>
                <a:gd name="T17" fmla="*/ -82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9228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19" name="Line 6"/>
          <p:cNvSpPr>
            <a:spLocks noChangeShapeType="1"/>
          </p:cNvSpPr>
          <p:nvPr/>
        </p:nvSpPr>
        <p:spPr bwMode="auto">
          <a:xfrm>
            <a:off x="5003800" y="6524625"/>
            <a:ext cx="3889375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971550" y="1009650"/>
            <a:ext cx="7489825" cy="525463"/>
          </a:xfrm>
          <a:prstGeom prst="rect">
            <a:avLst/>
          </a:prstGeom>
          <a:noFill/>
          <a:ln w="19050">
            <a:solidFill>
              <a:srgbClr val="0099CC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化“竹节句”为“树状句”</a:t>
            </a:r>
            <a:endParaRPr lang="zh-CN" altLang="en-US" sz="2800" b="1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221" name="Group 8"/>
          <p:cNvGrpSpPr/>
          <p:nvPr/>
        </p:nvGrpSpPr>
        <p:grpSpPr bwMode="auto">
          <a:xfrm>
            <a:off x="971550" y="219075"/>
            <a:ext cx="6696075" cy="955675"/>
            <a:chOff x="1156" y="1116"/>
            <a:chExt cx="1996" cy="602"/>
          </a:xfrm>
        </p:grpSpPr>
        <p:pic>
          <p:nvPicPr>
            <p:cNvPr id="9224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889" b="25333"/>
            <a:stretch>
              <a:fillRect/>
            </a:stretch>
          </p:blipFill>
          <p:spPr bwMode="auto">
            <a:xfrm>
              <a:off x="1158" y="1116"/>
              <a:ext cx="1970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5" name="Text Box 10"/>
            <p:cNvSpPr txBox="1">
              <a:spLocks noChangeArrowheads="1"/>
            </p:cNvSpPr>
            <p:nvPr/>
          </p:nvSpPr>
          <p:spPr bwMode="auto">
            <a:xfrm>
              <a:off x="1156" y="1117"/>
              <a:ext cx="1996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chemeClr val="bg1"/>
                  </a:solidFill>
                  <a:latin typeface="Tahoma" panose="020B0604030504040204" pitchFamily="34" charset="0"/>
                  <a:ea typeface="楷体_GB2312" pitchFamily="49" charset="-122"/>
                </a:rPr>
                <a:t>Writing tree-structured sentences</a:t>
              </a:r>
              <a:endParaRPr lang="en-US" altLang="zh-CN" sz="2800">
                <a:solidFill>
                  <a:schemeClr val="bg1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</p:grp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395288" y="1773238"/>
            <a:ext cx="8424862" cy="13843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2075" indent="-920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</a:rPr>
              <a:t>长春市面积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18881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多平方公里，人口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683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万，坐落于东北平原的中心。长春是座迷人的城市，在全国长期享有“电影城”和“汽车城”的美誉。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7" name="Rectangle 13"/>
          <p:cNvSpPr>
            <a:spLocks noChangeArrowheads="1"/>
          </p:cNvSpPr>
          <p:nvPr/>
        </p:nvSpPr>
        <p:spPr bwMode="auto">
          <a:xfrm>
            <a:off x="395288" y="3575050"/>
            <a:ext cx="8496300" cy="2236788"/>
          </a:xfrm>
          <a:prstGeom prst="rect">
            <a:avLst/>
          </a:prstGeom>
          <a:noFill/>
          <a:ln w="9525">
            <a:solidFill>
              <a:srgbClr val="00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</a:rPr>
              <a:t>With an area of</a:t>
            </a:r>
            <a:r>
              <a:rPr lang="en-US" altLang="zh-CN" sz="2800" b="1" i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</a:rPr>
              <a:t>over 18,881 km</a:t>
            </a:r>
            <a:r>
              <a:rPr lang="en-US" altLang="zh-CN" sz="2800" b="1" baseline="30000">
                <a:solidFill>
                  <a:srgbClr val="333399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and a population of 6.83 million, 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Changchun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</a:rPr>
              <a:t>, a fascinating city situated in the centre of the Northeast plain, 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has long enjoyed the national reputation</a:t>
            </a:r>
            <a:r>
              <a:rPr lang="en-US" altLang="zh-CN" sz="2800" b="1">
                <a:solidFill>
                  <a:srgbClr val="333399"/>
                </a:solidFill>
                <a:latin typeface="Times New Roman" panose="02020603050405020304" pitchFamily="18" charset="0"/>
              </a:rPr>
              <a:t> as “Film City”, and “Automobile City”.</a:t>
            </a:r>
            <a:endParaRPr lang="en-US" altLang="zh-CN" sz="2800" b="1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animBg="1"/>
      <p:bldP spid="72715" grpId="0" animBg="1" build="p"/>
      <p:bldP spid="727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/>
          <p:nvPr/>
        </p:nvGrpSpPr>
        <p:grpSpPr bwMode="auto">
          <a:xfrm>
            <a:off x="-900113" y="477838"/>
            <a:ext cx="4752976" cy="1079500"/>
            <a:chOff x="-2040" y="0"/>
            <a:chExt cx="7512" cy="2400"/>
          </a:xfrm>
        </p:grpSpPr>
        <p:sp>
          <p:nvSpPr>
            <p:cNvPr id="9226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-807 h 64000"/>
                <a:gd name="T2" fmla="*/ 2592 w 64000"/>
                <a:gd name="T3" fmla="*/ 0 h 64000"/>
                <a:gd name="T4" fmla="*/ 2037 w 64000"/>
                <a:gd name="T5" fmla="*/ 807 h 64000"/>
                <a:gd name="T6" fmla="*/ 2037 w 64000"/>
                <a:gd name="T7" fmla="*/ 807 h 64000"/>
                <a:gd name="T8" fmla="*/ 2037 w 64000"/>
                <a:gd name="T9" fmla="*/ 807 h 64000"/>
                <a:gd name="T10" fmla="*/ 2037 w 64000"/>
                <a:gd name="T11" fmla="*/ 807 h 64000"/>
                <a:gd name="T12" fmla="*/ 2037 w 64000"/>
                <a:gd name="T13" fmla="*/ -807 h 64000"/>
                <a:gd name="T14" fmla="*/ 2037 w 64000"/>
                <a:gd name="T15" fmla="*/ -807 h 64000"/>
                <a:gd name="T16" fmla="*/ 2037 w 64000"/>
                <a:gd name="T17" fmla="*/ -80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9227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-820 h 64000"/>
                <a:gd name="T2" fmla="*/ 1949 w 64000"/>
                <a:gd name="T3" fmla="*/ 0 h 64000"/>
                <a:gd name="T4" fmla="*/ 1525 w 64000"/>
                <a:gd name="T5" fmla="*/ 820 h 64000"/>
                <a:gd name="T6" fmla="*/ 1525 w 64000"/>
                <a:gd name="T7" fmla="*/ 820 h 64000"/>
                <a:gd name="T8" fmla="*/ 1525 w 64000"/>
                <a:gd name="T9" fmla="*/ 820 h 64000"/>
                <a:gd name="T10" fmla="*/ 1525 w 64000"/>
                <a:gd name="T11" fmla="*/ 820 h 64000"/>
                <a:gd name="T12" fmla="*/ 1525 w 64000"/>
                <a:gd name="T13" fmla="*/ -820 h 64000"/>
                <a:gd name="T14" fmla="*/ 1525 w 64000"/>
                <a:gd name="T15" fmla="*/ -820 h 64000"/>
                <a:gd name="T16" fmla="*/ 1525 w 64000"/>
                <a:gd name="T17" fmla="*/ -82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9228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19" name="Line 6"/>
          <p:cNvSpPr>
            <a:spLocks noChangeShapeType="1"/>
          </p:cNvSpPr>
          <p:nvPr/>
        </p:nvSpPr>
        <p:spPr bwMode="auto">
          <a:xfrm>
            <a:off x="5003800" y="6524625"/>
            <a:ext cx="3889375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971550" y="1009650"/>
            <a:ext cx="7687945" cy="970915"/>
          </a:xfrm>
          <a:prstGeom prst="rect">
            <a:avLst/>
          </a:prstGeom>
          <a:noFill/>
          <a:ln w="19050">
            <a:solidFill>
              <a:srgbClr val="0099CC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</a:rPr>
              <a:t>使用定语从句、介词结构、分词、同位语、并列句等将短句连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</a:rPr>
              <a:t>长。</a:t>
            </a:r>
            <a:endParaRPr lang="zh-CN" altLang="en-US" sz="2400" b="1"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9221" name="Group 8"/>
          <p:cNvGrpSpPr/>
          <p:nvPr/>
        </p:nvGrpSpPr>
        <p:grpSpPr bwMode="auto">
          <a:xfrm>
            <a:off x="971550" y="247015"/>
            <a:ext cx="3779520" cy="546100"/>
            <a:chOff x="1156" y="1116"/>
            <a:chExt cx="1996" cy="344"/>
          </a:xfrm>
        </p:grpSpPr>
        <p:pic>
          <p:nvPicPr>
            <p:cNvPr id="9224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889" b="25333"/>
            <a:stretch>
              <a:fillRect/>
            </a:stretch>
          </p:blipFill>
          <p:spPr bwMode="auto">
            <a:xfrm>
              <a:off x="1158" y="1116"/>
              <a:ext cx="1970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5" name="Text Box 10"/>
            <p:cNvSpPr txBox="1">
              <a:spLocks noChangeArrowheads="1"/>
            </p:cNvSpPr>
            <p:nvPr/>
          </p:nvSpPr>
          <p:spPr bwMode="auto">
            <a:xfrm>
              <a:off x="1156" y="1117"/>
              <a:ext cx="199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chemeClr val="bg1"/>
                  </a:solidFill>
                  <a:latin typeface="Tahoma" panose="020B0604030504040204" pitchFamily="34" charset="0"/>
                  <a:ea typeface="楷体_GB2312" pitchFamily="49" charset="-122"/>
                </a:rPr>
                <a:t>Exercise</a:t>
              </a:r>
              <a:endParaRPr lang="en-US" altLang="zh-CN" sz="2800">
                <a:solidFill>
                  <a:schemeClr val="bg1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</p:grp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467678" y="2420303"/>
            <a:ext cx="8424862" cy="2934335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2075" indent="-920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乌镇是浙江的一座古老水镇，坐落在京杭大运河畔。这是一处迷人的地方，有许多古桥、中式旅店和餐馆。在过去一千年里，乌镇的水系和生活方式并未经历多少变化，是一座展现古文明的博物馆。无数宽敞美丽的庭院藏身于屋舍之间，游客们每到一处都会有惊喜的发现。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bldLvl="0" animBg="1"/>
      <p:bldP spid="72715" grpId="0" animBg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/>
          <p:nvPr/>
        </p:nvGrpSpPr>
        <p:grpSpPr bwMode="auto">
          <a:xfrm>
            <a:off x="-900113" y="477838"/>
            <a:ext cx="4752976" cy="1079500"/>
            <a:chOff x="-2040" y="0"/>
            <a:chExt cx="7512" cy="2400"/>
          </a:xfrm>
        </p:grpSpPr>
        <p:sp>
          <p:nvSpPr>
            <p:cNvPr id="9226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-807 h 64000"/>
                <a:gd name="T2" fmla="*/ 2592 w 64000"/>
                <a:gd name="T3" fmla="*/ 0 h 64000"/>
                <a:gd name="T4" fmla="*/ 2037 w 64000"/>
                <a:gd name="T5" fmla="*/ 807 h 64000"/>
                <a:gd name="T6" fmla="*/ 2037 w 64000"/>
                <a:gd name="T7" fmla="*/ 807 h 64000"/>
                <a:gd name="T8" fmla="*/ 2037 w 64000"/>
                <a:gd name="T9" fmla="*/ 807 h 64000"/>
                <a:gd name="T10" fmla="*/ 2037 w 64000"/>
                <a:gd name="T11" fmla="*/ 807 h 64000"/>
                <a:gd name="T12" fmla="*/ 2037 w 64000"/>
                <a:gd name="T13" fmla="*/ -807 h 64000"/>
                <a:gd name="T14" fmla="*/ 2037 w 64000"/>
                <a:gd name="T15" fmla="*/ -807 h 64000"/>
                <a:gd name="T16" fmla="*/ 2037 w 64000"/>
                <a:gd name="T17" fmla="*/ -80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9227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-820 h 64000"/>
                <a:gd name="T2" fmla="*/ 1949 w 64000"/>
                <a:gd name="T3" fmla="*/ 0 h 64000"/>
                <a:gd name="T4" fmla="*/ 1525 w 64000"/>
                <a:gd name="T5" fmla="*/ 820 h 64000"/>
                <a:gd name="T6" fmla="*/ 1525 w 64000"/>
                <a:gd name="T7" fmla="*/ 820 h 64000"/>
                <a:gd name="T8" fmla="*/ 1525 w 64000"/>
                <a:gd name="T9" fmla="*/ 820 h 64000"/>
                <a:gd name="T10" fmla="*/ 1525 w 64000"/>
                <a:gd name="T11" fmla="*/ 820 h 64000"/>
                <a:gd name="T12" fmla="*/ 1525 w 64000"/>
                <a:gd name="T13" fmla="*/ -820 h 64000"/>
                <a:gd name="T14" fmla="*/ 1525 w 64000"/>
                <a:gd name="T15" fmla="*/ -820 h 64000"/>
                <a:gd name="T16" fmla="*/ 1525 w 64000"/>
                <a:gd name="T17" fmla="*/ -82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9228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19" name="Line 6"/>
          <p:cNvSpPr>
            <a:spLocks noChangeShapeType="1"/>
          </p:cNvSpPr>
          <p:nvPr/>
        </p:nvSpPr>
        <p:spPr bwMode="auto">
          <a:xfrm>
            <a:off x="5003800" y="6524625"/>
            <a:ext cx="3889375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971550" y="1009650"/>
            <a:ext cx="7687945" cy="565150"/>
          </a:xfrm>
          <a:prstGeom prst="rect">
            <a:avLst/>
          </a:prstGeom>
          <a:noFill/>
          <a:ln w="19050">
            <a:solidFill>
              <a:srgbClr val="0099CC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</a:rPr>
              <a:t>使用定语从句、介词结构、分词、同位语、并列句等</a:t>
            </a:r>
            <a:endParaRPr lang="zh-CN" altLang="en-US" sz="2400" b="1"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9221" name="Group 8"/>
          <p:cNvGrpSpPr/>
          <p:nvPr/>
        </p:nvGrpSpPr>
        <p:grpSpPr bwMode="auto">
          <a:xfrm>
            <a:off x="971550" y="247015"/>
            <a:ext cx="3779520" cy="546100"/>
            <a:chOff x="1156" y="1116"/>
            <a:chExt cx="1996" cy="344"/>
          </a:xfrm>
        </p:grpSpPr>
        <p:pic>
          <p:nvPicPr>
            <p:cNvPr id="9224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889" b="25333"/>
            <a:stretch>
              <a:fillRect/>
            </a:stretch>
          </p:blipFill>
          <p:spPr bwMode="auto">
            <a:xfrm>
              <a:off x="1158" y="1116"/>
              <a:ext cx="1970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5" name="Text Box 10"/>
            <p:cNvSpPr txBox="1">
              <a:spLocks noChangeArrowheads="1"/>
            </p:cNvSpPr>
            <p:nvPr/>
          </p:nvSpPr>
          <p:spPr bwMode="auto">
            <a:xfrm>
              <a:off x="1156" y="1117"/>
              <a:ext cx="199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chemeClr val="bg1"/>
                  </a:solidFill>
                  <a:latin typeface="Tahoma" panose="020B0604030504040204" pitchFamily="34" charset="0"/>
                  <a:ea typeface="楷体_GB2312" pitchFamily="49" charset="-122"/>
                </a:rPr>
                <a:t>Exercise</a:t>
              </a:r>
              <a:endParaRPr lang="en-US" altLang="zh-CN" sz="2800">
                <a:solidFill>
                  <a:schemeClr val="bg1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</p:grp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395605" y="1773555"/>
            <a:ext cx="8508365" cy="306324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2075" indent="-920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乌镇是浙江的一座古老水镇，坐落在京杭大运河畔。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Wuzhen is an old water town in Zhejiang, 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located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in the bank of the Beijing-Hangzhou Grand Canal.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这是一处迷人的地方，有许多古桥、中式旅店和餐馆。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It is a charming place 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</a:rPr>
              <a:t>with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lots of ancient bridges, Chinese-styled hotels and restaurants. 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2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2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2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bldLvl="0" animBg="1"/>
      <p:bldP spid="72715" grpId="0" animBg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/>
          <p:nvPr/>
        </p:nvGrpSpPr>
        <p:grpSpPr bwMode="auto">
          <a:xfrm>
            <a:off x="-900113" y="477838"/>
            <a:ext cx="4752976" cy="1079500"/>
            <a:chOff x="-2040" y="0"/>
            <a:chExt cx="7512" cy="2400"/>
          </a:xfrm>
        </p:grpSpPr>
        <p:sp>
          <p:nvSpPr>
            <p:cNvPr id="9226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-807 h 64000"/>
                <a:gd name="T2" fmla="*/ 2592 w 64000"/>
                <a:gd name="T3" fmla="*/ 0 h 64000"/>
                <a:gd name="T4" fmla="*/ 2037 w 64000"/>
                <a:gd name="T5" fmla="*/ 807 h 64000"/>
                <a:gd name="T6" fmla="*/ 2037 w 64000"/>
                <a:gd name="T7" fmla="*/ 807 h 64000"/>
                <a:gd name="T8" fmla="*/ 2037 w 64000"/>
                <a:gd name="T9" fmla="*/ 807 h 64000"/>
                <a:gd name="T10" fmla="*/ 2037 w 64000"/>
                <a:gd name="T11" fmla="*/ 807 h 64000"/>
                <a:gd name="T12" fmla="*/ 2037 w 64000"/>
                <a:gd name="T13" fmla="*/ -807 h 64000"/>
                <a:gd name="T14" fmla="*/ 2037 w 64000"/>
                <a:gd name="T15" fmla="*/ -807 h 64000"/>
                <a:gd name="T16" fmla="*/ 2037 w 64000"/>
                <a:gd name="T17" fmla="*/ -80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9227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-820 h 64000"/>
                <a:gd name="T2" fmla="*/ 1949 w 64000"/>
                <a:gd name="T3" fmla="*/ 0 h 64000"/>
                <a:gd name="T4" fmla="*/ 1525 w 64000"/>
                <a:gd name="T5" fmla="*/ 820 h 64000"/>
                <a:gd name="T6" fmla="*/ 1525 w 64000"/>
                <a:gd name="T7" fmla="*/ 820 h 64000"/>
                <a:gd name="T8" fmla="*/ 1525 w 64000"/>
                <a:gd name="T9" fmla="*/ 820 h 64000"/>
                <a:gd name="T10" fmla="*/ 1525 w 64000"/>
                <a:gd name="T11" fmla="*/ 820 h 64000"/>
                <a:gd name="T12" fmla="*/ 1525 w 64000"/>
                <a:gd name="T13" fmla="*/ -820 h 64000"/>
                <a:gd name="T14" fmla="*/ 1525 w 64000"/>
                <a:gd name="T15" fmla="*/ -820 h 64000"/>
                <a:gd name="T16" fmla="*/ 1525 w 64000"/>
                <a:gd name="T17" fmla="*/ -82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8" tIns="45714" rIns="91428" bIns="45714"/>
            <a:lstStyle/>
            <a:p>
              <a:endParaRPr lang="zh-CN" altLang="en-US"/>
            </a:p>
          </p:txBody>
        </p:sp>
        <p:sp>
          <p:nvSpPr>
            <p:cNvPr id="9228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19" name="Line 6"/>
          <p:cNvSpPr>
            <a:spLocks noChangeShapeType="1"/>
          </p:cNvSpPr>
          <p:nvPr/>
        </p:nvSpPr>
        <p:spPr bwMode="auto">
          <a:xfrm>
            <a:off x="5003800" y="6524625"/>
            <a:ext cx="3889375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971550" y="1009650"/>
            <a:ext cx="7687945" cy="565150"/>
          </a:xfrm>
          <a:prstGeom prst="rect">
            <a:avLst/>
          </a:prstGeom>
          <a:noFill/>
          <a:ln w="19050">
            <a:solidFill>
              <a:srgbClr val="0099CC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66CC"/>
              </a:buClr>
              <a:buFont typeface="Wingdings" panose="05000000000000000000" pitchFamily="2" charset="2"/>
              <a:buChar char="l"/>
            </a:pP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400" b="1">
                <a:latin typeface="华文仿宋" panose="02010600040101010101" charset="-122"/>
                <a:ea typeface="华文仿宋" panose="02010600040101010101" charset="-122"/>
              </a:rPr>
              <a:t>使用定语从句、介词结构、分词、同位语、并列句等</a:t>
            </a:r>
            <a:endParaRPr lang="zh-CN" altLang="en-US" sz="2400" b="1"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9221" name="Group 8"/>
          <p:cNvGrpSpPr/>
          <p:nvPr/>
        </p:nvGrpSpPr>
        <p:grpSpPr bwMode="auto">
          <a:xfrm>
            <a:off x="971550" y="247015"/>
            <a:ext cx="3779520" cy="546100"/>
            <a:chOff x="1156" y="1116"/>
            <a:chExt cx="1996" cy="344"/>
          </a:xfrm>
        </p:grpSpPr>
        <p:pic>
          <p:nvPicPr>
            <p:cNvPr id="9224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889" b="25333"/>
            <a:stretch>
              <a:fillRect/>
            </a:stretch>
          </p:blipFill>
          <p:spPr bwMode="auto">
            <a:xfrm>
              <a:off x="1158" y="1116"/>
              <a:ext cx="1970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5" name="Text Box 10"/>
            <p:cNvSpPr txBox="1">
              <a:spLocks noChangeArrowheads="1"/>
            </p:cNvSpPr>
            <p:nvPr/>
          </p:nvSpPr>
          <p:spPr bwMode="auto">
            <a:xfrm>
              <a:off x="1156" y="1117"/>
              <a:ext cx="199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chemeClr val="bg1"/>
                  </a:solidFill>
                  <a:latin typeface="Tahoma" panose="020B0604030504040204" pitchFamily="34" charset="0"/>
                  <a:ea typeface="楷体_GB2312" pitchFamily="49" charset="-122"/>
                </a:rPr>
                <a:t>Exercise</a:t>
              </a:r>
              <a:endParaRPr lang="en-US" altLang="zh-CN" sz="2800">
                <a:solidFill>
                  <a:schemeClr val="bg1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</p:grp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395288" y="1773238"/>
            <a:ext cx="8424862" cy="4609465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2075" indent="-920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在过去一千年里，乌镇的水系和生活方式并未经历多少变化，是一座展现古文明的博物馆。</a:t>
            </a:r>
            <a:endParaRPr lang="en-US" altLang="zh-CN" sz="2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The river system and life styles of Wuzhen stayed nearly unchanged over the past 1,000 years, </a:t>
            </a:r>
            <a:r>
              <a:rPr lang="en-US" altLang="zh-CN" sz="2600" b="1">
                <a:solidFill>
                  <a:srgbClr val="C00000"/>
                </a:solidFill>
                <a:latin typeface="Times New Roman" panose="02020603050405020304" pitchFamily="18" charset="0"/>
              </a:rPr>
              <a:t>and therefore</a:t>
            </a:r>
            <a:r>
              <a:rPr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 Wuzhen became a museum displaying ancient civilization.</a:t>
            </a:r>
            <a:endParaRPr lang="en-US" altLang="zh-CN" sz="2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无数宽敞美丽的庭院藏身于屋舍之间，游客们每到一处都会有惊喜的发现。</a:t>
            </a:r>
            <a:endParaRPr lang="en-US" altLang="zh-CN" sz="26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spcBef>
                <a:spcPct val="10000"/>
              </a:spcBef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Numberless spacious and beautiful yards are hidden among houses, </a:t>
            </a:r>
            <a:r>
              <a:rPr lang="en-US" altLang="zh-CN" sz="2600" b="1">
                <a:solidFill>
                  <a:srgbClr val="C00000"/>
                </a:solidFill>
                <a:latin typeface="Times New Roman" panose="02020603050405020304" pitchFamily="18" charset="0"/>
              </a:rPr>
              <a:t>which</a:t>
            </a:r>
            <a:r>
              <a:rPr lang="en-US" altLang="zh-CN" sz="2600" b="1">
                <a:solidFill>
                  <a:srgbClr val="000000"/>
                </a:solidFill>
                <a:latin typeface="Times New Roman" panose="02020603050405020304" pitchFamily="18" charset="0"/>
              </a:rPr>
              <a:t> give the tourists surprises as they step into each of them.</a:t>
            </a:r>
            <a:endParaRPr lang="en-US" altLang="zh-CN" sz="2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randomBar/>
      </p:transition>
    </mc:Choice>
    <mc:Fallback>
      <p:transition>
        <p:randomBa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27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2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2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2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bldLvl="0" animBg="1"/>
      <p:bldP spid="72715" grpId="0" animBg="1" build="p"/>
    </p:bldLst>
  </p:timing>
</p:sld>
</file>

<file path=ppt/tags/tag1.xml><?xml version="1.0" encoding="utf-8"?>
<p:tagLst xmlns:p="http://schemas.openxmlformats.org/presentationml/2006/main">
  <p:tag name="COMMONDATA" val="eyJoZGlkIjoiZTY1NThmYzJlMWRjMDNhYzFmMTdkNmU1NThkNTc3ODE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</Words>
  <Application>WPS 演示</Application>
  <PresentationFormat>全屏显示(4:3)</PresentationFormat>
  <Paragraphs>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Garamond</vt:lpstr>
      <vt:lpstr>Times New Roman</vt:lpstr>
      <vt:lpstr>楷体_GB2312</vt:lpstr>
      <vt:lpstr>新宋体</vt:lpstr>
      <vt:lpstr>Tahoma</vt:lpstr>
      <vt:lpstr>华文仿宋</vt:lpstr>
      <vt:lpstr>微软雅黑</vt:lpstr>
      <vt:lpstr>Arial Unicode MS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彭强</dc:creator>
  <cp:lastModifiedBy>Cooper</cp:lastModifiedBy>
  <cp:revision>49</cp:revision>
  <dcterms:created xsi:type="dcterms:W3CDTF">2006-12-20T12:13:00Z</dcterms:created>
  <dcterms:modified xsi:type="dcterms:W3CDTF">2025-03-09T13:56:21Z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65312161621744F6B21477B5E8FDB757</vt:lpwstr>
  </property>
  <property fmtid="{D5CDD505-2E9C-101B-9397-08002B2CF9AE}" pid="3" name="KSOProductBuildVer">
    <vt:lpwstr>2052-12.1.0.20305</vt:lpwstr>
  </property>
</Properties>
</file>