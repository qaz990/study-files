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10" r:id="rId3"/>
    <p:sldId id="564" r:id="rId5"/>
    <p:sldId id="309" r:id="rId6"/>
    <p:sldId id="516" r:id="rId7"/>
    <p:sldId id="565" r:id="rId8"/>
    <p:sldId id="576" r:id="rId9"/>
    <p:sldId id="536" r:id="rId10"/>
    <p:sldId id="539" r:id="rId11"/>
    <p:sldId id="566" r:id="rId12"/>
    <p:sldId id="541" r:id="rId13"/>
    <p:sldId id="585" r:id="rId14"/>
    <p:sldId id="584" r:id="rId15"/>
    <p:sldId id="575" r:id="rId16"/>
    <p:sldId id="577" r:id="rId17"/>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00000"/>
    <a:srgbClr val="0563C1"/>
    <a:srgbClr val="FFFFFF"/>
    <a:srgbClr val="3C6B9A"/>
    <a:srgbClr val="B6C5B2"/>
    <a:srgbClr val="B9B9B9"/>
    <a:srgbClr val="808080"/>
    <a:srgbClr val="EFEFE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1245" autoAdjust="0"/>
  </p:normalViewPr>
  <p:slideViewPr>
    <p:cSldViewPr snapToGrid="0" showGuides="1">
      <p:cViewPr varScale="1">
        <p:scale>
          <a:sx n="111" d="100"/>
          <a:sy n="111" d="100"/>
        </p:scale>
        <p:origin x="480" y="114"/>
      </p:cViewPr>
      <p:guideLst>
        <p:guide orient="horz" pos="2098"/>
        <p:guide pos="384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gs" Target="tags/tag64.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B8ED925-CA01-421B-AFEF-F76D4320BFD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3F3C63-A1AE-4441-B6AD-2013F73B0DF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ED925-CA01-421B-AFEF-F76D4320BFD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3F3C63-A1AE-4441-B6AD-2013F73B0DF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1.xml"/><Relationship Id="rId3" Type="http://schemas.openxmlformats.org/officeDocument/2006/relationships/image" Target="../media/image2.png"/><Relationship Id="rId2" Type="http://schemas.openxmlformats.org/officeDocument/2006/relationships/tags" Target="../tags/tag1.xml"/><Relationship Id="rId11" Type="http://schemas.openxmlformats.org/officeDocument/2006/relationships/notesSlide" Target="../notesSlides/notesSlide1.xml"/><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slide" Target="slide1.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jpe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1" Type="http://schemas.openxmlformats.org/officeDocument/2006/relationships/slideLayout" Target="../slideLayouts/slideLayout7.xml"/><Relationship Id="rId10" Type="http://schemas.openxmlformats.org/officeDocument/2006/relationships/tags" Target="../tags/tag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19.jpeg"/><Relationship Id="rId2" Type="http://schemas.openxmlformats.org/officeDocument/2006/relationships/tags" Target="../tags/tag12.xml"/><Relationship Id="rId12" Type="http://schemas.openxmlformats.org/officeDocument/2006/relationships/slideLayout" Target="../slideLayouts/slideLayout7.xml"/><Relationship Id="rId11" Type="http://schemas.openxmlformats.org/officeDocument/2006/relationships/tags" Target="../tags/tag19.xml"/><Relationship Id="rId10" Type="http://schemas.openxmlformats.org/officeDocument/2006/relationships/image" Target="../media/image18.png"/><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0.jpe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1.jpe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1" Type="http://schemas.openxmlformats.org/officeDocument/2006/relationships/slideLayout" Target="../slideLayouts/slideLayout7.xml"/><Relationship Id="rId10" Type="http://schemas.openxmlformats.org/officeDocument/2006/relationships/tags" Target="../tags/tag28.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2.jpeg"/><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9" Type="http://schemas.openxmlformats.org/officeDocument/2006/relationships/slideLayout" Target="../slideLayouts/slideLayout7.xml"/><Relationship Id="rId18" Type="http://schemas.openxmlformats.org/officeDocument/2006/relationships/tags" Target="../tags/tag45.xml"/><Relationship Id="rId17" Type="http://schemas.openxmlformats.org/officeDocument/2006/relationships/image" Target="../media/image18.png"/><Relationship Id="rId16" Type="http://schemas.openxmlformats.org/officeDocument/2006/relationships/tags" Target="../tags/tag44.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29.xml"/></Relationships>
</file>

<file path=ppt/slides/_rels/slide12.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image" Target="../media/image23.png"/><Relationship Id="rId2" Type="http://schemas.openxmlformats.org/officeDocument/2006/relationships/tags" Target="../tags/tag47.xml"/><Relationship Id="rId12" Type="http://schemas.openxmlformats.org/officeDocument/2006/relationships/slideLayout" Target="../slideLayouts/slideLayout7.xml"/><Relationship Id="rId11" Type="http://schemas.openxmlformats.org/officeDocument/2006/relationships/tags" Target="../tags/tag54.xml"/><Relationship Id="rId10" Type="http://schemas.openxmlformats.org/officeDocument/2006/relationships/image" Target="../media/image18.png"/><Relationship Id="rId1" Type="http://schemas.openxmlformats.org/officeDocument/2006/relationships/tags" Target="../tags/tag4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image" Target="../media/image24.jpeg"/><Relationship Id="rId2" Type="http://schemas.openxmlformats.org/officeDocument/2006/relationships/tags" Target="../tags/tag56.xml"/><Relationship Id="rId12" Type="http://schemas.openxmlformats.org/officeDocument/2006/relationships/slideLayout" Target="../slideLayouts/slideLayout7.xml"/><Relationship Id="rId11" Type="http://schemas.openxmlformats.org/officeDocument/2006/relationships/tags" Target="../tags/tag63.xml"/><Relationship Id="rId10" Type="http://schemas.openxmlformats.org/officeDocument/2006/relationships/image" Target="../media/image18.png"/><Relationship Id="rId1" Type="http://schemas.openxmlformats.org/officeDocument/2006/relationships/tags" Target="../tags/tag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50836" y="0"/>
            <a:ext cx="9543822" cy="6858000"/>
          </a:xfrm>
          <a:prstGeom prst="rect">
            <a:avLst/>
          </a:prstGeom>
        </p:spPr>
      </p:pic>
      <p:pic>
        <p:nvPicPr>
          <p:cNvPr id="2" name="图片 1" descr="未标题-2"/>
          <p:cNvPicPr>
            <a:picLocks noChangeAspect="1"/>
          </p:cNvPicPr>
          <p:nvPr>
            <p:custDataLst>
              <p:tags r:id="rId2"/>
            </p:custDataLst>
          </p:nvPr>
        </p:nvPicPr>
        <p:blipFill>
          <a:blip r:embed="rId3"/>
          <a:srcRect t="8848" r="27500"/>
          <a:stretch>
            <a:fillRect/>
          </a:stretch>
        </p:blipFill>
        <p:spPr>
          <a:xfrm>
            <a:off x="0" y="-2886"/>
            <a:ext cx="7977505" cy="6860886"/>
          </a:xfrm>
          <a:prstGeom prst="rect">
            <a:avLst/>
          </a:prstGeom>
        </p:spPr>
      </p:pic>
      <p:sp>
        <p:nvSpPr>
          <p:cNvPr id="31" name="文本框 86"/>
          <p:cNvSpPr txBox="1"/>
          <p:nvPr/>
        </p:nvSpPr>
        <p:spPr>
          <a:xfrm>
            <a:off x="621419" y="280494"/>
            <a:ext cx="2697975" cy="707886"/>
          </a:xfrm>
          <a:prstGeom prst="rect">
            <a:avLst/>
          </a:prstGeom>
          <a:noFill/>
          <a:effectLst>
            <a:outerShdw blurRad="393700" dist="698500" dir="8100000" sx="119000" sy="119000" algn="tr" rotWithShape="0">
              <a:prstClr val="black">
                <a:alpha val="63000"/>
              </a:prstClr>
            </a:outerShdw>
          </a:effectLst>
        </p:spPr>
        <p:txBody>
          <a:bodyPr wrap="square" rtlCol="0">
            <a:spAutoFit/>
          </a:bodyPr>
          <a:lstStyle/>
          <a:p>
            <a:r>
              <a:rPr lang="en-US" altLang="zh-CN" sz="4000" b="1">
                <a:solidFill>
                  <a:srgbClr val="FF9700"/>
                </a:solidFill>
                <a:latin typeface="Arial Black" panose="020B0A04020102020204" pitchFamily="34" charset="0"/>
                <a:ea typeface="思源黑体 CN Regular" panose="020B0500000000000000" charset="-122"/>
              </a:rPr>
              <a:t>Unit  6</a:t>
            </a:r>
            <a:endParaRPr lang="en-US" altLang="zh-CN" sz="4000" b="1" dirty="0">
              <a:solidFill>
                <a:srgbClr val="FF9700"/>
              </a:solidFill>
              <a:latin typeface="Arial Black" panose="020B0A04020102020204" pitchFamily="34" charset="0"/>
              <a:ea typeface="思源黑体 CN Regular" panose="020B0500000000000000" charset="-122"/>
            </a:endParaRPr>
          </a:p>
        </p:txBody>
      </p:sp>
      <p:pic>
        <p:nvPicPr>
          <p:cNvPr id="15" name="图片 14">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763" y="2516437"/>
            <a:ext cx="3016405" cy="501676"/>
          </a:xfrm>
          <a:prstGeom prst="rect">
            <a:avLst/>
          </a:prstGeom>
        </p:spPr>
      </p:pic>
      <p:pic>
        <p:nvPicPr>
          <p:cNvPr id="17" name="图片 16">
            <a:hlinkClick r:id="rId4" action="ppaction://hlinksldjump"/>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3763" y="3268056"/>
            <a:ext cx="5004057" cy="501676"/>
          </a:xfrm>
          <a:prstGeom prst="rect">
            <a:avLst/>
          </a:prstGeom>
        </p:spPr>
      </p:pic>
      <p:pic>
        <p:nvPicPr>
          <p:cNvPr id="19" name="图片 18">
            <a:hlinkClick r:id="rId4" action="ppaction://hlinksldjump"/>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3763" y="4019675"/>
            <a:ext cx="3016405" cy="495325"/>
          </a:xfrm>
          <a:prstGeom prst="rect">
            <a:avLst/>
          </a:prstGeom>
        </p:spPr>
      </p:pic>
      <p:pic>
        <p:nvPicPr>
          <p:cNvPr id="21" name="图片 20">
            <a:hlinkClick r:id="rId4" action="ppaction://hlinksldjump"/>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3763" y="4764943"/>
            <a:ext cx="3733992" cy="488975"/>
          </a:xfrm>
          <a:prstGeom prst="rect">
            <a:avLst/>
          </a:prstGeom>
        </p:spPr>
      </p:pic>
      <p:pic>
        <p:nvPicPr>
          <p:cNvPr id="23" name="图片 22">
            <a:hlinkClick r:id="rId4" action="ppaction://hlinksldjump"/>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1471" y="5503862"/>
            <a:ext cx="5512083" cy="501676"/>
          </a:xfrm>
          <a:prstGeom prst="rect">
            <a:avLst/>
          </a:prstGeom>
        </p:spPr>
      </p:pic>
      <p:sp>
        <p:nvSpPr>
          <p:cNvPr id="11" name="矩形 3"/>
          <p:cNvSpPr>
            <a:spLocks noChangeArrowheads="1"/>
          </p:cNvSpPr>
          <p:nvPr/>
        </p:nvSpPr>
        <p:spPr bwMode="auto">
          <a:xfrm>
            <a:off x="387316" y="1233087"/>
            <a:ext cx="4990277" cy="830997"/>
          </a:xfrm>
          <a:prstGeom prst="rect">
            <a:avLst/>
          </a:prstGeom>
          <a:noFill/>
          <a:ln w="9525">
            <a:noFill/>
            <a:miter lim="800000"/>
          </a:ln>
        </p:spPr>
        <p:txBody>
          <a:bodyPr wrap="none">
            <a:spAutoFit/>
          </a:bodyPr>
          <a:p>
            <a:pPr marL="1270" marR="0" lvl="0" indent="0" algn="ctr" defTabSz="914400" rtl="0" eaLnBrk="0" fontAlgn="base" latinLnBrk="0" hangingPunct="0">
              <a:lnSpc>
                <a:spcPct val="100000"/>
              </a:lnSpc>
              <a:spcBef>
                <a:spcPct val="0"/>
              </a:spcBef>
              <a:spcAft>
                <a:spcPct val="0"/>
              </a:spcAft>
              <a:buClrTx/>
              <a:buSzTx/>
              <a:buFontTx/>
              <a:buNone/>
              <a:defRPr/>
            </a:pPr>
            <a:r>
              <a:rPr kumimoji="0" lang="en-US" altLang="zh-CN" sz="4800" b="1" i="0" u="none" strike="noStrike" kern="1200" cap="none" spc="0" normalizeH="0" baseline="0" noProof="0" dirty="0">
                <a:ln>
                  <a:noFill/>
                </a:ln>
                <a:solidFill>
                  <a:schemeClr val="accent1"/>
                </a:solidFill>
                <a:effectLst/>
                <a:uLnTx/>
                <a:uFillTx/>
                <a:latin typeface="Calibri" panose="020F0502020204030204" charset="0"/>
                <a:ea typeface="宋体" panose="02010600030101010101" pitchFamily="2" charset="-122"/>
                <a:cs typeface="+mn-cs"/>
              </a:rPr>
              <a:t>After Twenty Years</a:t>
            </a:r>
            <a:endParaRPr kumimoji="0" lang="en-US" altLang="zh-CN" sz="4800" b="1" i="0" u="none" strike="noStrike" kern="1200" cap="none" spc="0" normalizeH="0" baseline="0" noProof="0" dirty="0">
              <a:ln>
                <a:noFill/>
              </a:ln>
              <a:solidFill>
                <a:schemeClr val="accent1"/>
              </a:solidFill>
              <a:effectLst/>
              <a:uLnTx/>
              <a:uFillTx/>
              <a:latin typeface="Calibri" panose="020F0502020204030204" charset="0"/>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Lead-in</a:t>
            </a:r>
            <a:endParaRPr lang="en-US" altLang="zh-CN" sz="2400" dirty="0">
              <a:solidFill>
                <a:schemeClr val="bg1"/>
              </a:solidFill>
              <a:latin typeface="Arial Black" panose="020B0A04020102020204" pitchFamily="34" charset="0"/>
            </a:endParaRPr>
          </a:p>
        </p:txBody>
      </p:sp>
      <p:sp>
        <p:nvSpPr>
          <p:cNvPr id="46" name="内容占位符 2"/>
          <p:cNvSpPr>
            <a:spLocks noGrp="1"/>
          </p:cNvSpPr>
          <p:nvPr/>
        </p:nvSpPr>
        <p:spPr>
          <a:xfrm>
            <a:off x="979170" y="1067435"/>
            <a:ext cx="7950200" cy="455358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 marR="0" lvl="0" indent="0" algn="just" defTabSz="914400" rtl="0" eaLnBrk="1" fontAlgn="base" latinLnBrk="0" hangingPunct="1">
              <a:lnSpc>
                <a:spcPct val="135000"/>
              </a:lnSpc>
              <a:spcBef>
                <a:spcPts val="300"/>
              </a:spcBef>
              <a:spcAft>
                <a:spcPct val="0"/>
              </a:spcAft>
              <a:buClrTx/>
              <a:buSzTx/>
              <a:buFontTx/>
              <a:buNone/>
              <a:defRPr/>
            </a:pPr>
            <a:r>
              <a:rPr kumimoji="0" lang="en-US" altLang="zh-CN"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Author of the text</a:t>
            </a:r>
            <a:endParaRPr kumimoji="0" lang="en-US" altLang="zh-CN"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R="0" lvl="0" algn="just" defTabSz="914400" rtl="0" eaLnBrk="1" fontAlgn="base" latinLnBrk="0" hangingPunct="1">
              <a:lnSpc>
                <a:spcPct val="135000"/>
              </a:lnSpc>
              <a:spcBef>
                <a:spcPts val="300"/>
              </a:spcBef>
              <a:spcAft>
                <a:spcPct val="0"/>
              </a:spcAft>
              <a:buClr>
                <a:srgbClr val="000000"/>
              </a:buClr>
              <a:buSzPct val="60000"/>
              <a:buFont typeface="Wingdings" panose="05000000000000000000" charset="0"/>
              <a:buChar char="u"/>
              <a:defRPr/>
            </a:pPr>
            <a:r>
              <a:rPr kumimoji="0" lang="en-US" altLang="zh-CN" b="0" i="0" u="none" strike="noStrike" kern="1200" cap="none"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O. Henry (1862—1910): </a:t>
            </a:r>
            <a:r>
              <a:rPr lang="en-US" altLang="zh-CN" noProof="0" dirty="0">
                <a:ln>
                  <a:noFill/>
                </a:ln>
                <a:solidFill>
                  <a:sysClr val="windowText" lastClr="000000"/>
                </a:solidFill>
                <a:effectLst/>
                <a:uLnTx/>
                <a:uFillTx/>
                <a:latin typeface="Calibri" panose="020F0502020204030204"/>
                <a:ea typeface="宋体" panose="02010600030101010101" pitchFamily="2" charset="-122"/>
                <a:sym typeface="+mn-ea"/>
              </a:rPr>
              <a:t>American short story writer</a:t>
            </a:r>
            <a:endParaRPr kumimoji="0" lang="en-US" altLang="zh-CN" b="0" i="0" u="none" strike="noStrike" kern="1200" cap="none"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R="0" lvl="0" algn="just" defTabSz="914400" rtl="0" eaLnBrk="1" fontAlgn="base" latinLnBrk="0" hangingPunct="1">
              <a:lnSpc>
                <a:spcPct val="135000"/>
              </a:lnSpc>
              <a:spcBef>
                <a:spcPts val="300"/>
              </a:spcBef>
              <a:spcAft>
                <a:spcPct val="0"/>
              </a:spcAft>
              <a:buClr>
                <a:srgbClr val="000000"/>
              </a:buClr>
              <a:buSzPct val="60000"/>
              <a:buFont typeface="Wingdings" panose="05000000000000000000" charset="0"/>
              <a:buChar char="u"/>
              <a:defRPr/>
            </a:pPr>
            <a:r>
              <a:rPr kumimoji="0" lang="en-US" altLang="zh-CN" b="0" i="0" u="none" strike="noStrike" kern="1200" cap="none"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Original name: William Sydney Porter</a:t>
            </a:r>
            <a:endParaRPr kumimoji="0" lang="en-US" altLang="zh-CN" b="0" i="0" u="none" strike="noStrike" kern="1200" cap="none"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R="0" lvl="0" algn="just" defTabSz="914400" rtl="0" eaLnBrk="1" fontAlgn="base" latinLnBrk="0" hangingPunct="1">
              <a:lnSpc>
                <a:spcPct val="135000"/>
              </a:lnSpc>
              <a:spcBef>
                <a:spcPts val="300"/>
              </a:spcBef>
              <a:spcAft>
                <a:spcPct val="0"/>
              </a:spcAft>
              <a:buClr>
                <a:srgbClr val="000000"/>
              </a:buClr>
              <a:buSzPct val="60000"/>
              <a:buFont typeface="Wingdings" panose="05000000000000000000" charset="0"/>
              <a:buChar char="u"/>
              <a:defRPr/>
            </a:pPr>
            <a:r>
              <a:rPr kumimoji="0" lang="en-US" altLang="zh-CN" b="0" i="0" u="none" strike="noStrike" kern="1200" cap="none"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Noted for </a:t>
            </a:r>
            <a:r>
              <a:rPr lang="en-US" altLang="zh-CN" noProof="0" dirty="0">
                <a:ln>
                  <a:noFill/>
                </a:ln>
                <a:solidFill>
                  <a:schemeClr val="accent1"/>
                </a:solidFill>
                <a:effectLst/>
                <a:uLnTx/>
                <a:uFillTx/>
                <a:latin typeface="Calibri" panose="020F0502020204030204"/>
                <a:ea typeface="宋体" panose="02010600030101010101" pitchFamily="2" charset="-122"/>
                <a:sym typeface="+mn-ea"/>
              </a:rPr>
              <a:t>surprise</a:t>
            </a:r>
            <a:r>
              <a:rPr kumimoji="0" lang="en-US" altLang="zh-CN" b="0" i="0" u="none" strike="noStrike" kern="1200" cap="none" normalizeH="0" baseline="0" noProof="0" dirty="0">
                <a:ln>
                  <a:noFill/>
                </a:ln>
                <a:solidFill>
                  <a:schemeClr val="accent1"/>
                </a:solidFill>
                <a:effectLst/>
                <a:uLnTx/>
                <a:uFillTx/>
                <a:latin typeface="Calibri" panose="020F0502020204030204"/>
                <a:ea typeface="宋体" panose="02010600030101010101" pitchFamily="2" charset="-122"/>
                <a:cs typeface="+mn-cs"/>
              </a:rPr>
              <a:t> endings</a:t>
            </a:r>
            <a:r>
              <a:rPr kumimoji="0" lang="en-US" altLang="zh-CN" b="0" i="0" u="none" strike="noStrike" kern="1200" cap="none"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to his tales.</a:t>
            </a:r>
            <a:endParaRPr kumimoji="0" lang="en-US" altLang="zh-CN" b="0" i="0" u="none" strike="noStrike" kern="1200" cap="none"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R="0" lvl="0" algn="just" defTabSz="914400" rtl="0" eaLnBrk="1" fontAlgn="base" latinLnBrk="0" hangingPunct="1">
              <a:lnSpc>
                <a:spcPct val="135000"/>
              </a:lnSpc>
              <a:spcBef>
                <a:spcPts val="300"/>
              </a:spcBef>
              <a:spcAft>
                <a:spcPct val="0"/>
              </a:spcAft>
              <a:buClr>
                <a:srgbClr val="000000"/>
              </a:buClr>
              <a:buSzPct val="60000"/>
              <a:buFont typeface="Wingdings" panose="05000000000000000000" charset="0"/>
              <a:buChar char="u"/>
              <a:defRPr/>
            </a:pPr>
            <a:r>
              <a:rPr lang="en-US" altLang="zh-CN" dirty="0">
                <a:solidFill>
                  <a:sysClr val="windowText" lastClr="000000"/>
                </a:solidFill>
                <a:latin typeface="Calibri" panose="020F0502020204030204"/>
                <a:ea typeface="宋体" panose="02010600030101010101" pitchFamily="2" charset="-122"/>
                <a:sym typeface="+mn-ea"/>
              </a:rPr>
              <a:t>Representative </a:t>
            </a:r>
            <a:r>
              <a:rPr lang="en-US" altLang="zh-CN" noProof="0" dirty="0">
                <a:ln>
                  <a:noFill/>
                </a:ln>
                <a:solidFill>
                  <a:sysClr val="windowText" lastClr="000000"/>
                </a:solidFill>
                <a:effectLst/>
                <a:uLnTx/>
                <a:uFillTx/>
                <a:latin typeface="Calibri" panose="020F0502020204030204"/>
                <a:ea typeface="宋体" panose="02010600030101010101" pitchFamily="2" charset="-122"/>
                <a:sym typeface="+mn-ea"/>
              </a:rPr>
              <a:t>works:</a:t>
            </a: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R="0" lvl="0" algn="just" defTabSz="914400" rtl="0" eaLnBrk="1" fontAlgn="base" latinLnBrk="0" hangingPunct="1">
              <a:lnSpc>
                <a:spcPct val="135000"/>
              </a:lnSpc>
              <a:spcBef>
                <a:spcPts val="300"/>
              </a:spcBef>
              <a:spcAft>
                <a:spcPct val="0"/>
              </a:spcAft>
              <a:buClr>
                <a:srgbClr val="000000"/>
              </a:buClr>
              <a:buSzPct val="60000"/>
              <a:buFont typeface="Wingdings" panose="05000000000000000000" charset="0"/>
              <a:buChar char="u"/>
              <a:defRPr/>
            </a:pPr>
            <a:r>
              <a:rPr kumimoji="0" lang="en-US" altLang="zh-CN" b="0" i="1"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The Gift of the Magi, The Last Leaf, The Cop and the Anthem, The Ransom of Red Chief</a:t>
            </a:r>
            <a:r>
              <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etc.</a:t>
            </a:r>
            <a:endParaRPr kumimoji="0" lang="en-US" altLang="zh-CN"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p:txBody>
      </p:sp>
      <p:pic>
        <p:nvPicPr>
          <p:cNvPr id="53" name="图片 52">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t="18378" b="31548"/>
          <a:stretch>
            <a:fillRect/>
          </a:stretch>
        </p:blipFill>
        <p:spPr>
          <a:xfrm>
            <a:off x="10627995" y="160020"/>
            <a:ext cx="524510" cy="427355"/>
          </a:xfrm>
          <a:prstGeom prst="rect">
            <a:avLst/>
          </a:prstGeom>
        </p:spPr>
      </p:pic>
      <p:pic>
        <p:nvPicPr>
          <p:cNvPr id="55" name="图片 54">
            <a:hlinkClick r:id="rId2" action="ppaction://hlinksldjump"/>
          </p:cNvPr>
          <p:cNvPicPr>
            <a:picLocks noChangeAspect="1"/>
          </p:cNvPicPr>
          <p:nvPr/>
        </p:nvPicPr>
        <p:blipFill>
          <a:blip r:embed="rId4">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pic>
        <p:nvPicPr>
          <p:cNvPr id="2" name="图片 1"/>
          <p:cNvPicPr>
            <a:picLocks noChangeAspect="1"/>
          </p:cNvPicPr>
          <p:nvPr/>
        </p:nvPicPr>
        <p:blipFill>
          <a:blip r:embed="rId5"/>
          <a:stretch>
            <a:fillRect/>
          </a:stretch>
        </p:blipFill>
        <p:spPr>
          <a:xfrm>
            <a:off x="9471025" y="881380"/>
            <a:ext cx="2191385" cy="2748280"/>
          </a:xfrm>
          <a:prstGeom prst="rect">
            <a:avLst/>
          </a:prstGeom>
        </p:spPr>
      </p:pic>
      <p:pic>
        <p:nvPicPr>
          <p:cNvPr id="3" name="图片 2"/>
          <p:cNvPicPr/>
          <p:nvPr/>
        </p:nvPicPr>
        <p:blipFill>
          <a:blip r:embed="rId6"/>
          <a:srcRect l="4466" r="4413"/>
          <a:stretch>
            <a:fillRect/>
          </a:stretch>
        </p:blipFill>
        <p:spPr>
          <a:xfrm>
            <a:off x="9472930" y="3745865"/>
            <a:ext cx="2189480" cy="28136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blinds(horizontal)">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
                                            <p:txEl>
                                              <p:pRg st="1" end="1"/>
                                            </p:txEl>
                                          </p:spTgt>
                                        </p:tgtEl>
                                        <p:attrNameLst>
                                          <p:attrName>style.visibility</p:attrName>
                                        </p:attrNameLst>
                                      </p:cBhvr>
                                      <p:to>
                                        <p:strVal val="visible"/>
                                      </p:to>
                                    </p:set>
                                    <p:animEffect transition="in" filter="blinds(horizontal)">
                                      <p:cBhvr>
                                        <p:cTn id="12" dur="500"/>
                                        <p:tgtEl>
                                          <p:spTgt spid="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6">
                                            <p:txEl>
                                              <p:pRg st="2" end="2"/>
                                            </p:txEl>
                                          </p:spTgt>
                                        </p:tgtEl>
                                        <p:attrNameLst>
                                          <p:attrName>style.visibility</p:attrName>
                                        </p:attrNameLst>
                                      </p:cBhvr>
                                      <p:to>
                                        <p:strVal val="visible"/>
                                      </p:to>
                                    </p:set>
                                    <p:animEffect transition="in" filter="blinds(horizontal)">
                                      <p:cBhvr>
                                        <p:cTn id="17" dur="500"/>
                                        <p:tgtEl>
                                          <p:spTgt spid="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6">
                                            <p:txEl>
                                              <p:pRg st="3" end="3"/>
                                            </p:txEl>
                                          </p:spTgt>
                                        </p:tgtEl>
                                        <p:attrNameLst>
                                          <p:attrName>style.visibility</p:attrName>
                                        </p:attrNameLst>
                                      </p:cBhvr>
                                      <p:to>
                                        <p:strVal val="visible"/>
                                      </p:to>
                                    </p:set>
                                    <p:animEffect transition="in" filter="blinds(horizontal)">
                                      <p:cBhvr>
                                        <p:cTn id="22" dur="500"/>
                                        <p:tgtEl>
                                          <p:spTgt spid="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6">
                                            <p:txEl>
                                              <p:pRg st="4" end="4"/>
                                            </p:txEl>
                                          </p:spTgt>
                                        </p:tgtEl>
                                        <p:attrNameLst>
                                          <p:attrName>style.visibility</p:attrName>
                                        </p:attrNameLst>
                                      </p:cBhvr>
                                      <p:to>
                                        <p:strVal val="visible"/>
                                      </p:to>
                                    </p:set>
                                    <p:animEffect transition="in" filter="blinds(horizontal)">
                                      <p:cBhvr>
                                        <p:cTn id="27" dur="500"/>
                                        <p:tgtEl>
                                          <p:spTgt spid="4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6">
                                            <p:txEl>
                                              <p:pRg st="5" end="5"/>
                                            </p:txEl>
                                          </p:spTgt>
                                        </p:tgtEl>
                                        <p:attrNameLst>
                                          <p:attrName>style.visibility</p:attrName>
                                        </p:attrNameLst>
                                      </p:cBhvr>
                                      <p:to>
                                        <p:strVal val="visible"/>
                                      </p:to>
                                    </p:set>
                                    <p:animEffect transition="in" filter="blinds(horizontal)">
                                      <p:cBhvr>
                                        <p:cTn id="32" dur="500"/>
                                        <p:tgtEl>
                                          <p:spTgt spid="4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338"/>
            <a:ext cx="2216150" cy="460375"/>
          </a:xfrm>
          <a:prstGeom prst="rect">
            <a:avLst/>
          </a:prstGeom>
          <a:noFill/>
          <a:ln w="9525">
            <a:noFill/>
            <a:miter lim="800000"/>
          </a:ln>
          <a:effectLst>
            <a:outerShdw blurRad="50800" dist="38100" dir="5400000" algn="t" rotWithShape="0">
              <a:prstClr val="black">
                <a:alpha val="40000"/>
              </a:prstClr>
            </a:outerShdw>
          </a:effectLst>
        </p:spPr>
        <p:txBody>
          <a:bodyPr>
            <a:spAutoFit/>
          </a:bodyPr>
          <a:lstStyle/>
          <a:p>
            <a:pPr eaLnBrk="1" hangingPunct="1">
              <a:buFont typeface="Arial" panose="020B0604020202020204" pitchFamily="34" charset="0"/>
              <a:buNone/>
            </a:pPr>
            <a:r>
              <a:rPr lang="en-US" altLang="zh-CN" sz="2400" dirty="0">
                <a:solidFill>
                  <a:schemeClr val="bg1"/>
                </a:solidFill>
                <a:latin typeface="Arial Black" panose="020B0A04020102020204" pitchFamily="34" charset="0"/>
              </a:rPr>
              <a:t>Lead-in</a:t>
            </a:r>
            <a:endParaRPr lang="en-US" altLang="zh-CN" sz="2400" dirty="0">
              <a:solidFill>
                <a:schemeClr val="bg1"/>
              </a:solidFill>
              <a:latin typeface="Arial Black" panose="020B0A04020102020204" pitchFamily="34" charset="0"/>
            </a:endParaRPr>
          </a:p>
        </p:txBody>
      </p:sp>
      <p:sp>
        <p:nvSpPr>
          <p:cNvPr id="46" name="内容占位符 2"/>
          <p:cNvSpPr>
            <a:spLocks noGrp="1"/>
          </p:cNvSpPr>
          <p:nvPr/>
        </p:nvSpPr>
        <p:spPr>
          <a:xfrm>
            <a:off x="3639820" y="-17780"/>
            <a:ext cx="5147310" cy="77216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 marR="0" lvl="0" indent="0" algn="just" defTabSz="914400" rtl="0" eaLnBrk="1" fontAlgn="base" latinLnBrk="0" hangingPunct="1">
              <a:lnSpc>
                <a:spcPct val="135000"/>
              </a:lnSpc>
              <a:spcBef>
                <a:spcPts val="300"/>
              </a:spcBef>
              <a:spcAft>
                <a:spcPct val="0"/>
              </a:spcAft>
              <a:buClrTx/>
              <a:buSzTx/>
              <a:buFontTx/>
              <a:buNone/>
              <a:defRPr/>
            </a:pPr>
            <a:r>
              <a:rPr kumimoji="0" lang="en-US" altLang="zh-CN" sz="32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Characters of the story:</a:t>
            </a:r>
            <a:endParaRPr kumimoji="0" lang="en-US" altLang="zh-CN" sz="32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3" name="文本框 2"/>
          <p:cNvSpPr txBox="1"/>
          <p:nvPr/>
        </p:nvSpPr>
        <p:spPr>
          <a:xfrm>
            <a:off x="1982470" y="4229100"/>
            <a:ext cx="942975" cy="521970"/>
          </a:xfrm>
          <a:prstGeom prst="rect">
            <a:avLst/>
          </a:prstGeom>
          <a:noFill/>
        </p:spPr>
        <p:txBody>
          <a:bodyPr wrap="square" rtlCol="0" anchor="t">
            <a:spAutoFit/>
          </a:bodyPr>
          <a:p>
            <a:r>
              <a:rPr lang="en-US" altLang="zh-CN" sz="2800" b="1" noProof="0" dirty="0">
                <a:ln>
                  <a:noFill/>
                </a:ln>
                <a:solidFill>
                  <a:schemeClr val="accent1"/>
                </a:solidFill>
                <a:effectLst/>
                <a:uLnTx/>
                <a:uFillTx/>
                <a:latin typeface="Calibri" panose="020F0502020204030204"/>
                <a:ea typeface="宋体" panose="02010600030101010101" pitchFamily="2" charset="-122"/>
                <a:sym typeface="+mn-ea"/>
              </a:rPr>
              <a:t>Bob</a:t>
            </a:r>
            <a:endParaRPr lang="en-US" altLang="zh-CN" sz="2800" b="1" noProof="0" dirty="0">
              <a:ln>
                <a:noFill/>
              </a:ln>
              <a:solidFill>
                <a:schemeClr val="accent1"/>
              </a:solidFill>
              <a:effectLst/>
              <a:uLnTx/>
              <a:uFillTx/>
              <a:latin typeface="Calibri" panose="020F0502020204030204"/>
              <a:ea typeface="宋体" panose="02010600030101010101" pitchFamily="2" charset="-122"/>
              <a:sym typeface="+mn-ea"/>
            </a:endParaRPr>
          </a:p>
        </p:txBody>
      </p:sp>
      <p:sp>
        <p:nvSpPr>
          <p:cNvPr id="4" name="文本框 3"/>
          <p:cNvSpPr txBox="1"/>
          <p:nvPr/>
        </p:nvSpPr>
        <p:spPr>
          <a:xfrm>
            <a:off x="1606550" y="5137150"/>
            <a:ext cx="8926830" cy="521970"/>
          </a:xfrm>
          <a:prstGeom prst="rect">
            <a:avLst/>
          </a:prstGeom>
          <a:noFill/>
        </p:spPr>
        <p:txBody>
          <a:bodyPr wrap="square" rtlCol="0" anchor="t">
            <a:spAutoFit/>
          </a:bodyPr>
          <a:p>
            <a:r>
              <a:rPr lang="en-US" altLang="zh-CN" sz="2800" b="1" noProof="0" dirty="0">
                <a:ln>
                  <a:noFill/>
                </a:ln>
                <a:solidFill>
                  <a:schemeClr val="tx1"/>
                </a:solidFill>
                <a:effectLst/>
                <a:uLnTx/>
                <a:uFillTx/>
                <a:latin typeface="Calibri" panose="020F0502020204030204"/>
                <a:ea typeface="宋体" panose="02010600030101010101" pitchFamily="2" charset="-122"/>
                <a:sym typeface="+mn-ea"/>
              </a:rPr>
              <a:t>Find the </a:t>
            </a:r>
            <a:r>
              <a:rPr lang="en-US" altLang="zh-CN" sz="2800" b="1" u="sng" noProof="0" dirty="0">
                <a:ln>
                  <a:noFill/>
                </a:ln>
                <a:solidFill>
                  <a:schemeClr val="tx1"/>
                </a:solidFill>
                <a:effectLst/>
                <a:uLnTx/>
                <a:uFillTx/>
                <a:latin typeface="Calibri" panose="020F0502020204030204"/>
                <a:ea typeface="宋体" panose="02010600030101010101" pitchFamily="2" charset="-122"/>
                <a:sym typeface="+mn-ea"/>
              </a:rPr>
              <a:t>foreshadowing</a:t>
            </a:r>
            <a:r>
              <a:rPr lang="en-US" altLang="zh-CN" sz="2800" b="1" noProof="0" dirty="0">
                <a:ln>
                  <a:noFill/>
                </a:ln>
                <a:solidFill>
                  <a:schemeClr val="tx1"/>
                </a:solidFill>
                <a:effectLst/>
                <a:uLnTx/>
                <a:uFillTx/>
                <a:latin typeface="Calibri" panose="020F0502020204030204"/>
                <a:ea typeface="宋体" panose="02010600030101010101" pitchFamily="2" charset="-122"/>
                <a:sym typeface="+mn-ea"/>
              </a:rPr>
              <a:t>(</a:t>
            </a:r>
            <a:r>
              <a:rPr lang="zh-CN" altLang="en-US" sz="2800" b="1" noProof="0" dirty="0">
                <a:ln>
                  <a:noFill/>
                </a:ln>
                <a:solidFill>
                  <a:schemeClr val="tx1"/>
                </a:solidFill>
                <a:effectLst/>
                <a:uLnTx/>
                <a:uFillTx/>
                <a:latin typeface="楷体" panose="02010609060101010101" charset="-122"/>
                <a:ea typeface="楷体" panose="02010609060101010101" charset="-122"/>
                <a:sym typeface="+mn-ea"/>
              </a:rPr>
              <a:t>伏笔</a:t>
            </a:r>
            <a:r>
              <a:rPr lang="en-US" altLang="zh-CN" sz="2800" b="1" noProof="0" dirty="0">
                <a:ln>
                  <a:noFill/>
                </a:ln>
                <a:solidFill>
                  <a:schemeClr val="tx1"/>
                </a:solidFill>
                <a:effectLst/>
                <a:uLnTx/>
                <a:uFillTx/>
                <a:latin typeface="Calibri" panose="020F0502020204030204"/>
                <a:ea typeface="宋体" panose="02010600030101010101" pitchFamily="2" charset="-122"/>
                <a:sym typeface="+mn-ea"/>
              </a:rPr>
              <a:t>) for the surprise ending.</a:t>
            </a:r>
            <a:endParaRPr lang="en-US" altLang="zh-CN" sz="2800" b="1" noProof="0" dirty="0">
              <a:ln>
                <a:noFill/>
              </a:ln>
              <a:solidFill>
                <a:schemeClr val="tx1"/>
              </a:solidFill>
              <a:effectLst/>
              <a:uLnTx/>
              <a:uFillTx/>
              <a:latin typeface="Calibri" panose="020F0502020204030204"/>
              <a:ea typeface="宋体" panose="02010600030101010101" pitchFamily="2" charset="-122"/>
              <a:sym typeface="+mn-ea"/>
            </a:endParaRPr>
          </a:p>
        </p:txBody>
      </p:sp>
      <p:sp>
        <p:nvSpPr>
          <p:cNvPr id="6" name="文本框 5"/>
          <p:cNvSpPr txBox="1"/>
          <p:nvPr/>
        </p:nvSpPr>
        <p:spPr>
          <a:xfrm>
            <a:off x="5885815" y="4229100"/>
            <a:ext cx="4379595" cy="521970"/>
          </a:xfrm>
          <a:prstGeom prst="rect">
            <a:avLst/>
          </a:prstGeom>
          <a:noFill/>
        </p:spPr>
        <p:txBody>
          <a:bodyPr wrap="square" rtlCol="0" anchor="t">
            <a:spAutoFit/>
          </a:bodyPr>
          <a:p>
            <a:pPr algn="ctr"/>
            <a:r>
              <a:rPr lang="en-US" altLang="zh-CN" sz="2800" b="1" noProof="0" dirty="0">
                <a:ln>
                  <a:noFill/>
                </a:ln>
                <a:solidFill>
                  <a:schemeClr val="accent1"/>
                </a:solidFill>
                <a:effectLst/>
                <a:uLnTx/>
                <a:uFillTx/>
                <a:latin typeface="Calibri" panose="020F0502020204030204"/>
                <a:ea typeface="宋体" panose="02010600030101010101" pitchFamily="2" charset="-122"/>
                <a:sym typeface="+mn-ea"/>
              </a:rPr>
              <a:t>Who is </a:t>
            </a:r>
            <a:r>
              <a:rPr lang="en-US" altLang="zh-CN" sz="2800" b="1" noProof="0" dirty="0">
                <a:ln>
                  <a:noFill/>
                </a:ln>
                <a:solidFill>
                  <a:schemeClr val="accent1"/>
                </a:solidFill>
                <a:effectLst/>
                <a:uLnTx/>
                <a:uFillTx/>
                <a:latin typeface="Calibri" panose="020F0502020204030204"/>
                <a:ea typeface="宋体" panose="02010600030101010101" pitchFamily="2" charset="-122"/>
                <a:sym typeface="+mn-ea"/>
              </a:rPr>
              <a:t>Jimmy Wells?</a:t>
            </a:r>
            <a:endParaRPr lang="en-US" altLang="zh-CN" sz="2800" b="1" noProof="0" dirty="0">
              <a:ln>
                <a:noFill/>
              </a:ln>
              <a:solidFill>
                <a:schemeClr val="accent1"/>
              </a:solidFill>
              <a:effectLst/>
              <a:uLnTx/>
              <a:uFillTx/>
              <a:latin typeface="Calibri" panose="020F0502020204030204"/>
              <a:ea typeface="宋体" panose="02010600030101010101" pitchFamily="2" charset="-122"/>
              <a:sym typeface="+mn-ea"/>
            </a:endParaRPr>
          </a:p>
        </p:txBody>
      </p:sp>
      <p:pic>
        <p:nvPicPr>
          <p:cNvPr id="2" name="图片 1" descr="After Twenty Years[00_04_50][20241125-174040]"/>
          <p:cNvPicPr>
            <a:picLocks noChangeAspect="1"/>
          </p:cNvPicPr>
          <p:nvPr/>
        </p:nvPicPr>
        <p:blipFill>
          <a:blip r:embed="rId2">
            <a:lum bright="12000"/>
          </a:blip>
          <a:srcRect l="45361" t="14714" r="24251" b="14742"/>
          <a:stretch>
            <a:fillRect/>
          </a:stretch>
        </p:blipFill>
        <p:spPr>
          <a:xfrm>
            <a:off x="1268730" y="1004570"/>
            <a:ext cx="2371090" cy="3096260"/>
          </a:xfrm>
          <a:prstGeom prst="rect">
            <a:avLst/>
          </a:prstGeom>
        </p:spPr>
      </p:pic>
      <p:pic>
        <p:nvPicPr>
          <p:cNvPr id="7" name="图片 6" descr="After Twenty Years[00_01_18][20241125-174427]"/>
          <p:cNvPicPr>
            <a:picLocks noChangeAspect="1"/>
          </p:cNvPicPr>
          <p:nvPr/>
        </p:nvPicPr>
        <p:blipFill>
          <a:blip r:embed="rId3">
            <a:lum bright="24000" contrast="12000"/>
          </a:blip>
          <a:srcRect l="11654" t="3819" r="41016" b="6901"/>
          <a:stretch>
            <a:fillRect/>
          </a:stretch>
        </p:blipFill>
        <p:spPr>
          <a:xfrm>
            <a:off x="4451350" y="1013460"/>
            <a:ext cx="2963545" cy="3086100"/>
          </a:xfrm>
          <a:prstGeom prst="rect">
            <a:avLst/>
          </a:prstGeom>
        </p:spPr>
      </p:pic>
      <p:pic>
        <p:nvPicPr>
          <p:cNvPr id="8" name="图片 7" descr="After Twenty Years[00_07_28][20241125-174356]"/>
          <p:cNvPicPr>
            <a:picLocks noChangeAspect="1"/>
          </p:cNvPicPr>
          <p:nvPr/>
        </p:nvPicPr>
        <p:blipFill>
          <a:blip r:embed="rId4"/>
          <a:srcRect l="47811" t="12746" r="26302" b="12977"/>
          <a:stretch>
            <a:fillRect/>
          </a:stretch>
        </p:blipFill>
        <p:spPr>
          <a:xfrm>
            <a:off x="8608060" y="913130"/>
            <a:ext cx="2274570" cy="31483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665480" y="1028065"/>
            <a:ext cx="10861040" cy="511175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marR="0" lvl="0" indent="-358775" algn="just" defTabSz="914400" rtl="0" eaLnBrk="1" fontAlgn="base" latinLnBrk="0" hangingPunct="1">
              <a:lnSpc>
                <a:spcPct val="100000"/>
              </a:lnSpc>
              <a:spcBef>
                <a:spcPts val="1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charset="0"/>
                <a:ea typeface="等线" panose="02010600030101010101" pitchFamily="2" charset="-122"/>
                <a:cs typeface="Calibri" panose="020F0502020204030204" charset="0"/>
              </a:rPr>
              <a:t>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charset="0"/>
                <a:ea typeface="宋体" panose="02010600030101010101" pitchFamily="2" charset="-122"/>
                <a:cs typeface="+mn-cs"/>
              </a:rPr>
              <a:t>①</a:t>
            </a:r>
            <a:r>
              <a:rPr kumimoji="0" lang="en-US" altLang="zh-CN" sz="280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Trying doors as he went, </a:t>
            </a:r>
            <a:r>
              <a:rPr kumimoji="0" lang="en-US" altLang="zh-CN" sz="2800" i="0" u="none" strike="noStrike" kern="1200" cap="none" spc="0" normalizeH="0" baseline="0" noProof="0" dirty="0">
                <a:ln>
                  <a:noFill/>
                </a:ln>
                <a:solidFill>
                  <a:sysClr val="windowText" lastClr="000000"/>
                </a:solidFill>
                <a:effectLst/>
                <a:uLnTx/>
                <a:uFillTx/>
                <a:latin typeface="Calibri" panose="020F0502020204030204" charset="0"/>
                <a:ea typeface="宋体" panose="02010600030101010101" pitchFamily="2" charset="-122"/>
                <a:cs typeface="+mn-cs"/>
              </a:rPr>
              <a:t>②</a:t>
            </a:r>
            <a:r>
              <a:rPr kumimoji="0" lang="en-US" altLang="zh-CN" sz="280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swinging his </a:t>
            </a:r>
            <a:r>
              <a:rPr kumimoji="0" lang="en-US" altLang="zh-CN" sz="2800" i="0" u="none" strike="noStrike" kern="1200" cap="none" spc="0" normalizeH="0" baseline="0" noProof="0" dirty="0">
                <a:ln>
                  <a:noFill/>
                </a:ln>
                <a:effectLst/>
                <a:uLnTx/>
                <a:uFillTx/>
                <a:latin typeface="Calibri" panose="020F0502020204030204"/>
                <a:ea typeface="宋体" panose="02010600030101010101" pitchFamily="2" charset="-122"/>
                <a:cs typeface="+mn-cs"/>
              </a:rPr>
              <a:t>club with many clever movements, </a:t>
            </a:r>
            <a:r>
              <a:rPr kumimoji="0" lang="en-US" altLang="zh-CN" sz="2800" i="0" u="none" strike="noStrike" kern="1200" cap="none" spc="0" normalizeH="0" baseline="0" noProof="0" dirty="0">
                <a:ln>
                  <a:noFill/>
                </a:ln>
                <a:effectLst/>
                <a:uLnTx/>
                <a:uFillTx/>
                <a:latin typeface="Calibri" panose="020F0502020204030204" charset="0"/>
                <a:ea typeface="宋体" panose="02010600030101010101" pitchFamily="2" charset="-122"/>
                <a:cs typeface="+mn-cs"/>
              </a:rPr>
              <a:t>③</a:t>
            </a:r>
            <a:r>
              <a:rPr kumimoji="0" lang="en-US" altLang="zh-CN" sz="2800" i="0" u="none" strike="noStrike" kern="1200" cap="none" spc="0" normalizeH="0" baseline="0" noProof="0" dirty="0">
                <a:ln>
                  <a:noFill/>
                </a:ln>
                <a:effectLst/>
                <a:uLnTx/>
                <a:uFillTx/>
                <a:latin typeface="Calibri" panose="020F0502020204030204"/>
                <a:ea typeface="宋体" panose="02010600030101010101" pitchFamily="2" charset="-122"/>
                <a:cs typeface="+mn-cs"/>
              </a:rPr>
              <a:t>turning now and then to </a:t>
            </a:r>
            <a:r>
              <a:rPr kumimoji="0" lang="en-US" altLang="zh-CN" sz="2800" i="0" u="none" strike="noStrike" kern="1200" cap="none" spc="0" normalizeH="0" baseline="0" noProof="0" dirty="0">
                <a:ln>
                  <a:noFill/>
                </a:ln>
                <a:solidFill>
                  <a:schemeClr val="accent2"/>
                </a:solidFill>
                <a:effectLst/>
                <a:uLnTx/>
                <a:uFillTx/>
                <a:latin typeface="Calibri" panose="020F0502020204030204"/>
                <a:ea typeface="宋体" panose="02010600030101010101" pitchFamily="2" charset="-122"/>
                <a:cs typeface="+mn-cs"/>
              </a:rPr>
              <a:t>cast</a:t>
            </a:r>
            <a:r>
              <a:rPr kumimoji="0" lang="en-US" altLang="zh-CN" sz="2800" i="0" u="none" strike="noStrike" kern="1200" cap="none" spc="0" normalizeH="0" baseline="0" noProof="0" dirty="0">
                <a:ln>
                  <a:noFill/>
                </a:ln>
                <a:effectLst/>
                <a:uLnTx/>
                <a:uFillTx/>
                <a:latin typeface="Calibri" panose="020F0502020204030204"/>
                <a:ea typeface="宋体" panose="02010600030101010101" pitchFamily="2" charset="-122"/>
                <a:cs typeface="+mn-cs"/>
              </a:rPr>
              <a:t> his watchful </a:t>
            </a:r>
            <a:r>
              <a:rPr kumimoji="0" lang="en-US" altLang="zh-CN" sz="2800" i="0" u="none" strike="noStrike" kern="1200" cap="none" spc="0" normalizeH="0" baseline="0" noProof="0" dirty="0">
                <a:ln>
                  <a:noFill/>
                </a:ln>
                <a:solidFill>
                  <a:schemeClr val="accent2"/>
                </a:solidFill>
                <a:effectLst/>
                <a:uLnTx/>
                <a:uFillTx/>
                <a:latin typeface="Calibri" panose="020F0502020204030204"/>
                <a:ea typeface="宋体" panose="02010600030101010101" pitchFamily="2" charset="-122"/>
                <a:cs typeface="+mn-cs"/>
              </a:rPr>
              <a:t>eye</a:t>
            </a:r>
            <a:r>
              <a:rPr kumimoji="0" lang="en-US" altLang="zh-CN" sz="2800" i="0" u="none" strike="noStrike" kern="1200" cap="none" spc="0" normalizeH="0" baseline="0" noProof="0" dirty="0">
                <a:ln>
                  <a:noFill/>
                </a:ln>
                <a:effectLst/>
                <a:uLnTx/>
                <a:uFillTx/>
                <a:latin typeface="Calibri" panose="020F0502020204030204"/>
                <a:ea typeface="宋体" panose="02010600030101010101" pitchFamily="2" charset="-122"/>
                <a:cs typeface="+mn-cs"/>
              </a:rPr>
              <a:t> down the peaceful street, </a:t>
            </a:r>
            <a:r>
              <a:rPr kumimoji="0" lang="en-US" altLang="zh-CN" sz="2800" b="1" i="0" u="sng"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the officer</a:t>
            </a:r>
            <a:r>
              <a:rPr kumimoji="0" lang="en-US" altLang="zh-CN" sz="2800" i="0" u="none" strike="noStrike" kern="1200" cap="none" spc="0" normalizeH="0" baseline="0" noProof="0" dirty="0">
                <a:ln>
                  <a:noFill/>
                </a:ln>
                <a:effectLst/>
                <a:uLnTx/>
                <a:uFillTx/>
                <a:latin typeface="Calibri" panose="020F0502020204030204"/>
                <a:ea typeface="宋体" panose="02010600030101010101" pitchFamily="2" charset="-122"/>
                <a:cs typeface="+mn-cs"/>
              </a:rPr>
              <a:t>, </a:t>
            </a:r>
            <a:r>
              <a:rPr kumimoji="0" lang="en-US" altLang="zh-CN" sz="280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④</a:t>
            </a:r>
            <a:r>
              <a:rPr kumimoji="0" lang="en-US" altLang="zh-CN" sz="2800" i="0" u="none" strike="noStrike" kern="1200" cap="none" spc="0" normalizeH="0" baseline="0" noProof="0" dirty="0">
                <a:ln>
                  <a:noFill/>
                </a:ln>
                <a:effectLst/>
                <a:uLnTx/>
                <a:uFillTx/>
                <a:latin typeface="Calibri" panose="020F0502020204030204"/>
                <a:ea typeface="宋体" panose="02010600030101010101" pitchFamily="2" charset="-122"/>
                <a:cs typeface="+mn-cs"/>
              </a:rPr>
              <a:t>with his strongly built form and slight air of superiority, </a:t>
            </a:r>
            <a:r>
              <a:rPr kumimoji="0" lang="en-US" altLang="zh-CN" sz="2800" b="1" i="0" u="sng"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made a fine picture of a guardian of the peace</a:t>
            </a:r>
            <a:r>
              <a:rPr kumimoji="0" lang="en-US" altLang="zh-CN" sz="2800"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a:t>
            </a:r>
            <a:r>
              <a:rPr kumimoji="0" lang="en-US" altLang="zh-CN" sz="2800" i="0" u="none" strike="noStrike" kern="1200" cap="none" spc="0" normalizeH="0" baseline="0" noProof="0" dirty="0">
                <a:ln>
                  <a:noFill/>
                </a:ln>
                <a:effectLst/>
                <a:uLnTx/>
                <a:uFillTx/>
                <a:latin typeface="Calibri" panose="020F0502020204030204"/>
                <a:ea typeface="宋体" panose="02010600030101010101" pitchFamily="2" charset="-122"/>
                <a:cs typeface="+mn-cs"/>
              </a:rPr>
              <a:t>(Para.2)</a:t>
            </a:r>
            <a:endParaRPr kumimoji="0" lang="en-US" altLang="zh-CN" sz="2800" b="1" i="0" u="none" strike="noStrike" kern="1200" cap="none" spc="0" normalizeH="0" baseline="0" noProof="0" dirty="0">
              <a:ln>
                <a:noFill/>
              </a:ln>
              <a:effectLst/>
              <a:uLnTx/>
              <a:uFillTx/>
              <a:latin typeface="Calibri" panose="020F0502020204030204"/>
              <a:ea typeface="宋体" panose="02010600030101010101" pitchFamily="2" charset="-122"/>
              <a:cs typeface="+mn-cs"/>
            </a:endParaRPr>
          </a:p>
          <a:p>
            <a:pPr marL="358775" marR="0" lvl="0" indent="-357505" algn="just" defTabSz="914400" rtl="0" eaLnBrk="1" fontAlgn="base" latinLnBrk="0" hangingPunct="1">
              <a:lnSpc>
                <a:spcPct val="100000"/>
              </a:lnSpc>
              <a:spcBef>
                <a:spcPts val="1000"/>
              </a:spcBef>
              <a:spcAft>
                <a:spcPct val="0"/>
              </a:spcAft>
              <a:buClrTx/>
              <a:buSzTx/>
              <a:buFont typeface="Wingdings" panose="05000000000000000000" pitchFamily="2" charset="2"/>
              <a:buChar char="Ø"/>
              <a:defRPr/>
            </a:pPr>
            <a:r>
              <a:rPr kumimoji="0" lang="en-US" altLang="zh-CN" sz="2800" b="0" i="0" u="none" strike="noStrike" kern="1200" cap="none" spc="0" normalizeH="0" baseline="0" noProof="0" dirty="0">
                <a:ln>
                  <a:noFill/>
                </a:ln>
                <a:solidFill>
                  <a:schemeClr val="accent2"/>
                </a:solidFill>
                <a:effectLst/>
                <a:uLnTx/>
                <a:uFillTx/>
                <a:latin typeface="Calibri" panose="020F0502020204030204"/>
                <a:ea typeface="宋体" panose="02010600030101010101" pitchFamily="2" charset="-122"/>
                <a:cs typeface="+mn-cs"/>
              </a:rPr>
              <a:t>cast one’s eye / an eye</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on/over/down </a:t>
            </a:r>
            <a:r>
              <a:rPr kumimoji="0" lang="en-US" altLang="zh-CN" sz="2800" b="0" i="0" u="none" strike="noStrike" kern="1200" cap="none" spc="0" normalizeH="0" baseline="0" noProof="0" dirty="0">
                <a:ln>
                  <a:noFill/>
                </a:ln>
                <a:solidFill>
                  <a:schemeClr val="accent2"/>
                </a:solidFill>
                <a:effectLst/>
                <a:uLnTx/>
                <a:uFillTx/>
                <a:latin typeface="Calibri" panose="020F0502020204030204"/>
                <a:ea typeface="宋体" panose="02010600030101010101" pitchFamily="2" charset="-122"/>
                <a:cs typeface="+mn-cs"/>
              </a:rPr>
              <a:t>..</a:t>
            </a:r>
            <a:r>
              <a:rPr kumimoji="0" lang="en-US" altLang="zh-CN" sz="2800" b="0" i="0" u="none" strike="noStrike" kern="1200" cap="none" spc="0" normalizeH="0" baseline="0" noProof="0" dirty="0">
                <a:ln>
                  <a:noFill/>
                </a:ln>
                <a:solidFill>
                  <a:schemeClr val="accent2"/>
                </a:solidFill>
                <a:effectLst/>
                <a:uLnTx/>
                <a:uFillTx/>
                <a:latin typeface="Calibri" panose="020F0502020204030204"/>
                <a:ea typeface="宋体" panose="02010600030101010101" pitchFamily="2" charset="-122"/>
                <a:cs typeface="+mn-cs"/>
              </a:rPr>
              <a:t>.</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zh-CN" altLang="en-US" sz="2800" b="0" i="0" u="none" strike="noStrike" kern="1200" cap="none" spc="0" normalizeH="0" baseline="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rPr>
              <a:t>投去（一瞥、一眼）</a:t>
            </a:r>
            <a:endParaRPr kumimoji="0" lang="zh-CN" altLang="en-US" sz="2800" b="0" i="0" u="none" strike="noStrike" kern="1200" cap="none" spc="0" normalizeH="0" baseline="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endParaRPr>
          </a:p>
          <a:p>
            <a:pPr marL="1270" marR="0" lvl="0" indent="0" algn="just" defTabSz="914400" rtl="0" eaLnBrk="1" fontAlgn="base" latinLnBrk="0" hangingPunct="1">
              <a:lnSpc>
                <a:spcPct val="90000"/>
              </a:lnSpc>
              <a:spcBef>
                <a:spcPts val="1000"/>
              </a:spcBef>
              <a:spcAft>
                <a:spcPct val="0"/>
              </a:spcAft>
              <a:buClrTx/>
              <a:buSzTx/>
              <a:buFont typeface="Wingdings" panose="05000000000000000000" pitchFamily="2" charset="2"/>
              <a:buNone/>
              <a:defRPr/>
            </a:pPr>
            <a:r>
              <a:rPr kumimoji="0" lang="en-US" altLang="zh-CN" sz="2800" b="0" i="0" u="none" strike="noStrike" kern="1200" cap="none" spc="0" normalizeH="0" baseline="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rPr>
              <a:t>Mellor cast an eye over the draft for inaccuracies.  </a:t>
            </a:r>
            <a:endParaRPr kumimoji="0" lang="en-US" altLang="zh-CN" sz="2800" b="0" i="0" u="none" strike="noStrike" kern="1200" cap="none" spc="0" normalizeH="0" baseline="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endParaRPr>
          </a:p>
          <a:p>
            <a:pPr marL="0" marR="0" lvl="0" indent="0" algn="just" defTabSz="914400" rtl="0" eaLnBrk="1" hangingPunct="1">
              <a:lnSpc>
                <a:spcPct val="90000"/>
              </a:lnSpc>
              <a:spcBef>
                <a:spcPts val="1000"/>
              </a:spcBef>
              <a:spcAft>
                <a:spcPts val="1200"/>
              </a:spcAft>
              <a:buClrTx/>
              <a:buSzTx/>
              <a:buFont typeface="Wingdings" panose="05000000000000000000" pitchFamily="2" charset="2"/>
              <a:buNone/>
              <a:defRPr/>
            </a:pPr>
            <a:r>
              <a:rPr kumimoji="0" lang="zh-CN" altLang="en-US" sz="2800" b="0" i="0" u="none" strike="noStrike" kern="1200" cap="none" spc="0" normalizeH="0" baseline="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rPr>
              <a:t>梅勒扫了一眼草稿，看有没有错误。</a:t>
            </a:r>
            <a:endParaRPr kumimoji="0" lang="zh-CN" altLang="en-US" sz="2800" b="0" i="0" u="none" strike="noStrike" kern="1200" cap="none" spc="0" normalizeH="0" baseline="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endParaRPr>
          </a:p>
          <a:p>
            <a:pPr marL="358775" marR="0" lvl="0" indent="-357505" algn="just" defTabSz="914400" rtl="0" eaLnBrk="1" fontAlgn="base" latinLnBrk="0" hangingPunct="1">
              <a:lnSpc>
                <a:spcPct val="90000"/>
              </a:lnSpc>
              <a:spcBef>
                <a:spcPts val="1000"/>
              </a:spcBef>
              <a:spcAft>
                <a:spcPct val="0"/>
              </a:spcAft>
              <a:buClrTx/>
              <a:buSzTx/>
              <a:buFont typeface="Wingdings" panose="05000000000000000000" pitchFamily="2" charset="2"/>
              <a:buChar char="Ø"/>
              <a:defRPr/>
            </a:pPr>
            <a:r>
              <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向</a:t>
            </a:r>
            <a:r>
              <a:rPr lang="en-US" altLang="zh-CN"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a:t>
            </a:r>
            <a:r>
              <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投去钦佩的目光</a:t>
            </a:r>
            <a:endPar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endParaRPr>
          </a:p>
          <a:p>
            <a:pPr marL="358775" marR="0" lvl="0" indent="-357505" algn="just" defTabSz="914400" rtl="0" eaLnBrk="1" fontAlgn="base" latinLnBrk="0" hangingPunct="1">
              <a:lnSpc>
                <a:spcPct val="90000"/>
              </a:lnSpc>
              <a:spcBef>
                <a:spcPts val="1000"/>
              </a:spcBef>
              <a:spcAft>
                <a:spcPct val="0"/>
              </a:spcAft>
              <a:buClrTx/>
              <a:buSzTx/>
              <a:buFont typeface="Wingdings" panose="05000000000000000000" pitchFamily="2" charset="2"/>
              <a:buChar char="Ø"/>
              <a:defRPr/>
            </a:pPr>
            <a:r>
              <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向</a:t>
            </a:r>
            <a:r>
              <a:rPr lang="en-US" altLang="zh-CN"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a:t>
            </a:r>
            <a:r>
              <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投去</a:t>
            </a:r>
            <a:r>
              <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欣赏的目光</a:t>
            </a:r>
            <a:endPar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endParaRPr>
          </a:p>
          <a:p>
            <a:pPr marL="358775" marR="0" lvl="0" indent="-357505" algn="just" defTabSz="914400" rtl="0" eaLnBrk="1" fontAlgn="base" latinLnBrk="0" hangingPunct="1">
              <a:lnSpc>
                <a:spcPct val="90000"/>
              </a:lnSpc>
              <a:spcBef>
                <a:spcPts val="1000"/>
              </a:spcBef>
              <a:spcAft>
                <a:spcPct val="0"/>
              </a:spcAft>
              <a:buClrTx/>
              <a:buSzTx/>
              <a:buFont typeface="Wingdings" panose="05000000000000000000" pitchFamily="2" charset="2"/>
              <a:buChar char="Ø"/>
              <a:defRPr/>
            </a:pPr>
            <a:r>
              <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向</a:t>
            </a:r>
            <a:r>
              <a:rPr lang="en-US" altLang="zh-CN"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a:t>
            </a:r>
            <a:r>
              <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投去</a:t>
            </a:r>
            <a:r>
              <a:rPr lang="zh-CN" altLang="en-US"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羡慕的目光</a:t>
            </a:r>
            <a:endParaRPr kumimoji="0" lang="en-US" altLang="zh-CN" sz="2800" b="0" i="0" u="none" strike="noStrike" kern="1200" cap="none" spc="0" normalizeH="0" baseline="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endParaRPr>
          </a:p>
          <a:p>
            <a:pPr marL="1270" marR="0" lvl="0" indent="0" algn="just" defTabSz="914400" rtl="0" eaLnBrk="1" fontAlgn="base" latinLnBrk="0" hangingPunct="1">
              <a:lnSpc>
                <a:spcPct val="90000"/>
              </a:lnSpc>
              <a:spcBef>
                <a:spcPts val="100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endParaRPr>
          </a:p>
        </p:txBody>
      </p:sp>
      <p:sp>
        <p:nvSpPr>
          <p:cNvPr id="3" name="文本框 2"/>
          <p:cNvSpPr txBox="1"/>
          <p:nvPr/>
        </p:nvSpPr>
        <p:spPr>
          <a:xfrm>
            <a:off x="4899660" y="4511040"/>
            <a:ext cx="4657090" cy="1512570"/>
          </a:xfrm>
          <a:prstGeom prst="rect">
            <a:avLst/>
          </a:prstGeom>
          <a:solidFill>
            <a:schemeClr val="accent5">
              <a:lumMod val="20000"/>
              <a:lumOff val="80000"/>
            </a:schemeClr>
          </a:solidFill>
        </p:spPr>
        <p:txBody>
          <a:bodyPr wrap="square" rtlCol="0">
            <a:spAutoFit/>
          </a:bodyPr>
          <a:p>
            <a:pPr>
              <a:lnSpc>
                <a:spcPct val="110000"/>
              </a:lnSpc>
            </a:pPr>
            <a:r>
              <a:rPr lang="en-US" altLang="zh-CN" sz="280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cast an </a:t>
            </a:r>
            <a:r>
              <a:rPr lang="en-US" altLang="zh-CN" sz="2800" noProof="0" dirty="0">
                <a:ln>
                  <a:noFill/>
                </a:ln>
                <a:solidFill>
                  <a:schemeClr val="accent2"/>
                </a:solidFill>
                <a:effectLst/>
                <a:uLnTx/>
                <a:uFillTx/>
                <a:latin typeface="Times New Roman" panose="02020603050405020304" charset="0"/>
                <a:ea typeface="楷体" panose="02010609060101010101" charset="-122"/>
                <a:cs typeface="Times New Roman" panose="02020603050405020304" charset="0"/>
                <a:sym typeface="+mn-ea"/>
              </a:rPr>
              <a:t>admiring</a:t>
            </a:r>
            <a:r>
              <a:rPr lang="en-US" altLang="zh-CN" sz="280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 eye on sb.</a:t>
            </a:r>
            <a:endParaRPr lang="en-US" altLang="zh-CN" sz="280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endParaRPr>
          </a:p>
          <a:p>
            <a:pPr>
              <a:lnSpc>
                <a:spcPct val="110000"/>
              </a:lnSpc>
            </a:pPr>
            <a:r>
              <a:rPr lang="en-US" altLang="zh-CN" sz="280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cast an </a:t>
            </a:r>
            <a:r>
              <a:rPr lang="en-US" altLang="zh-CN" sz="2800" noProof="0" dirty="0">
                <a:ln>
                  <a:noFill/>
                </a:ln>
                <a:solidFill>
                  <a:schemeClr val="accent2"/>
                </a:solidFill>
                <a:effectLst/>
                <a:uLnTx/>
                <a:uFillTx/>
                <a:latin typeface="Times New Roman" panose="02020603050405020304" charset="0"/>
                <a:ea typeface="楷体" panose="02010609060101010101" charset="-122"/>
                <a:cs typeface="Times New Roman" panose="02020603050405020304" charset="0"/>
                <a:sym typeface="+mn-ea"/>
              </a:rPr>
              <a:t>appreciative</a:t>
            </a:r>
            <a:r>
              <a:rPr lang="en-US" altLang="zh-CN" sz="280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 eye on sb.</a:t>
            </a:r>
            <a:endParaRPr lang="en-US" altLang="zh-CN" sz="280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endParaRPr>
          </a:p>
          <a:p>
            <a:pPr>
              <a:lnSpc>
                <a:spcPct val="110000"/>
              </a:lnSpc>
            </a:pPr>
            <a:r>
              <a:rPr lang="en-US" altLang="zh-CN" sz="280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cast an </a:t>
            </a:r>
            <a:r>
              <a:rPr lang="en-US" altLang="zh-CN" sz="2800" noProof="0" dirty="0">
                <a:ln>
                  <a:noFill/>
                </a:ln>
                <a:solidFill>
                  <a:schemeClr val="accent2"/>
                </a:solidFill>
                <a:effectLst/>
                <a:uLnTx/>
                <a:uFillTx/>
                <a:latin typeface="Times New Roman" panose="02020603050405020304" charset="0"/>
                <a:ea typeface="楷体" panose="02010609060101010101" charset="-122"/>
                <a:cs typeface="Times New Roman" panose="02020603050405020304" charset="0"/>
                <a:sym typeface="+mn-ea"/>
              </a:rPr>
              <a:t>envious</a:t>
            </a:r>
            <a:r>
              <a:rPr lang="en-US" altLang="zh-CN" sz="280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sym typeface="+mn-ea"/>
              </a:rPr>
              <a:t> eye on sb.</a:t>
            </a:r>
            <a:endParaRPr lang="en-US" altLang="zh-CN" sz="2800" noProof="0" dirty="0">
              <a:ln>
                <a:noFill/>
              </a:ln>
              <a:solidFill>
                <a:sysClr val="windowText" lastClr="000000"/>
              </a:solidFill>
              <a:effectLst/>
              <a:uLnTx/>
              <a:uFillTx/>
              <a:latin typeface="Times New Roman" panose="02020603050405020304" charset="0"/>
              <a:ea typeface="楷体" panose="02010609060101010101" charset="-122"/>
              <a:cs typeface="Times New Roman" panose="02020603050405020304" charset="0"/>
            </a:endParaRPr>
          </a:p>
        </p:txBody>
      </p:sp>
      <p:pic>
        <p:nvPicPr>
          <p:cNvPr id="2" name="图片 1"/>
          <p:cNvPicPr/>
          <p:nvPr/>
        </p:nvPicPr>
        <p:blipFill>
          <a:blip r:embed="rId4"/>
          <a:stretch>
            <a:fillRect/>
          </a:stretch>
        </p:blipFill>
        <p:spPr>
          <a:xfrm>
            <a:off x="9681845" y="3512820"/>
            <a:ext cx="2293620" cy="3175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checkerboard(across)">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6">
                                            <p:txEl>
                                              <p:pRg st="1" end="1"/>
                                            </p:txEl>
                                          </p:spTgt>
                                        </p:tgtEl>
                                        <p:attrNameLst>
                                          <p:attrName>style.visibility</p:attrName>
                                        </p:attrNameLst>
                                      </p:cBhvr>
                                      <p:to>
                                        <p:strVal val="visible"/>
                                      </p:to>
                                    </p:set>
                                    <p:animEffect transition="in" filter="checkerboard(across)">
                                      <p:cBhvr>
                                        <p:cTn id="12" dur="500"/>
                                        <p:tgtEl>
                                          <p:spTgt spid="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6">
                                            <p:txEl>
                                              <p:pRg st="2" end="2"/>
                                            </p:txEl>
                                          </p:spTgt>
                                        </p:tgtEl>
                                        <p:attrNameLst>
                                          <p:attrName>style.visibility</p:attrName>
                                        </p:attrNameLst>
                                      </p:cBhvr>
                                      <p:to>
                                        <p:strVal val="visible"/>
                                      </p:to>
                                    </p:set>
                                    <p:animEffect transition="in" filter="checkerboard(across)">
                                      <p:cBhvr>
                                        <p:cTn id="17" dur="500"/>
                                        <p:tgtEl>
                                          <p:spTgt spid="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6">
                                            <p:txEl>
                                              <p:pRg st="3" end="3"/>
                                            </p:txEl>
                                          </p:spTgt>
                                        </p:tgtEl>
                                        <p:attrNameLst>
                                          <p:attrName>style.visibility</p:attrName>
                                        </p:attrNameLst>
                                      </p:cBhvr>
                                      <p:to>
                                        <p:strVal val="visible"/>
                                      </p:to>
                                    </p:set>
                                    <p:animEffect transition="in" filter="checkerboard(across)">
                                      <p:cBhvr>
                                        <p:cTn id="22" dur="500"/>
                                        <p:tgtEl>
                                          <p:spTgt spid="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6">
                                            <p:txEl>
                                              <p:pRg st="4" end="4"/>
                                            </p:txEl>
                                          </p:spTgt>
                                        </p:tgtEl>
                                        <p:attrNameLst>
                                          <p:attrName>style.visibility</p:attrName>
                                        </p:attrNameLst>
                                      </p:cBhvr>
                                      <p:to>
                                        <p:strVal val="visible"/>
                                      </p:to>
                                    </p:set>
                                    <p:animEffect transition="in" filter="checkerboard(across)">
                                      <p:cBhvr>
                                        <p:cTn id="27" dur="500"/>
                                        <p:tgtEl>
                                          <p:spTgt spid="4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3">
                                            <p:bg/>
                                          </p:spTgt>
                                        </p:tgtEl>
                                        <p:attrNameLst>
                                          <p:attrName>style.visibility</p:attrName>
                                        </p:attrNameLst>
                                      </p:cBhvr>
                                      <p:to>
                                        <p:strVal val="visible"/>
                                      </p:to>
                                    </p:set>
                                    <p:animEffect transition="in" filter="blinds(vertical)">
                                      <p:cBhvr>
                                        <p:cTn id="32" dur="500"/>
                                        <p:tgtEl>
                                          <p:spTgt spid="3">
                                            <p:bg/>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Effect transition="in" filter="blinds(vertical)">
                                      <p:cBhvr>
                                        <p:cTn id="37" dur="500"/>
                                        <p:tgtEl>
                                          <p:spTgt spid="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46">
                                            <p:txEl>
                                              <p:pRg st="5" end="5"/>
                                            </p:txEl>
                                          </p:spTgt>
                                        </p:tgtEl>
                                        <p:attrNameLst>
                                          <p:attrName>style.visibility</p:attrName>
                                        </p:attrNameLst>
                                      </p:cBhvr>
                                      <p:to>
                                        <p:strVal val="visible"/>
                                      </p:to>
                                    </p:set>
                                    <p:animEffect transition="in" filter="checkerboard(across)">
                                      <p:cBhvr>
                                        <p:cTn id="42" dur="500"/>
                                        <p:tgtEl>
                                          <p:spTgt spid="46">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3">
                                            <p:txEl>
                                              <p:pRg st="1" end="1"/>
                                            </p:txEl>
                                          </p:spTgt>
                                        </p:tgtEl>
                                        <p:attrNameLst>
                                          <p:attrName>style.visibility</p:attrName>
                                        </p:attrNameLst>
                                      </p:cBhvr>
                                      <p:to>
                                        <p:strVal val="visible"/>
                                      </p:to>
                                    </p:set>
                                    <p:animEffect transition="in" filter="blinds(vertical)">
                                      <p:cBhvr>
                                        <p:cTn id="47" dur="500"/>
                                        <p:tgtEl>
                                          <p:spTgt spid="3">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46">
                                            <p:txEl>
                                              <p:pRg st="6" end="6"/>
                                            </p:txEl>
                                          </p:spTgt>
                                        </p:tgtEl>
                                        <p:attrNameLst>
                                          <p:attrName>style.visibility</p:attrName>
                                        </p:attrNameLst>
                                      </p:cBhvr>
                                      <p:to>
                                        <p:strVal val="visible"/>
                                      </p:to>
                                    </p:set>
                                    <p:animEffect transition="in" filter="checkerboard(across)">
                                      <p:cBhvr>
                                        <p:cTn id="52" dur="500"/>
                                        <p:tgtEl>
                                          <p:spTgt spid="46">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animEffect transition="in" filter="blinds(vertical)">
                                      <p:cBhvr>
                                        <p:cTn id="5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uiExpand="1" build="p"/>
      <p:bldP spid="3" grpId="0" animBg="1"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89000" y="756920"/>
            <a:ext cx="10184130" cy="4590415"/>
          </a:xfrm>
          <a:prstGeom prst="rect">
            <a:avLst/>
          </a:prstGeom>
          <a:noFill/>
        </p:spPr>
        <p:txBody>
          <a:bodyPr wrap="square" rtlCol="0" anchor="ctr" anchorCtr="0">
            <a:noAutofit/>
          </a:bodyPr>
          <a:p>
            <a:pPr lvl="0" algn="l">
              <a:lnSpc>
                <a:spcPct val="110000"/>
              </a:lnSpc>
              <a:buNone/>
            </a:pPr>
            <a:r>
              <a:rPr lang="en-US" altLang="zh-CN" sz="3000">
                <a:latin typeface="Times New Roman" panose="02020603050405020304" charset="0"/>
                <a:ea typeface="楷体" panose="02010609060101010101" charset="-122"/>
                <a:cs typeface="Times New Roman" panose="02020603050405020304" charset="0"/>
                <a:sym typeface="+mn-ea"/>
              </a:rPr>
              <a:t>What do the details about the policeman suggest?</a:t>
            </a:r>
            <a:endParaRPr lang="en-US" altLang="zh-CN" sz="3000">
              <a:latin typeface="Times New Roman" panose="02020603050405020304" charset="0"/>
              <a:ea typeface="楷体" panose="02010609060101010101" charset="-122"/>
              <a:cs typeface="Times New Roman" panose="02020603050405020304" charset="0"/>
              <a:sym typeface="+mn-ea"/>
            </a:endParaRPr>
          </a:p>
          <a:p>
            <a:pPr lvl="0" algn="l">
              <a:lnSpc>
                <a:spcPct val="110000"/>
              </a:lnSpc>
              <a:buNone/>
            </a:pPr>
            <a:r>
              <a:rPr lang="en-US" altLang="zh-CN" sz="3000">
                <a:latin typeface="Times New Roman" panose="02020603050405020304" charset="0"/>
                <a:ea typeface="楷体" panose="02010609060101010101" charset="-122"/>
                <a:cs typeface="Times New Roman" panose="02020603050405020304" charset="0"/>
                <a:sym typeface="+mn-ea"/>
              </a:rPr>
              <a:t>1. </a:t>
            </a:r>
            <a:r>
              <a:rPr lang="en-US" altLang="zh-CN" sz="3000" noProof="0" dirty="0">
                <a:ln>
                  <a:noFill/>
                </a:ln>
                <a:solidFill>
                  <a:srgbClr val="639EF4"/>
                </a:solidFill>
                <a:effectLst/>
                <a:uLnTx/>
                <a:uFillTx/>
                <a:latin typeface="Times New Roman" panose="02020603050405020304" charset="0"/>
                <a:ea typeface="楷体" panose="02010609060101010101" charset="-122"/>
                <a:cs typeface="Times New Roman" panose="02020603050405020304" charset="0"/>
                <a:sym typeface="+mn-ea"/>
              </a:rPr>
              <a:t>[填空1]</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 (</a:t>
            </a:r>
            <a:r>
              <a:rPr lang="zh-CN" altLang="en-US"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挥舞</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 -ing) his club with many clever movements: </a:t>
            </a:r>
            <a:r>
              <a:rPr lang="en-US" altLang="zh-CN" sz="3000">
                <a:solidFill>
                  <a:srgbClr val="000000"/>
                </a:solidFill>
                <a:latin typeface="Times New Roman" panose="02020603050405020304" charset="0"/>
                <a:ea typeface="楷体" panose="02010609060101010101" charset="-122"/>
                <a:cs typeface="Times New Roman" panose="02020603050405020304" charset="0"/>
                <a:sym typeface="+mn-ea"/>
              </a:rPr>
              <a:t>his </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confidence; not being a green hand.</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  </a:t>
            </a:r>
            <a:endPar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endParaRPr>
          </a:p>
          <a:p>
            <a:pPr lvl="0" algn="l">
              <a:lnSpc>
                <a:spcPct val="110000"/>
              </a:lnSpc>
              <a:buNone/>
            </a:pP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2. Casting his </a:t>
            </a:r>
            <a:r>
              <a:rPr lang="en-US" altLang="zh-CN" sz="3000" noProof="0" dirty="0">
                <a:ln>
                  <a:noFill/>
                </a:ln>
                <a:solidFill>
                  <a:srgbClr val="639EF4"/>
                </a:solidFill>
                <a:effectLst/>
                <a:uLnTx/>
                <a:uFillTx/>
                <a:latin typeface="Times New Roman" panose="02020603050405020304" charset="0"/>
                <a:ea typeface="楷体" panose="02010609060101010101" charset="-122"/>
                <a:cs typeface="Times New Roman" panose="02020603050405020304" charset="0"/>
                <a:sym typeface="+mn-ea"/>
              </a:rPr>
              <a:t>[填空2]</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a:t>
            </a:r>
            <a:r>
              <a:rPr lang="zh-CN" altLang="en-US"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警惕的</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 eye down the street:  </a:t>
            </a:r>
            <a:r>
              <a:rPr lang="en-US" altLang="zh-CN" sz="3000">
                <a:solidFill>
                  <a:srgbClr val="000000"/>
                </a:solidFill>
                <a:latin typeface="Times New Roman" panose="02020603050405020304" charset="0"/>
                <a:ea typeface="楷体" panose="02010609060101010101" charset="-122"/>
                <a:cs typeface="Times New Roman" panose="02020603050405020304" charset="0"/>
                <a:sym typeface="+mn-ea"/>
              </a:rPr>
              <a:t>his </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sense of responsibility; expecting someone </a:t>
            </a:r>
            <a:endPar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endParaRPr>
          </a:p>
          <a:p>
            <a:pPr lvl="0" algn="l">
              <a:lnSpc>
                <a:spcPct val="110000"/>
              </a:lnSpc>
              <a:buNone/>
            </a:pP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3. His strongly built form: </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his strength</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  </a:t>
            </a:r>
            <a:endPar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endParaRPr>
          </a:p>
          <a:p>
            <a:pPr lvl="0" algn="l">
              <a:lnSpc>
                <a:spcPct val="110000"/>
              </a:lnSpc>
              <a:buNone/>
            </a:pP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4. His slight air of </a:t>
            </a:r>
            <a:r>
              <a:rPr lang="en-US" altLang="zh-CN" sz="3000" noProof="0" dirty="0">
                <a:ln>
                  <a:noFill/>
                </a:ln>
                <a:solidFill>
                  <a:srgbClr val="639EF4"/>
                </a:solidFill>
                <a:effectLst/>
                <a:uLnTx/>
                <a:uFillTx/>
                <a:latin typeface="Times New Roman" panose="02020603050405020304" charset="0"/>
                <a:ea typeface="楷体" panose="02010609060101010101" charset="-122"/>
                <a:cs typeface="Times New Roman" panose="02020603050405020304" charset="0"/>
                <a:sym typeface="+mn-ea"/>
              </a:rPr>
              <a:t>[填空3]</a:t>
            </a:r>
            <a:r>
              <a:rPr lang="en-US" altLang="zh-CN" sz="300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sym typeface="+mn-ea"/>
              </a:rPr>
              <a:t>(</a:t>
            </a:r>
            <a:r>
              <a:rPr lang="zh-CN" altLang="en-US" sz="300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sym typeface="+mn-ea"/>
              </a:rPr>
              <a:t>优越感</a:t>
            </a:r>
            <a:r>
              <a:rPr lang="en-US" altLang="zh-CN" sz="300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sym typeface="+mn-ea"/>
              </a:rPr>
              <a:t>)</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  </a:t>
            </a:r>
            <a:r>
              <a:rPr lang="en-US" altLang="zh-CN" sz="3000">
                <a:solidFill>
                  <a:srgbClr val="000000"/>
                </a:solidFill>
                <a:latin typeface="Times New Roman" panose="02020603050405020304" charset="0"/>
                <a:ea typeface="楷体" panose="02010609060101010101" charset="-122"/>
                <a:cs typeface="Times New Roman" panose="02020603050405020304" charset="0"/>
                <a:sym typeface="+mn-ea"/>
              </a:rPr>
              <a:t>his pride as a police officer</a:t>
            </a:r>
            <a:endPar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endParaRPr>
          </a:p>
          <a:p>
            <a:pPr lvl="0" algn="l">
              <a:lnSpc>
                <a:spcPct val="110000"/>
              </a:lnSpc>
              <a:buNone/>
            </a:pP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All these made a fine picture of a </a:t>
            </a:r>
            <a:r>
              <a:rPr lang="en-US" altLang="zh-CN" sz="3000" noProof="0" dirty="0">
                <a:ln>
                  <a:noFill/>
                </a:ln>
                <a:solidFill>
                  <a:srgbClr val="639EF4"/>
                </a:solidFill>
                <a:effectLst/>
                <a:uLnTx/>
                <a:uFillTx/>
                <a:latin typeface="Times New Roman" panose="02020603050405020304" charset="0"/>
                <a:ea typeface="楷体" panose="02010609060101010101" charset="-122"/>
                <a:cs typeface="Times New Roman" panose="02020603050405020304" charset="0"/>
                <a:sym typeface="+mn-ea"/>
              </a:rPr>
              <a:t>[填空4]</a:t>
            </a:r>
            <a:r>
              <a:rPr lang="en-US" altLang="zh-CN" sz="300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sym typeface="+mn-ea"/>
              </a:rPr>
              <a:t>(</a:t>
            </a:r>
            <a:r>
              <a:rPr lang="zh-CN" altLang="en-US" sz="300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sym typeface="+mn-ea"/>
              </a:rPr>
              <a:t>守护者</a:t>
            </a:r>
            <a:r>
              <a:rPr lang="en-US" altLang="zh-CN" sz="3000" noProof="0" dirty="0">
                <a:ln>
                  <a:noFill/>
                </a:ln>
                <a:solidFill>
                  <a:schemeClr val="tx1"/>
                </a:solidFill>
                <a:effectLst/>
                <a:uLnTx/>
                <a:uFillTx/>
                <a:latin typeface="Times New Roman" panose="02020603050405020304" charset="0"/>
                <a:ea typeface="楷体" panose="02010609060101010101" charset="-122"/>
                <a:cs typeface="Times New Roman" panose="02020603050405020304" charset="0"/>
                <a:sym typeface="+mn-ea"/>
              </a:rPr>
              <a:t>)</a:t>
            </a:r>
            <a:r>
              <a:rPr lang="en-US" altLang="zh-CN" sz="3000" noProof="0" dirty="0">
                <a:ln>
                  <a:noFill/>
                </a:ln>
                <a:solidFill>
                  <a:prstClr val="black"/>
                </a:solidFill>
                <a:effectLst/>
                <a:uLnTx/>
                <a:uFillTx/>
                <a:latin typeface="Times New Roman" panose="02020603050405020304" charset="0"/>
                <a:ea typeface="楷体" panose="02010609060101010101" charset="-122"/>
                <a:cs typeface="Times New Roman" panose="02020603050405020304" charset="0"/>
                <a:sym typeface="+mn-ea"/>
              </a:rPr>
              <a:t> of the peace.</a:t>
            </a:r>
            <a:endParaRPr lang="en-US" altLang="zh-CN" sz="3000">
              <a:solidFill>
                <a:srgbClr val="000000"/>
              </a:solidFill>
              <a:latin typeface="Times New Roman" panose="02020603050405020304" charset="0"/>
              <a:ea typeface="微软雅黑" panose="020B0503020204020204" charset="-122"/>
              <a:cs typeface="Times New Roman" panose="02020603050405020304" charset="0"/>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grpSp>
        <p:nvGrpSpPr>
          <p:cNvPr id="9" name="组合 8"/>
          <p:cNvGrpSpPr/>
          <p:nvPr>
            <p:custDataLst>
              <p:tags r:id="rId3"/>
            </p:custDataLst>
          </p:nvPr>
        </p:nvGrpSpPr>
        <p:grpSpPr>
          <a:xfrm>
            <a:off x="0" y="0"/>
            <a:ext cx="12192000" cy="635000"/>
            <a:chOff x="0" y="0"/>
            <a:chExt cx="19200" cy="1000"/>
          </a:xfrm>
        </p:grpSpPr>
        <p:sp>
          <p:nvSpPr>
            <p:cNvPr id="5" name="TitleBackground"/>
            <p:cNvSpPr/>
            <p:nvPr>
              <p:custDataLst>
                <p:tags r:id="rId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7"/>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20分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90DE"/>
          <p:cNvPicPr>
            <a:picLocks noChangeAspect="1"/>
          </p:cNvPicPr>
          <p:nvPr>
            <p:custDataLst>
              <p:tags r:id="rId8"/>
            </p:custDataLst>
          </p:nvPr>
        </p:nvPicPr>
        <p:blipFill>
          <a:blip r:embed="rId9"/>
          <a:stretch>
            <a:fillRect/>
          </a:stretch>
        </p:blipFill>
        <p:spPr>
          <a:xfrm>
            <a:off x="10642600" y="63500"/>
            <a:ext cx="1422400" cy="508000"/>
          </a:xfrm>
          <a:prstGeom prst="rect">
            <a:avLst/>
          </a:prstGeom>
        </p:spPr>
      </p:pic>
    </p:spTree>
    <p:custDataLst>
      <p:tags r:id="rId10"/>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91540" y="635000"/>
            <a:ext cx="8138160" cy="5416550"/>
          </a:xfrm>
          <a:prstGeom prst="rect">
            <a:avLst/>
          </a:prstGeom>
          <a:noFill/>
        </p:spPr>
        <p:txBody>
          <a:bodyPr wrap="square" rtlCol="0" anchor="ctr" anchorCtr="0">
            <a:noAutofit/>
          </a:bodyPr>
          <a:p>
            <a:pPr lvl="0" algn="l">
              <a:lnSpc>
                <a:spcPct val="110000"/>
              </a:lnSpc>
              <a:buNone/>
            </a:pPr>
            <a:r>
              <a:rPr lang="en-US" altLang="zh-CN" sz="2800">
                <a:latin typeface="Arial" panose="020B0604020202020204" pitchFamily="34" charset="0"/>
                <a:ea typeface="楷体" panose="02010609060101010101" charset="-122"/>
                <a:cs typeface="Arial" panose="020B0604020202020204" pitchFamily="34" charset="0"/>
                <a:sym typeface="+mn-ea"/>
              </a:rPr>
              <a:t>What do the details about Bob suggest?</a:t>
            </a:r>
            <a:endParaRPr lang="en-US" altLang="zh-CN" sz="2800">
              <a:latin typeface="Arial" panose="020B0604020202020204" pitchFamily="34" charset="0"/>
              <a:ea typeface="楷体" panose="02010609060101010101" charset="-122"/>
              <a:cs typeface="Arial" panose="020B0604020202020204" pitchFamily="34" charset="0"/>
              <a:sym typeface="+mn-ea"/>
            </a:endParaRPr>
          </a:p>
          <a:p>
            <a:pPr lvl="0" algn="l">
              <a:lnSpc>
                <a:spcPct val="110000"/>
              </a:lnSpc>
              <a:buNone/>
            </a:pPr>
            <a:r>
              <a:rPr lang="en-US" altLang="zh-CN" sz="2800">
                <a:solidFill>
                  <a:srgbClr val="000000"/>
                </a:solidFill>
                <a:latin typeface="Arial" panose="020B0604020202020204" pitchFamily="34" charset="0"/>
                <a:ea typeface="微软雅黑" panose="020B0503020204020204" charset="-122"/>
                <a:cs typeface="Arial" panose="020B0604020202020204" pitchFamily="34" charset="0"/>
              </a:rPr>
              <a:t>1. pale face:  </a:t>
            </a:r>
            <a:r>
              <a:rPr lang="en-US" altLang="zh-CN" sz="2800">
                <a:solidFill>
                  <a:srgbClr val="639EF4"/>
                </a:solidFill>
                <a:latin typeface="Arial" panose="020B0604020202020204" pitchFamily="34" charset="0"/>
                <a:ea typeface="微软雅黑" panose="020B0503020204020204" charset="-122"/>
                <a:cs typeface="Arial" panose="020B0604020202020204" pitchFamily="34" charset="0"/>
              </a:rPr>
              <a:t>[填空1]</a:t>
            </a:r>
            <a:r>
              <a:rPr lang="en-US" altLang="zh-CN" sz="2800">
                <a:solidFill>
                  <a:srgbClr val="000000"/>
                </a:solidFill>
                <a:latin typeface="Arial" panose="020B0604020202020204" pitchFamily="34" charset="0"/>
                <a:ea typeface="微软雅黑" panose="020B0503020204020204" charset="-122"/>
                <a:cs typeface="Arial" panose="020B0604020202020204" pitchFamily="34" charset="0"/>
              </a:rPr>
              <a:t> </a:t>
            </a:r>
            <a:endParaRPr lang="en-US" altLang="zh-CN" sz="2800">
              <a:solidFill>
                <a:srgbClr val="000000"/>
              </a:solidFill>
              <a:latin typeface="Arial" panose="020B0604020202020204" pitchFamily="34" charset="0"/>
              <a:ea typeface="微软雅黑" panose="020B0503020204020204" charset="-122"/>
              <a:cs typeface="Arial" panose="020B0604020202020204" pitchFamily="34" charset="0"/>
            </a:endParaRPr>
          </a:p>
          <a:p>
            <a:pPr lvl="0" algn="l">
              <a:lnSpc>
                <a:spcPct val="110000"/>
              </a:lnSpc>
              <a:buNone/>
            </a:pPr>
            <a:r>
              <a:rPr lang="en-US" altLang="zh-CN" sz="2800">
                <a:solidFill>
                  <a:srgbClr val="000000"/>
                </a:solidFill>
                <a:latin typeface="Arial" panose="020B0604020202020204" pitchFamily="34" charset="0"/>
                <a:ea typeface="微软雅黑" panose="020B0503020204020204" charset="-122"/>
                <a:cs typeface="Arial" panose="020B0604020202020204" pitchFamily="34" charset="0"/>
              </a:rPr>
              <a:t>2. keen eyes: </a:t>
            </a:r>
            <a:r>
              <a:rPr lang="en-US" altLang="zh-CN" sz="2800">
                <a:solidFill>
                  <a:srgbClr val="639EF4"/>
                </a:solidFill>
                <a:latin typeface="Arial" panose="020B0604020202020204" pitchFamily="34" charset="0"/>
                <a:ea typeface="微软雅黑" panose="020B0503020204020204" charset="-122"/>
                <a:cs typeface="Arial" panose="020B0604020202020204" pitchFamily="34" charset="0"/>
              </a:rPr>
              <a:t>[填空2]</a:t>
            </a:r>
            <a:r>
              <a:rPr lang="en-US" altLang="zh-CN" sz="2800">
                <a:solidFill>
                  <a:srgbClr val="000000"/>
                </a:solidFill>
                <a:latin typeface="Arial" panose="020B0604020202020204" pitchFamily="34" charset="0"/>
                <a:ea typeface="微软雅黑" panose="020B0503020204020204" charset="-122"/>
                <a:cs typeface="Arial" panose="020B0604020202020204" pitchFamily="34" charset="0"/>
              </a:rPr>
              <a:t> </a:t>
            </a:r>
            <a:endParaRPr lang="en-US" altLang="zh-CN" sz="2800">
              <a:solidFill>
                <a:srgbClr val="000000"/>
              </a:solidFill>
              <a:latin typeface="Arial" panose="020B0604020202020204" pitchFamily="34" charset="0"/>
              <a:ea typeface="微软雅黑" panose="020B0503020204020204" charset="-122"/>
              <a:cs typeface="Arial" panose="020B0604020202020204" pitchFamily="34" charset="0"/>
            </a:endParaRPr>
          </a:p>
          <a:p>
            <a:pPr lvl="0" algn="l">
              <a:lnSpc>
                <a:spcPct val="110000"/>
              </a:lnSpc>
              <a:buNone/>
            </a:pPr>
            <a:r>
              <a:rPr lang="en-US" altLang="zh-CN" sz="2800">
                <a:solidFill>
                  <a:srgbClr val="000000"/>
                </a:solidFill>
                <a:latin typeface="Arial" panose="020B0604020202020204" pitchFamily="34" charset="0"/>
                <a:ea typeface="微软雅黑" panose="020B0503020204020204" charset="-122"/>
                <a:cs typeface="Arial" panose="020B0604020202020204" pitchFamily="34" charset="0"/>
              </a:rPr>
              <a:t>3. scar near his eyebrow: </a:t>
            </a:r>
            <a:r>
              <a:rPr lang="en-US" altLang="zh-CN" sz="2800">
                <a:solidFill>
                  <a:srgbClr val="639EF4"/>
                </a:solidFill>
                <a:latin typeface="Arial" panose="020B0604020202020204" pitchFamily="34" charset="0"/>
                <a:ea typeface="微软雅黑" panose="020B0503020204020204" charset="-122"/>
                <a:cs typeface="Arial" panose="020B0604020202020204" pitchFamily="34" charset="0"/>
              </a:rPr>
              <a:t>[填空3]</a:t>
            </a:r>
            <a:r>
              <a:rPr lang="en-US" altLang="zh-CN" sz="2800">
                <a:solidFill>
                  <a:srgbClr val="000000"/>
                </a:solidFill>
                <a:latin typeface="Arial" panose="020B0604020202020204" pitchFamily="34" charset="0"/>
                <a:ea typeface="微软雅黑" panose="020B0503020204020204" charset="-122"/>
                <a:cs typeface="Arial" panose="020B0604020202020204" pitchFamily="34" charset="0"/>
              </a:rPr>
              <a:t> </a:t>
            </a:r>
            <a:endParaRPr lang="en-US" altLang="zh-CN" sz="2800">
              <a:solidFill>
                <a:srgbClr val="000000"/>
              </a:solidFill>
              <a:latin typeface="Arial" panose="020B0604020202020204" pitchFamily="34" charset="0"/>
              <a:ea typeface="微软雅黑" panose="020B0503020204020204" charset="-122"/>
              <a:cs typeface="Arial" panose="020B0604020202020204" pitchFamily="34" charset="0"/>
            </a:endParaRPr>
          </a:p>
          <a:p>
            <a:pPr lvl="0" algn="l">
              <a:lnSpc>
                <a:spcPct val="110000"/>
              </a:lnSpc>
              <a:buNone/>
            </a:pPr>
            <a:r>
              <a:rPr lang="en-US" altLang="zh-CN" sz="2800">
                <a:solidFill>
                  <a:srgbClr val="000000"/>
                </a:solidFill>
                <a:latin typeface="Arial" panose="020B0604020202020204" pitchFamily="34" charset="0"/>
                <a:ea typeface="微软雅黑" panose="020B0503020204020204" charset="-122"/>
                <a:cs typeface="Arial" panose="020B0604020202020204" pitchFamily="34" charset="0"/>
              </a:rPr>
              <a:t>4. tiepin being a large diamond, oddly set: </a:t>
            </a:r>
            <a:r>
              <a:rPr lang="en-US" altLang="zh-CN" sz="2800">
                <a:solidFill>
                  <a:srgbClr val="639EF4"/>
                </a:solidFill>
                <a:latin typeface="Arial" panose="020B0604020202020204" pitchFamily="34" charset="0"/>
                <a:ea typeface="微软雅黑" panose="020B0503020204020204" charset="-122"/>
                <a:cs typeface="Arial" panose="020B0604020202020204" pitchFamily="34" charset="0"/>
              </a:rPr>
              <a:t>[填空4]</a:t>
            </a:r>
            <a:r>
              <a:rPr lang="en-US" altLang="zh-CN" sz="2800">
                <a:solidFill>
                  <a:srgbClr val="000000"/>
                </a:solidFill>
                <a:latin typeface="Arial" panose="020B0604020202020204" pitchFamily="34" charset="0"/>
                <a:ea typeface="微软雅黑" panose="020B0503020204020204" charset="-122"/>
                <a:cs typeface="Arial" panose="020B0604020202020204" pitchFamily="34" charset="0"/>
              </a:rPr>
              <a:t> </a:t>
            </a:r>
            <a:endParaRPr lang="en-US" altLang="zh-CN" sz="2800">
              <a:solidFill>
                <a:srgbClr val="000000"/>
              </a:solidFill>
              <a:latin typeface="Arial" panose="020B0604020202020204" pitchFamily="34" charset="0"/>
              <a:ea typeface="微软雅黑" panose="020B0503020204020204" charset="-122"/>
              <a:cs typeface="Arial" panose="020B0604020202020204" pitchFamily="34" charset="0"/>
            </a:endParaRPr>
          </a:p>
          <a:p>
            <a:pPr lvl="0" algn="l">
              <a:lnSpc>
                <a:spcPct val="110000"/>
              </a:lnSpc>
              <a:buNone/>
            </a:pPr>
            <a:r>
              <a:rPr lang="en-US" altLang="zh-CN" sz="2800">
                <a:solidFill>
                  <a:srgbClr val="000000"/>
                </a:solidFill>
                <a:latin typeface="Times New Roman" panose="02020603050405020304" charset="0"/>
                <a:ea typeface="微软雅黑" panose="020B0503020204020204" charset="-122"/>
                <a:cs typeface="Times New Roman" panose="02020603050405020304" charset="0"/>
              </a:rPr>
              <a:t>   a. </a:t>
            </a: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exhausted</a:t>
            </a:r>
            <a:endParaRPr lang="en-US" altLang="zh-CN" sz="2800">
              <a:solidFill>
                <a:srgbClr val="000000"/>
              </a:solidFill>
              <a:latin typeface="Times New Roman" panose="02020603050405020304" charset="0"/>
              <a:ea typeface="微软雅黑" panose="020B0503020204020204" charset="-122"/>
              <a:cs typeface="Times New Roman" panose="02020603050405020304" charset="0"/>
            </a:endParaRPr>
          </a:p>
          <a:p>
            <a:pPr lvl="0" algn="l">
              <a:lnSpc>
                <a:spcPct val="110000"/>
              </a:lnSpc>
              <a:buNone/>
            </a:pPr>
            <a:r>
              <a:rPr lang="en-US" altLang="zh-CN" sz="2800">
                <a:solidFill>
                  <a:srgbClr val="000000"/>
                </a:solidFill>
                <a:latin typeface="Times New Roman" panose="02020603050405020304" charset="0"/>
                <a:ea typeface="微软雅黑" panose="020B0503020204020204" charset="-122"/>
                <a:cs typeface="Times New Roman" panose="02020603050405020304" charset="0"/>
              </a:rPr>
              <a:t>   b. </a:t>
            </a: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honest</a:t>
            </a:r>
            <a:endParaRPr lang="en-US" altLang="zh-CN" sz="2800">
              <a:solidFill>
                <a:srgbClr val="000000"/>
              </a:solidFill>
              <a:latin typeface="Times New Roman" panose="02020603050405020304" charset="0"/>
              <a:ea typeface="微软雅黑" panose="020B0503020204020204" charset="-122"/>
              <a:cs typeface="Times New Roman" panose="02020603050405020304" charset="0"/>
            </a:endParaRPr>
          </a:p>
          <a:p>
            <a:pPr lvl="0" algn="l">
              <a:lnSpc>
                <a:spcPct val="110000"/>
              </a:lnSpc>
              <a:buNone/>
            </a:pPr>
            <a:r>
              <a:rPr lang="en-US" altLang="zh-CN" sz="2800">
                <a:solidFill>
                  <a:srgbClr val="000000"/>
                </a:solidFill>
                <a:latin typeface="Times New Roman" panose="02020603050405020304" charset="0"/>
                <a:ea typeface="微软雅黑" panose="020B0503020204020204" charset="-122"/>
                <a:cs typeface="Times New Roman" panose="02020603050405020304" charset="0"/>
              </a:rPr>
              <a:t>   c. </a:t>
            </a: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alert; perhaps shrewd</a:t>
            </a:r>
            <a:endParaRPr lang="en-US" altLang="zh-CN" sz="2800">
              <a:solidFill>
                <a:srgbClr val="000000"/>
              </a:solidFill>
              <a:latin typeface="Times New Roman" panose="02020603050405020304" charset="0"/>
              <a:ea typeface="微软雅黑" panose="020B0503020204020204" charset="-122"/>
              <a:cs typeface="Times New Roman" panose="02020603050405020304" charset="0"/>
            </a:endParaRPr>
          </a:p>
          <a:p>
            <a:pPr lvl="0" algn="l">
              <a:lnSpc>
                <a:spcPct val="110000"/>
              </a:lnSpc>
              <a:buNone/>
            </a:pPr>
            <a:r>
              <a:rPr lang="en-US" altLang="zh-CN" sz="2800">
                <a:solidFill>
                  <a:srgbClr val="000000"/>
                </a:solidFill>
                <a:latin typeface="Times New Roman" panose="02020603050405020304" charset="0"/>
                <a:ea typeface="微软雅黑" panose="020B0503020204020204" charset="-122"/>
                <a:cs typeface="Times New Roman" panose="02020603050405020304" charset="0"/>
              </a:rPr>
              <a:t>   d. had </a:t>
            </a: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a tough life, perhaps with v</a:t>
            </a: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i</a:t>
            </a: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olence.</a:t>
            </a:r>
            <a:endPar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endParaRPr>
          </a:p>
          <a:p>
            <a:pPr lvl="0" algn="l">
              <a:lnSpc>
                <a:spcPct val="110000"/>
              </a:lnSpc>
              <a:buNone/>
            </a:pP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   e. </a:t>
            </a: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fashionable</a:t>
            </a:r>
            <a:endPar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endParaRPr>
          </a:p>
          <a:p>
            <a:pPr lvl="0" algn="l">
              <a:lnSpc>
                <a:spcPct val="110000"/>
              </a:lnSpc>
              <a:buNone/>
            </a:pP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   f. </a:t>
            </a:r>
            <a:r>
              <a:rPr lang="en-US" altLang="zh-CN" sz="2800">
                <a:solidFill>
                  <a:srgbClr val="000000"/>
                </a:solidFill>
                <a:latin typeface="Times New Roman" panose="02020603050405020304" charset="0"/>
                <a:ea typeface="微软雅黑" panose="020B0503020204020204" charset="-122"/>
                <a:cs typeface="Times New Roman" panose="02020603050405020304" charset="0"/>
                <a:sym typeface="+mn-ea"/>
              </a:rPr>
              <a:t>rich, showing off, with bad taste</a:t>
            </a:r>
            <a:endParaRPr lang="en-US" altLang="zh-CN" sz="2800">
              <a:solidFill>
                <a:srgbClr val="000000"/>
              </a:solidFill>
              <a:latin typeface="Times New Roman" panose="02020603050405020304" charset="0"/>
              <a:ea typeface="微软雅黑" panose="020B0503020204020204" charset="-122"/>
              <a:cs typeface="Times New Roman" panose="02020603050405020304" charset="0"/>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pic>
        <p:nvPicPr>
          <p:cNvPr id="15" name="图片 14"/>
          <p:cNvPicPr/>
          <p:nvPr/>
        </p:nvPicPr>
        <p:blipFill>
          <a:blip r:embed="rId3"/>
          <a:stretch>
            <a:fillRect/>
          </a:stretch>
        </p:blipFill>
        <p:spPr>
          <a:xfrm>
            <a:off x="9095740" y="1592580"/>
            <a:ext cx="2576195" cy="3664585"/>
          </a:xfrm>
          <a:prstGeom prst="rect">
            <a:avLst/>
          </a:prstGeom>
        </p:spPr>
      </p:pic>
      <p:grpSp>
        <p:nvGrpSpPr>
          <p:cNvPr id="9" name="组合 8"/>
          <p:cNvGrpSpPr/>
          <p:nvPr>
            <p:custDataLst>
              <p:tags r:id="rId4"/>
            </p:custDataLst>
          </p:nvPr>
        </p:nvGrpSpPr>
        <p:grpSpPr>
          <a:xfrm>
            <a:off x="0" y="0"/>
            <a:ext cx="12192000" cy="635000"/>
            <a:chOff x="0" y="0"/>
            <a:chExt cx="19200" cy="1000"/>
          </a:xfrm>
        </p:grpSpPr>
        <p:sp>
          <p:nvSpPr>
            <p:cNvPr id="5" name="TitleBackground"/>
            <p:cNvSpPr/>
            <p:nvPr>
              <p:custDataLst>
                <p:tags r:id="rId5"/>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20分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480C"/>
          <p:cNvPicPr>
            <a:picLocks noChangeAspect="1"/>
          </p:cNvPicPr>
          <p:nvPr>
            <p:custDataLst>
              <p:tags r:id="rId9"/>
            </p:custDataLst>
          </p:nvPr>
        </p:nvPicPr>
        <p:blipFill>
          <a:blip r:embed="rId10"/>
          <a:stretch>
            <a:fillRect/>
          </a:stretch>
        </p:blipFill>
        <p:spPr>
          <a:xfrm>
            <a:off x="10642600" y="63500"/>
            <a:ext cx="1422400" cy="508000"/>
          </a:xfrm>
          <a:prstGeom prst="rect">
            <a:avLst/>
          </a:prstGeom>
        </p:spPr>
      </p:pic>
    </p:spTree>
    <p:custDataLst>
      <p:tags r:id="rId1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861060" y="979170"/>
            <a:ext cx="10781665" cy="463105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marR="0" lvl="0" indent="-358775" algn="just" defTabSz="914400" rtl="0" eaLnBrk="1" fontAlgn="base" latinLnBrk="0" hangingPunct="1">
              <a:lnSpc>
                <a:spcPct val="100000"/>
              </a:lnSpc>
              <a:spcBef>
                <a:spcPts val="1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charset="0"/>
                <a:ea typeface="等线" panose="02010600030101010101" pitchFamily="2" charset="-122"/>
                <a:cs typeface="Calibri" panose="020F0502020204030204" charset="0"/>
              </a:rPr>
              <a:t>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we lost track of each other. </a:t>
            </a:r>
            <a:r>
              <a:rPr kumimoji="0" lang="en-US" altLang="zh-CN" sz="280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(Para.9)</a:t>
            </a:r>
            <a:endPar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358775" marR="0" lvl="0" indent="-357505" algn="just" defTabSz="914400" rtl="0" eaLnBrk="1" fontAlgn="base" latinLnBrk="0" hangingPunct="1">
              <a:lnSpc>
                <a:spcPct val="100000"/>
              </a:lnSpc>
              <a:spcBef>
                <a:spcPts val="1000"/>
              </a:spcBef>
              <a:spcAft>
                <a:spcPct val="0"/>
              </a:spcAft>
              <a:buClrTx/>
              <a:buSzTx/>
              <a:buFont typeface="Wingdings" panose="05000000000000000000" pitchFamily="2" charset="2"/>
              <a:buChar char="Ø"/>
              <a:defRPr/>
            </a:pPr>
            <a:r>
              <a:rPr kumimoji="0" lang="en-US" altLang="zh-CN" sz="280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we lost contact with each other </a:t>
            </a:r>
            <a:endParaRPr kumimoji="0" lang="en-US" altLang="zh-CN" sz="280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100000"/>
              </a:lnSpc>
              <a:spcBef>
                <a:spcPts val="1000"/>
              </a:spcBef>
              <a:spcAft>
                <a:spcPct val="0"/>
              </a:spcAft>
              <a:buClrTx/>
              <a:buSzTx/>
              <a:buFont typeface="Wingdings" panose="05000000000000000000" pitchFamily="2" charset="2"/>
              <a:buNone/>
              <a:defRPr/>
            </a:pPr>
            <a:r>
              <a:rPr lang="en-US" altLang="zh-CN" b="1" dirty="0">
                <a:solidFill>
                  <a:sysClr val="windowText" lastClr="000000"/>
                </a:solidFill>
                <a:latin typeface="Calibri" panose="020F0502020204030204"/>
                <a:ea typeface="宋体" panose="02010600030101010101" pitchFamily="2" charset="-122"/>
              </a:rPr>
              <a:t>keep/lose track of sb./</a:t>
            </a:r>
            <a:r>
              <a:rPr lang="en-US" altLang="zh-CN" b="1" dirty="0" err="1">
                <a:solidFill>
                  <a:sysClr val="windowText" lastClr="000000"/>
                </a:solidFill>
                <a:latin typeface="Calibri" panose="020F0502020204030204"/>
                <a:ea typeface="宋体" panose="02010600030101010101" pitchFamily="2" charset="-122"/>
              </a:rPr>
              <a:t>sth</a:t>
            </a:r>
            <a:r>
              <a:rPr lang="en-US" altLang="zh-CN" b="1" dirty="0">
                <a:solidFill>
                  <a:sysClr val="windowText" lastClr="000000"/>
                </a:solidFill>
                <a:latin typeface="Calibri" panose="020F0502020204030204"/>
                <a:ea typeface="宋体" panose="02010600030101010101" pitchFamily="2" charset="-122"/>
              </a:rPr>
              <a:t>.</a:t>
            </a:r>
            <a:r>
              <a:rPr lang="en-US" altLang="zh-CN" dirty="0">
                <a:solidFill>
                  <a:sysClr val="windowText" lastClr="000000"/>
                </a:solidFill>
                <a:latin typeface="Calibri" panose="020F0502020204030204"/>
                <a:ea typeface="宋体" panose="02010600030101010101" pitchFamily="2" charset="-122"/>
              </a:rPr>
              <a:t>: </a:t>
            </a:r>
            <a:r>
              <a:rPr lang="en-US" altLang="zh-CN" sz="2400" dirty="0">
                <a:solidFill>
                  <a:sysClr val="windowText" lastClr="000000"/>
                </a:solidFill>
                <a:latin typeface="Times New Roman" panose="02020603050405020304" charset="0"/>
                <a:ea typeface="楷体" panose="02010609060101010101" charset="-122"/>
                <a:cs typeface="Times New Roman" panose="02020603050405020304" charset="0"/>
              </a:rPr>
              <a:t>to have/not have information about what is happening or where sb/sth is</a:t>
            </a:r>
            <a:r>
              <a:rPr lang="zh-CN" altLang="en-US" dirty="0">
                <a:solidFill>
                  <a:sysClr val="windowText" lastClr="000000"/>
                </a:solidFill>
                <a:latin typeface="Times New Roman" panose="02020603050405020304" charset="0"/>
                <a:ea typeface="楷体" panose="02010609060101010101" charset="-122"/>
                <a:cs typeface="Times New Roman" panose="02020603050405020304" charset="0"/>
                <a:sym typeface="+mn-ea"/>
              </a:rPr>
              <a:t>与</a:t>
            </a:r>
            <a:r>
              <a:rPr lang="en-US" altLang="zh-CN" dirty="0">
                <a:solidFill>
                  <a:sysClr val="windowText" lastClr="000000"/>
                </a:solidFill>
                <a:latin typeface="Times New Roman" panose="02020603050405020304" charset="0"/>
                <a:ea typeface="楷体" panose="02010609060101010101" charset="-122"/>
                <a:cs typeface="Times New Roman" panose="02020603050405020304" charset="0"/>
                <a:sym typeface="+mn-ea"/>
              </a:rPr>
              <a:t>…</a:t>
            </a:r>
            <a:r>
              <a:rPr lang="zh-CN" altLang="en-US" dirty="0">
                <a:solidFill>
                  <a:sysClr val="windowText" lastClr="000000"/>
                </a:solidFill>
                <a:latin typeface="Times New Roman" panose="02020603050405020304" charset="0"/>
                <a:ea typeface="楷体" panose="02010609060101010101" charset="-122"/>
                <a:cs typeface="Times New Roman" panose="02020603050405020304" charset="0"/>
                <a:sym typeface="+mn-ea"/>
              </a:rPr>
              <a:t>保持</a:t>
            </a:r>
            <a:r>
              <a:rPr lang="en-US" altLang="en-US" dirty="0">
                <a:solidFill>
                  <a:sysClr val="windowText" lastClr="000000"/>
                </a:solidFill>
                <a:latin typeface="Times New Roman" panose="02020603050405020304" charset="0"/>
                <a:ea typeface="楷体" panose="02010609060101010101" charset="-122"/>
                <a:cs typeface="Times New Roman" panose="02020603050405020304" charset="0"/>
                <a:sym typeface="+mn-ea"/>
              </a:rPr>
              <a:t>/</a:t>
            </a:r>
            <a:r>
              <a:rPr lang="zh-CN" altLang="en-US" dirty="0">
                <a:solidFill>
                  <a:sysClr val="windowText" lastClr="000000"/>
                </a:solidFill>
                <a:latin typeface="Times New Roman" panose="02020603050405020304" charset="0"/>
                <a:ea typeface="楷体" panose="02010609060101010101" charset="-122"/>
                <a:cs typeface="Times New Roman" panose="02020603050405020304" charset="0"/>
                <a:sym typeface="+mn-ea"/>
              </a:rPr>
              <a:t>失去联系</a:t>
            </a:r>
            <a:r>
              <a:rPr lang="en-US" altLang="zh-CN" dirty="0">
                <a:solidFill>
                  <a:sysClr val="windowText" lastClr="000000"/>
                </a:solidFill>
                <a:latin typeface="Times New Roman" panose="02020603050405020304" charset="0"/>
                <a:ea typeface="楷体" panose="02010609060101010101" charset="-122"/>
                <a:cs typeface="Times New Roman" panose="02020603050405020304" charset="0"/>
                <a:sym typeface="+mn-ea"/>
              </a:rPr>
              <a:t>;</a:t>
            </a:r>
            <a:r>
              <a:rPr lang="zh-CN" altLang="en-US" dirty="0">
                <a:solidFill>
                  <a:sysClr val="windowText" lastClr="000000"/>
                </a:solidFill>
                <a:latin typeface="Times New Roman" panose="02020603050405020304" charset="0"/>
                <a:ea typeface="楷体" panose="02010609060101010101" charset="-122"/>
                <a:cs typeface="Times New Roman" panose="02020603050405020304" charset="0"/>
              </a:rPr>
              <a:t>了解</a:t>
            </a:r>
            <a:r>
              <a:rPr lang="en-US" altLang="en-US" dirty="0">
                <a:solidFill>
                  <a:sysClr val="windowText" lastClr="000000"/>
                </a:solidFill>
                <a:latin typeface="Times New Roman" panose="02020603050405020304" charset="0"/>
                <a:ea typeface="楷体" panose="02010609060101010101" charset="-122"/>
                <a:cs typeface="Times New Roman" panose="02020603050405020304" charset="0"/>
              </a:rPr>
              <a:t>/</a:t>
            </a:r>
            <a:r>
              <a:rPr lang="zh-CN" altLang="en-US" dirty="0">
                <a:solidFill>
                  <a:sysClr val="windowText" lastClr="000000"/>
                </a:solidFill>
                <a:latin typeface="Times New Roman" panose="02020603050405020304" charset="0"/>
                <a:ea typeface="楷体" panose="02010609060101010101" charset="-122"/>
                <a:cs typeface="Times New Roman" panose="02020603050405020304" charset="0"/>
              </a:rPr>
              <a:t>不了解</a:t>
            </a:r>
            <a:r>
              <a:rPr lang="en-US" altLang="zh-CN" dirty="0">
                <a:solidFill>
                  <a:sysClr val="windowText" lastClr="000000"/>
                </a:solidFill>
                <a:latin typeface="Times New Roman" panose="02020603050405020304" charset="0"/>
                <a:ea typeface="楷体" panose="02010609060101010101" charset="-122"/>
                <a:cs typeface="Times New Roman" panose="02020603050405020304" charset="0"/>
              </a:rPr>
              <a:t>…</a:t>
            </a:r>
            <a:r>
              <a:rPr lang="zh-CN" altLang="en-US" dirty="0">
                <a:solidFill>
                  <a:sysClr val="windowText" lastClr="000000"/>
                </a:solidFill>
                <a:latin typeface="Times New Roman" panose="02020603050405020304" charset="0"/>
                <a:ea typeface="楷体" panose="02010609060101010101" charset="-122"/>
                <a:cs typeface="Times New Roman" panose="02020603050405020304" charset="0"/>
              </a:rPr>
              <a:t>的动态；</a:t>
            </a:r>
            <a:endParaRPr lang="zh-CN" altLang="en-US" dirty="0">
              <a:solidFill>
                <a:sysClr val="windowText" lastClr="000000"/>
              </a:solidFill>
              <a:latin typeface="Times New Roman" panose="02020603050405020304" charset="0"/>
              <a:ea typeface="楷体" panose="02010609060101010101" charset="-122"/>
              <a:cs typeface="Times New Roman" panose="02020603050405020304" charset="0"/>
            </a:endParaRPr>
          </a:p>
          <a:p>
            <a:pPr marL="1270" marR="0" lvl="0" indent="0" algn="just" defTabSz="914400" rtl="0" eaLnBrk="1" fontAlgn="base" latinLnBrk="0" hangingPunct="1">
              <a:lnSpc>
                <a:spcPct val="100000"/>
              </a:lnSpc>
              <a:spcBef>
                <a:spcPts val="1000"/>
              </a:spcBef>
              <a:spcAft>
                <a:spcPct val="0"/>
              </a:spcAft>
              <a:buClrTx/>
              <a:buSzTx/>
              <a:buFont typeface="Wingdings" panose="05000000000000000000" pitchFamily="2" charset="2"/>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 Have you </a:t>
            </a:r>
            <a:r>
              <a:rPr kumimoji="0" lang="en-US" altLang="zh-CN" sz="2800" b="0" i="0" u="none" strike="noStrike" kern="1200" cap="none" spc="0" normalizeH="0" baseline="0" noProof="0" dirty="0">
                <a:ln>
                  <a:noFill/>
                </a:ln>
                <a:solidFill>
                  <a:schemeClr val="accent2"/>
                </a:solidFill>
                <a:effectLst/>
                <a:uLnTx/>
                <a:uFillTx/>
                <a:latin typeface="Calibri" panose="020F0502020204030204"/>
                <a:ea typeface="宋体" panose="02010600030101010101" pitchFamily="2" charset="-122"/>
                <a:cs typeface="+mn-cs"/>
              </a:rPr>
              <a:t>kept track of</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the stock market?</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100000"/>
              </a:lnSpc>
              <a:spcBef>
                <a:spcPts val="1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 I have </a:t>
            </a:r>
            <a:r>
              <a:rPr kumimoji="0" lang="en-US" altLang="zh-CN" sz="2800" b="0" i="0" u="none" strike="noStrike" kern="1200" cap="none" spc="0" normalizeH="0" baseline="0" noProof="0" dirty="0">
                <a:ln>
                  <a:noFill/>
                </a:ln>
                <a:solidFill>
                  <a:schemeClr val="accent2"/>
                </a:solidFill>
                <a:effectLst/>
                <a:uLnTx/>
                <a:uFillTx/>
                <a:latin typeface="Calibri" panose="020F0502020204030204"/>
                <a:ea typeface="宋体" panose="02010600030101010101" pitchFamily="2" charset="-122"/>
                <a:cs typeface="+mn-cs"/>
              </a:rPr>
              <a:t>lost track of</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its latest development.</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100000"/>
              </a:lnSpc>
              <a:spcBef>
                <a:spcPts val="1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rPr>
              <a:t>了解时事动态非常重要。</a:t>
            </a:r>
            <a:endParaRPr kumimoji="0" lang="en-US" altLang="zh-CN" sz="28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endParaRPr>
          </a:p>
          <a:p>
            <a:pPr marL="1270" indent="0" algn="just" eaLnBrk="1" hangingPunct="1">
              <a:lnSpc>
                <a:spcPct val="100000"/>
              </a:lnSpc>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It is important to </a:t>
            </a:r>
            <a:r>
              <a:rPr kumimoji="0" lang="en-US" altLang="zh-CN" sz="2800" b="0" i="0" u="none" strike="noStrike" kern="1200" cap="none" spc="0" normalizeH="0" baseline="0" noProof="0" dirty="0">
                <a:ln>
                  <a:noFill/>
                </a:ln>
                <a:solidFill>
                  <a:schemeClr val="accent2"/>
                </a:solidFill>
                <a:effectLst/>
                <a:uLnTx/>
                <a:uFillTx/>
                <a:latin typeface="Calibri" panose="020F0502020204030204"/>
                <a:ea typeface="宋体" panose="02010600030101010101" pitchFamily="2" charset="-122"/>
                <a:cs typeface="+mn-cs"/>
              </a:rPr>
              <a:t>keep track of</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current affairs.                                                  </a:t>
            </a:r>
            <a:endParaRPr kumimoji="0" lang="en-US" altLang="zh-CN" sz="280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p:txBody>
      </p:sp>
      <p:pic>
        <p:nvPicPr>
          <p:cNvPr id="3" name="图片 2"/>
          <p:cNvPicPr/>
          <p:nvPr/>
        </p:nvPicPr>
        <p:blipFill>
          <a:blip r:embed="rId4"/>
          <a:srcRect b="20352"/>
          <a:stretch>
            <a:fillRect/>
          </a:stretch>
        </p:blipFill>
        <p:spPr>
          <a:xfrm>
            <a:off x="8102600" y="3550285"/>
            <a:ext cx="3832225" cy="17164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dissolve">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2" end="2"/>
                                            </p:txEl>
                                          </p:spTgt>
                                        </p:tgtEl>
                                        <p:attrNameLst>
                                          <p:attrName>style.visibility</p:attrName>
                                        </p:attrNameLst>
                                      </p:cBhvr>
                                      <p:to>
                                        <p:strVal val="visible"/>
                                      </p:to>
                                    </p:set>
                                    <p:animEffect transition="in" filter="dissolve">
                                      <p:cBhvr>
                                        <p:cTn id="12" dur="500"/>
                                        <p:tgtEl>
                                          <p:spTgt spid="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animEffect transition="in" filter="dissolve">
                                      <p:cBhvr>
                                        <p:cTn id="17" dur="500"/>
                                        <p:tgtEl>
                                          <p:spTgt spid="46">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46">
                                            <p:txEl>
                                              <p:pRg st="4" end="4"/>
                                            </p:txEl>
                                          </p:spTgt>
                                        </p:tgtEl>
                                        <p:attrNameLst>
                                          <p:attrName>style.visibility</p:attrName>
                                        </p:attrNameLst>
                                      </p:cBhvr>
                                      <p:to>
                                        <p:strVal val="visible"/>
                                      </p:to>
                                    </p:set>
                                    <p:animEffect transition="in" filter="dissolve">
                                      <p:cBhvr>
                                        <p:cTn id="20" dur="500"/>
                                        <p:tgtEl>
                                          <p:spTgt spid="46">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46">
                                            <p:txEl>
                                              <p:pRg st="5" end="5"/>
                                            </p:txEl>
                                          </p:spTgt>
                                        </p:tgtEl>
                                        <p:attrNameLst>
                                          <p:attrName>style.visibility</p:attrName>
                                        </p:attrNameLst>
                                      </p:cBhvr>
                                      <p:to>
                                        <p:strVal val="visible"/>
                                      </p:to>
                                    </p:set>
                                    <p:animEffect transition="in" filter="dissolve">
                                      <p:cBhvr>
                                        <p:cTn id="25" dur="500"/>
                                        <p:tgtEl>
                                          <p:spTgt spid="46">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46">
                                            <p:txEl>
                                              <p:pRg st="6" end="6"/>
                                            </p:txEl>
                                          </p:spTgt>
                                        </p:tgtEl>
                                        <p:attrNameLst>
                                          <p:attrName>style.visibility</p:attrName>
                                        </p:attrNameLst>
                                      </p:cBhvr>
                                      <p:to>
                                        <p:strVal val="visible"/>
                                      </p:to>
                                    </p:set>
                                    <p:animEffect transition="in" filter="dissolve">
                                      <p:cBhvr>
                                        <p:cTn id="30" dur="500"/>
                                        <p:tgtEl>
                                          <p:spTgt spid="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1292225" y="998855"/>
            <a:ext cx="9607550" cy="518858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marR="0" lvl="0" indent="-358775" algn="just" defTabSz="914400" rtl="0" eaLnBrk="1" fontAlgn="base" latinLnBrk="0" hangingPunct="1">
              <a:lnSpc>
                <a:spcPct val="125000"/>
              </a:lnSpc>
              <a:spcBef>
                <a:spcPts val="1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charset="0"/>
                <a:ea typeface="等线" panose="02010600030101010101" pitchFamily="2" charset="-122"/>
                <a:cs typeface="Calibri" panose="020F0502020204030204" charset="0"/>
              </a:rPr>
              <a:t>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He was a kind of slow man, though, good fellow as he was.</a:t>
            </a:r>
            <a:endPar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358775" marR="0" lvl="0" indent="-357505" algn="just" defTabSz="914400" rtl="0" eaLnBrk="1" fontAlgn="base" latinLnBrk="0" hangingPunct="1">
              <a:lnSpc>
                <a:spcPct val="125000"/>
              </a:lnSpc>
              <a:spcBef>
                <a:spcPts val="1000"/>
              </a:spcBef>
              <a:spcAft>
                <a:spcPct val="0"/>
              </a:spcAft>
              <a:buClrTx/>
              <a:buSzTx/>
              <a:buFont typeface="Wingdings" panose="05000000000000000000" pitchFamily="2" charset="2"/>
              <a:buChar char="Ø"/>
              <a:defRPr/>
            </a:pP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good fellow as he was</a:t>
            </a:r>
            <a:r>
              <a:rPr kumimoji="0" lang="en-US" altLang="zh-CN" sz="280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though he was a good fellow</a:t>
            </a:r>
            <a:r>
              <a:rPr kumimoji="0" lang="en-US" altLang="zh-CN" sz="2800" i="1"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a:t>
            </a:r>
            <a:endParaRPr kumimoji="0" lang="en-US" altLang="zh-CN" sz="2800" i="1"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95000"/>
              </a:lnSpc>
              <a:spcBef>
                <a:spcPts val="1000"/>
              </a:spcBef>
              <a:spcAft>
                <a:spcPct val="0"/>
              </a:spcAft>
              <a:buClrTx/>
              <a:buSzTx/>
              <a:buNone/>
              <a:defRPr/>
            </a:pPr>
            <a:r>
              <a:rPr kumimoji="0" lang="en-US" altLang="zh-CN" sz="2800" b="0" u="none" strike="noStrike" kern="1200" cap="none" spc="0" normalizeH="0" baseline="0" noProof="0" dirty="0">
                <a:ln>
                  <a:noFill/>
                </a:ln>
                <a:solidFill>
                  <a:schemeClr val="accent1"/>
                </a:solidFill>
                <a:effectLst/>
                <a:uLnTx/>
                <a:uFillTx/>
                <a:latin typeface="Calibri" panose="020F0502020204030204" charset="0"/>
                <a:ea typeface="华文中宋" panose="02010600040101010101" charset="-122"/>
                <a:cs typeface="Calibri" panose="020F0502020204030204" charset="0"/>
              </a:rPr>
              <a:t>as</a:t>
            </a:r>
            <a:r>
              <a:rPr kumimoji="0" lang="zh-CN" altLang="en-US" sz="2800" b="0" u="none" strike="noStrike" kern="1200" cap="none" spc="0" normalizeH="0" baseline="0" noProof="0" dirty="0">
                <a:ln>
                  <a:noFill/>
                </a:ln>
                <a:solidFill>
                  <a:schemeClr val="accent1"/>
                </a:solidFill>
                <a:effectLst/>
                <a:uLnTx/>
                <a:uFillTx/>
                <a:latin typeface="Calibri" panose="020F0502020204030204" charset="0"/>
                <a:ea typeface="华文中宋" panose="02010600040101010101" charset="-122"/>
                <a:cs typeface="Calibri" panose="020F0502020204030204" charset="0"/>
              </a:rPr>
              <a:t>引导的让步状语从句：</a:t>
            </a:r>
            <a:r>
              <a:rPr kumimoji="0" lang="en-US" altLang="zh-CN" sz="2800" b="0" u="none" strike="noStrike" kern="1200" cap="none" spc="0" normalizeH="0" baseline="0" noProof="0" dirty="0">
                <a:ln>
                  <a:noFill/>
                </a:ln>
                <a:solidFill>
                  <a:schemeClr val="accent1"/>
                </a:solidFill>
                <a:effectLst/>
                <a:uLnTx/>
                <a:uFillTx/>
                <a:latin typeface="Calibri" panose="020F0502020204030204" charset="0"/>
                <a:ea typeface="华文中宋" panose="02010600040101010101" charset="-122"/>
                <a:cs typeface="Calibri" panose="020F0502020204030204" charset="0"/>
              </a:rPr>
              <a:t>1. </a:t>
            </a:r>
            <a:r>
              <a:rPr kumimoji="0" lang="zh-CN" altLang="en-US" sz="2800" b="0" u="none" strike="noStrike" kern="1200" cap="none" spc="0" normalizeH="0" baseline="0" noProof="0" dirty="0">
                <a:ln>
                  <a:noFill/>
                </a:ln>
                <a:solidFill>
                  <a:schemeClr val="accent1"/>
                </a:solidFill>
                <a:effectLst/>
                <a:uLnTx/>
                <a:uFillTx/>
                <a:latin typeface="Calibri" panose="020F0502020204030204" charset="0"/>
                <a:ea typeface="华文中宋" panose="02010600040101010101" charset="-122"/>
                <a:cs typeface="Calibri" panose="020F0502020204030204" charset="0"/>
              </a:rPr>
              <a:t>表语</a:t>
            </a:r>
            <a:r>
              <a:rPr kumimoji="0" lang="en-US" altLang="zh-CN" sz="2800" b="0" u="none" strike="noStrike" kern="1200" cap="none" spc="0" normalizeH="0" baseline="0" noProof="0" dirty="0">
                <a:ln>
                  <a:noFill/>
                </a:ln>
                <a:solidFill>
                  <a:schemeClr val="accent1"/>
                </a:solidFill>
                <a:effectLst/>
                <a:uLnTx/>
                <a:uFillTx/>
                <a:latin typeface="Calibri" panose="020F0502020204030204" charset="0"/>
                <a:ea typeface="华文中宋" panose="02010600040101010101" charset="-122"/>
                <a:cs typeface="Calibri" panose="020F0502020204030204" charset="0"/>
              </a:rPr>
              <a:t> + as + </a:t>
            </a:r>
            <a:r>
              <a:rPr kumimoji="0" lang="zh-CN" altLang="en-US" sz="2800" b="0" u="none" strike="noStrike" kern="1200" cap="none" spc="0" normalizeH="0" baseline="0" noProof="0" dirty="0">
                <a:ln>
                  <a:noFill/>
                </a:ln>
                <a:solidFill>
                  <a:schemeClr val="accent1"/>
                </a:solidFill>
                <a:effectLst/>
                <a:uLnTx/>
                <a:uFillTx/>
                <a:latin typeface="Calibri" panose="020F0502020204030204" charset="0"/>
                <a:ea typeface="华文中宋" panose="02010600040101010101" charset="-122"/>
                <a:cs typeface="Calibri" panose="020F0502020204030204" charset="0"/>
              </a:rPr>
              <a:t>主语及系动词</a:t>
            </a:r>
            <a:endParaRPr kumimoji="0" lang="en-US" altLang="zh-CN" sz="2800" b="0" u="none" strike="noStrike" kern="1200" cap="none" spc="0" normalizeH="0" baseline="0" noProof="0" dirty="0">
              <a:ln>
                <a:noFill/>
              </a:ln>
              <a:solidFill>
                <a:schemeClr val="accent1"/>
              </a:solidFill>
              <a:effectLst/>
              <a:uLnTx/>
              <a:uFillTx/>
              <a:latin typeface="Calibri" panose="020F0502020204030204" charset="0"/>
              <a:ea typeface="华文中宋" panose="02010600040101010101" charset="-122"/>
              <a:cs typeface="Calibri" panose="020F0502020204030204" charset="0"/>
            </a:endParaRPr>
          </a:p>
          <a:p>
            <a:pPr marL="1270" marR="0" lvl="0" indent="0" algn="just" defTabSz="914400" rtl="0" eaLnBrk="1" fontAlgn="base" latinLnBrk="0" hangingPunct="1">
              <a:lnSpc>
                <a:spcPct val="95000"/>
              </a:lnSpc>
              <a:spcBef>
                <a:spcPts val="1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虽然汤姆很有名，但是</a:t>
            </a:r>
            <a:r>
              <a:rPr kumimoji="0" lang="zh-CN" altLang="en-US"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他非常谦虚。</a:t>
            </a:r>
            <a:endParaRPr kumimoji="0" lang="zh-CN" altLang="en-US"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95000"/>
              </a:lnSpc>
              <a:spcBef>
                <a:spcPts val="1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Famous as he was,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Tom was very modest.</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95000"/>
              </a:lnSpc>
              <a:spcBef>
                <a:spcPts val="1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尽管他是个孩子，但他对世界了解很多。</a:t>
            </a:r>
            <a:endParaRPr kumimoji="0" lang="zh-CN" altLang="en-US"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95000"/>
              </a:lnSpc>
              <a:spcBef>
                <a:spcPts val="1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Child as he is, he knows a lot about the world.</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95000"/>
              </a:lnSpc>
              <a:spcBef>
                <a:spcPts val="1000"/>
              </a:spcBef>
              <a:spcAft>
                <a:spcPct val="0"/>
              </a:spcAft>
              <a:buClrTx/>
              <a:buSzTx/>
              <a:buFont typeface="Arial" panose="020B0604020202020204" pitchFamily="34" charset="0"/>
              <a:buNone/>
              <a:defRPr/>
            </a:pPr>
            <a:r>
              <a:rPr lang="zh-CN" altLang="en-US" noProof="0" dirty="0">
                <a:ln>
                  <a:noFill/>
                </a:ln>
                <a:solidFill>
                  <a:schemeClr val="accent1"/>
                </a:solidFill>
                <a:effectLst/>
                <a:uLnTx/>
                <a:uFillTx/>
                <a:latin typeface="Calibri" panose="020F0502020204030204" charset="0"/>
                <a:ea typeface="华文中宋" panose="02010600040101010101" charset="-122"/>
                <a:cs typeface="Calibri" panose="020F0502020204030204" charset="0"/>
                <a:sym typeface="+mn-ea"/>
              </a:rPr>
              <a:t>2. 副词状语+ as + 主语及其他成分</a:t>
            </a:r>
            <a:endParaRPr lang="zh-CN" altLang="en-US" noProof="0" dirty="0">
              <a:ln>
                <a:noFill/>
              </a:ln>
              <a:solidFill>
                <a:schemeClr val="accent1"/>
              </a:solidFill>
              <a:effectLst/>
              <a:uLnTx/>
              <a:uFillTx/>
              <a:latin typeface="Calibri" panose="020F0502020204030204" charset="0"/>
              <a:ea typeface="华文中宋" panose="02010600040101010101" charset="-122"/>
              <a:cs typeface="Calibri" panose="020F0502020204030204" charset="0"/>
              <a:sym typeface="+mn-ea"/>
            </a:endParaRPr>
          </a:p>
          <a:p>
            <a:pPr marL="1270" marR="0" lvl="0" indent="0" algn="just" defTabSz="914400" rtl="0" eaLnBrk="1" fontAlgn="base" latinLnBrk="0" hangingPunct="1">
              <a:lnSpc>
                <a:spcPct val="95000"/>
              </a:lnSpc>
              <a:spcBef>
                <a:spcPts val="1000"/>
              </a:spcBef>
              <a:spcAft>
                <a:spcPct val="0"/>
              </a:spcAft>
              <a:buClrTx/>
              <a:buSzTx/>
              <a:buFont typeface="Arial" panose="020B0604020202020204" pitchFamily="34" charset="0"/>
              <a:buNone/>
              <a:defRPr/>
            </a:pPr>
            <a:r>
              <a:rPr lang="en-US" altLang="zh-CN" noProof="0" dirty="0">
                <a:ln>
                  <a:noFill/>
                </a:ln>
                <a:solidFill>
                  <a:sysClr val="windowText" lastClr="000000"/>
                </a:solidFill>
                <a:effectLst/>
                <a:uLnTx/>
                <a:uFillTx/>
                <a:latin typeface="Calibri" panose="020F0502020204030204"/>
                <a:ea typeface="宋体" panose="02010600030101010101" pitchFamily="2" charset="-122"/>
                <a:sym typeface="+mn-ea"/>
              </a:rPr>
              <a:t>Hard as I tried, I failed to finish the job on time.</a:t>
            </a:r>
            <a:endParaRPr lang="en-US" altLang="zh-CN" noProof="0" dirty="0">
              <a:ln>
                <a:noFill/>
              </a:ln>
              <a:solidFill>
                <a:sysClr val="windowText" lastClr="000000"/>
              </a:solidFill>
              <a:effectLst/>
              <a:uLnTx/>
              <a:uFillTx/>
              <a:latin typeface="Calibri" panose="020F0502020204030204"/>
              <a:ea typeface="宋体" panose="02010600030101010101" pitchFamily="2" charset="-122"/>
              <a:sym typeface="+mn-ea"/>
            </a:endParaRPr>
          </a:p>
        </p:txBody>
      </p:sp>
      <p:pic>
        <p:nvPicPr>
          <p:cNvPr id="2" name="图片 1"/>
          <p:cNvPicPr/>
          <p:nvPr/>
        </p:nvPicPr>
        <p:blipFill>
          <a:blip r:embed="rId4"/>
          <a:stretch>
            <a:fillRect/>
          </a:stretch>
        </p:blipFill>
        <p:spPr>
          <a:xfrm>
            <a:off x="8653780" y="3544570"/>
            <a:ext cx="3325495" cy="2096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dissolve">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2" end="2"/>
                                            </p:txEl>
                                          </p:spTgt>
                                        </p:tgtEl>
                                        <p:attrNameLst>
                                          <p:attrName>style.visibility</p:attrName>
                                        </p:attrNameLst>
                                      </p:cBhvr>
                                      <p:to>
                                        <p:strVal val="visible"/>
                                      </p:to>
                                    </p:set>
                                    <p:animEffect transition="in" filter="dissolve">
                                      <p:cBhvr>
                                        <p:cTn id="12" dur="500"/>
                                        <p:tgtEl>
                                          <p:spTgt spid="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animEffect transition="in" filter="dissolve">
                                      <p:cBhvr>
                                        <p:cTn id="17" dur="500"/>
                                        <p:tgtEl>
                                          <p:spTgt spid="4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6">
                                            <p:txEl>
                                              <p:pRg st="4" end="4"/>
                                            </p:txEl>
                                          </p:spTgt>
                                        </p:tgtEl>
                                        <p:attrNameLst>
                                          <p:attrName>style.visibility</p:attrName>
                                        </p:attrNameLst>
                                      </p:cBhvr>
                                      <p:to>
                                        <p:strVal val="visible"/>
                                      </p:to>
                                    </p:set>
                                    <p:animEffect transition="in" filter="dissolve">
                                      <p:cBhvr>
                                        <p:cTn id="22" dur="500"/>
                                        <p:tgtEl>
                                          <p:spTgt spid="4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6">
                                            <p:txEl>
                                              <p:pRg st="5" end="5"/>
                                            </p:txEl>
                                          </p:spTgt>
                                        </p:tgtEl>
                                        <p:attrNameLst>
                                          <p:attrName>style.visibility</p:attrName>
                                        </p:attrNameLst>
                                      </p:cBhvr>
                                      <p:to>
                                        <p:strVal val="visible"/>
                                      </p:to>
                                    </p:set>
                                    <p:animEffect transition="in" filter="dissolve">
                                      <p:cBhvr>
                                        <p:cTn id="27" dur="500"/>
                                        <p:tgtEl>
                                          <p:spTgt spid="4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6">
                                            <p:txEl>
                                              <p:pRg st="6" end="6"/>
                                            </p:txEl>
                                          </p:spTgt>
                                        </p:tgtEl>
                                        <p:attrNameLst>
                                          <p:attrName>style.visibility</p:attrName>
                                        </p:attrNameLst>
                                      </p:cBhvr>
                                      <p:to>
                                        <p:strVal val="visible"/>
                                      </p:to>
                                    </p:set>
                                    <p:animEffect transition="in" filter="dissolve">
                                      <p:cBhvr>
                                        <p:cTn id="32" dur="500"/>
                                        <p:tgtEl>
                                          <p:spTgt spid="4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6">
                                            <p:txEl>
                                              <p:pRg st="7" end="7"/>
                                            </p:txEl>
                                          </p:spTgt>
                                        </p:tgtEl>
                                        <p:attrNameLst>
                                          <p:attrName>style.visibility</p:attrName>
                                        </p:attrNameLst>
                                      </p:cBhvr>
                                      <p:to>
                                        <p:strVal val="visible"/>
                                      </p:to>
                                    </p:set>
                                    <p:animEffect transition="in" filter="dissolve">
                                      <p:cBhvr>
                                        <p:cTn id="37" dur="500"/>
                                        <p:tgtEl>
                                          <p:spTgt spid="4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46">
                                            <p:txEl>
                                              <p:pRg st="8" end="8"/>
                                            </p:txEl>
                                          </p:spTgt>
                                        </p:tgtEl>
                                        <p:attrNameLst>
                                          <p:attrName>style.visibility</p:attrName>
                                        </p:attrNameLst>
                                      </p:cBhvr>
                                      <p:to>
                                        <p:strVal val="visible"/>
                                      </p:to>
                                    </p:set>
                                    <p:animEffect transition="in" filter="dissolve">
                                      <p:cBhvr>
                                        <p:cTn id="42" dur="500"/>
                                        <p:tgtEl>
                                          <p:spTgt spid="4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95985" y="791845"/>
            <a:ext cx="10400665" cy="4302125"/>
          </a:xfrm>
          <a:prstGeom prst="rect">
            <a:avLst/>
          </a:prstGeom>
          <a:noFill/>
        </p:spPr>
        <p:txBody>
          <a:bodyPr wrap="square" rtlCol="0" anchor="ctr" anchorCtr="0">
            <a:noAutofit/>
          </a:bodyPr>
          <a:p>
            <a:pPr lvl="0" algn="l">
              <a:lnSpc>
                <a:spcPct val="125000"/>
              </a:lnSpc>
              <a:buNone/>
            </a:pPr>
            <a:r>
              <a:rPr lang="en-US" altLang="zh-CN" sz="2800" noProof="0" dirty="0">
                <a:ln>
                  <a:noFill/>
                </a:ln>
                <a:solidFill>
                  <a:schemeClr val="accent1"/>
                </a:solidFill>
                <a:effectLst/>
                <a:uLnTx/>
                <a:uFillTx/>
                <a:latin typeface="Arial" panose="020B0604020202020204" pitchFamily="34" charset="0"/>
                <a:ea typeface="华文中宋" panose="02010600040101010101" charset="-122"/>
                <a:cs typeface="Arial" panose="020B0604020202020204" pitchFamily="34" charset="0"/>
                <a:sym typeface="+mn-ea"/>
              </a:rPr>
              <a:t>Make a sentence containing a adverbial clause of concession(</a:t>
            </a:r>
            <a:r>
              <a:rPr lang="zh-CN" altLang="en-US" sz="2800" noProof="0" dirty="0">
                <a:ln>
                  <a:noFill/>
                </a:ln>
                <a:solidFill>
                  <a:schemeClr val="accent1"/>
                </a:solidFill>
                <a:effectLst/>
                <a:uLnTx/>
                <a:uFillTx/>
                <a:latin typeface="Arial" panose="020B0604020202020204" pitchFamily="34" charset="0"/>
                <a:ea typeface="华文中宋" panose="02010600040101010101" charset="-122"/>
                <a:cs typeface="Arial" panose="020B0604020202020204" pitchFamily="34" charset="0"/>
                <a:sym typeface="+mn-ea"/>
              </a:rPr>
              <a:t>让步状语从句</a:t>
            </a:r>
            <a:r>
              <a:rPr lang="en-US" altLang="zh-CN" sz="2800" noProof="0" dirty="0">
                <a:ln>
                  <a:noFill/>
                </a:ln>
                <a:solidFill>
                  <a:schemeClr val="accent1"/>
                </a:solidFill>
                <a:effectLst/>
                <a:uLnTx/>
                <a:uFillTx/>
                <a:latin typeface="Arial" panose="020B0604020202020204" pitchFamily="34" charset="0"/>
                <a:ea typeface="华文中宋" panose="02010600040101010101" charset="-122"/>
                <a:cs typeface="Arial" panose="020B0604020202020204" pitchFamily="34" charset="0"/>
                <a:sym typeface="+mn-ea"/>
              </a:rPr>
              <a:t>)</a:t>
            </a:r>
            <a:r>
              <a:rPr lang="en-US" altLang="zh-CN" sz="2800" noProof="0" dirty="0">
                <a:ln>
                  <a:noFill/>
                </a:ln>
                <a:solidFill>
                  <a:schemeClr val="accent1"/>
                </a:solidFill>
                <a:effectLst/>
                <a:uLnTx/>
                <a:uFillTx/>
                <a:latin typeface="Arial" panose="020B0604020202020204" pitchFamily="34" charset="0"/>
                <a:ea typeface="华文中宋" panose="02010600040101010101" charset="-122"/>
                <a:cs typeface="Arial" panose="020B0604020202020204" pitchFamily="34" charset="0"/>
                <a:sym typeface="+mn-ea"/>
              </a:rPr>
              <a:t> by “as”, as below:</a:t>
            </a:r>
            <a:endParaRPr lang="en-US" altLang="zh-CN" sz="2800">
              <a:solidFill>
                <a:srgbClr val="000000"/>
              </a:solidFill>
              <a:latin typeface="Arial" panose="020B0604020202020204" pitchFamily="34" charset="0"/>
              <a:ea typeface="华文中宋" panose="02010600040101010101" charset="-122"/>
              <a:cs typeface="Arial" panose="020B0604020202020204" pitchFamily="34" charset="0"/>
            </a:endParaRPr>
          </a:p>
          <a:p>
            <a:pPr marL="1270" marR="0" lvl="0" indent="0" algn="just" defTabSz="914400" rtl="0" eaLnBrk="1" fontAlgn="base" latinLnBrk="0" hangingPunct="1">
              <a:lnSpc>
                <a:spcPct val="125000"/>
              </a:lnSpc>
              <a:spcBef>
                <a:spcPts val="1000"/>
              </a:spcBef>
              <a:spcAft>
                <a:spcPct val="0"/>
              </a:spcAft>
              <a:buClrTx/>
              <a:buSzTx/>
              <a:buFont typeface="Arial" panose="020B0604020202020204" pitchFamily="34" charset="0"/>
              <a:buNone/>
              <a:defRPr/>
            </a:pPr>
            <a:r>
              <a:rPr lang="en-US" altLang="zh-CN" sz="2800" noProof="0" dirty="0">
                <a:ln>
                  <a:noFill/>
                </a:ln>
                <a:solidFill>
                  <a:sysClr val="windowText" lastClr="000000"/>
                </a:solidFill>
                <a:effectLst/>
                <a:uLnTx/>
                <a:uFillTx/>
                <a:latin typeface="Calibri" panose="020F0502020204030204"/>
                <a:ea typeface="宋体" panose="02010600030101010101" pitchFamily="2" charset="-122"/>
                <a:sym typeface="+mn-ea"/>
              </a:rPr>
              <a:t>Famous as he was, he was very modest.</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125000"/>
              </a:lnSpc>
              <a:spcBef>
                <a:spcPts val="1000"/>
              </a:spcBef>
              <a:spcAft>
                <a:spcPct val="0"/>
              </a:spcAft>
              <a:buClrTx/>
              <a:buSzTx/>
              <a:buFont typeface="Arial" panose="020B0604020202020204" pitchFamily="34" charset="0"/>
              <a:buNone/>
              <a:defRPr/>
            </a:pPr>
            <a:r>
              <a:rPr lang="en-US" altLang="zh-CN" sz="2800" noProof="0" dirty="0">
                <a:ln>
                  <a:noFill/>
                </a:ln>
                <a:solidFill>
                  <a:sysClr val="windowText" lastClr="000000"/>
                </a:solidFill>
                <a:effectLst/>
                <a:uLnTx/>
                <a:uFillTx/>
                <a:latin typeface="Calibri" panose="020F0502020204030204"/>
                <a:ea typeface="宋体" panose="02010600030101010101" pitchFamily="2" charset="-122"/>
                <a:sym typeface="+mn-ea"/>
              </a:rPr>
              <a:t>Child as he is, he knows a lot about the world.</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125000"/>
              </a:lnSpc>
              <a:spcBef>
                <a:spcPts val="1000"/>
              </a:spcBef>
              <a:spcAft>
                <a:spcPct val="0"/>
              </a:spcAft>
              <a:buClrTx/>
              <a:buSzTx/>
              <a:buFont typeface="Arial" panose="020B0604020202020204" pitchFamily="34" charset="0"/>
              <a:buNone/>
              <a:defRPr/>
            </a:pPr>
            <a:r>
              <a:rPr lang="en-US" altLang="zh-CN" sz="2800" noProof="0" dirty="0">
                <a:ln>
                  <a:noFill/>
                </a:ln>
                <a:solidFill>
                  <a:sysClr val="windowText" lastClr="000000"/>
                </a:solidFill>
                <a:effectLst/>
                <a:uLnTx/>
                <a:uFillTx/>
                <a:latin typeface="Calibri" panose="020F0502020204030204"/>
                <a:ea typeface="宋体" panose="02010600030101010101" pitchFamily="2" charset="-122"/>
                <a:sym typeface="+mn-ea"/>
              </a:rPr>
              <a:t>Hard as I tried, I failed to finish the job on time.</a:t>
            </a:r>
            <a:endParaRPr lang="en-US" altLang="zh-CN" sz="2800" noProof="0" dirty="0">
              <a:ln>
                <a:noFill/>
              </a:ln>
              <a:solidFill>
                <a:sysClr val="windowText" lastClr="000000"/>
              </a:solidFill>
              <a:effectLst/>
              <a:uLnTx/>
              <a:uFillTx/>
              <a:latin typeface="Calibri" panose="020F0502020204030204"/>
              <a:ea typeface="宋体" panose="02010600030101010101" pitchFamily="2" charset="-122"/>
              <a:sym typeface="+mn-ea"/>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grpSp>
        <p:nvGrpSpPr>
          <p:cNvPr id="9" name="组合 8"/>
          <p:cNvGrpSpPr/>
          <p:nvPr>
            <p:custDataLst>
              <p:tags r:id="rId3"/>
            </p:custDataLst>
          </p:nvPr>
        </p:nvGrpSpPr>
        <p:grpSpPr>
          <a:xfrm>
            <a:off x="0" y="0"/>
            <a:ext cx="12192000" cy="635000"/>
            <a:chOff x="0" y="0"/>
            <a:chExt cx="19200" cy="1000"/>
          </a:xfrm>
        </p:grpSpPr>
        <p:sp>
          <p:nvSpPr>
            <p:cNvPr id="5" name="TitleBackground"/>
            <p:cNvSpPr/>
            <p:nvPr>
              <p:custDataLst>
                <p:tags r:id="rId4"/>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7"/>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10分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90DE"/>
          <p:cNvPicPr>
            <a:picLocks noChangeAspect="1"/>
          </p:cNvPicPr>
          <p:nvPr>
            <p:custDataLst>
              <p:tags r:id="rId8"/>
            </p:custDataLst>
          </p:nvPr>
        </p:nvPicPr>
        <p:blipFill>
          <a:blip r:embed="rId9"/>
          <a:stretch>
            <a:fillRect/>
          </a:stretch>
        </p:blipFill>
        <p:spPr>
          <a:xfrm>
            <a:off x="10642600" y="63500"/>
            <a:ext cx="1422400" cy="508000"/>
          </a:xfrm>
          <a:prstGeom prst="rect">
            <a:avLst/>
          </a:prstGeom>
        </p:spPr>
      </p:pic>
    </p:spTree>
    <p:custDataLst>
      <p:tags r:id="rId10"/>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Text Analysis</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529590" y="1008380"/>
            <a:ext cx="11238230" cy="5227955"/>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8775" marR="0" lvl="0" indent="-358775" algn="just" defTabSz="914400" rtl="0" eaLnBrk="1" fontAlgn="base" latinLnBrk="0" hangingPunct="1">
              <a:lnSpc>
                <a:spcPct val="115000"/>
              </a:lnSpc>
              <a:spcBef>
                <a:spcPts val="1000"/>
              </a:spcBef>
              <a:spcAft>
                <a:spcPct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A man gets </a:t>
            </a:r>
            <a:r>
              <a:rPr kumimoji="0" lang="en-US" altLang="zh-CN" sz="2800" b="1"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stuck </a:t>
            </a: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in New York. It </a:t>
            </a:r>
            <a:r>
              <a:rPr kumimoji="0" lang="en-US" altLang="zh-CN" sz="2800" b="1" i="0" u="none" strike="noStrike" kern="1200" cap="none" spc="0" normalizeH="0" baseline="0" noProof="0" dirty="0">
                <a:ln>
                  <a:noFill/>
                </a:ln>
                <a:solidFill>
                  <a:schemeClr val="accent1"/>
                </a:solidFill>
                <a:effectLst/>
                <a:uLnTx/>
                <a:uFillTx/>
                <a:latin typeface="Calibri" panose="020F0502020204030204"/>
                <a:ea typeface="宋体" panose="02010600030101010101" pitchFamily="2" charset="-122"/>
                <a:cs typeface="+mn-cs"/>
              </a:rPr>
              <a:t>takes</a:t>
            </a:r>
            <a:r>
              <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 the West to make a man really keen.</a:t>
            </a:r>
            <a:endParaRPr kumimoji="0" lang="en-US" altLang="zh-CN" sz="2800" b="1"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1270" marR="0" lvl="0" indent="0" algn="just" defTabSz="914400" rtl="0" eaLnBrk="1" fontAlgn="base" latinLnBrk="0" hangingPunct="1">
              <a:lnSpc>
                <a:spcPct val="115000"/>
              </a:lnSpc>
              <a:spcBef>
                <a:spcPts val="1000"/>
              </a:spcBef>
              <a:spcAft>
                <a:spcPct val="0"/>
              </a:spcAft>
              <a:buClrTx/>
              <a:buSzTx/>
              <a:buFont typeface="Wingdings" panose="05000000000000000000" pitchFamily="2" charset="2"/>
              <a:buNone/>
              <a:defRPr/>
            </a:pPr>
            <a:r>
              <a:rPr kumimoji="0" lang="en-US" altLang="zh-CN" sz="2600" i="0" u="none" strike="noStrike" kern="1200" cap="none" spc="0" normalizeH="0" baseline="0" noProof="0" dirty="0">
                <a:ln>
                  <a:noFill/>
                </a:ln>
                <a:solidFill>
                  <a:sysClr val="windowText" lastClr="000000"/>
                </a:solidFill>
                <a:effectLst/>
                <a:uLnTx/>
                <a:uFillTx/>
                <a:latin typeface="Calibri" panose="020F0502020204030204" charset="0"/>
                <a:ea typeface="宋体" panose="02010600030101010101" pitchFamily="2" charset="-122"/>
                <a:cs typeface="Calibri" panose="020F0502020204030204" charset="0"/>
              </a:rPr>
              <a:t>A man is unable to go very far or to be very successful in New York where life is boring. He has to go to the West to become an eager and exciting person.</a:t>
            </a:r>
            <a:endParaRPr kumimoji="0" lang="en-US" altLang="zh-CN" sz="2600" i="0" u="none" strike="noStrike" kern="1200" cap="none" spc="0" normalizeH="0" baseline="0" noProof="0" dirty="0">
              <a:ln>
                <a:noFill/>
              </a:ln>
              <a:solidFill>
                <a:sysClr val="windowText" lastClr="000000"/>
              </a:solidFill>
              <a:effectLst/>
              <a:uLnTx/>
              <a:uFillTx/>
              <a:latin typeface="Calibri" panose="020F0502020204030204" charset="0"/>
              <a:ea typeface="宋体" panose="02010600030101010101" pitchFamily="2" charset="-122"/>
              <a:cs typeface="Calibri" panose="020F0502020204030204" charset="0"/>
            </a:endParaRPr>
          </a:p>
          <a:p>
            <a:pPr marL="1270" marR="0" lvl="0" indent="0" algn="just" defTabSz="914400" rtl="0" eaLnBrk="1" fontAlgn="base" latinLnBrk="0" hangingPunct="1">
              <a:lnSpc>
                <a:spcPct val="115000"/>
              </a:lnSpc>
              <a:spcBef>
                <a:spcPts val="1000"/>
              </a:spcBef>
              <a:spcAft>
                <a:spcPct val="0"/>
              </a:spcAft>
              <a:buClrTx/>
              <a:buSzTx/>
              <a:buFont typeface="Wingdings" panose="05000000000000000000" pitchFamily="2" charset="2"/>
              <a:buNone/>
              <a:defRPr/>
            </a:pPr>
            <a:r>
              <a:rPr kumimoji="0" lang="en-US" altLang="zh-CN"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rPr>
              <a:t> </a:t>
            </a:r>
            <a:r>
              <a:rPr kumimoji="0" lang="zh-CN" altLang="en-US"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rPr>
              <a:t>在纽约，人们很难有多大的作为，人只有到西部去才有进取心</a:t>
            </a:r>
            <a:r>
              <a:rPr kumimoji="0" lang="en-US" altLang="zh-CN"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rPr>
              <a:t>/</a:t>
            </a:r>
            <a:r>
              <a:rPr kumimoji="0" lang="zh-CN" altLang="en-US"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rPr>
              <a:t>才能</a:t>
            </a:r>
            <a:r>
              <a:rPr kumimoji="0" lang="zh-CN" altLang="en-US"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rPr>
              <a:t>干大事。</a:t>
            </a:r>
            <a:endParaRPr kumimoji="0" lang="zh-CN" altLang="en-US"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endParaRPr>
          </a:p>
          <a:p>
            <a:pPr marL="358775" marR="0" lvl="0" indent="-357505" algn="just" defTabSz="914400" rtl="0" eaLnBrk="1" fontAlgn="base" latinLnBrk="0" hangingPunct="1">
              <a:lnSpc>
                <a:spcPct val="115000"/>
              </a:lnSpc>
              <a:spcBef>
                <a:spcPts val="1000"/>
              </a:spcBef>
              <a:spcAft>
                <a:spcPct val="0"/>
              </a:spcAft>
              <a:buClrTx/>
              <a:buSzTx/>
              <a:buFont typeface="Wingdings" panose="05000000000000000000" pitchFamily="2" charset="2"/>
              <a:buChar char="Ø"/>
              <a:defRPr/>
            </a:pPr>
            <a:r>
              <a:rPr kumimoji="0" lang="en-US" altLang="zh-CN" sz="2600" b="0" i="0" u="none" strike="noStrike" kern="1200" cap="none" spc="0" normalizeH="0" baseline="0" noProof="0" dirty="0">
                <a:ln>
                  <a:noFill/>
                </a:ln>
                <a:solidFill>
                  <a:schemeClr val="accent1"/>
                </a:solidFill>
                <a:effectLst/>
                <a:uLnTx/>
                <a:uFillTx/>
                <a:latin typeface="Calibri" panose="020F0502020204030204" charset="0"/>
                <a:ea typeface="宋体" panose="02010600030101010101" pitchFamily="2" charset="-122"/>
                <a:cs typeface="Calibri" panose="020F0502020204030204" charset="0"/>
              </a:rPr>
              <a:t>take</a:t>
            </a:r>
            <a:r>
              <a:rPr kumimoji="0" lang="en-US" altLang="zh-CN" sz="2600" b="0" i="0" u="none" strike="noStrike" kern="1200" cap="none" spc="0" normalizeH="0" baseline="0" noProof="0" dirty="0">
                <a:ln>
                  <a:noFill/>
                </a:ln>
                <a:solidFill>
                  <a:sysClr val="windowText" lastClr="000000"/>
                </a:solidFill>
                <a:effectLst/>
                <a:uLnTx/>
                <a:uFillTx/>
                <a:latin typeface="Calibri" panose="020F0502020204030204" charset="0"/>
                <a:ea typeface="宋体" panose="02010600030101010101" pitchFamily="2" charset="-122"/>
                <a:cs typeface="Calibri" panose="020F0502020204030204" charset="0"/>
              </a:rPr>
              <a:t>: to need or require sth in order to happen or be done</a:t>
            </a:r>
            <a:r>
              <a:rPr kumimoji="0" lang="en-US" altLang="zh-CN" sz="2600" b="0" i="0" u="none" strike="noStrike" kern="1200" cap="none" spc="0" normalizeH="0" baseline="0" noProof="0" dirty="0">
                <a:ln>
                  <a:noFill/>
                </a:ln>
                <a:solidFill>
                  <a:sysClr val="windowText" lastClr="000000"/>
                </a:solidFill>
                <a:effectLst/>
                <a:uLnTx/>
                <a:uFillTx/>
                <a:latin typeface="楷体" panose="02010609060101010101" charset="-122"/>
                <a:ea typeface="楷体" panose="02010609060101010101" charset="-122"/>
                <a:cs typeface="Calibri" panose="020F0502020204030204" charset="0"/>
              </a:rPr>
              <a:t>需要；要求</a:t>
            </a:r>
            <a:endParaRPr kumimoji="0" lang="zh-CN" altLang="en-US"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endParaRPr>
          </a:p>
          <a:p>
            <a:pPr marL="1270" marR="0" lvl="0" algn="just" defTabSz="914400" rtl="0" eaLnBrk="1" fontAlgn="base" latinLnBrk="0" hangingPunct="1">
              <a:lnSpc>
                <a:spcPct val="115000"/>
              </a:lnSpc>
              <a:spcBef>
                <a:spcPts val="1000"/>
              </a:spcBef>
              <a:buClrTx/>
              <a:buSzTx/>
              <a:buFont typeface="Wingdings" panose="05000000000000000000" pitchFamily="2" charset="2"/>
              <a:buNone/>
              <a:defRPr/>
            </a:pPr>
            <a:r>
              <a:rPr kumimoji="0" lang="en-US" altLang="zh-CN" sz="2600" b="0" i="0"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rPr>
              <a:t>   “It takes a village to raise a child.” </a:t>
            </a:r>
            <a:r>
              <a:rPr kumimoji="0" lang="en-US" altLang="zh-CN" sz="2600" b="0" i="1"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rPr>
              <a:t>(African Proverb)</a:t>
            </a:r>
            <a:endParaRPr kumimoji="0" lang="en-US" altLang="zh-CN" sz="2600" b="0" i="0"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endParaRPr>
          </a:p>
          <a:p>
            <a:pPr marL="1270" marR="0" lvl="0" algn="just" defTabSz="914400" rtl="0" eaLnBrk="1" fontAlgn="base" latinLnBrk="0" hangingPunct="1">
              <a:lnSpc>
                <a:spcPct val="115000"/>
              </a:lnSpc>
              <a:spcBef>
                <a:spcPts val="1000"/>
              </a:spcBef>
              <a:buClrTx/>
              <a:buSzTx/>
              <a:buFont typeface="Wingdings" panose="05000000000000000000" pitchFamily="2" charset="2"/>
              <a:buNone/>
              <a:defRPr/>
            </a:pPr>
            <a:r>
              <a:rPr kumimoji="0" lang="en-US" altLang="zh-CN" sz="2600" b="0" i="0"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rPr>
              <a:t>   养育一个孩子需要整个村庄的力量</a:t>
            </a:r>
            <a:r>
              <a:rPr kumimoji="0" lang="zh-CN" altLang="en-US"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rPr>
              <a:t>。</a:t>
            </a:r>
            <a:endParaRPr kumimoji="0" lang="zh-CN" altLang="en-US"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endParaRPr>
          </a:p>
          <a:p>
            <a:pPr marL="1270" marR="0" lvl="0" indent="0" algn="just" defTabSz="914400" rtl="0" eaLnBrk="1" fontAlgn="base" latinLnBrk="0" hangingPunct="1">
              <a:lnSpc>
                <a:spcPct val="115000"/>
              </a:lnSpc>
              <a:spcBef>
                <a:spcPts val="1000"/>
              </a:spcBef>
              <a:spcAft>
                <a:spcPct val="0"/>
              </a:spcAft>
              <a:buClrTx/>
              <a:buSzTx/>
              <a:buFont typeface="Wingdings" panose="05000000000000000000" pitchFamily="2" charset="2"/>
              <a:buNone/>
              <a:defRPr/>
            </a:pPr>
            <a:r>
              <a:rPr kumimoji="0" lang="en-US" altLang="zh-CN" sz="2600" b="0" i="0"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rPr>
              <a:t>   “It takes strength to be gentle.” ——Gandhi</a:t>
            </a:r>
            <a:endParaRPr kumimoji="0" lang="en-US" altLang="zh-CN" sz="2600" b="0" i="0"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endParaRPr>
          </a:p>
          <a:p>
            <a:pPr marL="1270" marR="0" lvl="0" indent="0" algn="just" defTabSz="914400" rtl="0" eaLnBrk="1" fontAlgn="base" latinLnBrk="0" hangingPunct="1">
              <a:lnSpc>
                <a:spcPct val="115000"/>
              </a:lnSpc>
              <a:spcBef>
                <a:spcPts val="1000"/>
              </a:spcBef>
              <a:spcAft>
                <a:spcPct val="0"/>
              </a:spcAft>
              <a:buClrTx/>
              <a:buSzTx/>
              <a:buFont typeface="Wingdings" panose="05000000000000000000" pitchFamily="2" charset="2"/>
              <a:buNone/>
              <a:defRPr/>
            </a:pPr>
            <a:r>
              <a:rPr kumimoji="0" lang="en-US" altLang="zh-CN"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rPr>
              <a:t>   </a:t>
            </a:r>
            <a:r>
              <a:rPr kumimoji="0" lang="zh-CN" altLang="en-US"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rPr>
              <a:t>温柔需要力量。</a:t>
            </a:r>
            <a:endParaRPr kumimoji="0" lang="zh-CN" altLang="en-US" sz="2600" b="0" i="0" u="none" strike="noStrike" kern="1200" cap="none" spc="0" normalizeH="0" baseline="0" noProof="0" dirty="0">
              <a:ln>
                <a:noFill/>
              </a:ln>
              <a:solidFill>
                <a:sysClr val="windowText" lastClr="000000"/>
              </a:solidFill>
              <a:effectLst/>
              <a:uLnTx/>
              <a:uFillTx/>
              <a:latin typeface="华文中宋" panose="02010600040101010101" charset="-122"/>
              <a:ea typeface="华文中宋" panose="02010600040101010101" charset="-122"/>
              <a:cs typeface="+mn-cs"/>
            </a:endParaRPr>
          </a:p>
        </p:txBody>
      </p:sp>
      <p:pic>
        <p:nvPicPr>
          <p:cNvPr id="2" name="图片 1"/>
          <p:cNvPicPr/>
          <p:nvPr/>
        </p:nvPicPr>
        <p:blipFill>
          <a:blip r:embed="rId4"/>
          <a:srcRect l="5771" t="5688" r="5720" b="12215"/>
          <a:stretch>
            <a:fillRect/>
          </a:stretch>
        </p:blipFill>
        <p:spPr>
          <a:xfrm>
            <a:off x="8331835" y="4290695"/>
            <a:ext cx="3623945" cy="22040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dissolve">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xEl>
                                              <p:pRg st="2" end="2"/>
                                            </p:txEl>
                                          </p:spTgt>
                                        </p:tgtEl>
                                        <p:attrNameLst>
                                          <p:attrName>style.visibility</p:attrName>
                                        </p:attrNameLst>
                                      </p:cBhvr>
                                      <p:to>
                                        <p:strVal val="visible"/>
                                      </p:to>
                                    </p:set>
                                    <p:animEffect transition="in" filter="dissolve">
                                      <p:cBhvr>
                                        <p:cTn id="12" dur="500"/>
                                        <p:tgtEl>
                                          <p:spTgt spid="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animEffect transition="in" filter="dissolve">
                                      <p:cBhvr>
                                        <p:cTn id="17" dur="500"/>
                                        <p:tgtEl>
                                          <p:spTgt spid="4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6">
                                            <p:txEl>
                                              <p:pRg st="4" end="4"/>
                                            </p:txEl>
                                          </p:spTgt>
                                        </p:tgtEl>
                                        <p:attrNameLst>
                                          <p:attrName>style.visibility</p:attrName>
                                        </p:attrNameLst>
                                      </p:cBhvr>
                                      <p:to>
                                        <p:strVal val="visible"/>
                                      </p:to>
                                    </p:set>
                                    <p:animEffect transition="in" filter="dissolve">
                                      <p:cBhvr>
                                        <p:cTn id="22" dur="500"/>
                                        <p:tgtEl>
                                          <p:spTgt spid="4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6">
                                            <p:txEl>
                                              <p:pRg st="5" end="5"/>
                                            </p:txEl>
                                          </p:spTgt>
                                        </p:tgtEl>
                                        <p:attrNameLst>
                                          <p:attrName>style.visibility</p:attrName>
                                        </p:attrNameLst>
                                      </p:cBhvr>
                                      <p:to>
                                        <p:strVal val="visible"/>
                                      </p:to>
                                    </p:set>
                                    <p:animEffect transition="in" filter="dissolve">
                                      <p:cBhvr>
                                        <p:cTn id="27" dur="500"/>
                                        <p:tgtEl>
                                          <p:spTgt spid="4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6">
                                            <p:txEl>
                                              <p:pRg st="6" end="6"/>
                                            </p:txEl>
                                          </p:spTgt>
                                        </p:tgtEl>
                                        <p:attrNameLst>
                                          <p:attrName>style.visibility</p:attrName>
                                        </p:attrNameLst>
                                      </p:cBhvr>
                                      <p:to>
                                        <p:strVal val="visible"/>
                                      </p:to>
                                    </p:set>
                                    <p:animEffect transition="in" filter="dissolve">
                                      <p:cBhvr>
                                        <p:cTn id="32" dur="500"/>
                                        <p:tgtEl>
                                          <p:spTgt spid="4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6">
                                            <p:txEl>
                                              <p:pRg st="7" end="7"/>
                                            </p:txEl>
                                          </p:spTgt>
                                        </p:tgtEl>
                                        <p:attrNameLst>
                                          <p:attrName>style.visibility</p:attrName>
                                        </p:attrNameLst>
                                      </p:cBhvr>
                                      <p:to>
                                        <p:strVal val="visible"/>
                                      </p:to>
                                    </p:set>
                                    <p:animEffect transition="in" filter="dissolve">
                                      <p:cBhvr>
                                        <p:cTn id="37" dur="500"/>
                                        <p:tgtEl>
                                          <p:spTgt spid="4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219200" y="853440"/>
            <a:ext cx="9753600" cy="128143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Which translation</a:t>
            </a:r>
            <a:r>
              <a:rPr lang="en-US" altLang="zh-CN" sz="2600">
                <a:solidFill>
                  <a:srgbClr val="000000"/>
                </a:solidFill>
                <a:latin typeface="微软雅黑" panose="020B0503020204020204" charset="-122"/>
                <a:ea typeface="微软雅黑" panose="020B0503020204020204" charset="-122"/>
              </a:rPr>
              <a:t>s are correct according to the text?</a:t>
            </a:r>
            <a:endParaRPr lang="en-US" altLang="zh-CN"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2209165" y="2131060"/>
            <a:ext cx="85344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slow man: </a:t>
            </a:r>
            <a:r>
              <a:rPr lang="zh-CN" altLang="en-US" sz="2600">
                <a:solidFill>
                  <a:srgbClr val="000000"/>
                </a:solidFill>
                <a:latin typeface="微软雅黑" panose="020B0503020204020204" charset="-122"/>
                <a:ea typeface="微软雅黑" panose="020B0503020204020204" charset="-122"/>
              </a:rPr>
              <a:t>走路慢的人</a:t>
            </a:r>
            <a:endParaRPr lang="zh-CN" altLang="en-US" sz="2600">
              <a:solidFill>
                <a:srgbClr val="000000"/>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2209165" y="2988310"/>
            <a:ext cx="85344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sharp brain: </a:t>
            </a:r>
            <a:r>
              <a:rPr lang="zh-CN" altLang="en-US" sz="2600">
                <a:solidFill>
                  <a:srgbClr val="000000"/>
                </a:solidFill>
                <a:latin typeface="微软雅黑" panose="020B0503020204020204" charset="-122"/>
                <a:ea typeface="微软雅黑" panose="020B0503020204020204" charset="-122"/>
              </a:rPr>
              <a:t>精明的人</a:t>
            </a:r>
            <a:endParaRPr lang="zh-CN" altLang="en-US" sz="2600">
              <a:solidFill>
                <a:srgbClr val="000000"/>
              </a:solidFill>
              <a:latin typeface="微软雅黑" panose="020B0503020204020204" charset="-122"/>
              <a:ea typeface="微软雅黑" panose="020B0503020204020204" charset="-122"/>
            </a:endParaRPr>
          </a:p>
        </p:txBody>
      </p:sp>
      <p:sp>
        <p:nvSpPr>
          <p:cNvPr id="6" name="文本框 5"/>
          <p:cNvSpPr txBox="1"/>
          <p:nvPr>
            <p:custDataLst>
              <p:tags r:id="rId4"/>
            </p:custDataLst>
          </p:nvPr>
        </p:nvSpPr>
        <p:spPr>
          <a:xfrm>
            <a:off x="2209165" y="3845560"/>
            <a:ext cx="85344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with pocketed hands: </a:t>
            </a:r>
            <a:r>
              <a:rPr lang="zh-CN" altLang="en-US" sz="2600">
                <a:solidFill>
                  <a:srgbClr val="000000"/>
                </a:solidFill>
                <a:latin typeface="微软雅黑" panose="020B0503020204020204" charset="-122"/>
                <a:ea typeface="微软雅黑" panose="020B0503020204020204" charset="-122"/>
              </a:rPr>
              <a:t>双手插兜</a:t>
            </a:r>
            <a:r>
              <a:rPr lang="en-US" altLang="zh-CN" sz="2600">
                <a:solidFill>
                  <a:srgbClr val="000000"/>
                </a:solidFill>
                <a:latin typeface="微软雅黑" panose="020B0503020204020204" charset="-122"/>
                <a:ea typeface="微软雅黑" panose="020B0503020204020204" charset="-122"/>
              </a:rPr>
              <a:t> </a:t>
            </a:r>
            <a:endParaRPr lang="en-US" altLang="zh-CN" sz="2600">
              <a:solidFill>
                <a:srgbClr val="000000"/>
              </a:solidFill>
              <a:latin typeface="微软雅黑" panose="020B0503020204020204" charset="-122"/>
              <a:ea typeface="微软雅黑" panose="020B0503020204020204" charset="-122"/>
            </a:endParaRPr>
          </a:p>
        </p:txBody>
      </p:sp>
      <p:sp>
        <p:nvSpPr>
          <p:cNvPr id="7" name="文本框 6"/>
          <p:cNvSpPr txBox="1"/>
          <p:nvPr>
            <p:custDataLst>
              <p:tags r:id="rId5"/>
            </p:custDataLst>
          </p:nvPr>
        </p:nvSpPr>
        <p:spPr>
          <a:xfrm>
            <a:off x="2209165" y="4702810"/>
            <a:ext cx="8534400" cy="642620"/>
          </a:xfrm>
          <a:prstGeom prst="rect">
            <a:avLst/>
          </a:prstGeom>
          <a:noFill/>
        </p:spPr>
        <p:txBody>
          <a:bodyPr wrap="square" rtlCol="0" anchor="ctr" anchorCtr="0">
            <a:noAutofit/>
          </a:bodyPr>
          <a:p>
            <a:pPr lvl="0" algn="l">
              <a:buNone/>
            </a:pPr>
            <a:r>
              <a:rPr lang="en-US" altLang="zh-CN" sz="2600">
                <a:solidFill>
                  <a:srgbClr val="000000"/>
                </a:solidFill>
                <a:latin typeface="微软雅黑" panose="020B0503020204020204" charset="-122"/>
                <a:ea typeface="微软雅黑" panose="020B0503020204020204" charset="-122"/>
              </a:rPr>
              <a:t>a fine rain: </a:t>
            </a:r>
            <a:r>
              <a:rPr lang="zh-CN" altLang="en-US" sz="2600">
                <a:solidFill>
                  <a:srgbClr val="000000"/>
                </a:solidFill>
                <a:latin typeface="微软雅黑" panose="020B0503020204020204" charset="-122"/>
                <a:ea typeface="微软雅黑" panose="020B0503020204020204" charset="-122"/>
              </a:rPr>
              <a:t>美</a:t>
            </a:r>
            <a:r>
              <a:rPr lang="zh-CN" altLang="en-US" sz="2600">
                <a:solidFill>
                  <a:srgbClr val="000000"/>
                </a:solidFill>
                <a:latin typeface="微软雅黑" panose="020B0503020204020204" charset="-122"/>
                <a:ea typeface="微软雅黑" panose="020B0503020204020204" charset="-122"/>
              </a:rPr>
              <a:t>好的雨</a:t>
            </a:r>
            <a:endParaRPr lang="zh-CN" altLang="en-US" sz="2600">
              <a:solidFill>
                <a:srgbClr val="000000"/>
              </a:solidFill>
              <a:latin typeface="微软雅黑" panose="020B0503020204020204" charset="-122"/>
              <a:ea typeface="微软雅黑" panose="020B0503020204020204" charset="-122"/>
            </a:endParaRPr>
          </a:p>
        </p:txBody>
      </p:sp>
      <p:sp>
        <p:nvSpPr>
          <p:cNvPr id="8" name="矩形 7"/>
          <p:cNvSpPr>
            <a:spLocks noChangeAspect="1"/>
          </p:cNvSpPr>
          <p:nvPr>
            <p:custDataLst>
              <p:tags r:id="rId6"/>
            </p:custDataLst>
          </p:nvPr>
        </p:nvSpPr>
        <p:spPr>
          <a:xfrm>
            <a:off x="1342390" y="2195195"/>
            <a:ext cx="514350" cy="514350"/>
          </a:xfrm>
          <a:prstGeom prst="rect">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endParaRPr>
          </a:p>
        </p:txBody>
      </p:sp>
      <p:sp>
        <p:nvSpPr>
          <p:cNvPr id="9" name="矩形 8"/>
          <p:cNvSpPr>
            <a:spLocks noChangeAspect="1"/>
          </p:cNvSpPr>
          <p:nvPr>
            <p:custDataLst>
              <p:tags r:id="rId7"/>
            </p:custDataLst>
          </p:nvPr>
        </p:nvSpPr>
        <p:spPr>
          <a:xfrm>
            <a:off x="1342390" y="3052445"/>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endParaRPr>
          </a:p>
        </p:txBody>
      </p:sp>
      <p:sp>
        <p:nvSpPr>
          <p:cNvPr id="10" name="矩形 9"/>
          <p:cNvSpPr>
            <a:spLocks noChangeAspect="1"/>
          </p:cNvSpPr>
          <p:nvPr>
            <p:custDataLst>
              <p:tags r:id="rId8"/>
            </p:custDataLst>
          </p:nvPr>
        </p:nvSpPr>
        <p:spPr>
          <a:xfrm>
            <a:off x="1342390" y="3909695"/>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endParaRPr>
          </a:p>
        </p:txBody>
      </p:sp>
      <p:sp>
        <p:nvSpPr>
          <p:cNvPr id="11" name="矩形 10"/>
          <p:cNvSpPr>
            <a:spLocks noChangeAspect="1"/>
          </p:cNvSpPr>
          <p:nvPr>
            <p:custDataLst>
              <p:tags r:id="rId9"/>
            </p:custDataLst>
          </p:nvPr>
        </p:nvSpPr>
        <p:spPr>
          <a:xfrm>
            <a:off x="1342390" y="4766945"/>
            <a:ext cx="514350" cy="514350"/>
          </a:xfrm>
          <a:prstGeom prst="rect">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charset="-122"/>
                <a:ea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endParaRPr>
          </a:p>
        </p:txBody>
      </p:sp>
      <p:sp>
        <p:nvSpPr>
          <p:cNvPr id="12" name="圆角矩形 11"/>
          <p:cNvSpPr/>
          <p:nvPr>
            <p:custDataLst>
              <p:tags r:id="rId10"/>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endParaRPr>
          </a:p>
        </p:txBody>
      </p:sp>
      <p:grpSp>
        <p:nvGrpSpPr>
          <p:cNvPr id="26" name="组合 25"/>
          <p:cNvGrpSpPr/>
          <p:nvPr>
            <p:custDataLst>
              <p:tags r:id="rId11"/>
            </p:custDataLst>
          </p:nvPr>
        </p:nvGrpSpPr>
        <p:grpSpPr>
          <a:xfrm>
            <a:off x="0" y="0"/>
            <a:ext cx="12192000" cy="635000"/>
            <a:chOff x="0" y="0"/>
            <a:chExt cx="19200" cy="1000"/>
          </a:xfrm>
        </p:grpSpPr>
        <p:sp>
          <p:nvSpPr>
            <p:cNvPr id="13" name="TitleBackground"/>
            <p:cNvSpPr/>
            <p:nvPr>
              <p:custDataLst>
                <p:tags r:id="rId12"/>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多选题</a:t>
              </a:r>
              <a:endParaRPr lang="zh-CN" altLang="en-US" sz="2600">
                <a:solidFill>
                  <a:srgbClr val="000000"/>
                </a:solidFill>
                <a:latin typeface="微软雅黑" panose="020B0503020204020204" charset="-122"/>
                <a:ea typeface="微软雅黑" panose="020B0503020204020204" charset="-122"/>
              </a:endParaRPr>
            </a:p>
          </p:txBody>
        </p:sp>
        <p:sp>
          <p:nvSpPr>
            <p:cNvPr id="25"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20分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9BC4"/>
          <p:cNvPicPr>
            <a:picLocks noChangeAspect="1"/>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219200" y="635000"/>
            <a:ext cx="9753600" cy="4004310"/>
          </a:xfrm>
          <a:prstGeom prst="rect">
            <a:avLst/>
          </a:prstGeom>
          <a:noFill/>
        </p:spPr>
        <p:txBody>
          <a:bodyPr wrap="square" rtlCol="0" anchor="ctr" anchorCtr="0">
            <a:noAutofit/>
          </a:bodyPr>
          <a:p>
            <a:pPr lvl="0" algn="l">
              <a:lnSpc>
                <a:spcPct val="160000"/>
              </a:lnSpc>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Chinese-English translation:</a:t>
            </a:r>
            <a:endParaRPr lang="en-US" altLang="zh-CN" sz="2600">
              <a:solidFill>
                <a:srgbClr val="000000"/>
              </a:solidFill>
              <a:latin typeface="Arial" panose="020B0604020202020204" pitchFamily="34" charset="0"/>
              <a:ea typeface="微软雅黑" panose="020B0503020204020204" charset="-122"/>
              <a:cs typeface="Arial" panose="020B0604020202020204" pitchFamily="34" charset="0"/>
            </a:endParaRPr>
          </a:p>
          <a:p>
            <a:pPr lvl="0" algn="l">
              <a:lnSpc>
                <a:spcPct val="160000"/>
              </a:lnSpc>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1. </a:t>
            </a:r>
            <a:r>
              <a:rPr lang="zh-CN" altLang="en-US" sz="2600">
                <a:solidFill>
                  <a:srgbClr val="000000"/>
                </a:solidFill>
                <a:latin typeface="Arial" panose="020B0604020202020204" pitchFamily="34" charset="0"/>
                <a:ea typeface="微软雅黑" panose="020B0503020204020204" charset="-122"/>
                <a:cs typeface="Arial" panose="020B0604020202020204" pitchFamily="34" charset="0"/>
              </a:rPr>
              <a:t>千真万确：</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as sure as  </a:t>
            </a:r>
            <a:r>
              <a:rPr lang="en-US" altLang="zh-CN" sz="2600">
                <a:solidFill>
                  <a:srgbClr val="639EF4"/>
                </a:solidFill>
                <a:latin typeface="Arial" panose="020B0604020202020204" pitchFamily="34" charset="0"/>
                <a:ea typeface="微软雅黑" panose="020B0503020204020204" charset="-122"/>
                <a:cs typeface="Arial" panose="020B0604020202020204" pitchFamily="34" charset="0"/>
              </a:rPr>
              <a:t>[填空1]</a:t>
            </a:r>
            <a:endParaRPr lang="en-US" altLang="zh-CN" sz="2600">
              <a:solidFill>
                <a:srgbClr val="639EF4"/>
              </a:solidFill>
              <a:latin typeface="Arial" panose="020B0604020202020204" pitchFamily="34" charset="0"/>
              <a:ea typeface="微软雅黑" panose="020B0503020204020204" charset="-122"/>
              <a:cs typeface="Arial" panose="020B0604020202020204" pitchFamily="34" charset="0"/>
            </a:endParaRPr>
          </a:p>
          <a:p>
            <a:pPr lvl="0" algn="l">
              <a:lnSpc>
                <a:spcPct val="160000"/>
              </a:lnSpc>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2. </a:t>
            </a:r>
            <a:r>
              <a:rPr lang="zh-CN" altLang="en-US" sz="2600">
                <a:solidFill>
                  <a:srgbClr val="000000"/>
                </a:solidFill>
                <a:latin typeface="Arial" panose="020B0604020202020204" pitchFamily="34" charset="0"/>
                <a:ea typeface="微软雅黑" panose="020B0503020204020204" charset="-122"/>
                <a:cs typeface="Arial" panose="020B0604020202020204" pitchFamily="34" charset="0"/>
              </a:rPr>
              <a:t>他惊呼道</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a:t>
            </a:r>
            <a:r>
              <a:rPr lang="zh-CN" altLang="en-US" sz="2600">
                <a:solidFill>
                  <a:srgbClr val="000000"/>
                </a:solidFill>
                <a:latin typeface="Arial" panose="020B0604020202020204" pitchFamily="34" charset="0"/>
                <a:ea typeface="微软雅黑" panose="020B0503020204020204" charset="-122"/>
                <a:cs typeface="Arial" panose="020B0604020202020204" pitchFamily="34" charset="0"/>
              </a:rPr>
              <a:t>天哪</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a:t>
            </a:r>
            <a:r>
              <a:rPr lang="zh-CN" altLang="en-US" sz="2600">
                <a:solidFill>
                  <a:srgbClr val="000000"/>
                </a:solidFill>
                <a:latin typeface="Arial" panose="020B0604020202020204" pitchFamily="34" charset="0"/>
                <a:ea typeface="微软雅黑" panose="020B0503020204020204" charset="-122"/>
                <a:cs typeface="Arial" panose="020B0604020202020204" pitchFamily="34" charset="0"/>
              </a:rPr>
              <a:t>：</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He  </a:t>
            </a:r>
            <a:r>
              <a:rPr lang="en-US" altLang="zh-CN" sz="2600">
                <a:solidFill>
                  <a:srgbClr val="639EF4"/>
                </a:solidFill>
                <a:latin typeface="Arial" panose="020B0604020202020204" pitchFamily="34" charset="0"/>
                <a:ea typeface="微软雅黑" panose="020B0503020204020204" charset="-122"/>
                <a:cs typeface="Arial" panose="020B0604020202020204" pitchFamily="34" charset="0"/>
              </a:rPr>
              <a:t>[填空2]</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 (</a:t>
            </a:r>
            <a:r>
              <a:rPr lang="zh-CN" altLang="en-US" sz="2600">
                <a:solidFill>
                  <a:srgbClr val="000000"/>
                </a:solidFill>
                <a:latin typeface="Arial" panose="020B0604020202020204" pitchFamily="34" charset="0"/>
                <a:ea typeface="微软雅黑" panose="020B0503020204020204" charset="-122"/>
                <a:cs typeface="Arial" panose="020B0604020202020204" pitchFamily="34" charset="0"/>
              </a:rPr>
              <a:t>过去式</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 “Bless my heart!”</a:t>
            </a:r>
            <a:endParaRPr lang="en-US" altLang="zh-CN" sz="2600">
              <a:solidFill>
                <a:srgbClr val="000000"/>
              </a:solidFill>
              <a:latin typeface="Arial" panose="020B0604020202020204" pitchFamily="34" charset="0"/>
              <a:ea typeface="微软雅黑" panose="020B0503020204020204" charset="-122"/>
              <a:cs typeface="Arial" panose="020B0604020202020204" pitchFamily="34" charset="0"/>
            </a:endParaRPr>
          </a:p>
          <a:p>
            <a:pPr lvl="0" algn="l">
              <a:lnSpc>
                <a:spcPct val="160000"/>
              </a:lnSpc>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3. </a:t>
            </a:r>
            <a:r>
              <a:rPr lang="zh-CN" altLang="en-US" sz="2600">
                <a:solidFill>
                  <a:srgbClr val="000000"/>
                </a:solidFill>
                <a:latin typeface="Arial" panose="020B0604020202020204" pitchFamily="34" charset="0"/>
                <a:ea typeface="微软雅黑" panose="020B0503020204020204" charset="-122"/>
                <a:cs typeface="Arial" panose="020B0604020202020204" pitchFamily="34" charset="0"/>
              </a:rPr>
              <a:t>他们同时转身打量彼此的脸：</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Each of them turned  </a:t>
            </a:r>
            <a:r>
              <a:rPr lang="en-US" altLang="zh-CN" sz="2600">
                <a:solidFill>
                  <a:srgbClr val="639EF4"/>
                </a:solidFill>
                <a:latin typeface="Arial" panose="020B0604020202020204" pitchFamily="34" charset="0"/>
                <a:ea typeface="微软雅黑" panose="020B0503020204020204" charset="-122"/>
                <a:cs typeface="Arial" panose="020B0604020202020204" pitchFamily="34" charset="0"/>
              </a:rPr>
              <a:t>[填空3]</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 to gaze upon the other’s face.</a:t>
            </a:r>
            <a:endParaRPr lang="en-US" altLang="zh-CN" sz="2600">
              <a:solidFill>
                <a:srgbClr val="000000"/>
              </a:solidFill>
              <a:latin typeface="Arial" panose="020B0604020202020204" pitchFamily="34" charset="0"/>
              <a:ea typeface="微软雅黑" panose="020B0503020204020204" charset="-122"/>
              <a:cs typeface="Arial" panose="020B0604020202020204" pitchFamily="34" charset="0"/>
            </a:endParaRPr>
          </a:p>
          <a:p>
            <a:pPr lvl="0" algn="l">
              <a:lnSpc>
                <a:spcPct val="160000"/>
              </a:lnSpc>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4. </a:t>
            </a:r>
            <a:r>
              <a:rPr lang="zh-CN" altLang="en-US" sz="2600">
                <a:solidFill>
                  <a:srgbClr val="000000"/>
                </a:solidFill>
                <a:latin typeface="Arial" panose="020B0604020202020204" pitchFamily="34" charset="0"/>
                <a:ea typeface="微软雅黑" panose="020B0503020204020204" charset="-122"/>
                <a:cs typeface="Arial" panose="020B0604020202020204" pitchFamily="34" charset="0"/>
              </a:rPr>
              <a:t>你被捕了：</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You are under  </a:t>
            </a:r>
            <a:r>
              <a:rPr lang="en-US" altLang="zh-CN" sz="2600">
                <a:solidFill>
                  <a:srgbClr val="639EF4"/>
                </a:solidFill>
                <a:latin typeface="Arial" panose="020B0604020202020204" pitchFamily="34" charset="0"/>
                <a:ea typeface="微软雅黑" panose="020B0503020204020204" charset="-122"/>
                <a:cs typeface="Arial" panose="020B0604020202020204" pitchFamily="34" charset="0"/>
              </a:rPr>
              <a:t>[填空4]</a:t>
            </a: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rPr>
              <a:t> .</a:t>
            </a:r>
            <a:endParaRPr lang="en-US" altLang="zh-CN" sz="2600">
              <a:solidFill>
                <a:srgbClr val="000000"/>
              </a:solidFill>
              <a:latin typeface="Arial" panose="020B0604020202020204" pitchFamily="34" charset="0"/>
              <a:ea typeface="微软雅黑" panose="020B0503020204020204" charset="-122"/>
              <a:cs typeface="Arial" panose="020B0604020202020204" pitchFamily="34" charset="0"/>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pic>
        <p:nvPicPr>
          <p:cNvPr id="10" name="图片 9" descr="After Twenty Years[00_07_15][20241126-175004]"/>
          <p:cNvPicPr>
            <a:picLocks noChangeAspect="1"/>
          </p:cNvPicPr>
          <p:nvPr/>
        </p:nvPicPr>
        <p:blipFill>
          <a:blip r:embed="rId3"/>
          <a:srcRect l="27743" t="11834" r="3849" b="12717"/>
          <a:stretch>
            <a:fillRect/>
          </a:stretch>
        </p:blipFill>
        <p:spPr>
          <a:xfrm>
            <a:off x="7877175" y="3717925"/>
            <a:ext cx="3439160" cy="2133600"/>
          </a:xfrm>
          <a:prstGeom prst="rect">
            <a:avLst/>
          </a:prstGeom>
        </p:spPr>
      </p:pic>
      <p:grpSp>
        <p:nvGrpSpPr>
          <p:cNvPr id="9" name="组合 8"/>
          <p:cNvGrpSpPr/>
          <p:nvPr>
            <p:custDataLst>
              <p:tags r:id="rId4"/>
            </p:custDataLst>
          </p:nvPr>
        </p:nvGrpSpPr>
        <p:grpSpPr>
          <a:xfrm>
            <a:off x="0" y="0"/>
            <a:ext cx="12192000" cy="635000"/>
            <a:chOff x="0" y="0"/>
            <a:chExt cx="19200" cy="1000"/>
          </a:xfrm>
        </p:grpSpPr>
        <p:sp>
          <p:nvSpPr>
            <p:cNvPr id="5" name="TitleBackground"/>
            <p:cNvSpPr/>
            <p:nvPr>
              <p:custDataLst>
                <p:tags r:id="rId5"/>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填空题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20分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9BC4"/>
          <p:cNvPicPr>
            <a:picLocks noChangeAspect="1"/>
          </p:cNvPicPr>
          <p:nvPr>
            <p:custDataLst>
              <p:tags r:id="rId9"/>
            </p:custDataLst>
          </p:nvPr>
        </p:nvPicPr>
        <p:blipFill>
          <a:blip r:embed="rId10"/>
          <a:stretch>
            <a:fillRect/>
          </a:stretch>
        </p:blipFill>
        <p:spPr>
          <a:xfrm>
            <a:off x="10642600" y="63500"/>
            <a:ext cx="1422400" cy="508000"/>
          </a:xfrm>
          <a:prstGeom prst="rect">
            <a:avLst/>
          </a:prstGeom>
        </p:spPr>
      </p:pic>
    </p:spTree>
    <p:custDataLst>
      <p:tags r:id="rId1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blipFill>
        <a:effectLst/>
      </p:bgPr>
    </p:bg>
    <p:spTree>
      <p:nvGrpSpPr>
        <p:cNvPr id="1" name=""/>
        <p:cNvGrpSpPr/>
        <p:nvPr/>
      </p:nvGrpSpPr>
      <p:grpSpPr>
        <a:xfrm>
          <a:off x="0" y="0"/>
          <a:ext cx="0" cy="0"/>
          <a:chOff x="0" y="0"/>
          <a:chExt cx="0" cy="0"/>
        </a:xfrm>
      </p:grpSpPr>
      <p:sp>
        <p:nvSpPr>
          <p:cNvPr id="4100" name="文本框 4"/>
          <p:cNvSpPr txBox="1">
            <a:spLocks noChangeArrowheads="1"/>
          </p:cNvSpPr>
          <p:nvPr/>
        </p:nvSpPr>
        <p:spPr bwMode="auto">
          <a:xfrm>
            <a:off x="184150" y="160655"/>
            <a:ext cx="4390390" cy="460375"/>
          </a:xfrm>
          <a:prstGeom prst="rect">
            <a:avLst/>
          </a:prstGeom>
          <a:noFill/>
          <a:ln w="9525">
            <a:noFill/>
            <a:miter lim="800000"/>
          </a:ln>
          <a:effectLst>
            <a:outerShdw blurRad="50800" dist="38100" dir="5400000" algn="t" rotWithShape="0">
              <a:prstClr val="black">
                <a:alpha val="40000"/>
              </a:prstClr>
            </a:outerShd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rPr>
              <a:t>Discussion</a:t>
            </a:r>
            <a:endParaRPr kumimoji="0" lang="en-US" altLang="zh-CN" sz="2400" b="0"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mn-cs"/>
            </a:endParaRPr>
          </a:p>
        </p:txBody>
      </p:sp>
      <p:pic>
        <p:nvPicPr>
          <p:cNvPr id="44" name="图片 43">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l="10347" t="37811" r="43034" b="24326"/>
          <a:stretch>
            <a:fillRect/>
          </a:stretch>
        </p:blipFill>
        <p:spPr>
          <a:xfrm>
            <a:off x="11264265" y="174625"/>
            <a:ext cx="503555" cy="454660"/>
          </a:xfrm>
          <a:prstGeom prst="rect">
            <a:avLst/>
          </a:prstGeom>
        </p:spPr>
      </p:pic>
      <p:sp>
        <p:nvSpPr>
          <p:cNvPr id="46" name="内容占位符 2"/>
          <p:cNvSpPr>
            <a:spLocks noGrp="1"/>
          </p:cNvSpPr>
          <p:nvPr/>
        </p:nvSpPr>
        <p:spPr>
          <a:xfrm>
            <a:off x="1067435" y="1123315"/>
            <a:ext cx="9880600" cy="4199890"/>
          </a:xfrm>
          <a:prstGeom prst="rect">
            <a:avLst/>
          </a:prstGeom>
          <a:noFill/>
          <a:ln w="9525">
            <a:noFill/>
            <a:miter lim="800000"/>
          </a:ln>
        </p:spPr>
        <p:txBody>
          <a:bodyPr vert="horz" wrap="square" lIns="91440" tIns="45720" rIns="91440" bIns="45720" numCol="1" anchor="t" anchorCtr="0" compatLnSpc="1"/>
          <a:lstStyle>
            <a:lvl1pPr marL="22860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52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733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457200" algn="just" defTabSz="914400" rtl="0" eaLnBrk="1" fontAlgn="base" latinLnBrk="0" hangingPunct="1">
              <a:lnSpc>
                <a:spcPct val="125000"/>
              </a:lnSpc>
              <a:spcBef>
                <a:spcPts val="1000"/>
              </a:spcBef>
              <a:spcAft>
                <a:spcPct val="0"/>
              </a:spcAft>
              <a:buClr>
                <a:srgbClr val="000000"/>
              </a:buClr>
              <a:buSzTx/>
              <a:buFont typeface="Wingdings" panose="05000000000000000000" charset="0"/>
              <a:buChar char="l"/>
              <a:defRPr/>
            </a:pPr>
            <a:r>
              <a:rPr kumimoji="0" lang="en-US" altLang="zh-CN" sz="2800" b="0" i="0" u="none" strike="noStrike" kern="1200" cap="none" spc="0" normalizeH="0" baseline="0" noProof="0" dirty="0">
                <a:ln>
                  <a:noFill/>
                </a:ln>
                <a:solidFill>
                  <a:prstClr val="black"/>
                </a:solidFill>
                <a:effectLst/>
                <a:uLnTx/>
                <a:uFillTx/>
                <a:latin typeface="Calibri" panose="020F0502020204030204" charset="0"/>
                <a:ea typeface="等线" panose="02010600030101010101" pitchFamily="2" charset="-122"/>
                <a:cs typeface="Calibri" panose="020F0502020204030204" charset="0"/>
              </a:rPr>
              <a:t>Do different personalities lead to different life paths? (As </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Bob is more adventurous, while Jimmy more peaceful and steady.)</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457200" marR="0" lvl="0" indent="-457200" algn="just" defTabSz="914400" rtl="0" eaLnBrk="1" fontAlgn="base" latinLnBrk="0" hangingPunct="1">
              <a:lnSpc>
                <a:spcPct val="125000"/>
              </a:lnSpc>
              <a:spcBef>
                <a:spcPts val="1000"/>
              </a:spcBef>
              <a:spcAft>
                <a:spcPct val="0"/>
              </a:spcAft>
              <a:buClr>
                <a:srgbClr val="000000"/>
              </a:buClr>
              <a:buSzTx/>
              <a:buFont typeface="Wingdings" panose="05000000000000000000" charset="0"/>
              <a:buChar char="l"/>
              <a:defRPr/>
            </a:pP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rPr>
              <a:t>When loyalty to friendship is in conflict with legal and moral principles, how would you deal with the situation?</a:t>
            </a:r>
            <a:endPar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a:p>
            <a:pPr marL="457200" marR="0" lvl="0" indent="-457200" algn="just" defTabSz="914400" rtl="0" eaLnBrk="1" fontAlgn="base" latinLnBrk="0" hangingPunct="1">
              <a:lnSpc>
                <a:spcPct val="125000"/>
              </a:lnSpc>
              <a:spcBef>
                <a:spcPts val="1000"/>
              </a:spcBef>
              <a:spcAft>
                <a:spcPct val="0"/>
              </a:spcAft>
              <a:buClr>
                <a:srgbClr val="000000"/>
              </a:buClr>
              <a:buSzTx/>
              <a:buFont typeface="Wingdings" panose="05000000000000000000" charset="0"/>
              <a:buChar char="l"/>
              <a:defRPr/>
            </a:pPr>
            <a:r>
              <a:rPr kumimoji="0" lang="en-US" sz="2800" b="0" i="0"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rPr>
              <a:t> K</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rPr>
              <a:t>in concealment(</a:t>
            </a:r>
            <a:r>
              <a:rPr lang="zh-CN" altLang="en-US"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sym typeface="+mn-ea"/>
              </a:rPr>
              <a:t>亲亲相隐</a:t>
            </a:r>
            <a:r>
              <a:rPr lang="en-US" altLang="zh-CN"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sym typeface="+mn-ea"/>
              </a:rPr>
              <a:t>)</a:t>
            </a:r>
            <a:r>
              <a:rPr kumimoji="0" lang="en-US" altLang="zh-CN" sz="2800" b="0" i="0"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rPr>
              <a:t> or placing righteousness above family loyalty(</a:t>
            </a:r>
            <a:r>
              <a:rPr lang="zh-CN" altLang="en-US"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sym typeface="+mn-ea"/>
              </a:rPr>
              <a:t>大义灭亲</a:t>
            </a:r>
            <a:r>
              <a:rPr lang="en-US" altLang="zh-CN"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sym typeface="+mn-ea"/>
              </a:rPr>
              <a:t>)</a:t>
            </a:r>
            <a:r>
              <a:rPr lang="zh-CN" altLang="en-US"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sym typeface="+mn-ea"/>
              </a:rPr>
              <a:t>？</a:t>
            </a:r>
            <a:endParaRPr kumimoji="0" lang="zh-CN" altLang="en-US" b="0" i="0" u="none" strike="noStrike" kern="1200" cap="none" spc="0" normalizeH="0" baseline="0" noProof="0" dirty="0">
              <a:ln>
                <a:noFill/>
              </a:ln>
              <a:solidFill>
                <a:sysClr val="windowText" lastClr="000000"/>
              </a:solidFill>
              <a:effectLst/>
              <a:uLnTx/>
              <a:uFillTx/>
              <a:latin typeface="Calibri" panose="020F0502020204030204" charset="0"/>
              <a:ea typeface="华文中宋" panose="02010600040101010101" charset="-122"/>
              <a:cs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checkerboard(across)">
                                      <p:cBhvr>
                                        <p:cTn id="7" dur="500"/>
                                        <p:tgtEl>
                                          <p:spTgt spid="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6">
                                            <p:txEl>
                                              <p:pRg st="1" end="1"/>
                                            </p:txEl>
                                          </p:spTgt>
                                        </p:tgtEl>
                                        <p:attrNameLst>
                                          <p:attrName>style.visibility</p:attrName>
                                        </p:attrNameLst>
                                      </p:cBhvr>
                                      <p:to>
                                        <p:strVal val="visible"/>
                                      </p:to>
                                    </p:set>
                                    <p:animEffect transition="in" filter="checkerboard(across)">
                                      <p:cBhvr>
                                        <p:cTn id="12" dur="500"/>
                                        <p:tgtEl>
                                          <p:spTgt spid="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6">
                                            <p:txEl>
                                              <p:pRg st="2" end="2"/>
                                            </p:txEl>
                                          </p:spTgt>
                                        </p:tgtEl>
                                        <p:attrNameLst>
                                          <p:attrName>style.visibility</p:attrName>
                                        </p:attrNameLst>
                                      </p:cBhvr>
                                      <p:to>
                                        <p:strVal val="visible"/>
                                      </p:to>
                                    </p:set>
                                    <p:animEffect transition="in" filter="checkerboard(across)">
                                      <p:cBhvr>
                                        <p:cTn id="17" dur="500"/>
                                        <p:tgtEl>
                                          <p:spTgt spid="4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160145" y="988060"/>
            <a:ext cx="9753600" cy="1497330"/>
          </a:xfrm>
          <a:prstGeom prst="rect">
            <a:avLst/>
          </a:prstGeom>
          <a:noFill/>
        </p:spPr>
        <p:txBody>
          <a:bodyPr wrap="square" rtlCol="0" anchor="ctr" anchorCtr="0">
            <a:noAutofit/>
          </a:bodyPr>
          <a:p>
            <a:pPr lvl="0" algn="l">
              <a:lnSpc>
                <a:spcPct val="130000"/>
              </a:lnSpc>
              <a:buNone/>
            </a:pPr>
            <a:r>
              <a:rPr lang="en-US" altLang="zh-CN" sz="2600">
                <a:solidFill>
                  <a:srgbClr val="000000"/>
                </a:solidFill>
                <a:latin typeface="Arial" panose="020B0604020202020204" pitchFamily="34" charset="0"/>
                <a:ea typeface="微软雅黑" panose="020B0503020204020204" charset="-122"/>
                <a:cs typeface="Arial" panose="020B0604020202020204" pitchFamily="34" charset="0"/>
                <a:sym typeface="+mn-ea"/>
              </a:rPr>
              <a:t>If you were the policeman Jimmy, what would you do to your old friend Bob who was a criminal wanted by the police? </a:t>
            </a:r>
            <a:endParaRPr lang="en-US" altLang="zh-CN" sz="2600" i="1">
              <a:solidFill>
                <a:srgbClr val="000000"/>
              </a:solidFill>
              <a:latin typeface="微软雅黑" panose="020B0503020204020204" charset="-122"/>
              <a:ea typeface="微软雅黑" panose="020B0503020204020204" charset="-122"/>
            </a:endParaRPr>
          </a:p>
        </p:txBody>
      </p:sp>
      <p:sp>
        <p:nvSpPr>
          <p:cNvPr id="4" name="圆角矩形 3"/>
          <p:cNvSpPr/>
          <p:nvPr>
            <p:custDataLst>
              <p:tags r:id="rId2"/>
            </p:custDataLst>
          </p:nvPr>
        </p:nvSpPr>
        <p:spPr>
          <a:xfrm>
            <a:off x="89154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p>
            <a:pPr algn="ctr"/>
            <a:r>
              <a:rPr lang="zh-CN" altLang="en-US" sz="1600">
                <a:solidFill>
                  <a:srgbClr val="FFFFFF"/>
                </a:solidFill>
                <a:latin typeface="微软雅黑" panose="020B0503020204020204" charset="-122"/>
                <a:ea typeface="微软雅黑" panose="020B0503020204020204" charset="-122"/>
              </a:rPr>
              <a:t>作答</a:t>
            </a:r>
            <a:endParaRPr lang="zh-CN" altLang="en-US" sz="1600">
              <a:solidFill>
                <a:srgbClr val="FFFFFF"/>
              </a:solidFill>
              <a:latin typeface="微软雅黑" panose="020B0503020204020204" charset="-122"/>
              <a:ea typeface="微软雅黑" panose="020B0503020204020204" charset="-122"/>
            </a:endParaRPr>
          </a:p>
        </p:txBody>
      </p:sp>
      <p:pic>
        <p:nvPicPr>
          <p:cNvPr id="18" name="图片 17"/>
          <p:cNvPicPr/>
          <p:nvPr/>
        </p:nvPicPr>
        <p:blipFill>
          <a:blip r:embed="rId3"/>
          <a:stretch>
            <a:fillRect/>
          </a:stretch>
        </p:blipFill>
        <p:spPr>
          <a:xfrm>
            <a:off x="4536440" y="2958465"/>
            <a:ext cx="2499360" cy="3275965"/>
          </a:xfrm>
          <a:prstGeom prst="rect">
            <a:avLst/>
          </a:prstGeom>
        </p:spPr>
      </p:pic>
      <p:grpSp>
        <p:nvGrpSpPr>
          <p:cNvPr id="9" name="组合 8"/>
          <p:cNvGrpSpPr/>
          <p:nvPr>
            <p:custDataLst>
              <p:tags r:id="rId4"/>
            </p:custDataLst>
          </p:nvPr>
        </p:nvGrpSpPr>
        <p:grpSpPr>
          <a:xfrm>
            <a:off x="0" y="0"/>
            <a:ext cx="12192000" cy="635000"/>
            <a:chOff x="0" y="0"/>
            <a:chExt cx="19200" cy="1000"/>
          </a:xfrm>
        </p:grpSpPr>
        <p:sp>
          <p:nvSpPr>
            <p:cNvPr id="5" name="TitleBackground"/>
            <p:cNvSpPr/>
            <p:nvPr>
              <p:custDataLst>
                <p:tags r:id="rId5"/>
              </p:custDataLst>
            </p:nvPr>
          </p:nvSpPr>
          <p:spPr>
            <a:xfrm>
              <a:off x="0" y="0"/>
              <a:ext cx="192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charset="-122"/>
                  <a:ea typeface="微软雅黑" panose="020B0503020204020204" charset="-122"/>
                </a:rPr>
                <a:t>主观题</a:t>
              </a:r>
              <a:endParaRPr lang="zh-CN" altLang="en-US" sz="2600">
                <a:solidFill>
                  <a:srgbClr val="000000"/>
                </a:solidFill>
                <a:latin typeface="微软雅黑" panose="020B0503020204020204" charset="-122"/>
                <a:ea typeface="微软雅黑" panose="020B0503020204020204"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10分</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grpSp>
      <p:pic>
        <p:nvPicPr>
          <p:cNvPr id="2" name="图片 1" descr="tmp480C"/>
          <p:cNvPicPr>
            <a:picLocks noChangeAspect="1"/>
          </p:cNvPicPr>
          <p:nvPr>
            <p:custDataLst>
              <p:tags r:id="rId9"/>
            </p:custDataLst>
          </p:nvPr>
        </p:nvPicPr>
        <p:blipFill>
          <a:blip r:embed="rId10"/>
          <a:stretch>
            <a:fillRect/>
          </a:stretch>
        </p:blipFill>
        <p:spPr>
          <a:xfrm>
            <a:off x="10642600" y="63500"/>
            <a:ext cx="1422400" cy="508000"/>
          </a:xfrm>
          <a:prstGeom prst="rect">
            <a:avLst/>
          </a:prstGeom>
        </p:spPr>
      </p:pic>
    </p:spTree>
    <p:custDataLst>
      <p:tags r:id="rId11"/>
    </p:custDataLst>
  </p:cSld>
  <p:clrMapOvr>
    <a:masterClrMapping/>
  </p:clrMapOvr>
</p:sld>
</file>

<file path=ppt/tags/tag1.xml><?xml version="1.0" encoding="utf-8"?>
<p:tagLst xmlns:p="http://schemas.openxmlformats.org/presentationml/2006/main">
  <p:tag name="KSO_WM_UNIT_PLACING_PICTURE_USER_VIEWPORT" val="{&quot;height&quot;:8910,&quot;width&quot;:15840}"/>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Submit"/>
  <p:tag name="RAINPROBLEMTYPE" val="FillBlank"/>
</p:tagLst>
</file>

<file path=ppt/tags/tag4.xml><?xml version="1.0" encoding="utf-8"?>
<p:tagLst xmlns:p="http://schemas.openxmlformats.org/presentationml/2006/main">
  <p:tag name="RAINPROBLEMTYPE" val="ProblemTypeMarker"/>
</p:tagLst>
</file>

<file path=ppt/tags/tag5.xml><?xml version="1.0" encoding="utf-8"?>
<p:tagLst xmlns:p="http://schemas.openxmlformats.org/presentationml/2006/main">
  <p:tag name="RAINPROBLEMTYPE" val="ProblemTypeMarker"/>
</p:tagLst>
</file>

<file path=ppt/tags/tag6.xml><?xml version="1.0" encoding="utf-8"?>
<p:tagLst xmlns:p="http://schemas.openxmlformats.org/presentationml/2006/main">
  <p:tag name="RAINPROBLEMTYPE" val="ProblemTypeMarker"/>
</p:tagLst>
</file>

<file path=ppt/tags/tag7.xml><?xml version="1.0" encoding="utf-8"?>
<p:tagLst xmlns:p="http://schemas.openxmlformats.org/presentationml/2006/main">
  <p:tag name="RAINPROBLEMTYPE" val="ProblemTypeMarker"/>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 val="ProblemSetting"/>
  <p:tag name="RAINPROBLEMTYPE" val="FillBlank"/>
</p:tagLst>
</file>

<file path=ppt/tags/tag10.xml><?xml version="1.0" encoding="utf-8"?>
<p:tagLst xmlns:p="http://schemas.openxmlformats.org/presentationml/2006/main">
  <p:tag name="RAINPROBLEM" val="FillBlank"/>
  <p:tag name="PROBLEMSCORE" val="20.0"/>
  <p:tag name="PROBLEMBLANK" val="[{&quot;num&quot;:1,&quot;caseSensitive&quot;:false,&quot;fuzzyMatch&quot;:false,&quot;Score&quot;:5.0,&quot;answers&quot;:[&quot;swinging&quot;,&quot;Swinging&quot;]},{&quot;num&quot;:2,&quot;caseSensitive&quot;:false,&quot;fuzzyMatch&quot;:false,&quot;Score&quot;:5.0,&quot;answers&quot;:[&quot;watchful&quot;]},{&quot;num&quot;:3,&quot;caseSensitive&quot;:false,&quot;fuzzyMatch&quot;:false,&quot;Score&quot;:5.0,&quot;answers&quot;:[&quot;superiority&quot;]},{&quot;num&quot;:4,&quot;caseSensitive&quot;:false,&quot;fuzzyMatch&quot;:false,&quot;Score&quot;:5.0,&quot;answers&quot;:[&quot;guardian&quot;]}]"/>
  <p:tag name="PROBLEMBLANKKEYWORD" val="填空"/>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RAINPROBLEM" val="ProblemSubmit"/>
  <p:tag name="RAINPROBLEMTYPE" val="FillBlank"/>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 val="ProblemSetting"/>
  <p:tag name="RAINPROBLEMTYPE" val="FillBlank"/>
</p:tagLst>
</file>

<file path=ppt/tags/tag19.xml><?xml version="1.0" encoding="utf-8"?>
<p:tagLst xmlns:p="http://schemas.openxmlformats.org/presentationml/2006/main">
  <p:tag name="RAINPROBLEM" val="FillBlank"/>
  <p:tag name="PROBLEMSCORE" val="20.0"/>
  <p:tag name="PROBLEMBLANK" val="[{&quot;num&quot;:1,&quot;caseSensitive&quot;:false,&quot;fuzzyMatch&quot;:false,&quot;Score&quot;:5.0,&quot;answers&quot;:[&quot;a&quot;]},{&quot;num&quot;:2,&quot;caseSensitive&quot;:false,&quot;fuzzyMatch&quot;:false,&quot;Score&quot;:5.0,&quot;answers&quot;:[&quot;c&quot;]},{&quot;num&quot;:3,&quot;caseSensitive&quot;:false,&quot;fuzzyMatch&quot;:false,&quot;Score&quot;:5.0,&quot;answers&quot;:[&quot;d&quot;]},{&quot;num&quot;:4,&quot;caseSensitive&quot;:false,&quot;fuzzyMatch&quot;:false,&quot;Score&quot;:5.0,&quot;answers&quot;:[&quot;f&quot;]}]"/>
  <p:tag name="PROBLEMBLANKKEYWORD" val="填空"/>
</p:tagLst>
</file>

<file path=ppt/tags/tag20.xml><?xml version="1.0" encoding="utf-8"?>
<p:tagLst xmlns:p="http://schemas.openxmlformats.org/presentationml/2006/main">
  <p:tag name="RAINPROBLEM" val="ProblemBody"/>
</p:tagLst>
</file>

<file path=ppt/tags/tag21.xml><?xml version="1.0" encoding="utf-8"?>
<p:tagLst xmlns:p="http://schemas.openxmlformats.org/presentationml/2006/main">
  <p:tag name="RAINPROBLEM" val="ProblemSubmit"/>
  <p:tag name="RAINPROBLEMTYPE" val="ShortAnsw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 val="ProblemSetting"/>
  <p:tag name="RAINPROBLEMTYPE" val="ShortAnswer"/>
</p:tagLst>
</file>

<file path=ppt/tags/tag28.xml><?xml version="1.0" encoding="utf-8"?>
<p:tagLst xmlns:p="http://schemas.openxmlformats.org/presentationml/2006/main">
  <p:tag name="RAINPROBLEM" val="ShortAnswer"/>
  <p:tag name="PROBLEMSCORE" val="10.0"/>
  <p:tag name="PROBLEMVOICEALLOWED" val="False"/>
</p:tagLst>
</file>

<file path=ppt/tags/tag29.xml><?xml version="1.0" encoding="utf-8"?>
<p:tagLst xmlns:p="http://schemas.openxmlformats.org/presentationml/2006/main">
  <p:tag name="RAINPROBLEM" val="ProblemBody"/>
</p:tagLst>
</file>

<file path=ppt/tags/tag30.xml><?xml version="1.0" encoding="utf-8"?>
<p:tagLst xmlns:p="http://schemas.openxmlformats.org/presentationml/2006/main">
  <p:tag name="RAINPROBLEM" val="ProblemItem"/>
  <p:tag name="KSO_WM_DIAGRAM_VIRTUALLY_FRAME" val="{&quot;height&quot;:253.1,&quot;left&quot;:105.7,&quot;top&quot;:167.8,&quot;width&quot;:740.25}"/>
</p:tagLst>
</file>

<file path=ppt/tags/tag31.xml><?xml version="1.0" encoding="utf-8"?>
<p:tagLst xmlns:p="http://schemas.openxmlformats.org/presentationml/2006/main">
  <p:tag name="RAINPROBLEM" val="ProblemItem"/>
  <p:tag name="KSO_WM_DIAGRAM_VIRTUALLY_FRAME" val="{&quot;height&quot;:253.1,&quot;left&quot;:105.7,&quot;top&quot;:167.8,&quot;width&quot;:740.25}"/>
</p:tagLst>
</file>

<file path=ppt/tags/tag32.xml><?xml version="1.0" encoding="utf-8"?>
<p:tagLst xmlns:p="http://schemas.openxmlformats.org/presentationml/2006/main">
  <p:tag name="RAINPROBLEM" val="ProblemItem"/>
  <p:tag name="KSO_WM_DIAGRAM_VIRTUALLY_FRAME" val="{&quot;height&quot;:253.1,&quot;left&quot;:105.7,&quot;top&quot;:167.8,&quot;width&quot;:740.25}"/>
</p:tagLst>
</file>

<file path=ppt/tags/tag33.xml><?xml version="1.0" encoding="utf-8"?>
<p:tagLst xmlns:p="http://schemas.openxmlformats.org/presentationml/2006/main">
  <p:tag name="RAINPROBLEM" val="ProblemItem"/>
  <p:tag name="KSO_WM_DIAGRAM_VIRTUALLY_FRAME" val="{&quot;height&quot;:253.1,&quot;left&quot;:105.7,&quot;top&quot;:167.8,&quot;width&quot;:740.25}"/>
</p:tagLst>
</file>

<file path=ppt/tags/tag34.xml><?xml version="1.0" encoding="utf-8"?>
<p:tagLst xmlns:p="http://schemas.openxmlformats.org/presentationml/2006/main">
  <p:tag name="RAINPROBLEM" val="ProblemBullet"/>
  <p:tag name="RAINPROBLEMTYPE" val="MultipleChoiceMA"/>
  <p:tag name="RAINBULLET" val="Wrong"/>
  <p:tag name="KSO_WM_DIAGRAM_VIRTUALLY_FRAME" val="{&quot;height&quot;:253.1,&quot;left&quot;:105.7,&quot;top&quot;:167.8,&quot;width&quot;:740.25}"/>
</p:tagLst>
</file>

<file path=ppt/tags/tag35.xml><?xml version="1.0" encoding="utf-8"?>
<p:tagLst xmlns:p="http://schemas.openxmlformats.org/presentationml/2006/main">
  <p:tag name="RAINPROBLEM" val="ProblemBullet"/>
  <p:tag name="RAINPROBLEMTYPE" val="MultipleChoiceMA"/>
  <p:tag name="RAINBULLET" val="Correct"/>
  <p:tag name="KSO_WM_DIAGRAM_VIRTUALLY_FRAME" val="{&quot;height&quot;:253.1,&quot;left&quot;:105.7,&quot;top&quot;:167.8,&quot;width&quot;:740.25}"/>
</p:tagLst>
</file>

<file path=ppt/tags/tag36.xml><?xml version="1.0" encoding="utf-8"?>
<p:tagLst xmlns:p="http://schemas.openxmlformats.org/presentationml/2006/main">
  <p:tag name="RAINPROBLEM" val="ProblemBullet"/>
  <p:tag name="RAINPROBLEMTYPE" val="MultipleChoiceMA"/>
  <p:tag name="RAINBULLET" val="Correct"/>
  <p:tag name="KSO_WM_DIAGRAM_VIRTUALLY_FRAME" val="{&quot;height&quot;:253.1,&quot;left&quot;:105.7,&quot;top&quot;:167.8,&quot;width&quot;:740.25}"/>
</p:tagLst>
</file>

<file path=ppt/tags/tag37.xml><?xml version="1.0" encoding="utf-8"?>
<p:tagLst xmlns:p="http://schemas.openxmlformats.org/presentationml/2006/main">
  <p:tag name="RAINPROBLEM" val="ProblemBullet"/>
  <p:tag name="RAINPROBLEMTYPE" val="MultipleChoiceMA"/>
  <p:tag name="RAINBULLET" val="Wrong"/>
  <p:tag name="KSO_WM_DIAGRAM_VIRTUALLY_FRAME" val="{&quot;height&quot;:253.1,&quot;left&quot;:105.7,&quot;top&quot;:167.8,&quot;width&quot;:740.25}"/>
</p:tagLst>
</file>

<file path=ppt/tags/tag38.xml><?xml version="1.0" encoding="utf-8"?>
<p:tagLst xmlns:p="http://schemas.openxmlformats.org/presentationml/2006/main">
  <p:tag name="RAINPROBLEM" val="ProblemSubmit"/>
  <p:tag name="RAINPROBLEMTYPE" val="MultipleChoiceMA"/>
</p:tagLst>
</file>

<file path=ppt/tags/tag39.xml><?xml version="1.0" encoding="utf-8"?>
<p:tagLst xmlns:p="http://schemas.openxmlformats.org/presentationml/2006/main">
  <p:tag name="RAINPROBLEMTYPE" val="ProblemTypeMarker"/>
</p:tagLst>
</file>

<file path=ppt/tags/tag40.xml><?xml version="1.0" encoding="utf-8"?>
<p:tagLst xmlns:p="http://schemas.openxmlformats.org/presentationml/2006/main">
  <p:tag name="RAINPROBLEMTYPE" val="ProblemTypeMarker"/>
</p:tagLst>
</file>

<file path=ppt/tags/tag41.xml><?xml version="1.0" encoding="utf-8"?>
<p:tagLst xmlns:p="http://schemas.openxmlformats.org/presentationml/2006/main">
  <p:tag name="RAINPROBLEMTYPE" val="ProblemTypeMarker"/>
</p:tagLst>
</file>

<file path=ppt/tags/tag42.xml><?xml version="1.0" encoding="utf-8"?>
<p:tagLst xmlns:p="http://schemas.openxmlformats.org/presentationml/2006/main">
  <p:tag name="RAINPROBLEMTYPE" val="ProblemTypeMarker"/>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 val="ProblemSetting"/>
  <p:tag name="RAINPROBLEMTYPE" val="MultipleChoiceMA"/>
</p:tagLst>
</file>

<file path=ppt/tags/tag45.xml><?xml version="1.0" encoding="utf-8"?>
<p:tagLst xmlns:p="http://schemas.openxmlformats.org/presentationml/2006/main">
  <p:tag name="RAINPROBLEM" val="MultipleChoiceMA"/>
  <p:tag name="PROBLEMSCORE" val="20.0"/>
  <p:tag name="RAINPROBLEMTYPE" val="MultipleChoiceMA"/>
  <p:tag name="PROBLEMSCORE_HALF" val="10.0"/>
</p:tagLst>
</file>

<file path=ppt/tags/tag46.xml><?xml version="1.0" encoding="utf-8"?>
<p:tagLst xmlns:p="http://schemas.openxmlformats.org/presentationml/2006/main">
  <p:tag name="RAINPROBLEM" val="ProblemBody"/>
</p:tagLst>
</file>

<file path=ppt/tags/tag47.xml><?xml version="1.0" encoding="utf-8"?>
<p:tagLst xmlns:p="http://schemas.openxmlformats.org/presentationml/2006/main">
  <p:tag name="RAINPROBLEM" val="ProblemSubmit"/>
  <p:tag name="RAINPROBLEMTYPE" val="FillBlank"/>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TYPE" val="ProblemTypeMarker"/>
</p:tagLst>
</file>

<file path=ppt/tags/tag52.xml><?xml version="1.0" encoding="utf-8"?>
<p:tagLst xmlns:p="http://schemas.openxmlformats.org/presentationml/2006/main">
  <p:tag name="RAINPROBLEMTYPE" val="ProblemTypeMarker"/>
</p:tagLst>
</file>

<file path=ppt/tags/tag53.xml><?xml version="1.0" encoding="utf-8"?>
<p:tagLst xmlns:p="http://schemas.openxmlformats.org/presentationml/2006/main">
  <p:tag name="RAINPROBLEM" val="ProblemSetting"/>
  <p:tag name="RAINPROBLEMTYPE" val="FillBlank"/>
</p:tagLst>
</file>

<file path=ppt/tags/tag54.xml><?xml version="1.0" encoding="utf-8"?>
<p:tagLst xmlns:p="http://schemas.openxmlformats.org/presentationml/2006/main">
  <p:tag name="RAINPROBLEM" val="FillBlank"/>
  <p:tag name="PROBLEMSCORE" val="20.0"/>
  <p:tag name="PROBLEMBLANK" val="[{&quot;num&quot;:1,&quot;caseSensitive&quot;:false,&quot;fuzzyMatch&quot;:false,&quot;Score&quot;:5.0,&quot;answers&quot;:[&quot;fate&quot;]},{&quot;num&quot;:2,&quot;caseSensitive&quot;:false,&quot;fuzzyMatch&quot;:false,&quot;Score&quot;:5.0,&quot;answers&quot;:[&quot;exclaimed&quot;]},{&quot;num&quot;:3,&quot;caseSensitive&quot;:false,&quot;fuzzyMatch&quot;:false,&quot;Score&quot;:5.0,&quot;answers&quot;:[&quot;simultaneously&quot;]},{&quot;num&quot;:4,&quot;caseSensitive&quot;:false,&quot;fuzzyMatch&quot;:false,&quot;Score&quot;:5.0,&quot;answers&quot;:[&quot;arrest&quot;]}]"/>
  <p:tag name="PROBLEMBLANKKEYWORD" val="填空"/>
</p:tagLst>
</file>

<file path=ppt/tags/tag55.xml><?xml version="1.0" encoding="utf-8"?>
<p:tagLst xmlns:p="http://schemas.openxmlformats.org/presentationml/2006/main">
  <p:tag name="RAINPROBLEM" val="ProblemBody"/>
</p:tagLst>
</file>

<file path=ppt/tags/tag56.xml><?xml version="1.0" encoding="utf-8"?>
<p:tagLst xmlns:p="http://schemas.openxmlformats.org/presentationml/2006/main">
  <p:tag name="RAINPROBLEM" val="ProblemSubmit"/>
  <p:tag name="RAINPROBLEMTYPE" val="ShortAnswer"/>
</p:tagLst>
</file>

<file path=ppt/tags/tag57.xml><?xml version="1.0" encoding="utf-8"?>
<p:tagLst xmlns:p="http://schemas.openxmlformats.org/presentationml/2006/main">
  <p:tag name="RAINPROBLEMTYPE" val="ProblemTypeMarker"/>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TYPE" val="ProblemTypeMarker"/>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TYPE" val="ProblemTypeMarker"/>
</p:tagLst>
</file>

<file path=ppt/tags/tag62.xml><?xml version="1.0" encoding="utf-8"?>
<p:tagLst xmlns:p="http://schemas.openxmlformats.org/presentationml/2006/main">
  <p:tag name="RAINPROBLEM" val="ProblemSetting"/>
  <p:tag name="RAINPROBLEMTYPE" val="ShortAnswer"/>
</p:tagLst>
</file>

<file path=ppt/tags/tag63.xml><?xml version="1.0" encoding="utf-8"?>
<p:tagLst xmlns:p="http://schemas.openxmlformats.org/presentationml/2006/main">
  <p:tag name="RAINPROBLEM" val="ShortAnswer"/>
  <p:tag name="PROBLEMSCORE" val="10.0"/>
  <p:tag name="PROBLEMVOICEALLOWED" val="False"/>
</p:tagLst>
</file>

<file path=ppt/tags/tag64.xml><?xml version="1.0" encoding="utf-8"?>
<p:tagLst xmlns:p="http://schemas.openxmlformats.org/presentationml/2006/main">
  <p:tag name="commondata" val="eyJoZGlkIjoiZTY1NThmYzJlMWRjMDNhYzFmMTdkNmU1NThkNTc3ODEifQ=="/>
</p:tagLst>
</file>

<file path=ppt/theme/theme1.xml><?xml version="1.0" encoding="utf-8"?>
<a:theme xmlns:a="http://schemas.openxmlformats.org/drawingml/2006/main" name="2_Office 主题​​">
  <a:themeElements>
    <a:clrScheme name="自定义 4">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5B9BD5"/>
      </a:accent5>
      <a:accent6>
        <a:srgbClr val="70AD47"/>
      </a:accent6>
      <a:hlink>
        <a:srgbClr val="0070C0"/>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extLst>
      <a:ext uri="{D81B5157-A7B6-4480-A006-42BB1BC3E7BB}">
        <wpsdc:hlinkScheme xmlns:wpsdc="http://www.wps.cn/officeDocument/2017/drawingmlCustomData" underline="false"/>
      </a:ext>
    </a:extLst>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3916</Words>
  <Application>WPS 演示</Application>
  <PresentationFormat>宽屏</PresentationFormat>
  <Paragraphs>163</Paragraphs>
  <Slides>14</Slides>
  <Notes>94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宋体</vt:lpstr>
      <vt:lpstr>Wingdings</vt:lpstr>
      <vt:lpstr>Arial Black</vt:lpstr>
      <vt:lpstr>思源黑体 CN Regular</vt:lpstr>
      <vt:lpstr>黑体</vt:lpstr>
      <vt:lpstr>Calibri</vt:lpstr>
      <vt:lpstr>Calibri</vt:lpstr>
      <vt:lpstr>Wingdings</vt:lpstr>
      <vt:lpstr>楷体</vt:lpstr>
      <vt:lpstr>等线</vt:lpstr>
      <vt:lpstr>微软雅黑</vt:lpstr>
      <vt:lpstr>Times New Roman</vt:lpstr>
      <vt:lpstr>华文中宋</vt:lpstr>
      <vt:lpstr>Arial Unicode MS</vt:lpstr>
      <vt:lpstr>等线 Light</vt:lpstr>
      <vt:lpstr>方正大黑体_GBK</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Dilys</dc:creator>
  <cp:lastModifiedBy>Cooper</cp:lastModifiedBy>
  <cp:revision>424</cp:revision>
  <dcterms:created xsi:type="dcterms:W3CDTF">2021-05-22T03:56:00Z</dcterms:created>
  <dcterms:modified xsi:type="dcterms:W3CDTF">2025-11-23T15:28:16Z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284DEC7DE46D4F6EAE41B3515A27B289_12</vt:lpwstr>
  </property>
</Properties>
</file>