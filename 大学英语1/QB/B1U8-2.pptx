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webp" ContentType="image/webp"/>
  <Override PartName="/ppt/media/image13.webp" ContentType="image/webp"/>
  <Override PartName="/ppt/media/image14.webp" ContentType="image/webp"/>
  <Override PartName="/ppt/media/image15.webp" ContentType="image/webp"/>
  <Override PartName="/ppt/media/image16.webp" ContentType="image/webp"/>
  <Override PartName="/ppt/media/image17.webp" ContentType="image/webp"/>
  <Override PartName="/ppt/media/image18.webp" ContentType="image/webp"/>
  <Override PartName="/ppt/media/image25.webp" ContentType="image/webp"/>
  <Override PartName="/ppt/media/image27.webp" ContentType="image/webp"/>
  <Override PartName="/ppt/media/image28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notesMasterIdLst>
    <p:notesMasterId r:id="rId8"/>
  </p:notesMasterIdLst>
  <p:sldIdLst>
    <p:sldId id="831" r:id="rId7"/>
    <p:sldId id="915" r:id="rId9"/>
    <p:sldId id="918" r:id="rId10"/>
    <p:sldId id="858" r:id="rId11"/>
    <p:sldId id="885" r:id="rId12"/>
    <p:sldId id="923" r:id="rId13"/>
    <p:sldId id="919" r:id="rId14"/>
    <p:sldId id="920" r:id="rId15"/>
    <p:sldId id="921" r:id="rId16"/>
    <p:sldId id="916" r:id="rId17"/>
    <p:sldId id="676" r:id="rId18"/>
    <p:sldId id="738" r:id="rId19"/>
    <p:sldId id="898" r:id="rId20"/>
    <p:sldId id="739" r:id="rId21"/>
    <p:sldId id="899" r:id="rId22"/>
    <p:sldId id="900" r:id="rId23"/>
    <p:sldId id="901" r:id="rId24"/>
    <p:sldId id="902" r:id="rId25"/>
    <p:sldId id="907" r:id="rId26"/>
    <p:sldId id="749" r:id="rId27"/>
    <p:sldId id="703" r:id="rId28"/>
    <p:sldId id="910" r:id="rId29"/>
    <p:sldId id="911" r:id="rId30"/>
    <p:sldId id="705" r:id="rId31"/>
    <p:sldId id="917" r:id="rId32"/>
    <p:sldId id="752" r:id="rId33"/>
    <p:sldId id="754" r:id="rId34"/>
    <p:sldId id="759" r:id="rId35"/>
    <p:sldId id="757" r:id="rId36"/>
    <p:sldId id="758" r:id="rId37"/>
    <p:sldId id="756" r:id="rId38"/>
    <p:sldId id="760" r:id="rId39"/>
    <p:sldId id="761" r:id="rId40"/>
    <p:sldId id="762" r:id="rId41"/>
    <p:sldId id="764" r:id="rId42"/>
    <p:sldId id="763" r:id="rId43"/>
    <p:sldId id="914" r:id="rId44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99CC"/>
    <a:srgbClr val="4F779F"/>
    <a:srgbClr val="808080"/>
    <a:srgbClr val="EFEFEF"/>
    <a:srgbClr val="F2F2F2"/>
    <a:srgbClr val="FFFFFF"/>
    <a:srgbClr val="F6F8FB"/>
    <a:srgbClr val="A1DFE1"/>
    <a:srgbClr val="E5A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46" autoAdjust="0"/>
    <p:restoredTop sz="91245" autoAdjust="0"/>
  </p:normalViewPr>
  <p:slideViewPr>
    <p:cSldViewPr snapToGrid="0">
      <p:cViewPr varScale="1">
        <p:scale>
          <a:sx n="113" d="100"/>
          <a:sy n="113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8" Type="http://schemas.openxmlformats.org/officeDocument/2006/relationships/tags" Target="tags/tag6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" Target="slide1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40.xml"/><Relationship Id="rId20" Type="http://schemas.openxmlformats.org/officeDocument/2006/relationships/image" Target="../media/image18.webp"/><Relationship Id="rId2" Type="http://schemas.openxmlformats.org/officeDocument/2006/relationships/slide" Target="slide1.xml"/><Relationship Id="rId19" Type="http://schemas.openxmlformats.org/officeDocument/2006/relationships/image" Target="../media/image17.webp"/><Relationship Id="rId18" Type="http://schemas.openxmlformats.org/officeDocument/2006/relationships/image" Target="../media/image16.webp"/><Relationship Id="rId17" Type="http://schemas.openxmlformats.org/officeDocument/2006/relationships/image" Target="../media/image15.webp"/><Relationship Id="rId16" Type="http://schemas.openxmlformats.org/officeDocument/2006/relationships/image" Target="../media/image14.webp"/><Relationship Id="rId15" Type="http://schemas.openxmlformats.org/officeDocument/2006/relationships/image" Target="../media/image13.webp"/><Relationship Id="rId14" Type="http://schemas.openxmlformats.org/officeDocument/2006/relationships/image" Target="../media/image12.webp"/><Relationship Id="rId13" Type="http://schemas.openxmlformats.org/officeDocument/2006/relationships/image" Target="../media/image11.jpe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slideLayout" Target="../slideLayouts/slideLayout40.xml"/><Relationship Id="rId10" Type="http://schemas.openxmlformats.org/officeDocument/2006/relationships/tags" Target="../tags/tag18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4.jpeg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5.xml"/><Relationship Id="rId17" Type="http://schemas.openxmlformats.org/officeDocument/2006/relationships/image" Target="../media/image19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26.png"/><Relationship Id="rId5" Type="http://schemas.microsoft.com/office/2007/relationships/media" Target="../media/media1.mp3"/><Relationship Id="rId4" Type="http://schemas.openxmlformats.org/officeDocument/2006/relationships/audio" Target="../media/media1.mp3"/><Relationship Id="rId3" Type="http://schemas.openxmlformats.org/officeDocument/2006/relationships/image" Target="../media/image25.webp"/><Relationship Id="rId2" Type="http://schemas.openxmlformats.org/officeDocument/2006/relationships/tags" Target="../tags/tag3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4.xml"/><Relationship Id="rId13" Type="http://schemas.openxmlformats.org/officeDocument/2006/relationships/image" Target="../media/image19.png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5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27.webp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image" Target="../media/image28.webp"/><Relationship Id="rId2" Type="http://schemas.openxmlformats.org/officeDocument/2006/relationships/tags" Target="../tags/tag4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53.xml"/><Relationship Id="rId10" Type="http://schemas.openxmlformats.org/officeDocument/2006/relationships/image" Target="../media/image19.png"/><Relationship Id="rId1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12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12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15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5" Type="http://schemas.openxmlformats.org/officeDocument/2006/relationships/image" Target="../media/image9.png"/><Relationship Id="rId4" Type="http://schemas.openxmlformats.org/officeDocument/2006/relationships/slide" Target="slide15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18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0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0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0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0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62.xml"/><Relationship Id="rId1" Type="http://schemas.openxmlformats.org/officeDocument/2006/relationships/tags" Target="../tags/tag54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6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8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8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slide" Target="slide28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5" Type="http://schemas.openxmlformats.org/officeDocument/2006/relationships/image" Target="../media/image9.png"/><Relationship Id="rId4" Type="http://schemas.openxmlformats.org/officeDocument/2006/relationships/slide" Target="slide32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9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1.png"/><Relationship Id="rId5" Type="http://schemas.openxmlformats.org/officeDocument/2006/relationships/image" Target="../media/image9.png"/><Relationship Id="rId4" Type="http://schemas.openxmlformats.org/officeDocument/2006/relationships/slide" Target="slide34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1.png"/><Relationship Id="rId5" Type="http://schemas.openxmlformats.org/officeDocument/2006/relationships/image" Target="../media/image9.png"/><Relationship Id="rId4" Type="http://schemas.openxmlformats.org/officeDocument/2006/relationships/slide" Target="slide34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slide" Target="slide34.xml"/><Relationship Id="rId4" Type="http://schemas.openxmlformats.org/officeDocument/2006/relationships/image" Target="../media/image30.pn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未标题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848" r="27500"/>
          <a:stretch>
            <a:fillRect/>
          </a:stretch>
        </p:blipFill>
        <p:spPr>
          <a:xfrm>
            <a:off x="0" y="-2886"/>
            <a:ext cx="7977505" cy="6860886"/>
          </a:xfrm>
          <a:prstGeom prst="rect">
            <a:avLst/>
          </a:prstGeom>
        </p:spPr>
      </p:pic>
      <p:sp>
        <p:nvSpPr>
          <p:cNvPr id="31" name="文本框 86"/>
          <p:cNvSpPr txBox="1"/>
          <p:nvPr/>
        </p:nvSpPr>
        <p:spPr>
          <a:xfrm>
            <a:off x="817634" y="1250139"/>
            <a:ext cx="2697975" cy="707886"/>
          </a:xfrm>
          <a:prstGeom prst="rect">
            <a:avLst/>
          </a:prstGeom>
          <a:noFill/>
          <a:effectLst>
            <a:outerShdw blurRad="393700" dist="698500" dir="8100000" sx="119000" sy="119000" algn="tr" rotWithShape="0">
              <a:prstClr val="black">
                <a:alpha val="63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9700"/>
                </a:solidFill>
                <a:effectLst/>
                <a:uLnTx/>
                <a:uFillTx/>
                <a:latin typeface="Arial Black" panose="020B0A04020102020204" pitchFamily="34" charset="0"/>
                <a:ea typeface="思源黑体 CN Regular" panose="020B0500000000000000" charset="-122"/>
                <a:cs typeface="+mn-cs"/>
              </a:rPr>
              <a:t>Unit  8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F9700"/>
              </a:solidFill>
              <a:effectLst/>
              <a:uLnTx/>
              <a:uFillTx/>
              <a:latin typeface="Arial Black" panose="020B0A04020102020204" pitchFamily="34" charset="0"/>
              <a:ea typeface="思源黑体 CN Regular" panose="020B0500000000000000" charset="-122"/>
              <a:cs typeface="+mn-cs"/>
            </a:endParaRPr>
          </a:p>
        </p:txBody>
      </p:sp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2516437"/>
            <a:ext cx="3016405" cy="501676"/>
          </a:xfrm>
          <a:prstGeom prst="rect">
            <a:avLst/>
          </a:prstGeom>
        </p:spPr>
      </p:pic>
      <p:pic>
        <p:nvPicPr>
          <p:cNvPr id="17" name="图片 1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3268056"/>
            <a:ext cx="5004057" cy="501676"/>
          </a:xfrm>
          <a:prstGeom prst="rect">
            <a:avLst/>
          </a:prstGeom>
        </p:spPr>
      </p:pic>
      <p:pic>
        <p:nvPicPr>
          <p:cNvPr id="19" name="图片 18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019675"/>
            <a:ext cx="3016405" cy="495325"/>
          </a:xfrm>
          <a:prstGeom prst="rect">
            <a:avLst/>
          </a:prstGeom>
        </p:spPr>
      </p:pic>
      <p:pic>
        <p:nvPicPr>
          <p:cNvPr id="21" name="图片 2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764943"/>
            <a:ext cx="3733992" cy="488975"/>
          </a:xfrm>
          <a:prstGeom prst="rect">
            <a:avLst/>
          </a:prstGeom>
        </p:spPr>
      </p:pic>
      <p:pic>
        <p:nvPicPr>
          <p:cNvPr id="23" name="图片 2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1" y="5503862"/>
            <a:ext cx="5512083" cy="501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Glossary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0" name="图片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67410" y="930275"/>
            <a:ext cx="10660380" cy="5219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2800">
                <a:latin typeface="Arial Narrow" panose="020B0606020202030204" charset="0"/>
                <a:cs typeface="Arial Narrow" panose="020B0606020202030204" charset="0"/>
              </a:rPr>
              <a:t> drift     mischievous      restless     shack     shiver     soaked     sob      squat    </a:t>
            </a:r>
            <a:endParaRPr lang="en-US" altLang="zh-CN" sz="280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938530" y="3631565"/>
            <a:ext cx="20732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mischievous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1282700" y="6024245"/>
            <a:ext cx="18351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shiver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107815" y="3659505"/>
            <a:ext cx="140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shack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827520" y="3661410"/>
            <a:ext cx="17176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restless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9581515" y="3631565"/>
            <a:ext cx="18776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drift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3894455" y="6024245"/>
            <a:ext cx="18351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squat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6709410" y="6024245"/>
            <a:ext cx="18351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sob</a:t>
            </a:r>
            <a:endParaRPr lang="en-US" sz="20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9525000" y="6024245"/>
            <a:ext cx="18351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800">
                <a:solidFill>
                  <a:srgbClr val="C00000"/>
                </a:solidFill>
                <a:latin typeface="Arial Narrow" panose="020B0606020202030204" charset="0"/>
                <a:ea typeface="华文中宋" panose="02010600040101010101" charset="-122"/>
                <a:cs typeface="Arial Narrow" panose="020B0606020202030204" charset="0"/>
                <a:sym typeface="+mn-ea"/>
              </a:rPr>
              <a:t>soaked</a:t>
            </a:r>
            <a:endParaRPr lang="en-US" sz="2800">
              <a:solidFill>
                <a:srgbClr val="C00000"/>
              </a:solidFill>
              <a:latin typeface="Arial Narrow" panose="020B0606020202030204" charset="0"/>
              <a:ea typeface="华文中宋" panose="02010600040101010101" charset="-122"/>
              <a:cs typeface="Arial Narrow" panose="020B0606020202030204" charset="0"/>
              <a:sym typeface="+mn-ea"/>
            </a:endParaRPr>
          </a:p>
        </p:txBody>
      </p:sp>
      <p:pic>
        <p:nvPicPr>
          <p:cNvPr id="22" name="图片 21"/>
          <p:cNvPicPr/>
          <p:nvPr/>
        </p:nvPicPr>
        <p:blipFill>
          <a:blip r:embed="rId13"/>
          <a:srcRect l="226" r="4425" b="10115"/>
          <a:stretch>
            <a:fillRect/>
          </a:stretch>
        </p:blipFill>
        <p:spPr>
          <a:xfrm>
            <a:off x="9161145" y="1653540"/>
            <a:ext cx="2545715" cy="1978025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14"/>
          <a:stretch>
            <a:fillRect/>
          </a:stretch>
        </p:blipFill>
        <p:spPr>
          <a:xfrm>
            <a:off x="3509645" y="1653540"/>
            <a:ext cx="2702560" cy="201612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5"/>
          <a:stretch>
            <a:fillRect/>
          </a:stretch>
        </p:blipFill>
        <p:spPr>
          <a:xfrm>
            <a:off x="6320155" y="4169410"/>
            <a:ext cx="2722245" cy="1901825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6"/>
          <a:srcRect r="8285"/>
          <a:stretch>
            <a:fillRect/>
          </a:stretch>
        </p:blipFill>
        <p:spPr>
          <a:xfrm>
            <a:off x="3509645" y="4153535"/>
            <a:ext cx="2701925" cy="193929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17"/>
          <a:stretch>
            <a:fillRect/>
          </a:stretch>
        </p:blipFill>
        <p:spPr>
          <a:xfrm>
            <a:off x="845820" y="4168775"/>
            <a:ext cx="2555240" cy="1924050"/>
          </a:xfrm>
          <a:prstGeom prst="rect">
            <a:avLst/>
          </a:prstGeom>
        </p:spPr>
      </p:pic>
      <p:pic>
        <p:nvPicPr>
          <p:cNvPr id="28" name="图片 27"/>
          <p:cNvPicPr/>
          <p:nvPr/>
        </p:nvPicPr>
        <p:blipFill>
          <a:blip r:embed="rId18"/>
          <a:stretch>
            <a:fillRect/>
          </a:stretch>
        </p:blipFill>
        <p:spPr>
          <a:xfrm>
            <a:off x="9161145" y="4153535"/>
            <a:ext cx="2553335" cy="1939290"/>
          </a:xfrm>
          <a:prstGeom prst="rect">
            <a:avLst/>
          </a:prstGeom>
        </p:spPr>
      </p:pic>
      <p:pic>
        <p:nvPicPr>
          <p:cNvPr id="29" name="图片 28"/>
          <p:cNvPicPr/>
          <p:nvPr/>
        </p:nvPicPr>
        <p:blipFill>
          <a:blip r:embed="rId19"/>
          <a:srcRect l="13983"/>
          <a:stretch>
            <a:fillRect/>
          </a:stretch>
        </p:blipFill>
        <p:spPr>
          <a:xfrm>
            <a:off x="6302375" y="1653540"/>
            <a:ext cx="2740025" cy="2006600"/>
          </a:xfrm>
          <a:prstGeom prst="rect">
            <a:avLst/>
          </a:prstGeom>
        </p:spPr>
      </p:pic>
      <p:pic>
        <p:nvPicPr>
          <p:cNvPr id="30" name="图片 29"/>
          <p:cNvPicPr/>
          <p:nvPr/>
        </p:nvPicPr>
        <p:blipFill>
          <a:blip r:embed="rId20"/>
          <a:srcRect l="3884" t="5764" r="15556" b="10624"/>
          <a:stretch>
            <a:fillRect/>
          </a:stretch>
        </p:blipFill>
        <p:spPr>
          <a:xfrm>
            <a:off x="751205" y="1452245"/>
            <a:ext cx="2715895" cy="2216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9" grpId="0"/>
      <p:bldP spid="12" grpId="0"/>
      <p:bldP spid="14" grpId="0"/>
      <p:bldP spid="16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93090" y="671830"/>
            <a:ext cx="10943590" cy="47072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10000"/>
              </a:lnSpc>
              <a:buNone/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Fill in the blanks with the words given. Change the form if necessary.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alert,  detain,  dim,  drift,  smother,  stumble,  slash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1. We must be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[填空1]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to the possibility of danger.2. His budding talents were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[填空2]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by the ban(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禁令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).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3. Researchers have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[填空3]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upon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偶然发现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) a drug that may cure cancer.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280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4. Two </a:t>
            </a:r>
            <a:r>
              <a:rPr lang="en-US" altLang="zh-CN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suspects(</a:t>
            </a:r>
            <a:r>
              <a:rPr lang="zh-CN" altLang="en-US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嫌疑犯</a:t>
            </a:r>
            <a:r>
              <a:rPr lang="en-US" altLang="zh-CN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) have been  </a:t>
            </a:r>
            <a:r>
              <a:rPr lang="en-US" altLang="zh-CN" sz="2800" dirty="0">
                <a:solidFill>
                  <a:srgbClr val="639E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[填空4]</a:t>
            </a:r>
            <a:r>
              <a:rPr lang="en-US" altLang="zh-CN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by the police for questioning.</a:t>
            </a:r>
            <a:endParaRPr lang="en-US" altLang="zh-CN" sz="2800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5. Come to our Summer Sale, where prices have been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[填空5]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by 75%.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6. Life is too short for us to  </a:t>
            </a:r>
            <a:r>
              <a:rPr lang="en-US" altLang="zh-CN" sz="2800">
                <a:solidFill>
                  <a:srgbClr val="639E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[填空6]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aimlessly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得过且过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); we need goals to guide us.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A30C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Glossary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46" name="内容占位符 2"/>
          <p:cNvSpPr>
            <a:spLocks noGrp="1"/>
          </p:cNvSpPr>
          <p:nvPr/>
        </p:nvSpPr>
        <p:spPr>
          <a:xfrm>
            <a:off x="748030" y="881380"/>
            <a:ext cx="6856095" cy="35521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3200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stir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1) </a:t>
            </a:r>
            <a:r>
              <a:rPr lang="en-US" altLang="zh-CN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A gentle breeze </a:t>
            </a:r>
            <a:r>
              <a:rPr lang="en-US" altLang="zh-CN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stirred</a:t>
            </a:r>
            <a:r>
              <a:rPr lang="en-US" altLang="zh-CN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 the lake.</a:t>
            </a:r>
            <a:endParaRPr lang="en-US" altLang="zh-CN" dirty="0">
              <a:solidFill>
                <a:sysClr val="windowText" lastClr="000000"/>
              </a:solidFill>
              <a:latin typeface="Arial Narrow" panose="020B0606020202030204" charset="0"/>
              <a:ea typeface="宋体" panose="02010600030101010101" pitchFamily="2" charset="-122"/>
              <a:cs typeface="Arial Narrow" panose="020B0606020202030204" charset="0"/>
              <a:sym typeface="+mn-ea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2) </a:t>
            </a:r>
            <a:r>
              <a:rPr lang="en-US" altLang="zh-CN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He </a:t>
            </a:r>
            <a:r>
              <a:rPr lang="en-US" altLang="zh-CN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stirs</a:t>
            </a:r>
            <a:r>
              <a:rPr lang="en-US" altLang="zh-CN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 his coffee with a spoon</a:t>
            </a:r>
            <a:r>
              <a:rPr lang="en-US" altLang="zh-CN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Arial Narrow" panose="020B0606020202030204" charset="0"/>
              <a:ea typeface="宋体" panose="02010600030101010101" pitchFamily="2" charset="-122"/>
              <a:cs typeface="Arial Narrow" panose="020B0606020202030204" charset="0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3) The heartbreaking story </a:t>
            </a:r>
            <a:r>
              <a:rPr lang="en-US" altLang="zh-CN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stirred</a:t>
            </a:r>
            <a:r>
              <a:rPr lang="en-US" altLang="zh-CN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 his sympathy.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4) A feeling of guilt began to </a:t>
            </a:r>
            <a:r>
              <a:rPr kumimoji="0" lang="en-US" altLang="zh-CN" sz="2800" b="0" i="0" u="none" strike="noStrike" kern="1200" cap="none" spc="0" normalizeH="0" baseline="0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stir</a:t>
            </a:r>
            <a:r>
              <a:rPr kumimoji="0" lang="en-US" altLang="zh-CN" sz="2800" b="0" i="0" u="none" strike="noStrike" kern="1200" cap="none" spc="0" normalizeH="0" baseline="0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 in her.</a:t>
            </a:r>
            <a:endParaRPr kumimoji="0" lang="en-US" altLang="zh-CN" sz="2800" b="0" i="0" u="none" strike="noStrike" kern="1200" cap="none" spc="0" normalizeH="0" baseline="0" dirty="0">
              <a:solidFill>
                <a:sysClr val="windowText" lastClr="000000"/>
              </a:solidFill>
              <a:latin typeface="Arial Narrow" panose="020B0606020202030204" charset="0"/>
              <a:ea typeface="宋体" panose="02010600030101010101" pitchFamily="2" charset="-122"/>
              <a:cs typeface="Arial Narrow" panose="020B0606020202030204" charset="0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5) The book will cause a big </a:t>
            </a:r>
            <a:r>
              <a:rPr kumimoji="0" lang="en-US" altLang="zh-CN" sz="2800" b="0" i="0" u="none" strike="noStrike" kern="1200" cap="none" spc="0" normalizeH="0" baseline="0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stir</a:t>
            </a:r>
            <a:r>
              <a:rPr kumimoji="0" lang="en-US" altLang="zh-CN" sz="2800" b="0" i="0" u="none" strike="noStrike" kern="1200" cap="none" spc="0" normalizeH="0" baseline="0" dirty="0">
                <a:solidFill>
                  <a:sysClr val="windowText" lastClr="0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</a:rPr>
              <a:t> in the world.</a:t>
            </a:r>
            <a:endParaRPr kumimoji="0" lang="zh-CN" altLang="en-US" sz="2800" b="0" i="0" u="none" strike="noStrike" kern="1200" cap="none" spc="0" normalizeH="0" baseline="0" dirty="0">
              <a:solidFill>
                <a:sysClr val="windowText" lastClr="000000"/>
              </a:solidFill>
              <a:latin typeface="Arial Narrow" panose="020B0606020202030204" charset="0"/>
              <a:ea typeface="宋体" panose="02010600030101010101" pitchFamily="2" charset="-122"/>
              <a:cs typeface="Arial Narrow" panose="020B060602020203020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0" name="图片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524" y="1034715"/>
            <a:ext cx="676275" cy="4572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710170" y="1421765"/>
            <a:ext cx="4057650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1.  (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使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)微动，拂动</a:t>
            </a:r>
            <a:endParaRPr lang="en-US" altLang="zh-CN" sz="2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2. 搅拌，搅动  </a:t>
            </a:r>
            <a:endParaRPr lang="en-US" altLang="zh-CN" sz="2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3. 激发，激起，挑起；</a:t>
            </a:r>
            <a:endParaRPr lang="en-US" altLang="zh-CN" sz="2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4. vi. 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苏醒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；被唤起</a:t>
            </a:r>
            <a:endParaRPr kumimoji="0" lang="en-US" altLang="zh-CN" sz="2800" b="1" u="none" strike="noStrike" kern="1200" cap="none" spc="0" normalizeH="0" baseline="0" dirty="0">
              <a:solidFill>
                <a:sysClr val="windowText" lastClr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5. n. 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惊动</a:t>
            </a:r>
            <a:r>
              <a:rPr lang="en-US" altLang="zh-CN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轰动</a:t>
            </a:r>
            <a:endParaRPr lang="zh-CN" altLang="en-US" sz="2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8030" y="4433570"/>
            <a:ext cx="609600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*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stir-fry</a:t>
            </a:r>
            <a:r>
              <a:rPr lang="en-US" altLang="zh-CN" sz="2800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  </a:t>
            </a:r>
            <a:r>
              <a:rPr lang="en-US" altLang="zh-CN" sz="2800" i="1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v.</a:t>
            </a:r>
            <a:r>
              <a:rPr lang="en-US" altLang="zh-CN" sz="2800" dirty="0">
                <a:solidFill>
                  <a:srgbClr val="C00000"/>
                </a:solidFill>
                <a:latin typeface="Arial Narrow" panose="020B0606020202030204" charset="0"/>
                <a:ea typeface="宋体" panose="02010600030101010101" pitchFamily="2" charset="-122"/>
                <a:cs typeface="Arial Narrow" panose="020B0606020202030204" charset="0"/>
                <a:sym typeface="+mn-ea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(</a:t>
            </a:r>
            <a:r>
              <a:rPr lang="zh-CN" altLang="en-US" sz="28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中式烹饪中的</a:t>
            </a:r>
            <a:r>
              <a:rPr lang="en-US" altLang="zh-CN" sz="28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)</a:t>
            </a:r>
            <a:r>
              <a:rPr lang="zh-CN" altLang="en-US" sz="28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炒</a:t>
            </a:r>
            <a:endParaRPr lang="zh-CN" altLang="en-US" sz="2800" dirty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6"/>
          <a:stretch>
            <a:fillRect/>
          </a:stretch>
        </p:blipFill>
        <p:spPr>
          <a:xfrm>
            <a:off x="8790305" y="4433570"/>
            <a:ext cx="1950720" cy="1950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Glossary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46" name="内容占位符 2"/>
          <p:cNvSpPr>
            <a:spLocks noGrp="1"/>
          </p:cNvSpPr>
          <p:nvPr/>
        </p:nvSpPr>
        <p:spPr>
          <a:xfrm>
            <a:off x="842010" y="881380"/>
            <a:ext cx="6470650" cy="28555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0" indent="-355600" algn="just" eaLnBrk="1" hangingPunct="1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zh-CN" sz="3200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toll                 </a:t>
            </a:r>
            <a:r>
              <a:rPr lang="en-US" altLang="zh-CN" i="1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n</a:t>
            </a:r>
            <a:r>
              <a:rPr lang="en-US" altLang="zh-CN" i="1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kumimoji="0" lang="en-US" altLang="zh-CN" sz="280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355600" lvl="0" indent="-355600" eaLnBrk="1" hangingPunct="1">
              <a:lnSpc>
                <a:spcPct val="114000"/>
              </a:lnSpc>
              <a:spcBef>
                <a:spcPts val="0"/>
              </a:spcBef>
              <a:buNone/>
              <a:defRPr/>
            </a:pP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death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toll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has risen to 83.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55600" lvl="0" indent="-355600" eaLnBrk="1" hangingPunct="1">
              <a:lnSpc>
                <a:spcPct val="114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You have to pay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tolls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on expressways.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355600" lvl="0" indent="-355600" eaLnBrk="1" hangingPunct="1">
              <a:lnSpc>
                <a:spcPct val="114000"/>
              </a:lnSpc>
              <a:spcBef>
                <a:spcPts val="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bell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</a:rPr>
              <a:t>tolled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for those killed in the war.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55600" lvl="0" indent="-355600" eaLnBrk="1" hangingPunct="1">
              <a:lnSpc>
                <a:spcPct val="114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1" i="0" u="none" strike="noStrike" kern="1200" cap="none" spc="0" normalizeH="0" baseline="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Smoking 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takes its toll on</a:t>
            </a:r>
            <a:r>
              <a:rPr kumimoji="0" lang="en-US" altLang="zh-CN" sz="2800" b="1" i="0" u="none" strike="noStrike" kern="1200" cap="none" spc="0" normalizeH="0" baseline="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  <a:t> his health.</a:t>
            </a:r>
            <a:endParaRPr kumimoji="0" lang="en-US" altLang="zh-CN" sz="2800" b="1" i="0" u="none" strike="noStrike" kern="1200" cap="none" spc="0" normalizeH="0" baseline="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0" name="图片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187" y="1040836"/>
            <a:ext cx="714375" cy="3714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163435" y="1470025"/>
            <a:ext cx="4091305" cy="2009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342900" indent="-342900">
              <a:lnSpc>
                <a:spcPct val="130000"/>
              </a:lnSpc>
              <a:buClr>
                <a:srgbClr val="4F779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死亡人数</a:t>
            </a:r>
            <a:endParaRPr lang="zh-CN" altLang="en-US" sz="2400" dirty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342900" indent="-342900">
              <a:lnSpc>
                <a:spcPct val="130000"/>
              </a:lnSpc>
              <a:buClr>
                <a:srgbClr val="4F779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（道路、桥梁的）通行费</a:t>
            </a:r>
            <a:endParaRPr lang="zh-CN" altLang="en-US" sz="2400" dirty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342900" indent="-342900">
              <a:lnSpc>
                <a:spcPct val="130000"/>
              </a:lnSpc>
              <a:buClr>
                <a:srgbClr val="4F779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（尤指）鸣（丧钟）</a:t>
            </a:r>
            <a:endParaRPr lang="zh-CN" altLang="en-US" sz="2400" dirty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342900" indent="-342900">
              <a:lnSpc>
                <a:spcPct val="130000"/>
              </a:lnSpc>
              <a:buClr>
                <a:srgbClr val="4F779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损害；</a:t>
            </a:r>
            <a:r>
              <a:rPr lang="en-US" altLang="zh-CN" sz="24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造成坏影响</a:t>
            </a:r>
            <a:endParaRPr lang="zh-CN" altLang="en-US" sz="2400" dirty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6"/>
          <a:stretch>
            <a:fillRect/>
          </a:stretch>
        </p:blipFill>
        <p:spPr>
          <a:xfrm>
            <a:off x="3810635" y="4189730"/>
            <a:ext cx="3013075" cy="212280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7"/>
          <a:stretch>
            <a:fillRect/>
          </a:stretch>
        </p:blipFill>
        <p:spPr>
          <a:xfrm>
            <a:off x="8383905" y="3736975"/>
            <a:ext cx="2870835" cy="2596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70255" y="818515"/>
            <a:ext cx="10807700" cy="19665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20000"/>
              </a:lnSpc>
              <a:buNone/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Choose the best translations for the underlined words.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0" algn="l">
              <a:lnSpc>
                <a:spcPct val="12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The Covid-19 pandemic was </a:t>
            </a: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①</a:t>
            </a:r>
            <a:r>
              <a:rPr lang="en-US" altLang="zh-CN" sz="2600" u="sng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taking its toll on</a:t>
            </a:r>
            <a:r>
              <a:rPr lang="en-US" altLang="zh-CN" sz="26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public health, and the whole nation reflected on the heavy </a:t>
            </a: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②</a:t>
            </a:r>
            <a:r>
              <a:rPr lang="en-US" altLang="zh-CN" sz="2600" u="sng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toll</a:t>
            </a:r>
            <a:r>
              <a:rPr lang="en-US" altLang="zh-CN" sz="26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the pandemic had taken.</a:t>
            </a:r>
            <a:endParaRPr lang="zh-CN" altLang="en-US" sz="26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345059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①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威胁；</a:t>
            </a: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②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代价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423418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①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威胁；</a:t>
            </a: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②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死亡人数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3367405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①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损害；</a:t>
            </a: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②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代价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390906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①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损害；</a:t>
            </a:r>
            <a:r>
              <a:rPr lang="en-US" altLang="zh-CN" sz="26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②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死亡人数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EB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91210" y="436880"/>
            <a:ext cx="10358755" cy="37090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3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Dictation: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just">
              <a:lnSpc>
                <a:spcPct val="130000"/>
              </a:lnSpc>
              <a:buNone/>
            </a:pPr>
            <a:r>
              <a:rPr lang="en-US" altLang="zh-CN" sz="2600" spc="-14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Not that we didn't have our troubles. Maheegun was the most  </a:t>
            </a:r>
            <a:r>
              <a:rPr lang="en-US" altLang="zh-CN" sz="2600" spc="-14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[填空1]</a:t>
            </a:r>
            <a:r>
              <a:rPr lang="en-US" altLang="zh-CN" sz="2600" spc="-14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wolf cub ever. He was curious too. Like looking into Grandma's  </a:t>
            </a:r>
            <a:r>
              <a:rPr lang="en-US" altLang="zh-CN" sz="2600" spc="-14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[填空2]</a:t>
            </a:r>
            <a:r>
              <a:rPr lang="en-US" altLang="zh-CN" sz="2600" spc="-14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basket—which he upset,  </a:t>
            </a:r>
            <a:r>
              <a:rPr lang="en-US" altLang="zh-CN" sz="2600" spc="-14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[填空3]</a:t>
            </a:r>
            <a:r>
              <a:rPr lang="en-US" altLang="zh-CN" sz="2600" spc="-14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thread and buttons all over the floor. At such times, she would  </a:t>
            </a:r>
            <a:r>
              <a:rPr lang="en-US" altLang="zh-CN" sz="2600" spc="-14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[填空4]</a:t>
            </a:r>
            <a:r>
              <a:rPr lang="en-US" altLang="zh-CN" sz="2600" spc="-14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him out with a broom and Maheegun would poke his head around the corner, waiting for things to  </a:t>
            </a:r>
            <a:r>
              <a:rPr lang="en-US" altLang="zh-CN" sz="2600" spc="-140" dirty="0">
                <a:solidFill>
                  <a:srgbClr val="639EF4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[填空5]</a:t>
            </a:r>
            <a:r>
              <a:rPr lang="en-US" altLang="zh-CN" sz="2600" spc="-14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down. 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/>
          <p:nvPr/>
        </p:nvPicPr>
        <p:blipFill>
          <a:blip r:embed="rId3"/>
          <a:stretch>
            <a:fillRect/>
          </a:stretch>
        </p:blipFill>
        <p:spPr>
          <a:xfrm>
            <a:off x="4427855" y="4260215"/>
            <a:ext cx="2402840" cy="2366010"/>
          </a:xfrm>
          <a:prstGeom prst="rect">
            <a:avLst/>
          </a:prstGeom>
        </p:spPr>
      </p:pic>
      <p:pic>
        <p:nvPicPr>
          <p:cNvPr id="10" name="Para.5">
            <a:hlinkClick r:id="" action="ppaction://media"/>
          </p:cNvPr>
          <p:cNvPicPr/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98610" y="4145915"/>
            <a:ext cx="495300" cy="49530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A30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512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359410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Unit 8 Phrases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0" name="图片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34085" y="958850"/>
            <a:ext cx="4388485" cy="4892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倒不是说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等事情平息下来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（也许）最好的安排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像储存坚果过冬的松鼠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一样忙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被急事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耽搁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搬起石头砸了自己的脚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被血浸透的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绷带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费力地走出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赶走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产生恶果；造成重大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损失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偶然发现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得过且过；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随波逐流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变得清晰；成为关注的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焦点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0685" y="958850"/>
            <a:ext cx="6162675" cy="4892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Not that...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wait for things to quiet down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all for the best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as busy as a squirrel storing nuts for the winter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detained by some urgent business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picks up a stone only to drop it on his own toes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blood-soaked bandage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work my way out of/through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drive off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take one’s toll (on...)</a:t>
            </a:r>
            <a:endParaRPr lang="en-US" altLang="zh-CN" sz="240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stumble upon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drift aimlessly /drift along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come into focus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3013075" y="160655"/>
            <a:ext cx="6171565" cy="52197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chemeClr val="bg1"/>
                </a:solidFill>
                <a:latin typeface="Arial Black" panose="020B0A04020102020204" pitchFamily="34" charset="0"/>
              </a:rPr>
              <a:t>Unit Task: Giving a speech</a:t>
            </a:r>
            <a:endParaRPr lang="en-US" altLang="zh-CN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4085" y="958850"/>
            <a:ext cx="7675880" cy="32042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2800" i="1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 Make a 2-minute English speech (150-200 words suggested) with one of the following titles:</a:t>
            </a:r>
            <a:endParaRPr lang="en-US" altLang="zh-CN" sz="2800" i="1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1. One World, One Home: Humans and Animals in Coexistence</a:t>
            </a:r>
            <a:endParaRPr lang="en-US" altLang="zh-CN" sz="2800"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2. My Vision of the Future World</a:t>
            </a:r>
            <a:endParaRPr lang="en-US" altLang="zh-CN" sz="2800"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3. Beautiful China</a:t>
            </a:r>
            <a:endParaRPr lang="en-US" altLang="zh-CN" sz="2800"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9184640" y="958850"/>
            <a:ext cx="2186940" cy="3130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6765" y="4439285"/>
            <a:ext cx="11060430" cy="1778635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1. Content 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         50%  (</a:t>
            </a: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original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, coherent, impressive, persuasive, interesting, 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figures of speech, free of error, audience-oriented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)</a:t>
            </a:r>
            <a:endParaRPr lang="en-US" altLang="zh-CN" sz="2600" dirty="0">
              <a:solidFill>
                <a:schemeClr val="accent2"/>
              </a:solidFill>
              <a:latin typeface="Calibri" panose="020F0502020204030204" charset="0"/>
              <a:ea typeface="GulimChe" panose="020B0609000101010101" pitchFamily="49" charset="-127"/>
              <a:cs typeface="Calibri" panose="020F0502020204030204" charset="0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2800" b="1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2. Performance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  50%  (</a:t>
            </a: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fluency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, </a:t>
            </a: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pronunciation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, </a:t>
            </a:r>
            <a:r>
              <a:rPr lang="en-US" altLang="zh-CN" sz="2600" b="1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rhythm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, 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tone, </a:t>
            </a:r>
            <a:r>
              <a:rPr lang="en-US" altLang="zh-CN" sz="2600" dirty="0">
                <a:solidFill>
                  <a:schemeClr val="accent2"/>
                </a:solidFill>
                <a:latin typeface="Calibri" panose="020F0502020204030204" charset="0"/>
                <a:ea typeface="GulimChe" panose="020B0609000101010101" pitchFamily="49" charset="-127"/>
                <a:cs typeface="Calibri" panose="020F0502020204030204" charset="0"/>
                <a:sym typeface="+mn-ea"/>
              </a:rPr>
              <a:t>emotion, eye contact, gestures...) (preferably without script)</a:t>
            </a:r>
            <a:endParaRPr lang="en-US" altLang="zh-CN" sz="2600" dirty="0">
              <a:solidFill>
                <a:schemeClr val="accent2"/>
              </a:solidFill>
              <a:latin typeface="Calibri" panose="020F0502020204030204" charset="0"/>
              <a:ea typeface="GulimChe" panose="020B0609000101010101" pitchFamily="49" charset="-127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4" grpId="0" animBg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6548755" cy="5232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3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What are the words for the female? (Don’t use “female”)</a:t>
            </a:r>
            <a:endParaRPr lang="en-US" altLang="zh-CN" sz="26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母狼：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[填空1]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母狮子：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[填空2]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母牛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[填空3]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公主：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</a:t>
            </a:r>
            <a:r>
              <a:rPr lang="en-US" altLang="zh-CN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女英雄：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</a:t>
            </a:r>
            <a:r>
              <a:rPr lang="en-US" altLang="zh-CN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7944485" y="2040573"/>
            <a:ext cx="3333750" cy="2390775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A30C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spcBef>
                <a:spcPts val="300"/>
              </a:spcBef>
              <a:buNone/>
              <a:defRPr/>
            </a:pPr>
            <a:r>
              <a:rPr kumimoji="0" lang="en-US" altLang="zh-CN" sz="2800" b="1" i="0" u="none" strike="noStrike" kern="1200" cap="none" spc="-10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lang="en-US" altLang="zh-CN" b="1" spc="-100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. Give the words for the opposite sex.</a:t>
            </a:r>
            <a:endParaRPr kumimoji="0" lang="en-US" altLang="zh-CN" sz="2800" b="1" i="0" u="none" strike="noStrike" kern="1200" cap="none" spc="-10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r>
              <a:rPr kumimoji="0" lang="en-US" altLang="zh-CN" sz="28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	</a:t>
            </a: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endParaRPr lang="en-US" altLang="zh-CN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endParaRPr lang="en-US" altLang="zh-CN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endParaRPr kumimoji="0" lang="en-US" altLang="zh-CN" sz="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897255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6185088" y="1277918"/>
          <a:ext cx="5124096" cy="46049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62048"/>
                <a:gridCol w="2562048"/>
              </a:tblGrid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Male</a:t>
                      </a:r>
                      <a:endParaRPr lang="en-US" altLang="zh-CN" sz="2800" dirty="0" smtClean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Female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he-monkey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congressman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bull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male member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lion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widower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fiancé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70238" y="1264508"/>
            <a:ext cx="4572000" cy="477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08679" y="1309815"/>
          <a:ext cx="5124096" cy="46049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62048"/>
                <a:gridCol w="2562048"/>
              </a:tblGrid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Male</a:t>
                      </a:r>
                      <a:endParaRPr lang="en-US" altLang="zh-CN" sz="2800" dirty="0" smtClean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Female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hero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prince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waiter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rooster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horse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emperor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6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policeman</a:t>
                      </a:r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354379" y="1942245"/>
            <a:ext cx="2544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heroine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54379" y="2498905"/>
            <a:ext cx="2544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princess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54379" y="3057174"/>
            <a:ext cx="2578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waitress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54379" y="3673188"/>
            <a:ext cx="2544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hen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54379" y="4229848"/>
            <a:ext cx="2578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mare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54379" y="4788117"/>
            <a:ext cx="2544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empress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87544" y="5354404"/>
            <a:ext cx="251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policewoman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60236" y="1864384"/>
            <a:ext cx="2548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she-monkey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760235" y="2425782"/>
            <a:ext cx="2548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congresswoman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760234" y="3026693"/>
            <a:ext cx="2548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cow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760234" y="3595327"/>
            <a:ext cx="254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female member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60234" y="4199367"/>
            <a:ext cx="2548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lioness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760234" y="4757636"/>
            <a:ext cx="2504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widow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760234" y="5323923"/>
            <a:ext cx="2504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fiancée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7" grpId="0"/>
      <p:bldP spid="18" grpId="0"/>
      <p:bldP spid="19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kumimoji="0" lang="en-US" altLang="zh-CN" sz="2800" b="1" i="0" u="none" strike="noStrike" kern="1200" cap="none" spc="-10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</a:t>
            </a:r>
            <a:r>
              <a:rPr lang="en-US" altLang="zh-CN" b="1" spc="-100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Translate the following expressions into </a:t>
            </a:r>
            <a:r>
              <a:rPr lang="en-US" altLang="zh-CN" b="1" spc="-100" dirty="0" smtClean="0">
                <a:solidFill>
                  <a:srgbClr val="ED7D31">
                    <a:lumMod val="7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English.</a:t>
            </a:r>
            <a:endParaRPr lang="en-US" altLang="zh-CN" b="1" spc="-100" dirty="0">
              <a:solidFill>
                <a:srgbClr val="ED7D31">
                  <a:lumMod val="75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680" lvl="0" indent="-36068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r>
              <a:rPr lang="en-US" altLang="zh-CN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养狗 </a:t>
            </a:r>
            <a:r>
              <a:rPr lang="en-US" altLang="zh-CN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猫（作为宠物）；养马 </a:t>
            </a:r>
            <a:r>
              <a:rPr lang="en-US" altLang="zh-CN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警犬（作为经营业务）；养孩子；举手；举枪；抬起头；提高嗓门；提高收入；提出强烈反对</a:t>
            </a:r>
            <a:endParaRPr lang="en-US" altLang="zh-CN" sz="24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9705" lvl="0" indent="-179705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keep a dog/a cat; keep horses/police dogs; raise children; raise one’s hand(s);raise the rifle/gun; raise one’s head; raise one’s voice; raise one’s income; raise a strong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objection</a:t>
            </a:r>
            <a:endParaRPr lang="en-US" altLang="zh-CN" u="sng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r>
              <a:rPr lang="en-US" altLang="zh-CN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铺桌子（准备吃饭）；打基础；设陷阱；生蛋</a:t>
            </a:r>
            <a:endParaRPr lang="en-US" altLang="zh-CN" sz="24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lay the table; lay the foundation; lay a trap; lay eggs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marR="0" lvl="0" indent="0" algn="just" defTabSz="897255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1433195" algn="l"/>
                <a:tab pos="1972945" algn="l"/>
                <a:tab pos="2870200" algn="l"/>
                <a:tab pos="3768725" algn="l"/>
                <a:tab pos="5560695" algn="l"/>
                <a:tab pos="7356475" algn="l"/>
                <a:tab pos="9239250" algn="l"/>
              </a:tabLst>
              <a:defRPr/>
            </a:pP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20" name="图片 1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0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Translate the following expressions into </a:t>
            </a:r>
            <a:r>
              <a:rPr kumimoji="0" lang="en-US" altLang="zh-CN" sz="2800" b="1" i="0" u="none" strike="noStrike" kern="1200" cap="none" spc="-100" normalizeH="0" baseline="0" noProof="0" dirty="0" smtClean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English.</a:t>
            </a:r>
            <a:endParaRPr kumimoji="0" lang="en-US" altLang="zh-CN" sz="2800" b="1" i="0" u="none" strike="noStrike" kern="1200" cap="none" spc="-100" normalizeH="0" baseline="0" noProof="0" dirty="0" smtClean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装满烟斗；装满箱包；填补差距；遵守约定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fill the pipe; fill the box/bag; fill the gap; fill one’s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appointment</a:t>
            </a:r>
            <a:endParaRPr lang="en-US" altLang="zh-CN" u="sng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9875" lvl="0" indent="-269875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生火；放火；点火；着火；灭火；发生火灾了； 被火烧掉了；正在燃烧；火蔓延烧到其他地方；火势渐渐小了；火自己熄灭了；重新把火扇着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79705" lvl="0" indent="-179705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make a fire; set fire (to); light a fire; catch fire; put out the fire; (a fire) broke out; burn sth. down; be on fire; (fire) spread to; (the fire) died down; (the fire) died out; fan the fire back to life</a:t>
            </a: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20" name="图片 19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sp>
        <p:nvSpPr>
          <p:cNvPr id="14" name="内容占位符 2"/>
          <p:cNvSpPr txBox="1"/>
          <p:nvPr/>
        </p:nvSpPr>
        <p:spPr bwMode="auto">
          <a:xfrm>
            <a:off x="259715" y="758190"/>
            <a:ext cx="11630025" cy="5249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0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Translate the following expressions into English.</a:t>
            </a:r>
            <a:endParaRPr kumimoji="0" lang="en-US" altLang="zh-CN" sz="2800" b="1" i="0" u="none" strike="noStrike" kern="1200" cap="none" spc="-10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有了力气；增加体重；加快速度；获得利润；取得经验；获得知识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69875" lvl="0" indent="-269875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gain strength; gain weight; gain speed; gain profits; gain experience; gain   knowledge (Note: It is rather formal and always means to obtain something to your advantage.)</a:t>
            </a:r>
            <a:endParaRPr lang="en-US" altLang="zh-CN" dirty="0">
              <a:solidFill>
                <a:srgbClr val="C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r>
              <a:rPr lang="zh-CN" altLang="en-US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（高兴得）冲昏头脑；使读者糊涂；使问题复杂化</a:t>
            </a:r>
            <a:endParaRPr lang="en-US" altLang="zh-CN" sz="24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sz="24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fog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one’s mind; confuse the readers; complicate the matter</a:t>
            </a:r>
            <a:r>
              <a:rPr lang="en-US" altLang="zh-CN" sz="4000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4000" spc="-10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spc="-1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7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r>
              <a:rPr lang="zh-CN" altLang="en-US" sz="2400" b="1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打翻篮子；使人烦恼；打乱计划；打破平衡</a:t>
            </a:r>
            <a:endParaRPr lang="en-US" altLang="zh-CN" sz="240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spcBef>
                <a:spcPts val="1200"/>
              </a:spcBef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  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 upset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rPr>
              <a:t>the basket; upset sb.; upset a plan; upset the balance</a:t>
            </a: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Fill in the blanks with the correct prepositions or adverbs, paying attention to the verb phrases with “come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.”</a:t>
            </a:r>
            <a:endParaRPr kumimoji="0" lang="en-US" altLang="zh-CN" sz="24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lnSpc>
                <a:spcPct val="114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 is natural that we will come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 (&lt;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偶然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&gt;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遇见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many difficulties in our relationship. There is no cause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alarm. I’m sure the present storm will blow itself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_____.</a:t>
            </a:r>
            <a:endParaRPr kumimoji="0" lang="en-US" altLang="zh-CN" sz="2800" b="0" i="0" u="none" strike="noStrike" kern="1200" cap="none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lnSpc>
                <a:spcPct val="114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This kind of fruit is no longer hard to come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_____(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得到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You can find it all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place.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lnSpc>
                <a:spcPct val="114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came __________ a book the other day. It came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_____(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出版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quite recently. It was so interesting that I could hardly tear myself away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236777" y="1610124"/>
            <a:ext cx="1297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across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71202" y="2090105"/>
            <a:ext cx="963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13033" y="2485733"/>
            <a:ext cx="762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11039" y="3097218"/>
            <a:ext cx="611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1190" y="3575031"/>
            <a:ext cx="884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over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74550" y="4098056"/>
            <a:ext cx="2059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across/upon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93911" y="4088182"/>
            <a:ext cx="902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16788" y="4573539"/>
            <a:ext cx="1058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from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6" name="图片 2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5" grpId="0"/>
      <p:bldP spid="16" grpId="0"/>
      <p:bldP spid="17" grpId="0"/>
      <p:bldP spid="18" grpId="0"/>
      <p:bldP spid="21" grpId="0"/>
      <p:bldP spid="22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715" y="758190"/>
            <a:ext cx="11630025" cy="532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Fill in the blanks with the correct prepositions or adverbs, paying attention to the verb phrases with “come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.”</a:t>
            </a:r>
            <a:r>
              <a:rPr kumimoji="0" lang="en-US" altLang="zh-CN" sz="2600" b="0" i="0" u="none" strike="noStrike" kern="120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Zhou Yu suddenly came __________ a big problem. To destroy the enemy ships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fire, he would need to have an east wind, but at that time of year, the wind usually blew the other way.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People were overjoyed when the boy was still alive when they dug him out. The boy remained unconscious for several hours. When he finally came _____ (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苏醒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), the first thing he asked for was a chocolate bar. </a:t>
            </a:r>
            <a:endParaRPr lang="en-US" altLang="zh-CN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defTabSz="897255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Many different opinions came ________(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出现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at the meeting. So the plan had to be dropped. But it was all ______ the best, because otherwise we would have fallen right ______ the enemy’s trap.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260452" y="1553610"/>
            <a:ext cx="2002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upon/across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89452" y="2002687"/>
            <a:ext cx="869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13465" y="3759663"/>
            <a:ext cx="565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18197" y="4220333"/>
            <a:ext cx="1316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up/out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925470" y="4592124"/>
            <a:ext cx="804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81647" y="5067640"/>
            <a:ext cx="900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1" name="图片 3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Fill in the blanks with the correct prepositions or adverbs, paying attention to the verb phrases with “come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.”</a:t>
            </a:r>
            <a:r>
              <a:rPr kumimoji="0" lang="en-US" altLang="zh-CN" sz="2600" b="0" i="0" u="none" strike="noStrike" kern="1200" cap="none" spc="-10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0" i="0" u="none" strike="noStrike" kern="1200" cap="none" spc="-10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lnSpc>
                <a:spcPct val="125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I’m afraid the main idea still does not come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________(</a:t>
            </a:r>
            <a:r>
              <a:rPr lang="zh-CN" altLang="en-US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体现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this article. Can you try again and make it come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focus?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defTabSz="897255" eaLnBrk="1" hangingPunct="1">
              <a:lnSpc>
                <a:spcPct val="125000"/>
              </a:lnSpc>
              <a:spcBef>
                <a:spcPts val="300"/>
              </a:spcBef>
              <a:buNone/>
              <a:tabLst>
                <a:tab pos="1524000" algn="l"/>
                <a:tab pos="3138170" algn="l"/>
                <a:tab pos="5382895" algn="l"/>
                <a:tab pos="7175500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His cabin is located ________________ the edge of a forest. It is safe and he usually leaves the door unlocked. But in winter when the place is smothered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thick snow, he is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trouble because it is extremely difficult to work his way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nearest town.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282480" y="1592444"/>
            <a:ext cx="1383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through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13594" y="2115664"/>
            <a:ext cx="780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90950" y="2738793"/>
            <a:ext cx="2877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at/near/by/along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2115" y="3812540"/>
            <a:ext cx="1376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with/by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88460" y="3812540"/>
            <a:ext cx="539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in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59921" y="4335802"/>
            <a:ext cx="603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to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4" name="图片 23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25" name="图片 24" descr="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4023" y="6007035"/>
            <a:ext cx="1103630" cy="554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715" y="758190"/>
            <a:ext cx="11630025" cy="5676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680" lvl="0" indent="-360680" algn="just" eaLnBrk="1" hangingPunct="1">
              <a:spcBef>
                <a:spcPts val="300"/>
              </a:spcBef>
              <a:buNone/>
              <a:defRPr/>
            </a:pP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Rewrite the following sentences, replacing the parts in bold type with the correct form of the words and expressions listed below</a:t>
            </a:r>
            <a:r>
              <a:rPr lang="en-US" altLang="zh-CN" b="1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b="1" dirty="0" smtClean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1. It took him quite some time to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get the fire going again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lvl="0" indent="-266700" algn="just" eaLnBrk="1" hangingPunct="1"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to fan the fire back to life.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lvl="0" indent="-266700" algn="just" eaLnBrk="1" hangingPunct="1"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2. ... as busy as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 bee making honey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lvl="0" indent="-266700" algn="just" eaLnBrk="1" hangingPunct="1"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as busy as a squirrel storing nuts</a:t>
            </a:r>
            <a:r>
              <a:rPr lang="en-US" altLang="zh-CN" dirty="0" smtClean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spc="-10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3</a:t>
            </a:r>
            <a:r>
              <a:rPr lang="en-US" altLang="zh-CN" spc="-1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My brother failed in the entrance exam. But I told him that perhaps it was </a:t>
            </a:r>
            <a:r>
              <a:rPr lang="en-US" altLang="zh-CN" spc="-1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a good thing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for him, because now he could be a farmer </a:t>
            </a:r>
            <a:r>
              <a:rPr lang="en-US" altLang="zh-CN" spc="-1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all his life 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as he had once wished</a:t>
            </a:r>
            <a:r>
              <a:rPr lang="en-US" altLang="zh-CN" spc="-1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</a:t>
            </a:r>
            <a:endParaRPr kumimoji="0" lang="en-US" altLang="zh-CN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But I told him that perhaps</a:t>
            </a:r>
            <a:r>
              <a:rPr lang="en-US" altLang="zh-CN" u="sng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it was all for the best</a:t>
            </a:r>
            <a:r>
              <a:rPr lang="en-US" altLang="zh-CN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for him, because now he could be a farmer </a:t>
            </a:r>
            <a:r>
              <a:rPr lang="en-US" altLang="zh-CN" u="sng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for life</a:t>
            </a:r>
            <a:r>
              <a:rPr lang="en-US" altLang="zh-CN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as he had once wished</a:t>
            </a:r>
            <a:endParaRPr kumimoji="0" lang="en-US" altLang="zh-CN" b="0" i="0" u="none" strike="noStrike" kern="1200" cap="none" spc="-1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spc="-1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4. 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The pipe is small and only a little boy can </a:t>
            </a:r>
            <a:r>
              <a:rPr lang="en-US" altLang="zh-CN" spc="-10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manage to get through</a:t>
            </a:r>
            <a:r>
              <a:rPr lang="en-US" altLang="zh-CN" spc="-1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it to the basement</a:t>
            </a:r>
            <a:r>
              <a:rPr lang="en-US" altLang="zh-CN" spc="-1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</a:t>
            </a:r>
            <a:endParaRPr kumimoji="0" lang="en-US" altLang="zh-CN" b="0" i="0" u="none" strike="noStrike" kern="1200" cap="none" spc="-1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spc="-1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</a:t>
            </a:r>
            <a:r>
              <a:rPr lang="en-US" altLang="zh-CN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can work his way through it.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81305" y="763270"/>
            <a:ext cx="11630025" cy="56527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en-US" altLang="zh-CN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5</a:t>
            </a: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It was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not because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she didn’t like Canada. She liked it very much. But she wanted to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work for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her own country.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... It was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not that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she didn’t like Canada.    to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serve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her own country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303395" algn="l"/>
              </a:tabLst>
              <a:defRPr/>
            </a:pPr>
            <a:r>
              <a:rPr lang="en-US" altLang="zh-CN" spc="-12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spc="-12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</a:t>
            </a:r>
            <a:r>
              <a:rPr lang="en-US" altLang="zh-CN" spc="-1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For some time we went everywhere </a:t>
            </a:r>
            <a:r>
              <a:rPr lang="en-US" altLang="zh-CN" spc="-12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looking for</a:t>
            </a:r>
            <a:r>
              <a:rPr lang="en-US" altLang="zh-CN" spc="-1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people ... Then our leaders decided to </a:t>
            </a:r>
            <a:r>
              <a:rPr lang="en-US" altLang="zh-CN" spc="-12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keep</a:t>
            </a:r>
            <a:r>
              <a:rPr lang="en-US" altLang="zh-CN" spc="-1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our three-hundred-year town </a:t>
            </a:r>
            <a:r>
              <a:rPr lang="en-US" altLang="zh-CN" spc="-12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as it was</a:t>
            </a:r>
            <a:r>
              <a:rPr lang="en-US" altLang="zh-CN" spc="-1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. </a:t>
            </a:r>
            <a:endParaRPr lang="en-US" altLang="zh-CN" spc="-120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303395" algn="l"/>
              </a:tabLst>
              <a:defRPr/>
            </a:pPr>
            <a:r>
              <a:rPr lang="en-US" altLang="zh-CN" spc="-12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...</a:t>
            </a:r>
            <a:r>
              <a:rPr lang="en-US" altLang="zh-CN" spc="-12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u="sng" spc="-12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in search of </a:t>
            </a:r>
            <a:r>
              <a:rPr lang="en-US" altLang="zh-CN" spc="-12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people...decided to </a:t>
            </a:r>
            <a:r>
              <a:rPr lang="en-US" altLang="zh-CN" u="sng" spc="-12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leave</a:t>
            </a:r>
            <a:r>
              <a:rPr lang="en-US" altLang="zh-CN" spc="-12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our three-hundred-year town </a:t>
            </a:r>
            <a:r>
              <a:rPr lang="en-US" altLang="zh-CN" u="sng" spc="-12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unchanged</a:t>
            </a:r>
            <a:r>
              <a:rPr lang="en-US" altLang="zh-CN" spc="-12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. </a:t>
            </a:r>
            <a:endParaRPr lang="en-US" altLang="zh-CN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sym typeface="+mn-ea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303395" algn="l"/>
              </a:tabLst>
              <a:defRPr/>
            </a:pP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7.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These endless power struggles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did a lot of damage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and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made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the Roman Empire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collapse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at last.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303395" algn="l"/>
              </a:tabLst>
              <a:defRPr/>
            </a:pP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  ...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took a heavy toll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and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caused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the Roman Empire </a:t>
            </a:r>
            <a:r>
              <a:rPr lang="en-US" altLang="zh-CN" u="sng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to fall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at last.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303395" algn="l"/>
              </a:tabLst>
              <a:defRPr/>
            </a:pPr>
            <a:r>
              <a:rPr lang="en-US" altLang="zh-CN" spc="-1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8. </a:t>
            </a:r>
            <a:r>
              <a:rPr lang="en-US" altLang="zh-CN" spc="-1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After a moment, in sailed the angry fat lady </a:t>
            </a:r>
            <a:r>
              <a:rPr lang="en-US" altLang="zh-CN" spc="-12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saying firmly</a:t>
            </a:r>
            <a:r>
              <a:rPr lang="en-US" altLang="zh-CN" spc="-12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 that the waiter must be fired.</a:t>
            </a:r>
            <a:endParaRPr kumimoji="0" lang="en-US" altLang="zh-CN" b="0" i="0" u="none" strike="noStrike" kern="1200" cap="none" spc="-1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303395" algn="l"/>
              </a:tabLst>
              <a:defRPr/>
            </a:pPr>
            <a:r>
              <a:rPr lang="zh-CN" altLang="en-US" spc="-1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u="sng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demanding</a:t>
            </a:r>
            <a:r>
              <a:rPr lang="en-US" altLang="zh-CN" spc="-1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 that the waiter be fired.</a:t>
            </a:r>
            <a:endParaRPr lang="en-US" altLang="zh-CN" spc="-1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9. ...until the moving objects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  <a:sym typeface="+mn-ea"/>
              </a:rPr>
              <a:t>became clearer on the screen</a:t>
            </a:r>
            <a:r>
              <a:rPr lang="en-US" altLang="zh-CN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sym typeface="+mn-ea"/>
              </a:rPr>
              <a:t>. 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marR="0" lvl="0" indent="-2667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303395" algn="l"/>
              </a:tabLst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...the moving objects </a:t>
            </a:r>
            <a:r>
              <a:rPr lang="en-US" altLang="zh-CN" u="sng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came into focus</a:t>
            </a:r>
            <a:r>
              <a:rPr lang="en-US" altLang="zh-CN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. 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66700" lvl="0" indent="-266700" algn="just" eaLnBrk="1" hangingPunct="1">
              <a:lnSpc>
                <a:spcPct val="80000"/>
              </a:lnSpc>
              <a:spcBef>
                <a:spcPts val="30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-1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marR="0" lvl="0" indent="-269875" algn="just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</a:t>
            </a:r>
            <a:r>
              <a:rPr kumimoji="0" lang="en-US" altLang="zh-CN" sz="2800" b="1" i="0" u="none" strike="noStrike" kern="1200" cap="none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Study the following examples and complete the sentences by translating the Chinese in the brackets.</a:t>
            </a:r>
            <a:endParaRPr kumimoji="0" lang="en-US" altLang="zh-CN" sz="2800" b="1" i="0" u="none" strike="noStrike" kern="1200" cap="none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04975" lvl="0" indent="-1704975" algn="just" eaLnBrk="1" hangingPunct="1">
              <a:spcBef>
                <a:spcPts val="600"/>
              </a:spcBef>
              <a:buNone/>
              <a:defRPr/>
            </a:pPr>
            <a:r>
              <a:rPr lang="en-US" altLang="zh-CN" spc="-140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    Example 1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: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</a:t>
            </a: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was some time before </a:t>
            </a: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the bleeding stopped. (para. 28)</a:t>
            </a:r>
            <a:endParaRPr kumimoji="0" lang="en-US" altLang="zh-CN" sz="2800" b="0" i="0" u="none" strike="noStrike" kern="1200" cap="none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360680" lvl="0" indent="-360680" algn="just" eaLnBrk="1" hangingPunct="1">
              <a:spcBef>
                <a:spcPts val="600"/>
              </a:spcBef>
              <a:buNone/>
              <a:tabLst>
                <a:tab pos="4303395" algn="l"/>
              </a:tabLst>
              <a:defRPr/>
            </a:pP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680" lvl="0" indent="-36068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It was quite some time___________________________________________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360680" lvl="0" indent="-36068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  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我才意识到自己真正的兴趣所在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.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Calibri" panose="020F0502020204030204" charset="0"/>
            </a:endParaRPr>
          </a:p>
          <a:p>
            <a:pPr marL="360680" lvl="0" indent="-36068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2. Many years may have to pass______________________________________ __________________________ 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人类才开始明白自然界不应该是被人类征服的对象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984509" y="2587422"/>
            <a:ext cx="7831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pc="-30" dirty="0">
                <a:latin typeface="Calibri" panose="020F0502020204030204" charset="0"/>
                <a:ea typeface="宋体" panose="02010600030101010101" pitchFamily="2" charset="-122"/>
              </a:rPr>
              <a:t>before I came to realize what I was really interested in</a:t>
            </a:r>
            <a:endParaRPr lang="zh-CN" altLang="en-US" spc="-3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86138" y="3670517"/>
            <a:ext cx="10981682" cy="1129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                                                      before human beings can realize that nature </a:t>
            </a:r>
            <a:endParaRPr lang="en-US" altLang="zh-CN" dirty="0">
              <a:latin typeface="Calibri" panose="020F0502020204030204" charset="0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is not meant to be conquered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lvl="0" indent="-269875" algn="just" eaLnBrk="1" hangingPunct="1">
              <a:spcBef>
                <a:spcPts val="600"/>
              </a:spcBef>
              <a:buNone/>
              <a:defRPr/>
            </a:pP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the Chinese in the brackets.</a:t>
            </a:r>
            <a:endParaRPr lang="en-US" altLang="zh-CN" b="1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1704975" lvl="0" indent="-1704975" algn="just" eaLnBrk="1" hangingPunct="1">
              <a:spcBef>
                <a:spcPts val="600"/>
              </a:spcBef>
              <a:buNone/>
              <a:defRPr/>
            </a:pPr>
            <a:r>
              <a:rPr lang="en-US" altLang="zh-CN" spc="-140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    Example 2: </a:t>
            </a:r>
            <a:r>
              <a:rPr lang="en-US" altLang="zh-CN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had not gone far before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big flakes of snow began drifting down. (para. 22)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ts val="600"/>
              </a:spcBef>
              <a:buNone/>
              <a:defRPr/>
            </a:pPr>
            <a:endParaRPr lang="en-US" altLang="zh-CN" spc="-140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9875" lvl="0" indent="-269875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3. Yuan </a:t>
            </a:r>
            <a:r>
              <a:rPr lang="en-US" altLang="zh-CN" dirty="0" err="1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Shikai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had only been an emperor for less than three months _________________________________________ 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他就被迫放弃这个主意了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9875" lvl="0" indent="-269875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They had not been married long _________________________________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_________________________ 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她丈夫就被拉去修长城了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30430" y="3538336"/>
            <a:ext cx="703715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algn="just" eaLnBrk="0" fontAlgn="base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before/when he was forced to give up the idea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1265" y="4041289"/>
            <a:ext cx="111501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algn="just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                                                                </a:t>
            </a: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before/when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her husband was </a:t>
            </a: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dragged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away to build the Great Wall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18" name="图片 1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Study the following examples and complete the sentences by translating the Chinese in the brackets.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04975" lvl="0" indent="-1704975" algn="just" eaLnBrk="1" hangingPunct="1">
              <a:spcBef>
                <a:spcPts val="600"/>
              </a:spcBef>
              <a:buNone/>
              <a:defRPr/>
            </a:pPr>
            <a:r>
              <a:rPr kumimoji="0" lang="en-US" altLang="zh-CN" sz="2800" b="0" i="0" u="none" strike="noStrike" kern="1200" cap="none" spc="-14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Example 3: </a:t>
            </a:r>
            <a:r>
              <a:rPr kumimoji="0" lang="en-US" altLang="zh-CN" sz="2800" b="0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That year … was the happiest of my life.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Not that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we didn’t have our troubles</a:t>
            </a:r>
            <a:r>
              <a:rPr kumimoji="0" lang="en-US" altLang="zh-CN" sz="2800" b="0" i="0" u="none" strike="noStrike" kern="120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 (para.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4–5)</a:t>
            </a:r>
            <a:endParaRPr kumimoji="0" lang="en-US" altLang="zh-CN" sz="2800" b="0" i="0" u="none" strike="noStrike" kern="120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-14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9875" lvl="0" indent="-269875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I feel that I am the luckiest wife in the world.__________________________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__________________________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倒不是因为我丈夫有钱有势，或者才貌双全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9875" lvl="0" indent="-269875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I am proud of my hometown.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_________________________________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倒不是因为它没有各种问题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35268" y="2913049"/>
            <a:ext cx="11254472" cy="1129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lvl="0" algn="just" eaLnBrk="0" fontAlgn="base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                                                                                Not that my husband is rich </a:t>
            </a:r>
            <a:r>
              <a:rPr lang="en-US" altLang="zh-CN" spc="-130" dirty="0">
                <a:latin typeface="Calibri" panose="020F0502020204030204" charset="0"/>
                <a:ea typeface="宋体" panose="02010600030101010101" pitchFamily="2" charset="-122"/>
              </a:rPr>
              <a:t>and powerful, or smart and handsome</a:t>
            </a:r>
            <a:endParaRPr kumimoji="0" lang="zh-CN" altLang="en-US" sz="2800" b="0" i="0" u="none" strike="noStrike" kern="1200" cap="none" spc="-13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5267" y="4042717"/>
            <a:ext cx="11171389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lvl="0" algn="just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                                                                 </a:t>
            </a: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Not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that it doesn’t have its share </a:t>
            </a:r>
            <a:r>
              <a:rPr lang="en-US" altLang="zh-CN" dirty="0" smtClean="0">
                <a:latin typeface="Calibri" panose="020F0502020204030204" charset="0"/>
                <a:ea typeface="宋体" panose="02010600030101010101" pitchFamily="2" charset="-122"/>
              </a:rPr>
              <a:t>of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problems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图片 1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9875" marR="0" lvl="0" indent="-269875" algn="just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Study the following examples and complete the sentences by translating the Chinese in the brackets.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1704975" lvl="0" indent="-1704975" algn="just" eaLnBrk="1" hangingPunct="1">
              <a:spcBef>
                <a:spcPts val="600"/>
              </a:spcBef>
              <a:buNone/>
              <a:defRPr/>
            </a:pPr>
            <a:r>
              <a:rPr kumimoji="0" lang="en-US" altLang="zh-CN" sz="2800" b="0" i="0" u="none" strike="noStrike" kern="1200" cap="none" spc="-14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Example 4: </a:t>
            </a:r>
            <a:r>
              <a:rPr kumimoji="0" lang="en-US" altLang="zh-CN" sz="2800" b="0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 err="1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Maheegun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was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most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mischievous wolf cub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ever</a:t>
            </a:r>
            <a:r>
              <a:rPr kumimoji="0" lang="en-US" altLang="zh-CN" sz="2800" b="0" i="0" u="none" strike="noStrike" kern="120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 (para. 5)</a:t>
            </a:r>
            <a:endParaRPr kumimoji="0" lang="en-US" altLang="zh-CN" sz="2800" b="0" i="0" u="none" strike="noStrike" kern="1200" cap="none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-14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9875" lvl="0" indent="-269875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Lu </a:t>
            </a:r>
            <a:r>
              <a:rPr lang="en-US" altLang="zh-CN" dirty="0" err="1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Xun’s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True Story of Ah Q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, the poor guy is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____________________ __________________________________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被描写成一个世上少有的健忘的人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9875" lvl="0" indent="-269875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In my memory, he is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_____________________________________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世上最正直的人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D743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75292" y="2527892"/>
            <a:ext cx="11092527" cy="1129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lvl="0" algn="just" eaLnBrk="0" fontAlgn="base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                                                                                             described as one of the most forgetful persons in the world ever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16468" y="3667316"/>
            <a:ext cx="6407404" cy="591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lv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the most upright person in the world ever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图片 1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715" y="758190"/>
            <a:ext cx="11630025" cy="49822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just" eaLnBrk="1" hangingPunct="1">
              <a:spcBef>
                <a:spcPts val="600"/>
              </a:spcBef>
              <a:buNone/>
              <a:defRPr/>
            </a:pP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Study the following examples and complete the sentences by translating the Chinese in the brackets.</a:t>
            </a:r>
            <a:endParaRPr lang="en-US" altLang="zh-CN" b="1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spcBef>
                <a:spcPts val="600"/>
              </a:spcBef>
              <a:buNone/>
              <a:defRPr/>
            </a:pPr>
            <a:r>
              <a:rPr lang="en-US" altLang="zh-CN" spc="-140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   Example 5:</a:t>
            </a:r>
            <a:r>
              <a:rPr lang="en-US" altLang="zh-CN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tried to travel west but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only to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hit the creek again. (para. 24)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spcBef>
                <a:spcPts val="600"/>
              </a:spcBef>
              <a:buNone/>
              <a:defRPr/>
            </a:pPr>
            <a:endParaRPr lang="en-US" altLang="zh-CN" spc="-140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What they were doing was very much like a person picking up a big stone _____________________________ 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结果砸了自己的脚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10. He tried to stop the man who was running after a girl with a gun in his hand, _______________________________________ 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(</a:t>
            </a:r>
            <a:r>
              <a:rPr lang="zh-CN" altLang="en-US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结果发现他们只是在拍电影</a:t>
            </a:r>
            <a:r>
              <a:rPr lang="en-US" altLang="zh-CN" sz="2400" dirty="0">
                <a:solidFill>
                  <a:srgbClr val="CD7432"/>
                </a:solidFill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Calibri" panose="020F0502020204030204" charset="0"/>
              </a:rPr>
              <a:t>.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54208" y="3107544"/>
            <a:ext cx="4997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only to drop it on his own toes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8308" y="4249185"/>
            <a:ext cx="6789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only to find that they were shooting a movie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0" name="图片 19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10338435" cy="43967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40000"/>
              </a:lnSpc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Rewrite the two sentences into inversion.</a:t>
            </a:r>
            <a:endParaRPr lang="en-US" altLang="zh-CN" sz="2800" b="1" i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0" algn="l">
              <a:lnSpc>
                <a:spcPct val="14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1. </a:t>
            </a: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The Tomb of the Unknown Soldier lies in a corner of the park</a:t>
            </a:r>
            <a:r>
              <a:rPr lang="en-US" altLang="zh-CN" sz="28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.</a:t>
            </a:r>
            <a:endParaRPr lang="en-US" altLang="zh-CN" sz="28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ct val="140000"/>
              </a:lnSpc>
              <a:buNone/>
            </a:pPr>
            <a:endParaRPr lang="en-US" altLang="zh-CN" sz="28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2. The days when big powers can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order</a:t>
            </a: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other countries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about</a:t>
            </a:r>
            <a:r>
              <a:rPr lang="en-US" altLang="zh-CN" sz="2800" dirty="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are gone.</a:t>
            </a:r>
            <a:endParaRPr lang="en-US" altLang="zh-CN" sz="2800" dirty="0">
              <a:solidFill>
                <a:sysClr val="windowText" lastClr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ct val="14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(order ... about </a:t>
            </a: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使唤；发号施令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)</a:t>
            </a:r>
            <a:endParaRPr lang="en-US" altLang="zh-CN" sz="28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0" algn="l">
              <a:lnSpc>
                <a:spcPct val="140000"/>
              </a:lnSpc>
              <a:buNone/>
            </a:pPr>
            <a:endParaRPr lang="en-US" altLang="zh-CN" sz="28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A30C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Rewrite the following sentences by inverting the subject and main verb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</a:t>
            </a:r>
            <a:endParaRPr kumimoji="0" lang="en-US" altLang="zh-CN" sz="2800" b="0" i="0" u="none" strike="noStrike" kern="1200" cap="none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Three floor-length bookcases stood along a wall of the study(</a:t>
            </a:r>
            <a:r>
              <a:rPr lang="zh-CN" altLang="en-US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书房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).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  Along a wall of the study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stood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three floor-length bookcases.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 was midnight, but from the distance, the bangs of firecrackers came now and then.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It was midnight, but now and then, from the distance,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came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the bangs of firecrackers.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Tomb of the Unknown Soldier lies in a corner of the park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 a corner of the park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lies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the Tomb of the Unknown Soldier.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kumimoji="0" lang="en-US" altLang="zh-CN" sz="2800" b="1" i="0" u="none" strike="noStrike" kern="120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6. </a:t>
            </a:r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Rewrite the following sentences by inverting the subject and main verb</a:t>
            </a:r>
            <a:r>
              <a:rPr kumimoji="0" lang="en-US" altLang="zh-CN" sz="2800" b="1" i="0" u="none" strike="noStrike" kern="1200" cap="none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</a:t>
            </a:r>
            <a:endParaRPr kumimoji="0" lang="en-US" altLang="zh-CN" sz="2800" b="0" i="0" u="none" strike="noStrike" kern="1200" cap="none" normalizeH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4. People from all walks of life were present at his 90th birthday party along with over a hundred former students.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 Present at his 90th birthday party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were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people from all walks of life, along with over a hundred former students.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5. The days when big powers can order other countries about are gone.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 Gone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are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the days when big powers can order other countries about.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715" y="758190"/>
            <a:ext cx="11630025" cy="53651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Translate the following sentences, using the words and expressions in the brackets.</a:t>
            </a:r>
            <a:endParaRPr kumimoji="0" lang="en-US" altLang="zh-CN" sz="2800" b="0" i="0" u="none" strike="noStrike" kern="1200" cap="none" spc="-14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经济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衰退使住房市场遭受重大损失。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(take its toll)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 economic recession is taking its toll on the housing market.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动物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权益的议题最近成了朋友们关注的焦点。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(come into focus)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 issue of animal rights has come into focus among friends recently.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他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说，他何尝不想去，只是没时间罢了。我知道事实是，他何尝没时间，只是不想去罢了。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(not that)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He said that it’s not that he doesn’t want to go; he just hasn’t got the time. I know the truth is: It’s not that he doesn’t have the time; he just doesn’t want to go.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He said that he would love to go if only he had the time. But I know the truth is that he does have the time but simply doesn't want to go.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715" y="758190"/>
            <a:ext cx="11630025" cy="4102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Translate the following sentences, using the words and expressions in the brackets.</a:t>
            </a:r>
            <a:endParaRPr kumimoji="0" lang="en-US" altLang="zh-CN" sz="2800" b="0" i="0" u="none" strike="noStrike" kern="1200" cap="none" spc="-14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你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确定想要他做你的终身伴侣吗 </a:t>
            </a:r>
            <a:r>
              <a:rPr lang="en-US" altLang="zh-CN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? 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(for life)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Are you sure you want him as your partner for life?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lang="en-US" altLang="zh-CN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我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很好奇你当初是怎么决定学中文的，中国离你们那么远。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(come to decide)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 am quite curious how you came to decide to study Chinese, with China being so far away from your country.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Translate the following sentences, using the words and expressions in the brackets.</a:t>
            </a:r>
            <a:endParaRPr kumimoji="0" lang="en-US" altLang="zh-CN" sz="2800" b="0" i="0" u="none" strike="noStrike" kern="1200" cap="none" spc="-14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那些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将军、官员和学者都不知道如何称那头大象的重量，但是一个小孩突然想出了一个主意。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(come up with)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None of those generals, officials, and scholars knew how to weigh the elephant, but a young child suddenly came up with a brilliant idea.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那时候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我很单薄瘦弱，所以从未有过减肥的想法，我只希望能增加一些体重。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(gain)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 was very thin and weak at that time. Therefore it never came to my mind/occurred to me that I needed to lose weight. I wished I could gain some weight instead.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 </a:t>
            </a: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Translate the following sentences, using the words and expressions in the brackets</a:t>
            </a: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-14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</a:t>
            </a:r>
            <a:r>
              <a:rPr lang="en-US" altLang="zh-CN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那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片草地不见了，一个大饭店取而代之。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(go; place)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zh-CN" altLang="en-US" sz="4000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Gone was the meadow, and in its place stood a big hotel.</a:t>
            </a:r>
            <a:endParaRPr lang="en-US" altLang="zh-CN" sz="4000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</a:t>
            </a:r>
            <a:r>
              <a:rPr lang="zh-CN" altLang="en-US" sz="2400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大门</a:t>
            </a:r>
            <a:r>
              <a:rPr lang="zh-CN" altLang="en-US" sz="240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突然开了，跳出来一条狗。它开始冲我吼叫，直到它的主人出来才安静下来。 </a:t>
            </a:r>
            <a:r>
              <a:rPr lang="en-US" altLang="zh-CN" dirty="0">
                <a:solidFill>
                  <a:srgbClr val="CC6600"/>
                </a:solidFill>
                <a:latin typeface="Calibri" panose="020F0502020204030204"/>
                <a:ea typeface="宋体" panose="02010600030101010101" pitchFamily="2" charset="-122"/>
              </a:rPr>
              <a:t>(quiet down)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 The door opened suddenly and out jumped a dog. It started barking at me and didn’t quiet down until its master came out.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Fill in each blank of the passage with ONE suitable word.</a:t>
            </a:r>
            <a:endParaRPr kumimoji="0" lang="en-US" altLang="zh-CN" sz="2800" b="0" i="0" u="none" strike="noStrike" kern="1200" cap="none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4572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 member of the dog family, the wolf is known for its intelligence, courage, and endurance.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4572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Wolves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are (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1) ________ animals, living in close-knit packs, organized groups for hunting and rearing the young. A typical wolf (2)  ________ is a group made up of a pair of adult wolves and their offspring. The male and female leaders in the pack (3) ________ the sole right to mate and reproduce. The size of a pack may go up to 30, (4) __________ on the abundance of food.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506880" y="2546665"/>
            <a:ext cx="112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social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987034" y="3053410"/>
            <a:ext cx="1129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pack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47090" y="4126857"/>
            <a:ext cx="987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have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45516" y="4650077"/>
            <a:ext cx="175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depending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0" name="图片 1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8.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Fill in each blank of the passage with ONE suitable word.</a:t>
            </a:r>
            <a:endParaRPr lang="en-US" altLang="zh-CN" dirty="0">
              <a:solidFill>
                <a:srgbClr val="CC66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4572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 wolf, it is believed, pairs with its mate for (5) ________ . Wolves breed between the months of January and April. The (6) ________ are reared collectively by the pack. The young cubs are (7)  _____________ to hunt and fend for themselves. As they become adults, they leave the pack, looking for new territory and mates.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457200" algn="just" eaLnBrk="1" hangingPunct="1">
              <a:lnSpc>
                <a:spcPct val="125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Wolves normally hunt at night in organized groups. They feed (8)  </a:t>
            </a:r>
            <a:r>
              <a:rPr lang="en-US" altLang="zh-CN" dirty="0" smtClea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______     large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animals (9) ________ as deer and moose. They also eat smaller animals like squirrels and mice. Wolves are rarely known to eat humans.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18851" y="1390990"/>
            <a:ext cx="795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life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716542" y="1914210"/>
            <a:ext cx="107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cubs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55242" y="2415513"/>
            <a:ext cx="2608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trained/taught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796357" y="4124860"/>
            <a:ext cx="877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on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75836" y="4648080"/>
            <a:ext cx="1076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C00000"/>
                </a:solidFill>
              </a:defRPr>
            </a:lvl1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such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1" name="图片 2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12" name="图片 11" descr="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4023" y="6007035"/>
            <a:ext cx="1103630" cy="554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Find and correct the TWO mistakes in each exercise</a:t>
            </a:r>
            <a:r>
              <a:rPr kumimoji="0" lang="en-US" altLang="zh-CN" sz="2800" b="1" i="0" u="none" strike="noStrike" kern="1200" cap="none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.</a:t>
            </a:r>
            <a:endParaRPr kumimoji="0" lang="en-US" altLang="zh-CN" sz="2800" b="0" i="0" u="none" strike="noStrike" kern="1200" cap="none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miners demanded that the cause of the accident will be looked in and the dead and injured compensated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 miners demanded that the cause of the accident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(should) be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looked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into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and the dead and injured compensated.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As the movie was just about coming to the climax when the screen went black suddenly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60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b="1" strike="sngStrike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As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The movie was just about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 come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 the climax when the screen went black suddenly./As the movie was just about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 come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 the climax, </a:t>
            </a:r>
            <a:r>
              <a:rPr lang="en-US" altLang="zh-CN" b="1" strike="sngStrike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when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the screen went black suddenly.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8" name="图片 7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0378" y="6007442"/>
            <a:ext cx="1103630" cy="554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</a:t>
            </a:r>
            <a:r>
              <a:rPr kumimoji="0" lang="en-US" altLang="zh-CN" sz="2800" b="1" i="0" u="none" strike="noStrike" kern="1200" cap="none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Find and correct the TWO mistakes in each exercise.</a:t>
            </a:r>
            <a:endParaRPr kumimoji="0" lang="en-US" altLang="zh-CN" sz="2800" b="0" i="0" u="none" strike="noStrike" kern="1200" cap="none" normalizeH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 hurried to the airport only was told the flight cancelled for bad weather.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 hurried to the airport only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 be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told the flight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was/had been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cancelled for bad weather.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 might be years when anybody can work your way up to the head of the department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It might be years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before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anybody can work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his/her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way up to the head of the department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The passenger had just fastened their seat belts then the plane began dipping wildly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00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passengers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had just fastened their seat belts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when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the plane began dipping wildly.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8" name="图片 7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0378" y="6007442"/>
            <a:ext cx="1103630" cy="554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0" indent="-266700" algn="just" eaLnBrk="1" hangingPunct="1">
              <a:lnSpc>
                <a:spcPct val="114000"/>
              </a:lnSpc>
              <a:spcBef>
                <a:spcPts val="600"/>
              </a:spcBef>
              <a:buNone/>
              <a:defRPr/>
            </a:pPr>
            <a:r>
              <a:rPr lang="en-US" altLang="zh-CN" b="1" spc="-140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9. </a:t>
            </a:r>
            <a:r>
              <a:rPr lang="en-US" altLang="zh-CN" b="1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Find and correct the TWO mistakes in each exercise.</a:t>
            </a:r>
            <a:endParaRPr kumimoji="0" lang="en-US" altLang="zh-CN" sz="2800" b="0" i="0" u="none" strike="noStrike" kern="1200" cap="none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It was quite sometime before the boy can see everything around him clearly.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It was quite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some time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before the boy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could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see everything around him clearly.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Only by training hardly an athlete can hope to break a world record.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Only by training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hard can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an athlete hope to break a world record.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. In front of the bookshelves a desk stood on which pens and pieces of paper were laying around.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 front of the bookshelves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stood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a desk on which pens and pieces of paper were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lying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around.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6" name="图片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8" name="图片 7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0378" y="6007442"/>
            <a:ext cx="1103630" cy="554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 bwMode="auto">
          <a:xfrm>
            <a:off x="259492" y="757881"/>
            <a:ext cx="11630248" cy="5824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just" defTabSz="914400" rtl="0" eaLnBrk="1" fontAlgn="base" latinLnBrk="0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Find and correct the TWO mistakes in each exercise.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C66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Where have you been? I’ve looked for you the whole morning. Your wife has been calling three times saying that it is urgent business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Where have you been? I’ve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been looking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for you the whole morning. Your wife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has called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three times saying that it is urgent business.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10. </a:t>
            </a: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In 21st century, a computer will be playing a more and more important role in our everyday life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66700" lvl="0" indent="-266700" algn="just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In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21st century, </a:t>
            </a:r>
            <a:r>
              <a:rPr lang="en-US" altLang="zh-CN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the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 computer will be playing a more and more important role in our everyday life.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266700" lvl="0" indent="-266700" algn="just" eaLnBrk="1" hangingPunct="1">
              <a:lnSpc>
                <a:spcPts val="3200"/>
              </a:lnSpc>
              <a:spcBef>
                <a:spcPts val="0"/>
              </a:spcBef>
              <a:buNone/>
              <a:tabLst>
                <a:tab pos="4303395" algn="l"/>
              </a:tabLst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5850066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Exercises · Language Exercises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15" name="图片 14" descr="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4023" y="6007035"/>
            <a:ext cx="1103630" cy="554990"/>
          </a:xfrm>
          <a:prstGeom prst="rect">
            <a:avLst/>
          </a:prstGeom>
        </p:spPr>
      </p:pic>
      <p:pic>
        <p:nvPicPr>
          <p:cNvPr id="16" name="图片 15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8910,&quot;width&quot;:15840}"/>
</p:tagLst>
</file>

<file path=ppt/tags/tag2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3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4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5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6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7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8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9.xml><?xml version="1.0" encoding="utf-8"?>
<p:tagLst xmlns:p="http://schemas.openxmlformats.org/presentationml/2006/main">
  <p:tag name="KSO_WM_DIAGRAM_VIRTUALLY_FRAME" val="{&quot;height&quot;:386.9,&quot;left&quot;:64.1,&quot;top&quot;:128.55,&quot;width&quot;:862.5}"/>
</p:tagLst>
</file>

<file path=ppt/tags/tag10.xml><?xml version="1.0" encoding="utf-8"?>
<p:tagLst xmlns:p="http://schemas.openxmlformats.org/presentationml/2006/main">
  <p:tag name="RAINPROBLEM" val="ProblemBody"/>
</p:tagLst>
</file>

<file path=ppt/tags/tag11.xml><?xml version="1.0" encoding="utf-8"?>
<p:tagLst xmlns:p="http://schemas.openxmlformats.org/presentationml/2006/main">
  <p:tag name="RAINPROBLEM" val="ProblemSubmit"/>
  <p:tag name="RAINPROBLEMTYPE" val="FillBlank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FillBlank"/>
</p:tagLst>
</file>

<file path=ppt/tags/tag18.xml><?xml version="1.0" encoding="utf-8"?>
<p:tagLst xmlns:p="http://schemas.openxmlformats.org/presentationml/2006/main">
  <p:tag name="RAINPROBLEM" val="FillBlank"/>
  <p:tag name="PROBLEMSCORE" val="30.0"/>
  <p:tag name="PROBLEMBLANK" val="[{&quot;num&quot;:1,&quot;caseSensitive&quot;:false,&quot;fuzzyMatch&quot;:false,&quot;Score&quot;:5.0,&quot;answers&quot;:[&quot;alert&quot;]},{&quot;num&quot;:2,&quot;caseSensitive&quot;:false,&quot;fuzzyMatch&quot;:false,&quot;Score&quot;:5.0,&quot;answers&quot;:[&quot;smothered&quot;]},{&quot;num&quot;:3,&quot;caseSensitive&quot;:false,&quot;fuzzyMatch&quot;:false,&quot;Score&quot;:5.0,&quot;answers&quot;:[&quot;stumbled&quot;]},{&quot;num&quot;:4,&quot;caseSensitive&quot;:false,&quot;fuzzyMatch&quot;:false,&quot;Score&quot;:5.0,&quot;answers&quot;:[&quot;detained&quot;]},{&quot;num&quot;:5,&quot;caseSensitive&quot;:false,&quot;fuzzyMatch&quot;:false,&quot;Score&quot;:5.0,&quot;answers&quot;:[&quot;slashed&quot;]},{&quot;num&quot;:6,&quot;caseSensitive&quot;:false,&quot;fuzzyMatch&quot;:false,&quot;Score&quot;:5.0,&quot;answers&quot;:[&quot;drift&quot;]}]"/>
  <p:tag name="PROBLEMBLANKKEYWORD" val="填空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495.35}"/>
</p:tagLst>
</file>

<file path=ppt/tags/tag21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495.35}"/>
</p:tagLst>
</file>

<file path=ppt/tags/tag22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495.35}"/>
</p:tagLst>
</file>

<file path=ppt/tags/tag23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495.35}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495.35}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495.35}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495.35}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495.35}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5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Submit"/>
  <p:tag name="RAINPROBLEMTYPE" val="FillBlank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" val="ProblemSetting"/>
  <p:tag name="RAINPROBLEMTYPE" val="FillBlank"/>
</p:tagLst>
</file>

<file path=ppt/tags/tag44.xml><?xml version="1.0" encoding="utf-8"?>
<p:tagLst xmlns:p="http://schemas.openxmlformats.org/presentationml/2006/main">
  <p:tag name="RAINPROBLEM" val="FillBlank"/>
  <p:tag name="PROBLEMSCORE" val="25.0"/>
  <p:tag name="PROBLEMBLANK" val="[{&quot;num&quot;:1,&quot;caseSensitive&quot;:false,&quot;fuzzyMatch&quot;:false,&quot;Score&quot;:5.0,&quot;answers&quot;:[&quot;mischievous&quot;]},{&quot;num&quot;:2,&quot;caseSensitive&quot;:false,&quot;fuzzyMatch&quot;:false,&quot;Score&quot;:5.0,&quot;answers&quot;:[&quot;sewing&quot;]},{&quot;num&quot;:3,&quot;caseSensitive&quot;:false,&quot;fuzzyMatch&quot;:false,&quot;Score&quot;:5.0,&quot;answers&quot;:[&quot;scattering&quot;]},{&quot;num&quot;:4,&quot;caseSensitive&quot;:false,&quot;fuzzyMatch&quot;:false,&quot;Score&quot;:5.0,&quot;answers&quot;:[&quot;chase&quot;]},{&quot;num&quot;:5,&quot;caseSensitive&quot;:false,&quot;fuzzyMatch&quot;:false,&quot;Score&quot;:5.0,&quot;answers&quot;:[&quot;quiet&quot;]}]"/>
  <p:tag name="PROBLEMBLANKKEYWORD" val="填空"/>
</p:tagLst>
</file>

<file path=ppt/tags/tag45.xml><?xml version="1.0" encoding="utf-8"?>
<p:tagLst xmlns:p="http://schemas.openxmlformats.org/presentationml/2006/main">
  <p:tag name="RAINPROBLEM" val="ProblemBody"/>
</p:tagLst>
</file>

<file path=ppt/tags/tag46.xml><?xml version="1.0" encoding="utf-8"?>
<p:tagLst xmlns:p="http://schemas.openxmlformats.org/presentationml/2006/main">
  <p:tag name="RAINPROBLEM" val="ProblemSubmit"/>
  <p:tag name="RAINPROBLEMTYPE" val="FillBlank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" val="ProblemSetting"/>
  <p:tag name="RAINPROBLEMTYPE" val="FillBlank"/>
</p:tagLst>
</file>

<file path=ppt/tags/tag53.xml><?xml version="1.0" encoding="utf-8"?>
<p:tagLst xmlns:p="http://schemas.openxmlformats.org/presentationml/2006/main">
  <p:tag name="RAINPROBLEM" val="FillBlank"/>
  <p:tag name="PROBLEMSCORE" val="20.0"/>
  <p:tag name="PROBLEMBLANK" val="[{&quot;num&quot;:1,&quot;caseSensitive&quot;:false,&quot;fuzzyMatch&quot;:false,&quot;Score&quot;:4.0,&quot;answers&quot;:[&quot;she-wolf&quot;]},{&quot;num&quot;:2,&quot;caseSensitive&quot;:false,&quot;fuzzyMatch&quot;:false,&quot;Score&quot;:4.0,&quot;answers&quot;:[&quot;lioness&quot;]},{&quot;num&quot;:3,&quot;caseSensitive&quot;:false,&quot;fuzzyMatch&quot;:false,&quot;Score&quot;:4.0,&quot;answers&quot;:[&quot;cow&quot;]},{&quot;num&quot;:4,&quot;caseSensitive&quot;:false,&quot;fuzzyMatch&quot;:false,&quot;Score&quot;:4.0,&quot;answers&quot;:[&quot;princess&quot;]},{&quot;num&quot;:5,&quot;caseSensitive&quot;:false,&quot;fuzzyMatch&quot;:false,&quot;Score&quot;:4.0,&quot;answers&quot;:[&quot;heroine&quot;]}]"/>
  <p:tag name="PROBLEMBLANKKEYWORD" val="填空"/>
</p:tagLst>
</file>

<file path=ppt/tags/tag54.xml><?xml version="1.0" encoding="utf-8"?>
<p:tagLst xmlns:p="http://schemas.openxmlformats.org/presentationml/2006/main">
  <p:tag name="RAINPROBLEM" val="ProblemBody"/>
</p:tagLst>
</file>

<file path=ppt/tags/tag55.xml><?xml version="1.0" encoding="utf-8"?>
<p:tagLst xmlns:p="http://schemas.openxmlformats.org/presentationml/2006/main">
  <p:tag name="RAINPROBLEM" val="ProblemSubmit"/>
  <p:tag name="RAINPROBLEMTYPE" val="ShortAnsw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" val="ProblemSetting"/>
  <p:tag name="RAINPROBLEMTYPE" val="ShortAnswer"/>
</p:tagLst>
</file>

<file path=ppt/tags/tag62.xml><?xml version="1.0" encoding="utf-8"?>
<p:tagLst xmlns:p="http://schemas.openxmlformats.org/presentationml/2006/main">
  <p:tag name="RAINPROBLEM" val="ShortAnswer"/>
  <p:tag name="PROBLEMSCORE" val="20.0"/>
  <p:tag name="PROBLEMVOICEALLOWED" val="False"/>
</p:tagLst>
</file>

<file path=ppt/tags/tag63.xml><?xml version="1.0" encoding="utf-8"?>
<p:tagLst xmlns:p="http://schemas.openxmlformats.org/presentationml/2006/main">
  <p:tag name="commondata" val="eyJoZGlkIjoiZTY1NThmYzJlMWRjMDNhYzFmMTdkNmU1NThkNTc3ODEifQ=="/>
</p:tagLst>
</file>

<file path=ppt/theme/theme1.xml><?xml version="1.0" encoding="utf-8"?>
<a:theme xmlns:a="http://schemas.openxmlformats.org/drawingml/2006/main" name="2_Office 主题​​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0C0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​​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0C0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72C4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​​">
  <a:themeElements>
    <a:clrScheme name="自定义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B74C4"/>
      </a:hlink>
      <a:folHlink>
        <a:srgbClr val="904D6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17785</Words>
  <Application>WPS 演示</Application>
  <PresentationFormat>宽屏</PresentationFormat>
  <Paragraphs>537</Paragraphs>
  <Slides>37</Slides>
  <Notes>136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69" baseType="lpstr">
      <vt:lpstr>Arial</vt:lpstr>
      <vt:lpstr>宋体</vt:lpstr>
      <vt:lpstr>Wingdings</vt:lpstr>
      <vt:lpstr>Arial Black</vt:lpstr>
      <vt:lpstr>思源黑体 CN Regular</vt:lpstr>
      <vt:lpstr>黑体</vt:lpstr>
      <vt:lpstr>Arial Narrow</vt:lpstr>
      <vt:lpstr>华文中宋</vt:lpstr>
      <vt:lpstr>Times New Roman</vt:lpstr>
      <vt:lpstr>微软雅黑</vt:lpstr>
      <vt:lpstr>楷体</vt:lpstr>
      <vt:lpstr>等线</vt:lpstr>
      <vt:lpstr>Calibri</vt:lpstr>
      <vt:lpstr>华文楷体</vt:lpstr>
      <vt:lpstr>Calibri</vt:lpstr>
      <vt:lpstr>-apple-system</vt:lpstr>
      <vt:lpstr>Segoe Print</vt:lpstr>
      <vt:lpstr>GulimChe</vt:lpstr>
      <vt:lpstr>Malgun Gothic</vt:lpstr>
      <vt:lpstr>Arial Unicode MS</vt:lpstr>
      <vt:lpstr>等线 Light</vt:lpstr>
      <vt:lpstr>-apple-system</vt:lpstr>
      <vt:lpstr>GulimChe</vt:lpstr>
      <vt:lpstr>思源黑体 CN Regular</vt:lpstr>
      <vt:lpstr>方正大黑体_GBK</vt:lpstr>
      <vt:lpstr>Be Happy</vt:lpstr>
      <vt:lpstr>Gigi</vt:lpstr>
      <vt:lpstr>2_Office 主题​​</vt:lpstr>
      <vt:lpstr>3_Office 主题​​</vt:lpstr>
      <vt:lpstr>4_Office 主题​​</vt:lpstr>
      <vt:lpstr>1_Office 主题​​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Dilys</dc:creator>
  <cp:lastModifiedBy>Cooper</cp:lastModifiedBy>
  <cp:revision>2476</cp:revision>
  <dcterms:created xsi:type="dcterms:W3CDTF">2021-05-22T03:56:00Z</dcterms:created>
  <dcterms:modified xsi:type="dcterms:W3CDTF">2025-12-14T14:00:44Z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DD15F84D5CC646C7AD10BE2B33A47EB1_12</vt:lpwstr>
  </property>
</Properties>
</file>