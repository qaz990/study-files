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10" r:id="rId4"/>
    <p:sldId id="749" r:id="rId6"/>
    <p:sldId id="451" r:id="rId7"/>
    <p:sldId id="461" r:id="rId8"/>
    <p:sldId id="460" r:id="rId9"/>
    <p:sldId id="482" r:id="rId10"/>
    <p:sldId id="490" r:id="rId11"/>
    <p:sldId id="622" r:id="rId12"/>
    <p:sldId id="676" r:id="rId13"/>
    <p:sldId id="677" r:id="rId14"/>
    <p:sldId id="678" r:id="rId15"/>
    <p:sldId id="679" r:id="rId16"/>
    <p:sldId id="680" r:id="rId17"/>
    <p:sldId id="681" r:id="rId18"/>
    <p:sldId id="649" r:id="rId19"/>
    <p:sldId id="682" r:id="rId20"/>
    <p:sldId id="683" r:id="rId21"/>
    <p:sldId id="655" r:id="rId22"/>
    <p:sldId id="654" r:id="rId23"/>
    <p:sldId id="684" r:id="rId24"/>
    <p:sldId id="685" r:id="rId25"/>
    <p:sldId id="686" r:id="rId26"/>
    <p:sldId id="664" r:id="rId27"/>
    <p:sldId id="687" r:id="rId28"/>
    <p:sldId id="688" r:id="rId29"/>
    <p:sldId id="689" r:id="rId30"/>
    <p:sldId id="690" r:id="rId31"/>
    <p:sldId id="660" r:id="rId32"/>
    <p:sldId id="691" r:id="rId33"/>
    <p:sldId id="692" r:id="rId34"/>
    <p:sldId id="693" r:id="rId35"/>
    <p:sldId id="665" r:id="rId36"/>
    <p:sldId id="695" r:id="rId37"/>
    <p:sldId id="696" r:id="rId38"/>
    <p:sldId id="697" r:id="rId39"/>
    <p:sldId id="669" r:id="rId40"/>
    <p:sldId id="661" r:id="rId41"/>
    <p:sldId id="698" r:id="rId42"/>
    <p:sldId id="699" r:id="rId43"/>
    <p:sldId id="700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08080"/>
    <a:srgbClr val="EFEFEF"/>
    <a:srgbClr val="F2F2F2"/>
    <a:srgbClr val="FFFFFF"/>
    <a:srgbClr val="F6F8FB"/>
    <a:srgbClr val="A1DFE1"/>
    <a:srgbClr val="E5A592"/>
    <a:srgbClr val="C1CADB"/>
    <a:srgbClr val="C0D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6" autoAdjust="0"/>
    <p:restoredTop sz="95584" autoAdjust="0"/>
  </p:normalViewPr>
  <p:slideViewPr>
    <p:cSldViewPr snapToGrid="0">
      <p:cViewPr varScale="1">
        <p:scale>
          <a:sx n="110" d="100"/>
          <a:sy n="110" d="100"/>
        </p:scale>
        <p:origin x="30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gs" Target="tags/tag10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hyperlink" Target="U5-1.mp3" TargetMode="External"/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jpe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1.pn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webp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1.png"/><Relationship Id="rId2" Type="http://schemas.openxmlformats.org/officeDocument/2006/relationships/slide" Target="slide15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9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11.png"/><Relationship Id="rId2" Type="http://schemas.openxmlformats.org/officeDocument/2006/relationships/slide" Target="slide20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23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23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23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28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28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32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32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37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slide" Target="slide37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836" y="0"/>
            <a:ext cx="9541164" cy="6862617"/>
          </a:xfrm>
          <a:prstGeom prst="rect">
            <a:avLst/>
          </a:prstGeom>
        </p:spPr>
      </p:pic>
      <p:pic>
        <p:nvPicPr>
          <p:cNvPr id="2" name="图片 1" descr="未标题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848" r="27500"/>
          <a:stretch>
            <a:fillRect/>
          </a:stretch>
        </p:blipFill>
        <p:spPr>
          <a:xfrm>
            <a:off x="0" y="-2886"/>
            <a:ext cx="7977505" cy="6860886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817634" y="1250139"/>
            <a:ext cx="2697975" cy="707886"/>
          </a:xfrm>
          <a:prstGeom prst="rect">
            <a:avLst/>
          </a:prstGeom>
          <a:noFill/>
          <a:effectLst>
            <a:outerShdw blurRad="393700" dist="698500" dir="8100000" sx="119000" sy="119000" algn="tr" rotWithShape="0">
              <a:prstClr val="black">
                <a:alpha val="6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9700"/>
                </a:solidFill>
                <a:latin typeface="Arial Black" panose="020B0A04020102020204" pitchFamily="34" charset="0"/>
                <a:ea typeface="思源黑体 CN Regular" panose="020B0500000000000000" charset="-122"/>
              </a:rPr>
              <a:t>Unit  5</a:t>
            </a:r>
            <a:endParaRPr lang="en-US" altLang="zh-CN" sz="4000" b="1" dirty="0">
              <a:solidFill>
                <a:srgbClr val="FF9700"/>
              </a:solidFill>
              <a:latin typeface="Arial Black" panose="020B0A04020102020204" pitchFamily="34" charset="0"/>
              <a:ea typeface="思源黑体 CN Regular" panose="020B0500000000000000" charset="-122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2516437"/>
            <a:ext cx="3016405" cy="501676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3268056"/>
            <a:ext cx="5004057" cy="501676"/>
          </a:xfrm>
          <a:prstGeom prst="rect">
            <a:avLst/>
          </a:prstGeom>
        </p:spPr>
      </p:pic>
      <p:pic>
        <p:nvPicPr>
          <p:cNvPr id="19" name="图片 1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019675"/>
            <a:ext cx="3016405" cy="495325"/>
          </a:xfrm>
          <a:prstGeom prst="rect">
            <a:avLst/>
          </a:prstGeom>
        </p:spPr>
      </p:pic>
      <p:pic>
        <p:nvPicPr>
          <p:cNvPr id="21" name="图片 2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764943"/>
            <a:ext cx="3733992" cy="488975"/>
          </a:xfrm>
          <a:prstGeom prst="rect">
            <a:avLst/>
          </a:prstGeom>
        </p:spPr>
      </p:pic>
      <p:pic>
        <p:nvPicPr>
          <p:cNvPr id="23" name="图片 2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1" y="5503862"/>
            <a:ext cx="5512083" cy="501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37" name="图片 3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65735"/>
            <a:ext cx="503555" cy="454660"/>
          </a:xfrm>
          <a:prstGeom prst="rect">
            <a:avLst/>
          </a:prstGeom>
        </p:spPr>
      </p:pic>
      <p:pic>
        <p:nvPicPr>
          <p:cNvPr id="35" name="图片 34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0" t="19885" r="16444" b="17973"/>
          <a:stretch>
            <a:fillRect/>
          </a:stretch>
        </p:blipFill>
        <p:spPr>
          <a:xfrm>
            <a:off x="10659408" y="176530"/>
            <a:ext cx="481330" cy="412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6100" y="1998980"/>
            <a:ext cx="10717530" cy="441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1. </a:t>
            </a:r>
            <a:r>
              <a:rPr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He became acutely </a:t>
            </a:r>
            <a:r>
              <a:rPr lang="en-US" sz="2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________</a:t>
            </a:r>
            <a:r>
              <a:rPr sz="2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of</a:t>
            </a:r>
            <a:r>
              <a:rPr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having failed his parents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2. 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have to look at the event from an international ___________.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3. When the tree falls, the monkeys ________.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4. </a:t>
            </a: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I ________ my ears to catch what they were saying.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5. We live in a culture of ______ gratification, forgetting the pleasure of anticipation. 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6. Other children often ______ him because of his long hair.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7. The contents of the report were ______ to the press.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8. Despite having touched the ________, Messi believes his best is still to come.</a:t>
            </a:r>
            <a:endParaRPr lang="en-US" altLang="zh-CN" sz="280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910" y="1379220"/>
            <a:ext cx="10336530" cy="5219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800">
                <a:latin typeface="Arial Narrow" panose="020B0606020202030204" charset="0"/>
                <a:cs typeface="Arial Narrow" panose="020B0606020202030204" charset="0"/>
              </a:rPr>
              <a:t> conscious    instant   leak    perspective   pinnacle   scatter   strain   tease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7385" y="716280"/>
            <a:ext cx="9474835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 i="1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Fill in each blank with the best word from the given words.</a:t>
            </a:r>
            <a:endParaRPr lang="en-US" altLang="zh-CN" sz="2800" i="1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65855" y="1998980"/>
            <a:ext cx="17316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conscious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01990" y="2455545"/>
            <a:ext cx="17176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perspective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09615" y="2855595"/>
            <a:ext cx="14128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scatter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0635" y="3296285"/>
            <a:ext cx="1342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strained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48150" y="3669665"/>
            <a:ext cx="11696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instant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91915" y="4489450"/>
            <a:ext cx="12795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tease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61330" y="4954270"/>
            <a:ext cx="12033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leaked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7295" y="5401310"/>
            <a:ext cx="1342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pinnacle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6" grpId="0"/>
      <p:bldP spid="7" grpId="0"/>
      <p:bldP spid="9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65200" y="826770"/>
            <a:ext cx="10122535" cy="23209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40000"/>
              </a:lnSpc>
              <a:buNone/>
            </a:pPr>
            <a:r>
              <a:rPr lang="en-US" altLang="zh-CN" sz="2800" b="1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assure        insure      ensure</a:t>
            </a:r>
            <a:endParaRPr lang="zh-CN" altLang="en-US" sz="2800" b="1">
              <a:solidFill>
                <a:srgbClr val="639EF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6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kumimoji="1" lang="en-US" altLang="zh-CN" sz="2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can _______  you that the three kids are perfectly safe.</a:t>
            </a:r>
            <a:endParaRPr kumimoji="1" lang="en-US" altLang="zh-CN" sz="2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6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kumimoji="1" lang="en-US" altLang="zh-CN" sz="2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must  </a:t>
            </a:r>
            <a:r>
              <a:rPr kumimoji="1" lang="en-US" altLang="zh-C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</a:t>
            </a:r>
            <a:r>
              <a:rPr kumimoji="1" lang="en-US" altLang="zh-CN" sz="2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that all patients have access to high quality care.</a:t>
            </a:r>
            <a:endParaRPr kumimoji="1" lang="en-US" altLang="zh-CN" sz="2600" b="1" dirty="0" smtClean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965200" y="3488055"/>
            <a:ext cx="6220460" cy="2197735"/>
          </a:xfrm>
          <a:prstGeom prst="rect">
            <a:avLst/>
          </a:prstGeom>
          <a:solidFill>
            <a:srgbClr val="EBE8B1"/>
          </a:solidFill>
        </p:spPr>
        <p:txBody>
          <a:bodyPr wrap="square" rtlCol="0">
            <a:noAutofit/>
          </a:bodyPr>
          <a:p>
            <a:pPr algn="just">
              <a:lnSpc>
                <a:spcPct val="120000"/>
              </a:lnSpc>
              <a:buClrTx/>
              <a:buSzTx/>
              <a:buFontTx/>
            </a:pPr>
            <a:r>
              <a:rPr lang="en-US" sz="2600" b="1" dirty="0"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assure  vt. ~sb. of sth. / ~sb that...使确信；向…保证 ~ sth. </a:t>
            </a:r>
            <a:r>
              <a:rPr lang="zh-CN" altLang="en-US" sz="2600" b="1" dirty="0"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确保</a:t>
            </a:r>
            <a:endParaRPr lang="zh-CN" altLang="en-US" sz="2600" b="1" dirty="0"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  <a:p>
            <a:pPr algn="just">
              <a:lnSpc>
                <a:spcPct val="120000"/>
              </a:lnSpc>
              <a:buClrTx/>
              <a:buSzTx/>
              <a:buFontTx/>
            </a:pPr>
            <a:r>
              <a:rPr lang="en-US" sz="2600" b="1" dirty="0"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insure   vt. 投保；给…保险</a:t>
            </a:r>
            <a:endParaRPr lang="en-US" sz="2600" b="1" dirty="0"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  <a:p>
            <a:pPr algn="just">
              <a:lnSpc>
                <a:spcPct val="120000"/>
              </a:lnSpc>
              <a:buClrTx/>
              <a:buSzTx/>
              <a:buFontTx/>
            </a:pPr>
            <a:r>
              <a:rPr lang="en-US" sz="2600" b="1" dirty="0"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ensure  vt. ~sth. / ~ that... 保证；确保</a:t>
            </a:r>
            <a:endParaRPr lang="en-US" sz="2600" b="1" dirty="0"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429500" y="3206750"/>
            <a:ext cx="4270375" cy="2776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129155" y="1735455"/>
            <a:ext cx="12325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6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assure</a:t>
            </a:r>
            <a:endParaRPr kumimoji="1" lang="en-US" altLang="zh-CN" sz="2600" b="1" dirty="0" smtClean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5740" y="2310765"/>
            <a:ext cx="12325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6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ensure</a:t>
            </a:r>
            <a:endParaRPr kumimoji="1" lang="en-US" altLang="zh-CN" sz="2600" b="1" dirty="0" smtClean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6" name="内容占位符 2"/>
          <p:cNvSpPr>
            <a:spLocks noGrp="1"/>
          </p:cNvSpPr>
          <p:nvPr/>
        </p:nvSpPr>
        <p:spPr>
          <a:xfrm>
            <a:off x="1136015" y="881380"/>
            <a:ext cx="10194290" cy="20840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marR="0" lvl="0" indent="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3200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consist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 </a:t>
            </a:r>
            <a:r>
              <a:rPr lang="zh-CN" altLang="en-US" i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              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v.</a:t>
            </a:r>
            <a:endParaRPr lang="en-US" altLang="zh-CN" i="1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en-US" altLang="zh-CN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of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be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made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up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or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composed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of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由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……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组成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2.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(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~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in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)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be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based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on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or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depend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on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在于，取决于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035" y="931704"/>
            <a:ext cx="1464887" cy="395287"/>
          </a:xfrm>
          <a:prstGeom prst="rect">
            <a:avLst/>
          </a:prstGeom>
        </p:spPr>
      </p:pic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8225" y="2737485"/>
            <a:ext cx="9862185" cy="1512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" lvl="0" indent="0" algn="just" eaLnBrk="1" hangingPunct="1">
              <a:lnSpc>
                <a:spcPct val="110000"/>
              </a:lnSpc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1)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The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buffet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consisted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_____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several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different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Indian</a:t>
            </a:r>
            <a:r>
              <a:rPr lang="zh-CN" altLang="en-US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dishes.</a:t>
            </a:r>
            <a:endParaRPr lang="en-US" altLang="zh-CN" sz="28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1270" lvl="0" indent="0" algn="just"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2) Happiness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does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not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consist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____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how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many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possessions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you</a:t>
            </a:r>
            <a:r>
              <a:rPr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own.</a:t>
            </a:r>
            <a:endParaRPr lang="en-US" altLang="zh-CN" sz="2800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64075" y="2737485"/>
            <a:ext cx="532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of</a:t>
            </a:r>
            <a:endParaRPr lang="en-US" altLang="zh-CN" sz="2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7095" y="3187700"/>
            <a:ext cx="532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in</a:t>
            </a:r>
            <a:endParaRPr lang="en-US" altLang="zh-CN" sz="2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6"/>
          <a:stretch>
            <a:fillRect/>
          </a:stretch>
        </p:blipFill>
        <p:spPr>
          <a:xfrm>
            <a:off x="3927475" y="4140200"/>
            <a:ext cx="4083685" cy="2163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6" name="内容占位符 2"/>
          <p:cNvSpPr>
            <a:spLocks noGrp="1"/>
          </p:cNvSpPr>
          <p:nvPr/>
        </p:nvSpPr>
        <p:spPr>
          <a:xfrm>
            <a:off x="860425" y="881380"/>
            <a:ext cx="10907395" cy="3714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lvl="0" indent="0" algn="just" eaLnBrk="1" hangingPunct="1">
              <a:lnSpc>
                <a:spcPct val="80000"/>
              </a:lnSpc>
              <a:buNone/>
              <a:defRPr/>
            </a:pPr>
            <a:r>
              <a:rPr lang="en-US" altLang="zh-CN" sz="3200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Fill in the blanks with the correct form of “</a:t>
            </a:r>
            <a:r>
              <a:rPr lang="en-US" altLang="zh-CN" sz="3200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conscious</a:t>
            </a:r>
            <a:r>
              <a:rPr lang="en-US" altLang="zh-CN" sz="3200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”.</a:t>
            </a:r>
            <a:endParaRPr lang="en-US" altLang="zh-CN" sz="3200" b="1" dirty="0">
              <a:solidFill>
                <a:prstClr val="black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80000"/>
              </a:lnSpc>
              <a:buNone/>
              <a:defRPr/>
            </a:pPr>
            <a:r>
              <a:rPr lang="en-US" altLang="zh-CN" sz="3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 </a:t>
            </a:r>
            <a:r>
              <a:rPr lang="en-US" altLang="zh-CN" sz="3200" dirty="0">
                <a:solidFill>
                  <a:schemeClr val="tx1"/>
                </a:solidFill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He was quite  </a:t>
            </a:r>
            <a:r>
              <a:rPr lang="en-US" sz="3200" dirty="0">
                <a:solidFill>
                  <a:schemeClr val="tx1"/>
                </a:solidFill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___________</a:t>
            </a:r>
            <a:r>
              <a:rPr sz="3200" dirty="0">
                <a:solidFill>
                  <a:schemeClr val="tx1"/>
                </a:solidFill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 </a:t>
            </a:r>
            <a:r>
              <a:rPr lang="en-US" altLang="zh-CN" sz="32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of the danger</a:t>
            </a:r>
            <a:r>
              <a:rPr lang="en-US" altLang="zh-CN" sz="3200" dirty="0">
                <a:solidFill>
                  <a:schemeClr val="tx1"/>
                </a:solidFill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.</a:t>
            </a:r>
            <a:endParaRPr lang="en-US" altLang="zh-CN" sz="3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80000"/>
              </a:lnSpc>
              <a:buNone/>
              <a:defRPr/>
            </a:pPr>
            <a:r>
              <a:rPr lang="en-US" altLang="zh-CN" sz="3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 We all tend to ______________ copy the gestures of people we like.</a:t>
            </a:r>
            <a:endParaRPr lang="en-US" altLang="zh-CN" sz="320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80000"/>
              </a:lnSpc>
              <a:buNone/>
              <a:defRPr/>
            </a:pPr>
            <a:r>
              <a:rPr lang="en-US" sz="3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3. </a:t>
            </a:r>
            <a:r>
              <a:rPr kumimoji="0" lang="en-US" altLang="zh-CN" sz="3200" i="0" u="none" strike="noStrike" kern="1200" cap="none" spc="0" normalizeH="0" baseline="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Confucianism is the largest Chinese school of thoughts, and the mainstream ____________ of the ancient China.</a:t>
            </a:r>
            <a:endParaRPr kumimoji="0" lang="en-US" altLang="zh-CN" sz="3200" i="0" u="none" strike="noStrike" kern="1200" cap="none" spc="0" normalizeH="0" baseline="0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80000"/>
              </a:lnSpc>
              <a:buNone/>
              <a:defRPr/>
            </a:pPr>
            <a:r>
              <a:rPr kumimoji="0" lang="en-US" altLang="zh-CN" sz="3200" i="0" u="none" strike="noStrike" kern="1200" cap="none" spc="0" normalizeH="0" baseline="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4. In their presence I became ____________ and tongue-tied.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84495" y="4164330"/>
            <a:ext cx="3451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难为情的; 不自在的</a:t>
            </a:r>
            <a:endParaRPr lang="zh-CN" altLang="en-US" sz="2400" b="1">
              <a:solidFill>
                <a:schemeClr val="accent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0425" y="4739005"/>
            <a:ext cx="63709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270" lvl="0" indent="0" algn="just" eaLnBrk="1" hangingPunct="1">
              <a:buNone/>
              <a:defRPr/>
            </a:pP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unconscious,  semi-conscious, self-conscious, 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  <a:sym typeface="+mn-ea"/>
            </a:endParaRPr>
          </a:p>
          <a:p>
            <a:pPr marL="1270" lvl="0" indent="0" algn="just" eaLnBrk="1" hangingPunct="1">
              <a:buNone/>
              <a:defRPr/>
            </a:pP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subconsciously,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 consciousness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99840" y="1314450"/>
            <a:ext cx="2118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unconscious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51935" y="1826895"/>
            <a:ext cx="27025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subconsciously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68395" y="3078480"/>
            <a:ext cx="25253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consciousness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21045" y="3580765"/>
            <a:ext cx="23895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self-conscious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5"/>
          <a:srcRect b="7593"/>
          <a:stretch>
            <a:fillRect/>
          </a:stretch>
        </p:blipFill>
        <p:spPr>
          <a:xfrm>
            <a:off x="8608695" y="4450715"/>
            <a:ext cx="3159125" cy="1946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2" name="图片 4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6" name="内容占位符 2"/>
          <p:cNvSpPr>
            <a:spLocks noGrp="1"/>
          </p:cNvSpPr>
          <p:nvPr/>
        </p:nvSpPr>
        <p:spPr>
          <a:xfrm>
            <a:off x="967740" y="881380"/>
            <a:ext cx="10694035" cy="1770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marR="0" lvl="0" indent="0" algn="just" defTabSz="914400" rtl="0" eaLnBrk="1" fontAlgn="base" latinLnBrk="0" hangingPunct="1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potential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                   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1270" marR="0" lvl="0" indent="0" algn="just" eaLnBrk="1" hangingPunct="1">
              <a:lnSpc>
                <a:spcPct val="80000"/>
              </a:lnSpc>
              <a:buClrTx/>
              <a:buSzTx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n.</a:t>
            </a:r>
            <a:r>
              <a:rPr lang="zh-CN" altLang="en-US" i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[U]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possibility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that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sth.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will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have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positive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effect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潜力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360045" marR="0" lvl="0" indent="-360045" algn="just" defTabSz="914400" rtl="0" eaLnBrk="1" fontAlgn="base" latinLnBrk="0" hangingPunct="1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a.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</a:rPr>
              <a:t>likely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to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develop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into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particular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type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person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or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thing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future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潜在的，可能的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628650" marR="0" lvl="0" indent="-62865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195" y="898198"/>
            <a:ext cx="1644650" cy="44323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04900" y="2845435"/>
            <a:ext cx="2915920" cy="2934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开发潜力</a:t>
            </a:r>
            <a:endParaRPr lang="en-US" altLang="zh-CN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发挥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潜力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3) </a:t>
            </a:r>
            <a:r>
              <a:rPr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未开发的潜力</a:t>
            </a:r>
            <a:endParaRPr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无限的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潜力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）潜在风险</a:t>
            </a:r>
            <a:endParaRPr lang="zh-CN" altLang="en-US" sz="28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6) 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潜在客户</a:t>
            </a:r>
            <a:endParaRPr lang="zh-CN" altLang="en-US" sz="28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37660" y="2845435"/>
            <a:ext cx="4087495" cy="2934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1) exploit/ unlock </a:t>
            </a:r>
            <a:r>
              <a:rPr lang="en-US" altLang="zh-CN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the potential</a:t>
            </a:r>
            <a:endParaRPr lang="en-US" altLang="zh-CN" sz="2800" dirty="0">
              <a:solidFill>
                <a:srgbClr val="0070C0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2) fulfil/ realize the potential</a:t>
            </a:r>
            <a:endParaRPr lang="zh-CN" altLang="en-US" sz="2800" dirty="0">
              <a:solidFill>
                <a:srgbClr val="0070C0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</a:rPr>
              <a:t>3) </a:t>
            </a:r>
            <a:r>
              <a:rPr lang="en-US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</a:rPr>
              <a:t>untapped potential</a:t>
            </a:r>
            <a:endParaRPr sz="2800" dirty="0">
              <a:solidFill>
                <a:srgbClr val="0070C0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</a:rPr>
              <a:t>4) limitless </a:t>
            </a:r>
            <a:r>
              <a:rPr lang="en-US" sz="2800" dirty="0">
                <a:solidFill>
                  <a:srgbClr val="0070C0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  <a:sym typeface="+mn-ea"/>
              </a:rPr>
              <a:t>potential</a:t>
            </a:r>
            <a:endParaRPr lang="en-US" sz="2800" dirty="0">
              <a:solidFill>
                <a:srgbClr val="0070C0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</a:rPr>
              <a:t>5) potential risk</a:t>
            </a:r>
            <a:endParaRPr lang="en-US" altLang="zh-CN" sz="2800" dirty="0">
              <a:solidFill>
                <a:schemeClr val="tx1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charset="0"/>
                <a:ea typeface="楷体" panose="02010609060101010101" pitchFamily="49" charset="-122"/>
                <a:cs typeface="Arial Narrow" panose="020B0606020202030204" charset="0"/>
              </a:rPr>
              <a:t>6) potential customers</a:t>
            </a:r>
            <a:endParaRPr lang="en-US" altLang="zh-CN" sz="2800" dirty="0">
              <a:solidFill>
                <a:schemeClr val="tx1"/>
              </a:solidFill>
              <a:latin typeface="Arial Narrow" panose="020B0606020202030204" charset="0"/>
              <a:ea typeface="楷体" panose="02010609060101010101" pitchFamily="49" charset="-122"/>
              <a:cs typeface="Arial Narrow" panose="020B060602020203020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6"/>
          <a:stretch>
            <a:fillRect/>
          </a:stretch>
        </p:blipFill>
        <p:spPr>
          <a:xfrm>
            <a:off x="8341995" y="3093085"/>
            <a:ext cx="3518535" cy="2225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4" name="图片 4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6" name="内容占位符 2"/>
          <p:cNvSpPr>
            <a:spLocks noGrp="1"/>
          </p:cNvSpPr>
          <p:nvPr/>
        </p:nvSpPr>
        <p:spPr>
          <a:xfrm>
            <a:off x="1383665" y="911225"/>
            <a:ext cx="9244330" cy="2738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marR="0" lvl="0" indent="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strain</a:t>
            </a:r>
            <a:endParaRPr lang="en-US" altLang="zh-CN" i="1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1) He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strained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his back during a practice session.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2) S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was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straining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keep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her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head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above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water.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-360045" algn="just" eaLnBrk="1" hangingPunct="1">
              <a:lnSpc>
                <a:spcPct val="90000"/>
              </a:lnSpc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3) She was tired and under great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strain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360045" indent="-360045" algn="just" eaLnBrk="1" hangingPunct="1">
              <a:lnSpc>
                <a:spcPct val="90000"/>
              </a:lnSpc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4) His constant complaints were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straining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our patience.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66620" y="3819525"/>
            <a:ext cx="3274695" cy="1986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扭伤</a:t>
            </a:r>
            <a:endParaRPr lang="en-US" altLang="zh-CN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竭尽全力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3) n.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压力；重负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4) </a:t>
            </a:r>
            <a:r>
              <a:rPr lang="zh-CN" altLang="en-US" sz="28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使不堪承受</a:t>
            </a:r>
            <a:endParaRPr lang="zh-CN" altLang="en-US" sz="28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7160895" y="3893185"/>
            <a:ext cx="3200400" cy="1912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Give the corresponding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noun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 for the following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verb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strain ____________	10) grasp 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tease __________________	11) appreciate 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dawn __________	12) fly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die __________	13) assure 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leak ___________	14) astonish____________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6) inspect __________________	15) expect 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7) realize __________		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16) insure 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8) bury ___________		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17) reflect _________________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9) scatter ___________		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18) believe 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591768" y="158149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09344" y="1523999"/>
            <a:ext cx="235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train/strainer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75232" y="1953405"/>
            <a:ext cx="335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teasing/tease/teaser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21713" y="2463345"/>
            <a:ext cx="2067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dawn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0893" y="2926637"/>
            <a:ext cx="2067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death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53274" y="3373044"/>
            <a:ext cx="24237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leak/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leakage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18206" y="3843423"/>
            <a:ext cx="335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inspection/inspector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88580" y="4288220"/>
            <a:ext cx="1812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realization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24575" y="1485408"/>
            <a:ext cx="1543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grasp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51381" y="1984134"/>
            <a:ext cx="2233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appreciation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55262" y="2453697"/>
            <a:ext cx="19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flight/flier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10047" y="2923213"/>
            <a:ext cx="177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assurance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65092" y="3390578"/>
            <a:ext cx="232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astonishment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62620" y="3852824"/>
            <a:ext cx="2009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expectation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752953" y="4794761"/>
            <a:ext cx="181232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burial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65698" y="5225056"/>
            <a:ext cx="1812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scattering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746790" y="4313831"/>
            <a:ext cx="2976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nsurance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/insurer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46790" y="4778796"/>
            <a:ext cx="3201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eflection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/reflector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19954" y="5255659"/>
            <a:ext cx="2701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elif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/believer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Give the corresponding verbs for the following nouns.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stream ____________	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acceptance 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statement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__________	7) encounter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relation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__________	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collection__________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formation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9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radiation 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recognition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	10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identity 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33717" y="1516494"/>
            <a:ext cx="1367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stream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1187" y="1981484"/>
            <a:ext cx="1724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state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76483" y="2452299"/>
            <a:ext cx="186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relate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00516" y="2911996"/>
            <a:ext cx="1839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form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3367" y="3387657"/>
            <a:ext cx="2067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recognize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8985" y="1516494"/>
            <a:ext cx="1543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accept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10216" y="1995963"/>
            <a:ext cx="1762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encounter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4106" y="2469635"/>
            <a:ext cx="19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collect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30089" y="2908904"/>
            <a:ext cx="19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Calibri" panose="020F0502020204030204" charset="0"/>
                <a:ea typeface="宋体" panose="02010600030101010101" pitchFamily="2" charset="-122"/>
              </a:rPr>
              <a:t>radiate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182989" y="3388373"/>
            <a:ext cx="19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identify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34347" y="745388"/>
            <a:ext cx="11642605" cy="58135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Give the corresponding nouns (referring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to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people)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 the following verbs.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report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___________	12) murder 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profess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	13) travel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edit_________	14) compose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advise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	15) interpret 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rob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	16) beg__________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17) sail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begin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__________		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18)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announce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support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		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19) manage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visit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		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 invade__________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10) lie ___________		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21) create 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11) sell 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28799" y="1217405"/>
            <a:ext cx="153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reporter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76470" y="1697726"/>
            <a:ext cx="1893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professor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15020" y="2161713"/>
            <a:ext cx="2067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editor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88580" y="2612403"/>
            <a:ext cx="264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dviser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/advisor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39084" y="3083615"/>
            <a:ext cx="1529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robber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62006" y="3553103"/>
            <a:ext cx="11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actor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09845" y="4009589"/>
            <a:ext cx="1745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beginner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13576" y="1211422"/>
            <a:ext cx="177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murderer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80911" y="1670003"/>
            <a:ext cx="147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traveler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12910" y="2150370"/>
            <a:ext cx="19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composer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19600" y="2630737"/>
            <a:ext cx="177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interpreter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34817" y="3073318"/>
            <a:ext cx="1495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beggar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22157" y="3523062"/>
            <a:ext cx="110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sailor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993479" y="4466075"/>
            <a:ext cx="1776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supporter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38775" y="4954192"/>
            <a:ext cx="1647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visitor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358537" y="4027827"/>
            <a:ext cx="1802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announcer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09845" y="5409480"/>
            <a:ext cx="1745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liar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34446" y="4468016"/>
            <a:ext cx="1818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manager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904244" y="4938531"/>
            <a:ext cx="145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invader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676611" y="5866733"/>
            <a:ext cx="121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seller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04245" y="5414390"/>
            <a:ext cx="145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creator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Translate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following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expressions,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paying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attention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use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suffix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“-</a:t>
            </a:r>
            <a:r>
              <a:rPr lang="en-US" altLang="zh-CN" b="1" dirty="0" err="1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ful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”.</a:t>
            </a:r>
            <a:endParaRPr lang="en-US" altLang="zh-CN" b="1" u="sng" dirty="0">
              <a:solidFill>
                <a:srgbClr val="ED7D31">
                  <a:lumMod val="7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shameful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result ___________________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bowlful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rice __________________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colorful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dresses __________________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delightful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person ________________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basketful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apples _______________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6) 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boxful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chocolate _______________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      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8431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7) 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small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handful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8431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8) 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helpful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suggestion 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49263" y="3851650"/>
            <a:ext cx="296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满满一篮子的苹果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58252" y="1981127"/>
            <a:ext cx="2543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令人羞耻的结果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10256" y="2438882"/>
            <a:ext cx="233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满满一碗米饭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10256" y="2897169"/>
            <a:ext cx="2491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色彩鲜艳的衣服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10257" y="3363581"/>
            <a:ext cx="2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atin typeface="Calibri" panose="020F0502020204030204" charset="0"/>
                <a:ea typeface="宋体" panose="02010600030101010101" pitchFamily="2" charset="-122"/>
              </a:rPr>
              <a:t>一个令人快乐的人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28061" y="4318285"/>
            <a:ext cx="2796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满满一盒巧克力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93668" y="4775828"/>
            <a:ext cx="29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一小撮人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49263" y="5218258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</a:rPr>
              <a:t>一条有帮助的建议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expressions,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paying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attention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to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use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suffix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“-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”.</a:t>
            </a:r>
            <a:endParaRPr kumimoji="0" lang="en-US" altLang="zh-CN" sz="2800" b="1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harmful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habit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10)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take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big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mouthful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wishful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thinking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hopeful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situation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houseful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guests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14)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spoonful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oil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armful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books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painful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memory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187813" y="1967001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一个有害的习惯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62005" y="2472868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吃一大口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16997" y="2912995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一厢情愿的想法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62005" y="3397528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有希望的形势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70339" y="3850321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一屋子的客人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002425" y="4319187"/>
            <a:ext cx="2605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一调羹油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02425" y="4777233"/>
            <a:ext cx="287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一大捧书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002425" y="5239366"/>
            <a:ext cx="2804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痛苦的记忆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formation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compound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words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into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Chinese.</a:t>
            </a:r>
            <a:endParaRPr kumimoji="0" lang="en-US" altLang="zh-CN" sz="2800" b="1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1) an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over-heated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engine 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life-long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perspective 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hand-made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purse____________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simple-minded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man____________________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5) an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old-fashioned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keyboard______________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new-born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baby______________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7) 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well-meaning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proposal__________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8) peace-loving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people_______________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48701" y="3845155"/>
            <a:ext cx="2568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老式键盘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17360" y="1998805"/>
            <a:ext cx="2742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过热的引擎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47962" y="2469733"/>
            <a:ext cx="2067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终身视角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49263" y="2947350"/>
            <a:ext cx="241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手工钱包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78515" y="3378162"/>
            <a:ext cx="4280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纯朴的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头脑简单的年轻人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644599" y="4315028"/>
            <a:ext cx="2967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新生婴儿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37983" y="4775828"/>
            <a:ext cx="317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善意的建议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49263" y="5235594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热爱和平的人民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47134" y="1066800"/>
            <a:ext cx="11642605" cy="562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843145" algn="l"/>
              </a:tabLst>
              <a:defRPr/>
            </a:pP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Study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formation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following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compound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words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and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then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translate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them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into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Chinese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state-owned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enterprises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dark-blue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waters_______________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ever-green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bushes_________________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high-pressure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reactor_________________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first-rate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teacher________________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down-to-earth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spirit__________________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learner-centered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teaching________________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84314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left-handed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person_________________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5" name="图片 2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669686" y="1987842"/>
            <a:ext cx="240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国有企业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80318" y="2473201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深蓝色的海域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6325" y="2931890"/>
            <a:ext cx="2638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常绿灌木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741012" y="3385121"/>
            <a:ext cx="2683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高压反应堆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70339" y="3850321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一流教师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424656" y="4311636"/>
            <a:ext cx="2853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脚踏实地的精神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669685" y="4781158"/>
            <a:ext cx="3042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以学生为中心的教学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69685" y="5242278"/>
            <a:ext cx="1364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左撇子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7" grpId="0"/>
      <p:bldP spid="28" grpId="0"/>
      <p:bldP spid="31" grpId="0"/>
      <p:bldP spid="33" grpId="0"/>
      <p:bldP spid="34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Fill in the blanks with the correct form of the phrases listed below.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 a long time, people thought that this area was too dry to grow trees, but they have been proven wrong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Today, the whole area has become lush(</a:t>
            </a:r>
            <a:r>
              <a:rPr lang="zh-CN" altLang="en-US" dirty="0">
                <a:solidFill>
                  <a:schemeClr val="accent5"/>
                </a:solidFill>
                <a:latin typeface="Calibri" panose="020F0502020204030204"/>
                <a:ea typeface="宋体" panose="02010600030101010101" pitchFamily="2" charset="-122"/>
              </a:rPr>
              <a:t>茂盛的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and green.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Peking University is generally __________ one of the most important universities in China. It 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some of the best faculties(</a:t>
            </a:r>
            <a:r>
              <a:rPr lang="zh-CN" altLang="en-US" dirty="0">
                <a:solidFill>
                  <a:schemeClr val="accent5"/>
                </a:solidFill>
                <a:latin typeface="Calibri" panose="020F0502020204030204"/>
                <a:ea typeface="宋体" panose="02010600030101010101" pitchFamily="2" charset="-122"/>
              </a:rPr>
              <a:t>系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in our country.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am glad to go to that important meeting. Besides, the place where the meeting will be held is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within walking distance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of where my sister works. I haven’t seen her _________, so I can do two things ___________.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40530" y="4251325"/>
            <a:ext cx="1704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consists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of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36377" y="3073624"/>
            <a:ext cx="143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after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all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122" y="3856406"/>
            <a:ext cx="1980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regarded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96285" y="5759917"/>
            <a:ext cx="1448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ages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1932" y="5759917"/>
            <a:ext cx="1357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once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25686" y="1240311"/>
            <a:ext cx="11264053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consist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	melt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into 	cut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…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half	reflect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relation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	regard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dawn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call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at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once		after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all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turn	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case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work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ages	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one’s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part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fact 	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Fill in the blanks with the correct form of the phrases listed below.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generation gap is a big problem and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serious attention. I think we young people ____________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should try to understand older people’s worries and cares, and respect their experiences, while older people, __________,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should understand young people’s wishes and desires, and respect their new ideas.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 suddenly __________ us that __________ the whole polar ice cap should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water, many of our coastal cities could disappear under the sea.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68820" y="4604518"/>
            <a:ext cx="157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case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13036" y="4604518"/>
            <a:ext cx="2372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dawned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25051" y="2636506"/>
            <a:ext cx="1980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calls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1323" y="3800361"/>
            <a:ext cx="1349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turn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82552" y="3031157"/>
            <a:ext cx="1890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part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21323" y="4985056"/>
            <a:ext cx="157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melt</a:t>
            </a:r>
            <a:r>
              <a:rPr lang="zh-CN" altLang="en-US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5686" y="1240311"/>
            <a:ext cx="11264053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consist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	melt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into 	cut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…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half	reflect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relation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	regard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dawn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call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at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once		after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all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turn	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case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work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ages	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one’s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part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fact 	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Fill in the blanks with the correct form of the phrases listed below.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eaLnBrk="1" hangingPunct="1">
              <a:spcBef>
                <a:spcPts val="300"/>
              </a:spcBef>
              <a:buNone/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endParaRPr lang="en-US" altLang="zh-CN" sz="24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73125" eaLnBrk="1" hangingPunct="1">
              <a:spcBef>
                <a:spcPts val="300"/>
              </a:spcBef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73125" eaLnBrk="1" hangingPunct="1">
              <a:spcBef>
                <a:spcPts val="300"/>
              </a:spcBef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Whenever two nations quarrel, people tend to put all the blame on the other side. However, if they can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issue and everything ___________ it objectively and rationally, they will find that compromises(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妥协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are often possible.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enemy troops tried to __________ our defense line __________, but to their disappointment, the plan did not ___________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because our troops, although outnumbered(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数量上超过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), held their ground.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No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can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deny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progress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made,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but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also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know _________,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are still the largest developing country in the world.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4852" y="3448656"/>
            <a:ext cx="2251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relation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68648" y="4641913"/>
            <a:ext cx="1746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work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46720" y="3064220"/>
            <a:ext cx="1980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reflect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51545" y="4274298"/>
            <a:ext cx="1082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24353" y="4274298"/>
            <a:ext cx="1610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half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093999" y="5426106"/>
            <a:ext cx="1592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r>
              <a:rPr lang="zh-CN" altLang="en-US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zh-CN" altLang="en-US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fact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5686" y="1240311"/>
            <a:ext cx="11264053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consist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	melt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into 	cut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…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half	reflect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relation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	regard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dawn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	call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at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once		after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all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turn		in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case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work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ages	on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one’s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part	for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fact 	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329514" y="749644"/>
            <a:ext cx="11560226" cy="58159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spc="-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</a:t>
            </a:r>
            <a:r>
              <a:rPr kumimoji="0" lang="en-US" altLang="zh-CN" sz="2800" b="1" i="0" u="none" strike="noStrike" kern="120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Fill in the blanks with the correct prepositions or adverbs that collocate with the verbs “see” and “</a:t>
            </a:r>
            <a:r>
              <a:rPr lang="en-US" altLang="zh-CN" b="1" spc="-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agree</a:t>
            </a:r>
            <a:r>
              <a:rPr kumimoji="0" lang="en-US" altLang="zh-CN" sz="2800" b="1" i="0" u="none" strike="noStrike" kern="120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”.</a:t>
            </a:r>
            <a:endParaRPr kumimoji="0" lang="en-US" altLang="zh-CN" sz="2800" b="1" i="0" u="none" strike="noStrike" kern="120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514350" indent="-514350" algn="just" defTabSz="897255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Wait a second. I’ll see you _____(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送到门口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 It’s dark and our neighbor’s got a big dog.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algn="just" defTabSz="897255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 Bai wrote this beautiful poem to express his thanks to a friend who had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walked a long way to see him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film was really junk. But I had to see it _____________ because my six-year-old son found it amusing.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 tried to give people the impression that he was a great scholar, but they quickly saw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看穿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)him.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She worked hard to see ____ it 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保证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)that she could help her parents pay the rent for their apartment. However, her monthly pay simply was not enough to see her __________(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使渡过难关、得以维持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 flipH="1">
            <a:off x="4918078" y="1478749"/>
            <a:ext cx="7166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041750" y="2773735"/>
            <a:ext cx="92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off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7374065" y="3219516"/>
            <a:ext cx="20533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out/through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00285" y="4397104"/>
            <a:ext cx="15520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through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4390612" y="4919647"/>
            <a:ext cx="5846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3505136" y="5656721"/>
            <a:ext cx="14794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through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315722" y="812014"/>
            <a:ext cx="11560556" cy="5750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spc="-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</a:t>
            </a:r>
            <a:r>
              <a:rPr kumimoji="0" lang="en-US" altLang="zh-CN" sz="2800" b="1" i="0" u="none" strike="noStrike" kern="120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Fill in the blanks with the correct prepositions or adverbs that collocate with the verbs “</a:t>
            </a:r>
            <a:r>
              <a:rPr lang="en-US" altLang="zh-CN" b="1" spc="-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see</a:t>
            </a:r>
            <a:r>
              <a:rPr kumimoji="0" lang="en-US" altLang="zh-CN" sz="2800" b="1" i="0" u="none" strike="noStrike" kern="120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 and “</a:t>
            </a:r>
            <a:r>
              <a:rPr lang="en-US" altLang="zh-CN" b="1" spc="-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agree</a:t>
            </a:r>
            <a:r>
              <a:rPr kumimoji="0" lang="en-US" altLang="zh-CN" sz="2800" b="1" i="0" u="none" strike="noStrike" kern="120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”.</a:t>
            </a:r>
            <a:endParaRPr kumimoji="0" lang="en-US" altLang="zh-CN" sz="2800" b="1" i="0" u="none" strike="noStrike" kern="120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I had an awful stomachache the other day. It must have been something I ate that didn’t agree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 me(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适合，相宜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 I’m sure you will all agree ____ me when I say that the relationship between our two countries has never been better.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Historians generally agree _________________ the facts. Their difference lies in their interpretation(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阐释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of the facts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We have already handed in our proposal. We will see if the school authorities agree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it.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mountain air must have agreed 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适合，相宜</a:t>
            </a: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my father. In two months he has recovered his health remarkably.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3622885" y="2184135"/>
            <a:ext cx="974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48184" y="2698687"/>
            <a:ext cx="82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74525" y="3610090"/>
            <a:ext cx="297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on/about/with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/to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56676" y="5470813"/>
            <a:ext cx="963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图片 1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257981" y="4940099"/>
            <a:ext cx="297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to/with/on/about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37992" y="840559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Fill in the blanks with the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appropriate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phrases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listed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below.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Some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them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may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used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more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than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once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4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 came up with this great idea at the age of 14. Naturally, few people, if any, took him seriously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fact, people did not even understand what this idea meant _____________.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may not see the truth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_________________,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but don’t worry, they will find out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superhighway was planned to open to traffic on National Day, and it was completed __________ in spite of tremendous(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巨大的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difficulties.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2395" y="4725453"/>
            <a:ext cx="1492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72446" y="4391750"/>
            <a:ext cx="299027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for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time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being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暂时</a:t>
            </a:r>
            <a:endParaRPr kumimoji="0" lang="zh-CN" altLang="en-US" sz="2800" b="0" i="0" u="none" strike="noStrike" kern="120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78194" y="3567990"/>
            <a:ext cx="1845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39978" y="3975536"/>
            <a:ext cx="235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long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39845" y="5581054"/>
            <a:ext cx="1474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93385" y="1712681"/>
            <a:ext cx="10156994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time 	during the time 	at the time 	on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 times 	at the same time 	by that time 	at a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high time 	for the time being 	for a long time 	in no time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4154" y="826932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Fill in the blanks with 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appropriate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listed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below.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Some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may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used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more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than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once.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4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She remembered her hard life in her childhood. It was ______________ of the terrible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economic depression in her country, and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both her parents were out of work.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Don’t try to do two things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Do them one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6. From that day on, people could not even find enough water to drink. ___________ it had not rained for months.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Accidents still occur __________,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but the situation has much improved.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71751" y="4354584"/>
            <a:ext cx="157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2386" y="3161395"/>
            <a:ext cx="2525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during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56166" y="5591115"/>
            <a:ext cx="1845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28012" y="4349559"/>
            <a:ext cx="2803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at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same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6525" y="5167056"/>
            <a:ext cx="2012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By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that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778333" y="3541940"/>
            <a:ext cx="258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long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3385" y="1712681"/>
            <a:ext cx="10156994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time 	during the time 	at the time 	on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 times 	at the same time 	by that time 	at a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high time 	for the time being 	for a long time 	in no time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47134" y="720811"/>
            <a:ext cx="11642605" cy="58571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680" marR="0" lvl="0" indent="-360680" algn="just" defTabSz="914400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Fill in the blanks with 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appropriate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listed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below.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Some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may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be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used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more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than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once.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6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lang="en-US" altLang="zh-CN" sz="26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r>
              <a:rPr kumimoji="0" lang="en-US" altLang="zh-CN" sz="8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lang="en-US" altLang="zh-CN" sz="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7312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2331720" algn="l"/>
                <a:tab pos="3138170" algn="l"/>
                <a:tab pos="4486275" algn="l"/>
                <a:tab pos="6816725" algn="l"/>
                <a:tab pos="8970645" algn="l"/>
              </a:tabLst>
              <a:defRPr/>
            </a:pPr>
            <a:endParaRPr kumimoji="0" lang="en-US" altLang="zh-CN" sz="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85000"/>
              </a:lnSpc>
              <a:spcBef>
                <a:spcPts val="2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People’s awareness of the environment problem is a pretty recent thing, historically speaking. _________________________ people did not understand its importance. They were generally concerned about their GDP.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85000"/>
              </a:lnSpc>
              <a:spcBef>
                <a:spcPts val="2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—Hi, Ben! I’ve finally decided to quit smoking.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defTabSz="897255" eaLnBrk="1" hangingPunct="1">
              <a:lnSpc>
                <a:spcPct val="85000"/>
              </a:lnSpc>
              <a:spcBef>
                <a:spcPts val="2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—You have? Great. It’s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did.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85000"/>
              </a:lnSpc>
              <a:spcBef>
                <a:spcPts val="2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 You’re smart. If you work a little harder, I’m sure you’ll catch up with the 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others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 it had not rained for months.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defTabSz="897255" eaLnBrk="1" hangingPunct="1">
              <a:lnSpc>
                <a:spcPct val="85000"/>
              </a:lnSpc>
              <a:spcBef>
                <a:spcPts val="2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 was to be the most important person in her life, but she did not know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She liked him, but that was all.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" name="图片 3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03231" y="3245477"/>
            <a:ext cx="4257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long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time/At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9452" y="5119264"/>
            <a:ext cx="198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no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4045" y="5875572"/>
            <a:ext cx="1956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368318" y="4384339"/>
            <a:ext cx="1924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high</a:t>
            </a:r>
            <a:r>
              <a:rPr lang="zh-CN" altLang="en-US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time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3385" y="1513330"/>
            <a:ext cx="10156994" cy="1332673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time 	during the time 	at the time 	on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 times 	at the same time 	by that time 	at a time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73125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tabLst>
                <a:tab pos="1974850" algn="l"/>
                <a:tab pos="2331720" algn="l"/>
                <a:tab pos="3589020" algn="l"/>
                <a:tab pos="4932045" algn="l"/>
                <a:tab pos="5740400" algn="l"/>
                <a:tab pos="7713345" algn="l"/>
              </a:tabLst>
              <a:defRPr/>
            </a:pPr>
            <a:r>
              <a:rPr lang="en-US" altLang="zh-CN" sz="28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high time 	for the time being 	for a long time 	in no time	</a:t>
            </a:r>
            <a:endParaRPr lang="en-US" altLang="zh-CN" sz="28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following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sentences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and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tell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grammatical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functions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infinitive</a:t>
            </a:r>
            <a:r>
              <a:rPr lang="zh-CN" altLang="en-US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phrases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be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or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not to be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that is the question.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1270" indent="0" algn="just">
              <a:buNone/>
            </a:pP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To be or not to be (infinitive phrase used as the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subject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zh-CN" dirty="0"/>
              <a:t> </a:t>
            </a:r>
            <a:endParaRPr lang="en-US" altLang="zh-CN" dirty="0"/>
          </a:p>
          <a:p>
            <a:pPr marL="1270" indent="0" algn="just"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生存还是毁灭，这是一个问题。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We eat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live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not live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eat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(eat) to live; (live) to eat (infinitive phrase used as an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adverbial of purpose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我们吃东西是为了活着，但活着不是为了吃。 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588123" y="15814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r>
            <a:r>
              <a:rPr lang="en-US" altLang="zh-CN" b="1" noProof="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r>
              <a:rPr lang="zh-CN" altLang="en-US" b="1" noProof="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sentences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tell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grammatical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functions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infinitive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My mother wanted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go to the nursing home to see Grandma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, and she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wanted me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go with her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 I told her that I had a lot of homework to do, but she said that it wouldn’t take us long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visit Grandma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, and I would have plenty of time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finish my homework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go to the nursing home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object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of “want”); to see Grandma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adverbial of purpose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 to go with her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direct object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 to do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attributive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 to visit Grandma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subject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finish my homework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attributive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829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我妈要去养老院看我姥姥，想让我跟她一起去。我告诉她我有很多家庭作业要做，可是她说看姥姥花不了多少时间，我还有足够的时间完成作业。 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sentences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tell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grammatical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functions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infinitive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 think the best policy in international relations is still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live and let live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 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to live and let live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predicative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/>
              <a:t> </a:t>
            </a:r>
            <a:r>
              <a:rPr lang="zh-CN" altLang="en-US" dirty="0"/>
              <a:t> 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我认为国际关系中最好的政策仍然是和平共存。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It would be very much like the story of Master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Dongguo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and the Wolf. You free the wolf out of the goodness of your heart only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be threatened to be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the hungry wolf’s dinner.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be threatened to be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adverbial of result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 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这就会像东郭先生和狼的故事一样。你出于好心放了狼，结果却受到威胁，要被当做这头恶狼的晚餐。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sentences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tell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grammatical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functions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infinitive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6. One often picks up a rock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hurt somebody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only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drop it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on their own toe.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to hurt somebody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adverbial of purpose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); to drop it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adverbial of result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经常有人捡起石头想伤人，却砸了自己的脚。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7.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One human weakness is the irresistible desire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prove himself to be right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and never wrong, and the surest way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flatter someone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is to tell him he is the only person you know who hates flattery.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prove himself to be right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attributive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 to flatter someone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attributive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); to tell him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predicative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0045" lvl="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人性的弱点之一是无法抗拒地想证明自己是对的，从不犯错，因此奉承他人最可靠的方法就是告诉他，他是你见过的唯一讨厌奉承的人。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51254" y="724930"/>
            <a:ext cx="11668896" cy="5815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following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sentences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tell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grammatical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functions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infinitive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phrases.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tell the truth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, I think it is easier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conquer poverty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than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conquer wealth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. I have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seen many people suffer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, not because they are too poor, but because they are too rich.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To tell the truth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adverbial compliment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, usually placed at the beginning of a sentence); to conquer poverty/to conquer wealth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subject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; “it” is used as the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logical subject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); see many people suffer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part of the complex object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说实话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我认为战胜贫困比战胜财富要容易。我见过很多人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受苦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</a:t>
            </a:r>
            <a:r>
              <a:rPr lang="zh-CN" altLang="en-US" sz="24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是因为他们太穷了，而是因为他们太富了。</a:t>
            </a:r>
            <a:endParaRPr lang="en-US" altLang="zh-CN" sz="240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9.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I drove all the way from coast to coast, only stopped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to eat and sleep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to eat and sleep (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adverbial of purpose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endParaRPr lang="en-US" altLang="zh-CN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045" indent="-457200" algn="just" eaLnBrk="1" hangingPunct="1">
              <a:spcBef>
                <a:spcPts val="500"/>
              </a:spcBef>
              <a:buNone/>
              <a:tabLst>
                <a:tab pos="4303395" algn="l"/>
              </a:tabLst>
              <a:defRPr/>
            </a:pPr>
            <a:r>
              <a:rPr lang="zh-CN" altLang="en-US" sz="240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 我一路从东海岸开到西海岸，只停下来吃饭睡觉。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7" name="图片 1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43544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780" y="749935"/>
            <a:ext cx="11617960" cy="466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Study the following examples and complete the sentences.</a:t>
            </a:r>
            <a:endParaRPr kumimoji="0" lang="en-US" altLang="zh-CN" sz="2800" b="1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Examples: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Pattern 1: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... (just) in case + reason clause ... (should) do/did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They ... gave me extra bananas to take along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in case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my radiator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should give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me trouble again. (para. 4)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Take your raincoat with you in case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 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Look up the word in the dictionary in case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 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3.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Don’t show your fear in case ________________________________.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39261"/>
            <a:ext cx="524510" cy="4273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938520" y="3492500"/>
            <a:ext cx="5006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it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(should)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rain/rained/rains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69540" y="3946204"/>
            <a:ext cx="452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you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(should)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misunderstand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93179" y="4417800"/>
            <a:ext cx="573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dog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(should)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come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at/came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at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you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848" y="749643"/>
            <a:ext cx="11617891" cy="58323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sentences.</a:t>
            </a:r>
            <a:endParaRPr kumimoji="0" lang="en-US" altLang="zh-CN" sz="2800" b="1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Examples: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Pattern 2: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... so + adj./adv. + that + result clause</a:t>
            </a:r>
            <a:br>
              <a:rPr lang="en-US" altLang="zh-CN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I was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so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astonished at this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that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I must have looked rather foolish and everyone laughed. (para. 4) 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 was so tired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_________________________________ 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5.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She was so excited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__________________________________________.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8290" indent="-4572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6.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People’s opinions were so divided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_________________________________________________.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31531" y="3468893"/>
            <a:ext cx="5489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could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barely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stand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straight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79142" y="3927487"/>
            <a:ext cx="7454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ran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out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room,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screaming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and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shouting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9800" y="4810932"/>
            <a:ext cx="872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there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was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not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slightest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chance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reaching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consensus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848" y="749643"/>
            <a:ext cx="11617891" cy="58323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sentences.</a:t>
            </a:r>
            <a:endParaRPr kumimoji="0" lang="en-US" altLang="zh-CN" sz="2800" b="1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Examples: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Pattern 3: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... so that + purpose clause</a:t>
            </a:r>
            <a:b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... I hope one of my children ... gives me grandchildren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so that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can pass on the land’s secret messages to them. (para. 11, Text A, Unit 2)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8829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7. All the people in that area were quickly removed to safe places so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______________________________________________________.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829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8.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We must not jump to conclusions on this matter so that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829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8290" indent="-4572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9.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History is full of useful lessons which we should remember so that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_____________________________________.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8568" y="3860360"/>
            <a:ext cx="9767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relief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workers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could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concentrate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on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containing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chemical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spill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3912" y="4812143"/>
            <a:ext cx="3686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we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can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think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through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8568" y="5705755"/>
            <a:ext cx="6473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we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can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make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wiser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decisions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future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71848" y="749643"/>
            <a:ext cx="11617891" cy="58323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sentences.</a:t>
            </a:r>
            <a:endParaRPr kumimoji="0" lang="en-US" altLang="zh-CN" sz="2800" b="1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Examples: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b="1" spc="-8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Pattern 4: </a:t>
            </a:r>
            <a:r>
              <a:rPr lang="en-US" altLang="zh-CN" spc="-8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... main verb (past continuous/past perfect tense) + when + time clause</a:t>
            </a:r>
            <a:b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My ancient jeep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was straining up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through beautiful countryside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when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the radiator began to leak ... (para. 1)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spc="-2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soldier on leave </a:t>
            </a:r>
            <a:r>
              <a:rPr lang="en-US" altLang="zh-CN" spc="-2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had already arrived </a:t>
            </a:r>
            <a:r>
              <a:rPr lang="en-US" altLang="zh-CN" spc="-2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home </a:t>
            </a:r>
            <a:r>
              <a:rPr lang="en-US" altLang="zh-CN" spc="-2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when</a:t>
            </a:r>
            <a:r>
              <a:rPr lang="en-US" altLang="zh-CN" spc="-2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he received the order to return to the front. </a:t>
            </a:r>
            <a:endParaRPr lang="en-US" altLang="zh-CN" spc="-22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 That day, most people _____________________ when the fire started.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0" indent="-53848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11. The sailors and their officers ____________________________________</a:t>
            </a:r>
            <a:b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</a:b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in Pearl Harbor when bombs from the Japanese aircrafts broke the silence.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538480" lvl="0" indent="-53848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12. The sea water had ebbed away, and people were busy collecting fish    stranded on the beach when _____________________________________.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21273" y="3463448"/>
            <a:ext cx="391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had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already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fallen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asleep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8267" y="3920277"/>
            <a:ext cx="6528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were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still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sleeping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after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Saturday’s</a:t>
            </a:r>
            <a:r>
              <a:rPr kumimoji="0" lang="zh-CN" altLang="en-US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activities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75496" y="5220492"/>
            <a:ext cx="669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-8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they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found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man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lying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face-down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the</a:t>
            </a:r>
            <a:r>
              <a:rPr kumimoji="0" lang="zh-CN" altLang="en-US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-8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beach</a:t>
            </a:r>
            <a:endParaRPr kumimoji="0" lang="zh-CN" altLang="en-US" sz="2800" b="0" i="0" u="none" strike="noStrike" kern="1200" cap="none" spc="-8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50" y="627380"/>
            <a:ext cx="11705590" cy="45034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地上只有些散落的石头，人们不容易认出这是一段千年以前的城墙。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(scatter)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With only some rocks scattered here and there, it would not be easy for us to recognize the place as part of the city wall from a thousand years ago.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今天，年轻人看问题都有了新的角度，不再把大城市作为就业的首选。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perspective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; </a:t>
            </a:r>
            <a:r>
              <a:rPr lang="zh-CN" altLang="en-US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regard as) 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Today, young people have gotten a new perspective, no longer regarding big cities as their first choice for employment.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-6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50" y="627380"/>
            <a:ext cx="11705590" cy="5655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让我们同意对方可以有不同意见吧。但是我们起码在这点上意见是一致的，那就是我们同意不采取暴力，我们同意我们的分歧必须和平解决。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(agree)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u="sng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Let’s agree to disagree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, but we can at least agree on this one thing: We agree not to use force; we agree that we must settle our disputes peacefully.</a:t>
            </a:r>
            <a:endParaRPr lang="en-US" altLang="zh-CN" spc="-6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400" spc="-60" dirty="0">
                <a:latin typeface="宋体" panose="02010600030101010101" pitchFamily="2" charset="-122"/>
                <a:ea typeface="宋体" panose="02010600030101010101" pitchFamily="2" charset="-122"/>
              </a:rPr>
              <a:t>真正关心教育的是那些率先要求振兴和改革教育的人。</a:t>
            </a:r>
            <a:r>
              <a:rPr lang="en-US" altLang="zh-CN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(call for) </a:t>
            </a:r>
            <a:endParaRPr lang="en-US" altLang="zh-CN" dirty="0">
              <a:solidFill>
                <a:srgbClr val="ED7D31">
                  <a:lumMod val="7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Those who care sincerely about education will be among the first to call for its renewal and reform.</a:t>
            </a:r>
            <a:endParaRPr lang="en-US" altLang="zh-CN" spc="-6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我可以向你保证，她是一个非常随和的人。我从来没有见过她发脾气。</a:t>
            </a:r>
            <a:r>
              <a:rPr lang="en-US" altLang="zh-CN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(assure) </a:t>
            </a:r>
            <a:endParaRPr lang="en-US" altLang="zh-CN" dirty="0">
              <a:solidFill>
                <a:srgbClr val="ED7D31">
                  <a:lumMod val="7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 can assure you that she is a very easy-going person. I have never seen her lose her temper.</a:t>
            </a:r>
            <a:endParaRPr kumimoji="0" lang="en-US" altLang="zh-CN" sz="2800" b="0" i="0" u="none" strike="noStrike" kern="1200" cap="none" spc="-6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50" y="627380"/>
            <a:ext cx="11705590" cy="5397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我也会时不时地感到沮丧，但总会想办法让自己尽快振作起来。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(time)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 do feel frustrated at times, but I always find ways to pull myself together in no time. 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大学教育应该确保大学生具备批判性思维能力。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(see to it)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College education should see to it that students are able to do critical thinking.</a:t>
            </a:r>
            <a:endParaRPr lang="en-US" altLang="zh-CN" spc="-6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你们在预习功课的时候，一定要尽量试试，看是否能提出重要的问题来，是否能作出有意义的评论。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(see if)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While you are preparing your lessons, you must try to see if you can raise some significant questions and give meaningful comments.</a:t>
            </a:r>
            <a:endParaRPr kumimoji="0" lang="en-US" altLang="zh-CN" sz="2800" b="0" i="0" u="none" strike="noStrike" kern="1200" cap="none" spc="-6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184150" y="627380"/>
            <a:ext cx="11705590" cy="45573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在对这个问题进行仔细思考以后，我认识到，我们必须确保我们的学生不但能谋生，还懂 得怎样生活。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(reflect on)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After reflecting on this issue carefully, I’ve come to realize that we must make sure that our students not only can make a living, but also know how to live.</a:t>
            </a:r>
            <a:endParaRPr lang="en-US" altLang="zh-CN" spc="-60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我们逐渐意识到，我们必须不断保持知识创新才能不断发展向前。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(dawn) 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 </a:t>
            </a:r>
            <a:r>
              <a:rPr lang="en-US" altLang="zh-CN" spc="-60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It has gradually dawned on us that only ceaseless pursuit of knowledge and innovation can ensure continuous development. </a:t>
            </a:r>
            <a:endParaRPr kumimoji="0" lang="en-US" altLang="zh-CN" sz="2800" b="0" i="0" u="none" strike="noStrike" kern="1200" cap="none" spc="-6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6562" y="852616"/>
            <a:ext cx="11593178" cy="5717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Fill in each blank of the passage with ONE suitable word.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    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One summer evening I was sitting (1)_____________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good science fiction story. I was (2)____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interested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story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not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(3)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getting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dark.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when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(4)___________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dark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read,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put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(5)_________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down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got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up.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about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turn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light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(6)_____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heard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someone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cry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out,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“Help!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Help!”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cry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(7)________________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come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from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trees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other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end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yard.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looked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(8)____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now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dark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anything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(9)_______________.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few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seconds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later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heard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cry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again.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(10)________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like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child.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Wondering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child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(11)_________________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doing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our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backyard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this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hour,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decided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(12)____________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go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yard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have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look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just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(13)______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child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was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trouble.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rushed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yard,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only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see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bird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flying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out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of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</a:t>
            </a:r>
            <a:r>
              <a:rPr lang="zh-CN" altLang="en-US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275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trees.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67984" y="1704828"/>
            <a:ext cx="114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aware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4738" y="1321612"/>
            <a:ext cx="247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by/near/beside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73741" y="1698542"/>
            <a:ext cx="704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8075" y="2452375"/>
            <a:ext cx="1969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book/story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3670" y="2064606"/>
            <a:ext cx="2076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realized/saw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8" name="图片 1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00182" y="158149"/>
            <a:ext cx="524510" cy="42735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9708345" y="2439846"/>
            <a:ext cx="114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40583" y="2836485"/>
            <a:ext cx="2870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seemed/appeared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06057" y="3233461"/>
            <a:ext cx="704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Calibri" panose="020F0502020204030204" charset="0"/>
                <a:ea typeface="宋体" panose="02010600030101010101" pitchFamily="2" charset="-122"/>
              </a:rPr>
              <a:t>but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50901" y="3590318"/>
            <a:ext cx="2638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clearly/distinctly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588415" y="3914160"/>
            <a:ext cx="1565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sounded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57736" y="4335008"/>
            <a:ext cx="3195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could/might/would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3370" y="4743747"/>
            <a:ext cx="2638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ought/needed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553750" y="4732946"/>
            <a:ext cx="1141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case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</a:t>
            </a:r>
            <a:r>
              <a:rPr kumimoji="0" lang="zh-CN" altLang="en-US" sz="28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exercise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Make sure you all have your smartphones with you with everybody’s phone number, in case if anyone gets lost in the mountain.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Make sure you all have your smartphones with you with everybody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 phone 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number, in case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if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anyone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should get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lost in the mountain.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It dawned to me that I may have left my purse at home when I was changing my clothes.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>
              <a:spcBef>
                <a:spcPts val="300"/>
              </a:spcBef>
              <a:buNone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It dawned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on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me that I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might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have left my purse at home when I was changing my clothes. 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exercise.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My father kept reminding me of seeing my aunt during I stayed in London.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My father kept reminding me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to see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my aunt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during my stay/while I stayed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in London.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4.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More and more educated young people are reported returning home, building their new hometowns.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More and more educated young people are reported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to be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returning home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to build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their new hometowns. 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exercise.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5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 We believed when he claimed to have a university degree. However, it turned out to be false though.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We believed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him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when he claimed to have a university degree. However, it turned out to be false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though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. (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However,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It turned out to be false though.) 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6.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 world is changing so fast so that we can hardly keep with the pace.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The world is changing so fast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so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that we can hardly keep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up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with the pace.</a:t>
            </a:r>
            <a:br>
              <a:rPr lang="en-US" altLang="zh-CN" dirty="0">
                <a:solidFill>
                  <a:srgbClr val="C00000"/>
                </a:solidFill>
              </a:rPr>
            </a:br>
            <a:endParaRPr lang="en-US" altLang="zh-CN" dirty="0">
              <a:solidFill>
                <a:srgbClr val="C00000"/>
              </a:solidFill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292442" y="774357"/>
            <a:ext cx="11597297" cy="57788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Find and correct the TWO mistakes in each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exercise.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7. The farmer said that he had four children. However, by the time he needed someone to take care, they all left home to work in faraway places.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The farmer said that he had four children. However, by the time he needed someone to take care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of him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, they 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had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all left home to work in faraway places.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8.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This is an area where she regards it as her harbor.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This is an area (</a:t>
            </a:r>
            <a:r>
              <a:rPr lang="en-US" altLang="zh-CN" b="1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which/that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she regards </a:t>
            </a:r>
            <a:r>
              <a:rPr lang="en-US" altLang="zh-CN" b="1" u="sng" strike="sngStrike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it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as her harbor. 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defRPr/>
            </a:pP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b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pitchFamily="2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58149"/>
            <a:ext cx="503555" cy="454660"/>
          </a:xfrm>
          <a:prstGeom prst="rect">
            <a:avLst/>
          </a:prstGeom>
        </p:spPr>
      </p:pic>
      <p:pic>
        <p:nvPicPr>
          <p:cNvPr id="12" name="图片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27069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910,&quot;width&quot;:15840}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5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6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7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8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9.xml><?xml version="1.0" encoding="utf-8"?>
<p:tagLst xmlns:p="http://schemas.openxmlformats.org/presentationml/2006/main">
  <p:tag name="KSO_WM_DIAGRAM_VIRTUALLY_FRAME" val="{&quot;height&quot;:374.57417322834647,&quot;left&quot;:163.39496062992123,&quot;top&quot;:116.43692913385826,&quot;width&quot;:578.9250393700788}"/>
</p:tagLst>
</file>

<file path=ppt/tags/tag10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2_Office 主题​​">
  <a:themeElements>
    <a:clrScheme name="自定义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23809</Words>
  <Application>WPS 演示</Application>
  <PresentationFormat>宽屏</PresentationFormat>
  <Paragraphs>806</Paragraphs>
  <Slides>40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8" baseType="lpstr">
      <vt:lpstr>Arial</vt:lpstr>
      <vt:lpstr>宋体</vt:lpstr>
      <vt:lpstr>Wingdings</vt:lpstr>
      <vt:lpstr>Arial Black</vt:lpstr>
      <vt:lpstr>思源黑体 CN Regular</vt:lpstr>
      <vt:lpstr>黑体</vt:lpstr>
      <vt:lpstr>Times New Roman</vt:lpstr>
      <vt:lpstr>华文中宋</vt:lpstr>
      <vt:lpstr>楷体</vt:lpstr>
      <vt:lpstr>Arial Narrow</vt:lpstr>
      <vt:lpstr>等线</vt:lpstr>
      <vt:lpstr>微软雅黑</vt:lpstr>
      <vt:lpstr>Calibri</vt:lpstr>
      <vt:lpstr>Calibri</vt:lpstr>
      <vt:lpstr>Arial Unicode MS</vt:lpstr>
      <vt:lpstr>等线 Light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700</cp:revision>
  <dcterms:created xsi:type="dcterms:W3CDTF">2021-05-22T03:56:00Z</dcterms:created>
  <dcterms:modified xsi:type="dcterms:W3CDTF">2025-11-11T11:14:24Z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7FC456AD566245F2B2C48A552192A485_12</vt:lpwstr>
  </property>
</Properties>
</file>