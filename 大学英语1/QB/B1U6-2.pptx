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webp" ContentType="image/webp"/>
  <Override PartName="/ppt/media/image12.webp" ContentType="image/webp"/>
  <Override PartName="/ppt/media/image13.webp" ContentType="image/webp"/>
  <Override PartName="/ppt/media/image14.webp" ContentType="image/webp"/>
  <Override PartName="/ppt/media/image15.webp" ContentType="image/webp"/>
  <Override PartName="/ppt/media/image16.webp" ContentType="image/webp"/>
  <Override PartName="/ppt/media/image17.webp" ContentType="image/webp"/>
  <Override PartName="/ppt/media/image18.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410" r:id="rId4"/>
    <p:sldId id="676" r:id="rId6"/>
    <p:sldId id="677" r:id="rId7"/>
    <p:sldId id="471" r:id="rId8"/>
    <p:sldId id="495" r:id="rId9"/>
    <p:sldId id="593" r:id="rId10"/>
    <p:sldId id="594" r:id="rId11"/>
    <p:sldId id="595" r:id="rId12"/>
    <p:sldId id="596" r:id="rId13"/>
    <p:sldId id="598" r:id="rId14"/>
    <p:sldId id="599" r:id="rId15"/>
    <p:sldId id="600" r:id="rId16"/>
    <p:sldId id="601" r:id="rId17"/>
    <p:sldId id="602" r:id="rId18"/>
    <p:sldId id="607" r:id="rId19"/>
    <p:sldId id="608" r:id="rId20"/>
    <p:sldId id="609" r:id="rId21"/>
    <p:sldId id="610" r:id="rId22"/>
    <p:sldId id="611" r:id="rId23"/>
    <p:sldId id="612" r:id="rId24"/>
    <p:sldId id="613" r:id="rId25"/>
    <p:sldId id="614" r:id="rId26"/>
    <p:sldId id="615" r:id="rId27"/>
    <p:sldId id="617" r:id="rId28"/>
    <p:sldId id="616" r:id="rId29"/>
    <p:sldId id="618" r:id="rId30"/>
    <p:sldId id="619"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9" userDrawn="1">
          <p15:clr>
            <a:srgbClr val="A4A3A4"/>
          </p15:clr>
        </p15:guide>
        <p15:guide id="2" pos="39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70C0"/>
    <a:srgbClr val="0563C1"/>
    <a:srgbClr val="FFFFFF"/>
    <a:srgbClr val="3C6B9A"/>
    <a:srgbClr val="B6C5B2"/>
    <a:srgbClr val="B9B9B9"/>
    <a:srgbClr val="808080"/>
    <a:srgbClr val="EFEFE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1245" autoAdjust="0"/>
  </p:normalViewPr>
  <p:slideViewPr>
    <p:cSldViewPr snapToGrid="0" showGuides="1">
      <p:cViewPr varScale="1">
        <p:scale>
          <a:sx n="111" d="100"/>
          <a:sy n="111" d="100"/>
        </p:scale>
        <p:origin x="480" y="114"/>
      </p:cViewPr>
      <p:guideLst>
        <p:guide orient="horz" pos="2219"/>
        <p:guide pos="3901"/>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xml"/><Relationship Id="rId3" Type="http://schemas.openxmlformats.org/officeDocument/2006/relationships/image" Target="../media/image2.png"/><Relationship Id="rId2" Type="http://schemas.openxmlformats.org/officeDocument/2006/relationships/tags" Target="../tags/tag1.xml"/><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5.webp"/><Relationship Id="rId8" Type="http://schemas.openxmlformats.org/officeDocument/2006/relationships/image" Target="../media/image14.webp"/><Relationship Id="rId7" Type="http://schemas.openxmlformats.org/officeDocument/2006/relationships/image" Target="../media/image13.webp"/><Relationship Id="rId6" Type="http://schemas.openxmlformats.org/officeDocument/2006/relationships/image" Target="../media/image12.webp"/><Relationship Id="rId5" Type="http://schemas.openxmlformats.org/officeDocument/2006/relationships/image" Target="../media/image11.webp"/><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4" Type="http://schemas.openxmlformats.org/officeDocument/2006/relationships/notesSlide" Target="../notesSlides/notesSlide2.xml"/><Relationship Id="rId13" Type="http://schemas.openxmlformats.org/officeDocument/2006/relationships/slideLayout" Target="../slideLayouts/slideLayout18.xml"/><Relationship Id="rId12" Type="http://schemas.openxmlformats.org/officeDocument/2006/relationships/image" Target="../media/image18.webp"/><Relationship Id="rId11" Type="http://schemas.openxmlformats.org/officeDocument/2006/relationships/image" Target="../media/image17.webp"/><Relationship Id="rId10" Type="http://schemas.openxmlformats.org/officeDocument/2006/relationships/image" Target="../media/image16.webp"/><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8.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19.jpe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6.xml"/><Relationship Id="rId1" Type="http://schemas.openxmlformats.org/officeDocument/2006/relationships/image" Target="../media/image22.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6.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9.xml"/><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9.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12.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2.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3.pn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18.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8.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8.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2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slide" Target="slide1.xml"/><Relationship Id="rId3" Type="http://schemas.openxmlformats.org/officeDocument/2006/relationships/image" Target="../media/image9.png"/><Relationship Id="rId2" Type="http://schemas.openxmlformats.org/officeDocument/2006/relationships/slide" Target="slide24.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24.xml"/><Relationship Id="rId4" Type="http://schemas.openxmlformats.org/officeDocument/2006/relationships/image" Target="../media/image24.pn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24.xml"/><Relationship Id="rId4" Type="http://schemas.openxmlformats.org/officeDocument/2006/relationships/image" Target="../media/image23.pn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50836" y="0"/>
            <a:ext cx="9543822" cy="6858000"/>
          </a:xfrm>
          <a:prstGeom prst="rect">
            <a:avLst/>
          </a:prstGeom>
        </p:spPr>
      </p:pic>
      <p:pic>
        <p:nvPicPr>
          <p:cNvPr id="2" name="图片 1" descr="未标题-2"/>
          <p:cNvPicPr>
            <a:picLocks noChangeAspect="1"/>
          </p:cNvPicPr>
          <p:nvPr>
            <p:custDataLst>
              <p:tags r:id="rId2"/>
            </p:custDataLst>
          </p:nvPr>
        </p:nvPicPr>
        <p:blipFill>
          <a:blip r:embed="rId3"/>
          <a:srcRect t="8848" r="27500"/>
          <a:stretch>
            <a:fillRect/>
          </a:stretch>
        </p:blipFill>
        <p:spPr>
          <a:xfrm>
            <a:off x="0" y="-2886"/>
            <a:ext cx="7977505" cy="6860886"/>
          </a:xfrm>
          <a:prstGeom prst="rect">
            <a:avLst/>
          </a:prstGeom>
        </p:spPr>
      </p:pic>
      <p:sp>
        <p:nvSpPr>
          <p:cNvPr id="31" name="文本框 86"/>
          <p:cNvSpPr txBox="1"/>
          <p:nvPr/>
        </p:nvSpPr>
        <p:spPr>
          <a:xfrm>
            <a:off x="817880" y="1250315"/>
            <a:ext cx="3146425" cy="706755"/>
          </a:xfrm>
          <a:prstGeom prst="rect">
            <a:avLst/>
          </a:prstGeom>
          <a:noFill/>
          <a:effectLst>
            <a:outerShdw blurRad="393700" dist="698500" dir="8100000" sx="119000" sy="119000" algn="tr" rotWithShape="0">
              <a:prstClr val="black">
                <a:alpha val="63000"/>
              </a:prstClr>
            </a:outerShdw>
          </a:effectLst>
        </p:spPr>
        <p:txBody>
          <a:bodyPr wrap="square" rtlCol="0">
            <a:spAutoFit/>
          </a:bodyPr>
          <a:lstStyle/>
          <a:p>
            <a:r>
              <a:rPr lang="en-US" altLang="zh-CN" sz="4000" b="1">
                <a:solidFill>
                  <a:srgbClr val="FF9700"/>
                </a:solidFill>
                <a:latin typeface="Arial Black" panose="020B0A04020102020204" pitchFamily="34" charset="0"/>
                <a:ea typeface="思源黑体 CN Regular" panose="020B0500000000000000" charset="-122"/>
              </a:rPr>
              <a:t>Unit  6 (2)</a:t>
            </a:r>
            <a:endParaRPr lang="en-US" altLang="zh-CN" sz="4000" b="1" dirty="0">
              <a:solidFill>
                <a:srgbClr val="FF9700"/>
              </a:solidFill>
              <a:latin typeface="Arial Black" panose="020B0A04020102020204" pitchFamily="34" charset="0"/>
              <a:ea typeface="思源黑体 CN Regular" panose="020B0500000000000000" charset="-122"/>
            </a:endParaRPr>
          </a:p>
        </p:txBody>
      </p:sp>
      <p:pic>
        <p:nvPicPr>
          <p:cNvPr id="15" name="图片 1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763" y="2516437"/>
            <a:ext cx="3016405" cy="501676"/>
          </a:xfrm>
          <a:prstGeom prst="rect">
            <a:avLst/>
          </a:prstGeom>
        </p:spPr>
      </p:pic>
      <p:pic>
        <p:nvPicPr>
          <p:cNvPr id="17" name="图片 16">
            <a:hlinkClick r:id="rId4"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763" y="3268056"/>
            <a:ext cx="5004057" cy="501676"/>
          </a:xfrm>
          <a:prstGeom prst="rect">
            <a:avLst/>
          </a:prstGeom>
        </p:spPr>
      </p:pic>
      <p:pic>
        <p:nvPicPr>
          <p:cNvPr id="19" name="图片 18">
            <a:hlinkClick r:id="rId4" action="ppaction://hlinksldjump"/>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763" y="4019675"/>
            <a:ext cx="3016405" cy="495325"/>
          </a:xfrm>
          <a:prstGeom prst="rect">
            <a:avLst/>
          </a:prstGeom>
        </p:spPr>
      </p:pic>
      <p:pic>
        <p:nvPicPr>
          <p:cNvPr id="21" name="图片 20">
            <a:hlinkClick r:id="rId4" action="ppaction://hlinksldjump"/>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763" y="4764943"/>
            <a:ext cx="3733992" cy="488975"/>
          </a:xfrm>
          <a:prstGeom prst="rect">
            <a:avLst/>
          </a:prstGeom>
        </p:spPr>
      </p:pic>
      <p:pic>
        <p:nvPicPr>
          <p:cNvPr id="23" name="图片 22">
            <a:hlinkClick r:id="rId4" action="ppaction://hlinksldjump"/>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471" y="5503862"/>
            <a:ext cx="5512083" cy="5016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文本框 2"/>
          <p:cNvSpPr txBox="1"/>
          <p:nvPr/>
        </p:nvSpPr>
        <p:spPr>
          <a:xfrm>
            <a:off x="867410" y="1052195"/>
            <a:ext cx="10492740" cy="521970"/>
          </a:xfrm>
          <a:prstGeom prst="rect">
            <a:avLst/>
          </a:prstGeom>
          <a:noFill/>
          <a:ln w="28575">
            <a:solidFill>
              <a:schemeClr val="tx1"/>
            </a:solidFill>
          </a:ln>
        </p:spPr>
        <p:txBody>
          <a:bodyPr wrap="square" rtlCol="0">
            <a:spAutoFit/>
          </a:bodyPr>
          <a:p>
            <a:r>
              <a:rPr lang="en-US" altLang="zh-CN" sz="2800">
                <a:latin typeface="Arial Narrow" panose="020B0606020202030204" charset="0"/>
                <a:cs typeface="Arial Narrow" panose="020B0606020202030204" charset="0"/>
              </a:rPr>
              <a:t>  doorway   dismal    gaze    guardian    gust    spectator    release   watchful    </a:t>
            </a:r>
            <a:endParaRPr lang="en-US" altLang="zh-CN" sz="2800">
              <a:latin typeface="Arial Narrow" panose="020B0606020202030204" charset="0"/>
              <a:cs typeface="Arial Narrow" panose="020B0606020202030204" charset="0"/>
            </a:endParaRPr>
          </a:p>
        </p:txBody>
      </p:sp>
      <p:sp>
        <p:nvSpPr>
          <p:cNvPr id="2" name="文本框 1"/>
          <p:cNvSpPr txBox="1"/>
          <p:nvPr/>
        </p:nvSpPr>
        <p:spPr>
          <a:xfrm>
            <a:off x="1537970" y="3834765"/>
            <a:ext cx="110998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gust</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7" name="文本框 16"/>
          <p:cNvSpPr txBox="1"/>
          <p:nvPr/>
        </p:nvSpPr>
        <p:spPr>
          <a:xfrm>
            <a:off x="1282700" y="599376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doorway</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9" name="文本框 8"/>
          <p:cNvSpPr txBox="1"/>
          <p:nvPr/>
        </p:nvSpPr>
        <p:spPr>
          <a:xfrm>
            <a:off x="4195445" y="3844290"/>
            <a:ext cx="140843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watchful</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2" name="文本框 11"/>
          <p:cNvSpPr txBox="1"/>
          <p:nvPr/>
        </p:nvSpPr>
        <p:spPr>
          <a:xfrm>
            <a:off x="6827520" y="3844290"/>
            <a:ext cx="140843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dismal</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4" name="文本框 13"/>
          <p:cNvSpPr txBox="1"/>
          <p:nvPr/>
        </p:nvSpPr>
        <p:spPr>
          <a:xfrm>
            <a:off x="9581515" y="3773805"/>
            <a:ext cx="140843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gaze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6" name="文本框 15"/>
          <p:cNvSpPr txBox="1"/>
          <p:nvPr/>
        </p:nvSpPr>
        <p:spPr>
          <a:xfrm>
            <a:off x="3894455" y="599376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release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9" name="文本框 18"/>
          <p:cNvSpPr txBox="1"/>
          <p:nvPr/>
        </p:nvSpPr>
        <p:spPr>
          <a:xfrm>
            <a:off x="6709410" y="601408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guardian</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21" name="文本框 20"/>
          <p:cNvSpPr txBox="1"/>
          <p:nvPr/>
        </p:nvSpPr>
        <p:spPr>
          <a:xfrm>
            <a:off x="9525000" y="599376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spectator</a:t>
            </a:r>
            <a:endParaRPr lang="en-US" sz="2800">
              <a:solidFill>
                <a:srgbClr val="C00000"/>
              </a:solidFill>
              <a:latin typeface="Arial Narrow" panose="020B0606020202030204" charset="0"/>
              <a:ea typeface="华文中宋" panose="02010600040101010101" charset="-122"/>
              <a:cs typeface="Arial Narrow" panose="020B0606020202030204" charset="0"/>
              <a:sym typeface="+mn-ea"/>
            </a:endParaRPr>
          </a:p>
        </p:txBody>
      </p:sp>
      <p:pic>
        <p:nvPicPr>
          <p:cNvPr id="22" name="图片 21"/>
          <p:cNvPicPr/>
          <p:nvPr/>
        </p:nvPicPr>
        <p:blipFill>
          <a:blip r:embed="rId5"/>
          <a:srcRect l="14269" b="5778"/>
          <a:stretch>
            <a:fillRect/>
          </a:stretch>
        </p:blipFill>
        <p:spPr>
          <a:xfrm>
            <a:off x="829945" y="4376420"/>
            <a:ext cx="2637790" cy="1637665"/>
          </a:xfrm>
          <a:prstGeom prst="rect">
            <a:avLst/>
          </a:prstGeom>
        </p:spPr>
      </p:pic>
      <p:pic>
        <p:nvPicPr>
          <p:cNvPr id="23" name="图片 22"/>
          <p:cNvPicPr/>
          <p:nvPr/>
        </p:nvPicPr>
        <p:blipFill>
          <a:blip r:embed="rId6"/>
          <a:stretch>
            <a:fillRect/>
          </a:stretch>
        </p:blipFill>
        <p:spPr>
          <a:xfrm>
            <a:off x="829945" y="1774190"/>
            <a:ext cx="2546350" cy="2070100"/>
          </a:xfrm>
          <a:prstGeom prst="rect">
            <a:avLst/>
          </a:prstGeom>
        </p:spPr>
      </p:pic>
      <p:pic>
        <p:nvPicPr>
          <p:cNvPr id="24" name="图片 23"/>
          <p:cNvPicPr/>
          <p:nvPr/>
        </p:nvPicPr>
        <p:blipFill>
          <a:blip r:embed="rId7"/>
          <a:stretch>
            <a:fillRect/>
          </a:stretch>
        </p:blipFill>
        <p:spPr>
          <a:xfrm>
            <a:off x="3535045" y="1774190"/>
            <a:ext cx="2560955" cy="2060575"/>
          </a:xfrm>
          <a:prstGeom prst="rect">
            <a:avLst/>
          </a:prstGeom>
        </p:spPr>
      </p:pic>
      <p:pic>
        <p:nvPicPr>
          <p:cNvPr id="25" name="图片 24"/>
          <p:cNvPicPr/>
          <p:nvPr/>
        </p:nvPicPr>
        <p:blipFill>
          <a:blip r:embed="rId8"/>
          <a:stretch>
            <a:fillRect/>
          </a:stretch>
        </p:blipFill>
        <p:spPr>
          <a:xfrm>
            <a:off x="6254750" y="1774190"/>
            <a:ext cx="2534285" cy="2070100"/>
          </a:xfrm>
          <a:prstGeom prst="rect">
            <a:avLst/>
          </a:prstGeom>
        </p:spPr>
      </p:pic>
      <p:pic>
        <p:nvPicPr>
          <p:cNvPr id="26" name="图片 25"/>
          <p:cNvPicPr/>
          <p:nvPr/>
        </p:nvPicPr>
        <p:blipFill>
          <a:blip r:embed="rId9"/>
          <a:stretch>
            <a:fillRect/>
          </a:stretch>
        </p:blipFill>
        <p:spPr>
          <a:xfrm>
            <a:off x="8947785" y="1774190"/>
            <a:ext cx="3009900" cy="2075180"/>
          </a:xfrm>
          <a:prstGeom prst="rect">
            <a:avLst/>
          </a:prstGeom>
        </p:spPr>
      </p:pic>
      <p:pic>
        <p:nvPicPr>
          <p:cNvPr id="27" name="图片 26"/>
          <p:cNvPicPr/>
          <p:nvPr/>
        </p:nvPicPr>
        <p:blipFill>
          <a:blip r:embed="rId10"/>
          <a:stretch>
            <a:fillRect/>
          </a:stretch>
        </p:blipFill>
        <p:spPr>
          <a:xfrm>
            <a:off x="3573145" y="4307205"/>
            <a:ext cx="2543175" cy="1737360"/>
          </a:xfrm>
          <a:prstGeom prst="rect">
            <a:avLst/>
          </a:prstGeom>
        </p:spPr>
      </p:pic>
      <p:pic>
        <p:nvPicPr>
          <p:cNvPr id="28" name="图片 27"/>
          <p:cNvPicPr/>
          <p:nvPr/>
        </p:nvPicPr>
        <p:blipFill>
          <a:blip r:embed="rId11"/>
          <a:stretch>
            <a:fillRect/>
          </a:stretch>
        </p:blipFill>
        <p:spPr>
          <a:xfrm>
            <a:off x="8947150" y="4307205"/>
            <a:ext cx="2953385" cy="1737360"/>
          </a:xfrm>
          <a:prstGeom prst="rect">
            <a:avLst/>
          </a:prstGeom>
        </p:spPr>
      </p:pic>
      <p:pic>
        <p:nvPicPr>
          <p:cNvPr id="30" name="图片 29"/>
          <p:cNvPicPr/>
          <p:nvPr/>
        </p:nvPicPr>
        <p:blipFill>
          <a:blip r:embed="rId12"/>
          <a:srcRect r="23957"/>
          <a:stretch>
            <a:fillRect/>
          </a:stretch>
        </p:blipFill>
        <p:spPr>
          <a:xfrm>
            <a:off x="6353175" y="4366260"/>
            <a:ext cx="2357120" cy="169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across)">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checkerboard(across)">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heckerboard(across)">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heckerboard(across)">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heckerboard(across)">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checkerboard(across)">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9" grpId="0"/>
      <p:bldP spid="12" grpId="0"/>
      <p:bldP spid="14" grpId="0"/>
      <p:bldP spid="16"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文本框 2"/>
          <p:cNvSpPr txBox="1"/>
          <p:nvPr/>
        </p:nvSpPr>
        <p:spPr>
          <a:xfrm>
            <a:off x="619125" y="1999615"/>
            <a:ext cx="11148695" cy="3905885"/>
          </a:xfrm>
          <a:prstGeom prst="rect">
            <a:avLst/>
          </a:prstGeom>
          <a:noFill/>
        </p:spPr>
        <p:txBody>
          <a:bodyPr wrap="square" rtlCol="0">
            <a:noAutofit/>
          </a:bodyPr>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1. </a:t>
            </a:r>
            <a:r>
              <a:rPr lang="en-US" altLang="zh-CN" sz="280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As the story </a:t>
            </a:r>
            <a:r>
              <a:rPr lang="en-US" altLang="zh-CN" sz="28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_________</a:t>
            </a:r>
            <a:r>
              <a:rPr lang="en-US" altLang="zh-CN" sz="280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the characters show who they really are.</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 </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2. </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The detective's ________ mind for details helped him find the clue</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3. </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I can not help but  _______, “I found it”!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4. </a:t>
            </a:r>
            <a:r>
              <a:rPr lang="en-US" altLang="zh-CN" sz="280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The two guns fired almost ________.</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5. It is ________ to go to work by subway instead of by car in the morning.</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6. She ________ a welcoming smile on the new guest.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7. </a:t>
            </a:r>
            <a:r>
              <a:rPr lang="en-US" altLang="zh-CN" sz="2800" noProof="0" dirty="0">
                <a:ln>
                  <a:noFill/>
                </a:ln>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Despite having a ________ income, he often feels frustrated by his </a:t>
            </a:r>
            <a:r>
              <a:rPr lang="en-US" altLang="zh-CN" sz="2800" noProof="0" dirty="0">
                <a:ln>
                  <a:noFill/>
                </a:ln>
                <a:solidFill>
                  <a:schemeClr val="accent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mediocre</a:t>
            </a:r>
            <a:r>
              <a:rPr lang="en-US" altLang="zh-CN" sz="2800" noProof="0" dirty="0">
                <a:ln>
                  <a:noFill/>
                </a:ln>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career progress</a:t>
            </a:r>
            <a:r>
              <a:rPr lang="en-US" altLang="zh-CN" sz="2800">
                <a:latin typeface="Times New Roman" panose="02020603050405020304" pitchFamily="18" charset="0"/>
                <a:ea typeface="华文中宋" panose="02010600040101010101" charset="-122"/>
                <a:cs typeface="Times New Roman" panose="02020603050405020304" pitchFamily="18" charset="0"/>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p:txBody>
      </p:sp>
      <p:sp>
        <p:nvSpPr>
          <p:cNvPr id="2" name="文本框 1"/>
          <p:cNvSpPr txBox="1"/>
          <p:nvPr/>
        </p:nvSpPr>
        <p:spPr>
          <a:xfrm>
            <a:off x="803910" y="1379220"/>
            <a:ext cx="10525760" cy="521970"/>
          </a:xfrm>
          <a:prstGeom prst="rect">
            <a:avLst/>
          </a:prstGeom>
          <a:noFill/>
          <a:ln w="28575">
            <a:solidFill>
              <a:schemeClr val="tx1"/>
            </a:solidFill>
          </a:ln>
        </p:spPr>
        <p:txBody>
          <a:bodyPr wrap="square" rtlCol="0">
            <a:spAutoFit/>
          </a:bodyPr>
          <a:p>
            <a:r>
              <a:rPr lang="en-US" altLang="zh-CN" sz="2800">
                <a:latin typeface="Arial Narrow" panose="020B0606020202030204" charset="0"/>
                <a:cs typeface="Arial Narrow" panose="020B0606020202030204" charset="0"/>
              </a:rPr>
              <a:t>   cast     exclaim      keen     moderate      sensible     simultaneously   unfold    </a:t>
            </a:r>
            <a:endParaRPr lang="en-US" altLang="zh-CN" sz="2800">
              <a:latin typeface="Arial Narrow" panose="020B0606020202030204" charset="0"/>
              <a:cs typeface="Arial Narrow" panose="020B0606020202030204" charset="0"/>
            </a:endParaRPr>
          </a:p>
        </p:txBody>
      </p:sp>
      <p:sp>
        <p:nvSpPr>
          <p:cNvPr id="4" name="文本框 3"/>
          <p:cNvSpPr txBox="1"/>
          <p:nvPr/>
        </p:nvSpPr>
        <p:spPr>
          <a:xfrm>
            <a:off x="667385" y="716280"/>
            <a:ext cx="9474835" cy="565150"/>
          </a:xfrm>
          <a:prstGeom prst="rect">
            <a:avLst/>
          </a:prstGeom>
          <a:noFill/>
        </p:spPr>
        <p:txBody>
          <a:bodyPr wrap="square" rtlCol="0">
            <a:spAutoFit/>
          </a:bodyPr>
          <a:p>
            <a:pPr>
              <a:lnSpc>
                <a:spcPct val="110000"/>
              </a:lnSpc>
            </a:pPr>
            <a:r>
              <a:rPr lang="en-US" altLang="zh-CN" sz="2800" i="1">
                <a:latin typeface="Times New Roman" panose="02020603050405020304" pitchFamily="18" charset="0"/>
                <a:ea typeface="华文中宋" panose="02010600040101010101" charset="-122"/>
                <a:cs typeface="Times New Roman" panose="02020603050405020304" pitchFamily="18" charset="0"/>
                <a:sym typeface="+mn-ea"/>
              </a:rPr>
              <a:t>Fill in each blank with the best word from the given words.</a:t>
            </a:r>
            <a:endParaRPr lang="en-US" altLang="zh-CN" sz="2800" i="1">
              <a:latin typeface="Times New Roman" panose="02020603050405020304" pitchFamily="18" charset="0"/>
              <a:ea typeface="华文中宋" panose="02010600040101010101" charset="-122"/>
              <a:cs typeface="Times New Roman" panose="02020603050405020304" pitchFamily="18" charset="0"/>
            </a:endParaRPr>
          </a:p>
        </p:txBody>
      </p:sp>
      <p:sp>
        <p:nvSpPr>
          <p:cNvPr id="17" name="文本框 16"/>
          <p:cNvSpPr txBox="1"/>
          <p:nvPr/>
        </p:nvSpPr>
        <p:spPr>
          <a:xfrm>
            <a:off x="3038475" y="1998980"/>
            <a:ext cx="116649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unfolds</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5" name="文本框 4"/>
          <p:cNvSpPr txBox="1"/>
          <p:nvPr/>
        </p:nvSpPr>
        <p:spPr>
          <a:xfrm>
            <a:off x="3450590" y="2479040"/>
            <a:ext cx="97091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keen</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6" name="文本框 5"/>
          <p:cNvSpPr txBox="1"/>
          <p:nvPr/>
        </p:nvSpPr>
        <p:spPr>
          <a:xfrm>
            <a:off x="3688715" y="3001010"/>
            <a:ext cx="120904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exclaim</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7" name="文本框 6"/>
          <p:cNvSpPr txBox="1"/>
          <p:nvPr/>
        </p:nvSpPr>
        <p:spPr>
          <a:xfrm>
            <a:off x="4867275" y="3438525"/>
            <a:ext cx="212852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simultaneously</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9" name="文本框 8"/>
          <p:cNvSpPr txBox="1"/>
          <p:nvPr/>
        </p:nvSpPr>
        <p:spPr>
          <a:xfrm>
            <a:off x="1671955" y="3891280"/>
            <a:ext cx="129540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sensible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1" name="文本框 10"/>
          <p:cNvSpPr txBox="1"/>
          <p:nvPr/>
        </p:nvSpPr>
        <p:spPr>
          <a:xfrm>
            <a:off x="1645285" y="4384675"/>
            <a:ext cx="127952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cast</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2" name="文本框 11"/>
          <p:cNvSpPr txBox="1"/>
          <p:nvPr/>
        </p:nvSpPr>
        <p:spPr>
          <a:xfrm>
            <a:off x="3450590" y="4849495"/>
            <a:ext cx="161036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moderate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heckerboard(across)">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p:bldP spid="6" grpId="0"/>
      <p:bldP spid="7" grpId="0"/>
      <p:bldP spid="9"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Glossary</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46" name="内容占位符 2"/>
          <p:cNvSpPr>
            <a:spLocks noGrp="1"/>
          </p:cNvSpPr>
          <p:nvPr/>
        </p:nvSpPr>
        <p:spPr>
          <a:xfrm>
            <a:off x="842010" y="881380"/>
            <a:ext cx="6355715" cy="48799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marR="0" lvl="0" indent="-355600" algn="just" defTabSz="914400" rtl="0" eaLnBrk="1" fontAlgn="base" latinLnBrk="0" hangingPunct="1">
              <a:lnSpc>
                <a:spcPct val="110000"/>
              </a:lnSpc>
              <a:spcBef>
                <a:spcPts val="0"/>
              </a:spcBef>
              <a:spcAft>
                <a:spcPct val="0"/>
              </a:spcAft>
              <a:buClrTx/>
              <a:buSzTx/>
              <a:buFont typeface="Arial" panose="020B0604020202020204" pitchFamily="34" charset="0"/>
              <a:buNone/>
              <a:defRPr/>
            </a:pPr>
            <a:r>
              <a:rPr lang="en-US" altLang="zh-CN" sz="32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sym typeface="+mn-ea"/>
              </a:rPr>
              <a:t>dismal</a:t>
            </a:r>
            <a:r>
              <a:rPr lang="en-US" altLang="zh-CN" sz="320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i="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i="1"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a:t>
            </a:r>
            <a:r>
              <a:rPr kumimoji="0" lang="en-US" altLang="zh-CN" sz="2600" i="1"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causing or showing sadness </a:t>
            </a:r>
            <a:r>
              <a:rPr kumimoji="0" lang="zh-CN" altLang="en-US" sz="2600"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忧郁的；凄凉的；惨淡的；阴沉的</a:t>
            </a:r>
            <a:endParaRPr kumimoji="0" lang="zh-CN" altLang="en-US" sz="2600"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just" defTabSz="914400" rtl="0" eaLnBrk="1" fontAlgn="base" latinLnBrk="0" hangingPunct="1">
              <a:lnSpc>
                <a:spcPct val="110000"/>
              </a:lnSpc>
              <a:spcBef>
                <a:spcPts val="0"/>
              </a:spcBef>
              <a:spcAft>
                <a:spcPct val="0"/>
              </a:spcAft>
              <a:buClrTx/>
              <a:buSzTx/>
              <a:buFont typeface="Wingdings" panose="05000000000000000000" charset="0"/>
              <a:buChar char="l"/>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a dismal weather </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just" defTabSz="914400" rtl="0" eaLnBrk="1" fontAlgn="base" latinLnBrk="0" hangingPunct="1">
              <a:lnSpc>
                <a:spcPct val="110000"/>
              </a:lnSpc>
              <a:spcBef>
                <a:spcPts val="0"/>
              </a:spcBef>
              <a:spcAft>
                <a:spcPct val="0"/>
              </a:spcAft>
              <a:buClrTx/>
              <a:buSzTx/>
              <a:buFont typeface="Wingdings" panose="05000000000000000000" charset="0"/>
              <a:buNone/>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阴郁的天气</a:t>
            </a: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just" defTabSz="914400" rtl="0" eaLnBrk="1" fontAlgn="base" latinLnBrk="0" hangingPunct="1">
              <a:lnSpc>
                <a:spcPct val="110000"/>
              </a:lnSpc>
              <a:spcBef>
                <a:spcPts val="0"/>
              </a:spcBef>
              <a:spcAft>
                <a:spcPct val="0"/>
              </a:spcAft>
              <a:buClrTx/>
              <a:buSzTx/>
              <a:buFont typeface="Wingdings" panose="05000000000000000000" charset="0"/>
              <a:buChar char="l"/>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dismal economic conditions </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just" defTabSz="914400" rtl="0" eaLnBrk="1" fontAlgn="base" latinLnBrk="0" hangingPunct="1">
              <a:lnSpc>
                <a:spcPct val="110000"/>
              </a:lnSpc>
              <a:spcBef>
                <a:spcPts val="0"/>
              </a:spcBef>
              <a:spcAft>
                <a:spcPct val="0"/>
              </a:spcAft>
              <a:buClrTx/>
              <a:buSzTx/>
              <a:buFont typeface="Wingdings" panose="05000000000000000000" charset="0"/>
              <a:buNone/>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萧条的经济</a:t>
            </a: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just" defTabSz="914400" rtl="0" eaLnBrk="1" fontAlgn="base" latinLnBrk="0" hangingPunct="1">
              <a:lnSpc>
                <a:spcPct val="110000"/>
              </a:lnSpc>
              <a:spcBef>
                <a:spcPts val="0"/>
              </a:spcBef>
              <a:spcAft>
                <a:spcPct val="0"/>
              </a:spcAft>
              <a:buClrTx/>
              <a:buSzTx/>
              <a:buFont typeface="Wingdings" panose="05000000000000000000" charset="0"/>
              <a:buChar char="l"/>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dismal prospect  </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just" defTabSz="914400" rtl="0" eaLnBrk="1" fontAlgn="base" latinLnBrk="0" hangingPunct="1">
              <a:lnSpc>
                <a:spcPct val="110000"/>
              </a:lnSpc>
              <a:spcBef>
                <a:spcPts val="0"/>
              </a:spcBef>
              <a:spcAft>
                <a:spcPct val="0"/>
              </a:spcAft>
              <a:buClrTx/>
              <a:buSzTx/>
              <a:buFont typeface="Wingdings" panose="05000000000000000000" charset="0"/>
              <a:buNone/>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悲观的前景</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just" defTabSz="914400" rtl="0" eaLnBrk="1" fontAlgn="base" latinLnBrk="0" hangingPunct="1">
              <a:lnSpc>
                <a:spcPct val="110000"/>
              </a:lnSpc>
              <a:spcBef>
                <a:spcPts val="0"/>
              </a:spcBef>
              <a:spcAft>
                <a:spcPct val="0"/>
              </a:spcAft>
              <a:buClrTx/>
              <a:buSzTx/>
              <a:buFont typeface="Wingdings" panose="05000000000000000000" charset="0"/>
              <a:buChar char="l"/>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dismal failure</a:t>
            </a:r>
            <a:endPar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just" defTabSz="914400" rtl="0" eaLnBrk="1" fontAlgn="base" latinLnBrk="0" hangingPunct="1">
              <a:lnSpc>
                <a:spcPct val="110000"/>
              </a:lnSpc>
              <a:spcBef>
                <a:spcPts val="0"/>
              </a:spcBef>
              <a:spcAft>
                <a:spcPct val="0"/>
              </a:spcAft>
              <a:buClrTx/>
              <a:buSzTx/>
              <a:buFont typeface="Wingdings" panose="05000000000000000000" charset="0"/>
              <a:buNone/>
              <a:defRPr/>
            </a:pPr>
            <a:r>
              <a:rPr kumimoji="0" lang="en-US" altLang="zh-CN"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i="0" u="none" strike="noStrike" kern="1200" cap="none" spc="-10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惨败</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pic>
        <p:nvPicPr>
          <p:cNvPr id="2" name="图片 1"/>
          <p:cNvPicPr/>
          <p:nvPr/>
        </p:nvPicPr>
        <p:blipFill>
          <a:blip r:embed="rId2"/>
          <a:srcRect b="9431"/>
          <a:stretch>
            <a:fillRect/>
          </a:stretch>
        </p:blipFill>
        <p:spPr>
          <a:xfrm>
            <a:off x="7701280" y="3735070"/>
            <a:ext cx="3504565" cy="2025650"/>
          </a:xfrm>
          <a:prstGeom prst="rect">
            <a:avLst/>
          </a:prstGeom>
        </p:spPr>
      </p:pic>
      <p:sp>
        <p:nvSpPr>
          <p:cNvPr id="4" name="文本框 3"/>
          <p:cNvSpPr txBox="1"/>
          <p:nvPr/>
        </p:nvSpPr>
        <p:spPr>
          <a:xfrm>
            <a:off x="6179185" y="1588135"/>
            <a:ext cx="4947920" cy="607695"/>
          </a:xfrm>
          <a:prstGeom prst="rect">
            <a:avLst/>
          </a:prstGeom>
          <a:noFill/>
        </p:spPr>
        <p:txBody>
          <a:bodyPr wrap="square" rtlCol="0" anchor="t">
            <a:spAutoFit/>
          </a:bodyPr>
          <a:p>
            <a:pPr marL="0" marR="0" lvl="0" indent="0" algn="just" defTabSz="914400" rtl="0" eaLnBrk="1" fontAlgn="base" latinLnBrk="0" hangingPunct="1">
              <a:lnSpc>
                <a:spcPct val="120000"/>
              </a:lnSpc>
              <a:spcBef>
                <a:spcPts val="0"/>
              </a:spcBef>
              <a:spcAft>
                <a:spcPct val="0"/>
              </a:spcAft>
              <a:buClrTx/>
              <a:buSzTx/>
              <a:buFont typeface="Arial" panose="020B0604020202020204" pitchFamily="34" charset="0"/>
              <a:buNone/>
              <a:defRPr/>
            </a:pPr>
            <a:r>
              <a:rPr lang="en-US" altLang="zh-CN" sz="2800" b="1" noProof="0" dirty="0">
                <a:ln>
                  <a:noFill/>
                </a:ln>
                <a:solidFill>
                  <a:srgbClr val="FFC000">
                    <a:lumMod val="50000"/>
                  </a:srgbClr>
                </a:solidFill>
                <a:effectLst/>
                <a:uLnTx/>
                <a:uFillTx/>
                <a:latin typeface="Calibri" panose="020F0502020204030204"/>
                <a:ea typeface="宋体" panose="02010600030101010101" pitchFamily="2" charset="-122"/>
                <a:sym typeface="+mn-ea"/>
              </a:rPr>
              <a:t>Synonym:</a:t>
            </a:r>
            <a:r>
              <a:rPr lang="en-US" altLang="zh-CN" sz="2800" b="1" noProof="0" dirty="0">
                <a:ln>
                  <a:noFill/>
                </a:ln>
                <a:solidFill>
                  <a:srgbClr val="70AD47">
                    <a:lumMod val="50000"/>
                  </a:srgbClr>
                </a:solidFill>
                <a:effectLst/>
                <a:uLnTx/>
                <a:uFillTx/>
                <a:latin typeface="Calibri" panose="020F0502020204030204"/>
                <a:ea typeface="宋体" panose="02010600030101010101" pitchFamily="2" charset="-122"/>
                <a:sym typeface="+mn-ea"/>
              </a:rPr>
              <a:t>  </a:t>
            </a:r>
            <a:r>
              <a:rPr lang="en-US" altLang="zh-CN" sz="2800" b="1" dirty="0">
                <a:solidFill>
                  <a:prstClr val="black"/>
                </a:solidFill>
                <a:latin typeface="Calibri" panose="020F0502020204030204"/>
                <a:ea typeface="宋体" panose="02010600030101010101" pitchFamily="2" charset="-122"/>
                <a:sym typeface="+mn-ea"/>
              </a:rPr>
              <a:t> gloomy</a:t>
            </a:r>
            <a:r>
              <a:rPr lang="en-US" altLang="zh-CN" sz="2800" b="1" noProof="0" dirty="0">
                <a:ln>
                  <a:noFill/>
                </a:ln>
                <a:solidFill>
                  <a:prstClr val="black"/>
                </a:solidFill>
                <a:effectLst/>
                <a:uLnTx/>
                <a:uFillTx/>
                <a:latin typeface="Calibri" panose="020F0502020204030204"/>
                <a:ea typeface="宋体" panose="02010600030101010101" pitchFamily="2" charset="-122"/>
                <a:sym typeface="+mn-ea"/>
              </a:rPr>
              <a:t>;</a:t>
            </a:r>
            <a:r>
              <a:rPr lang="zh-CN" altLang="en-US" sz="2800" b="1" noProof="0" dirty="0">
                <a:ln>
                  <a:noFill/>
                </a:ln>
                <a:solidFill>
                  <a:prstClr val="black"/>
                </a:solidFill>
                <a:effectLst/>
                <a:uLnTx/>
                <a:uFillTx/>
                <a:latin typeface="Calibri" panose="020F0502020204030204"/>
                <a:ea typeface="宋体" panose="02010600030101010101" pitchFamily="2" charset="-122"/>
                <a:sym typeface="+mn-ea"/>
              </a:rPr>
              <a:t> </a:t>
            </a:r>
            <a:r>
              <a:rPr lang="en-US" altLang="zh-CN" sz="2800" b="1" noProof="0" dirty="0">
                <a:ln>
                  <a:noFill/>
                </a:ln>
                <a:solidFill>
                  <a:prstClr val="black"/>
                </a:solidFill>
                <a:effectLst/>
                <a:uLnTx/>
                <a:uFillTx/>
                <a:latin typeface="Calibri" panose="020F0502020204030204"/>
                <a:ea typeface="宋体" panose="02010600030101010101" pitchFamily="2" charset="-122"/>
                <a:sym typeface="+mn-ea"/>
              </a:rPr>
              <a:t>miserable</a:t>
            </a:r>
            <a:endParaRPr lang="en-US" altLang="zh-CN" sz="2800" b="1" noProof="0" dirty="0">
              <a:ln>
                <a:noFill/>
              </a:ln>
              <a:solidFill>
                <a:prstClr val="black"/>
              </a:solidFill>
              <a:effectLst/>
              <a:uLnTx/>
              <a:uFillTx/>
              <a:latin typeface="Calibri" panose="020F0502020204030204"/>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checkerboard(across)">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
                                            <p:txEl>
                                              <p:pRg st="2" end="2"/>
                                            </p:txEl>
                                          </p:spTgt>
                                        </p:tgtEl>
                                        <p:attrNameLst>
                                          <p:attrName>style.visibility</p:attrName>
                                        </p:attrNameLst>
                                      </p:cBhvr>
                                      <p:to>
                                        <p:strVal val="visible"/>
                                      </p:to>
                                    </p:set>
                                    <p:animEffect transition="in" filter="checkerboard(across)">
                                      <p:cBhvr>
                                        <p:cTn id="17" dur="500"/>
                                        <p:tgtEl>
                                          <p:spTgt spid="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6">
                                            <p:txEl>
                                              <p:pRg st="3" end="3"/>
                                            </p:txEl>
                                          </p:spTgt>
                                        </p:tgtEl>
                                        <p:attrNameLst>
                                          <p:attrName>style.visibility</p:attrName>
                                        </p:attrNameLst>
                                      </p:cBhvr>
                                      <p:to>
                                        <p:strVal val="visible"/>
                                      </p:to>
                                    </p:set>
                                    <p:animEffect transition="in" filter="checkerboard(across)">
                                      <p:cBhvr>
                                        <p:cTn id="22" dur="500"/>
                                        <p:tgtEl>
                                          <p:spTgt spid="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6">
                                            <p:txEl>
                                              <p:pRg st="4" end="4"/>
                                            </p:txEl>
                                          </p:spTgt>
                                        </p:tgtEl>
                                        <p:attrNameLst>
                                          <p:attrName>style.visibility</p:attrName>
                                        </p:attrNameLst>
                                      </p:cBhvr>
                                      <p:to>
                                        <p:strVal val="visible"/>
                                      </p:to>
                                    </p:set>
                                    <p:animEffect transition="in" filter="checkerboard(across)">
                                      <p:cBhvr>
                                        <p:cTn id="27" dur="500"/>
                                        <p:tgtEl>
                                          <p:spTgt spid="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46">
                                            <p:txEl>
                                              <p:pRg st="5" end="5"/>
                                            </p:txEl>
                                          </p:spTgt>
                                        </p:tgtEl>
                                        <p:attrNameLst>
                                          <p:attrName>style.visibility</p:attrName>
                                        </p:attrNameLst>
                                      </p:cBhvr>
                                      <p:to>
                                        <p:strVal val="visible"/>
                                      </p:to>
                                    </p:set>
                                    <p:animEffect transition="in" filter="checkerboard(across)">
                                      <p:cBhvr>
                                        <p:cTn id="32" dur="500"/>
                                        <p:tgtEl>
                                          <p:spTgt spid="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6">
                                            <p:txEl>
                                              <p:pRg st="6" end="6"/>
                                            </p:txEl>
                                          </p:spTgt>
                                        </p:tgtEl>
                                        <p:attrNameLst>
                                          <p:attrName>style.visibility</p:attrName>
                                        </p:attrNameLst>
                                      </p:cBhvr>
                                      <p:to>
                                        <p:strVal val="visible"/>
                                      </p:to>
                                    </p:set>
                                    <p:animEffect transition="in" filter="checkerboard(across)">
                                      <p:cBhvr>
                                        <p:cTn id="37" dur="500"/>
                                        <p:tgtEl>
                                          <p:spTgt spid="4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46">
                                            <p:txEl>
                                              <p:pRg st="7" end="7"/>
                                            </p:txEl>
                                          </p:spTgt>
                                        </p:tgtEl>
                                        <p:attrNameLst>
                                          <p:attrName>style.visibility</p:attrName>
                                        </p:attrNameLst>
                                      </p:cBhvr>
                                      <p:to>
                                        <p:strVal val="visible"/>
                                      </p:to>
                                    </p:set>
                                    <p:animEffect transition="in" filter="checkerboard(across)">
                                      <p:cBhvr>
                                        <p:cTn id="42" dur="500"/>
                                        <p:tgtEl>
                                          <p:spTgt spid="4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6">
                                            <p:txEl>
                                              <p:pRg st="8" end="8"/>
                                            </p:txEl>
                                          </p:spTgt>
                                        </p:tgtEl>
                                        <p:attrNameLst>
                                          <p:attrName>style.visibility</p:attrName>
                                        </p:attrNameLst>
                                      </p:cBhvr>
                                      <p:to>
                                        <p:strVal val="visible"/>
                                      </p:to>
                                    </p:set>
                                    <p:animEffect transition="in" filter="checkerboard(across)">
                                      <p:cBhvr>
                                        <p:cTn id="47" dur="500"/>
                                        <p:tgtEl>
                                          <p:spTgt spid="4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Glossary</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46" name="内容占位符 2"/>
          <p:cNvSpPr>
            <a:spLocks noGrp="1"/>
          </p:cNvSpPr>
          <p:nvPr/>
        </p:nvSpPr>
        <p:spPr>
          <a:xfrm>
            <a:off x="615950" y="881380"/>
            <a:ext cx="11290935" cy="164465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marR="0" lvl="0" indent="-355600" algn="just" defTabSz="914400" rtl="0" eaLnBrk="1" fontAlgn="base" latinLnBrk="0" hangingPunct="1">
              <a:lnSpc>
                <a:spcPct val="100000"/>
              </a:lnSpc>
              <a:spcBef>
                <a:spcPts val="0"/>
              </a:spcBef>
              <a:spcAft>
                <a:spcPct val="0"/>
              </a:spcAft>
              <a:buClrTx/>
              <a:buSzTx/>
              <a:buFont typeface="Arial" panose="020B0604020202020204" pitchFamily="34" charset="0"/>
              <a:buNone/>
              <a:defRPr/>
            </a:pPr>
            <a:r>
              <a:rPr lang="en-US" altLang="zh-CN" sz="3200" b="1" dirty="0">
                <a:latin typeface="Calibri" panose="020F0502020204030204" charset="0"/>
                <a:cs typeface="Calibri" panose="020F0502020204030204" charset="0"/>
              </a:rPr>
              <a:t>sensible</a:t>
            </a:r>
            <a:r>
              <a:rPr kumimoji="0"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en-US" altLang="zh-CN" sz="2800" b="0" i="1"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   </a:t>
            </a:r>
            <a:r>
              <a:rPr kumimoji="0" lang="en-US" altLang="zh-CN" sz="2800" b="0" i="1" u="none" strike="noStrike" kern="1200" cap="none" spc="-100" normalizeH="0" baseline="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reasonable, practical, and showing good judgment</a:t>
            </a:r>
            <a:r>
              <a:rPr kumimoji="0" lang="en-US" altLang="zh-CN" sz="2800" b="0" i="0" u="none" strike="noStrike" kern="1200" cap="none" spc="-100" normalizeH="0" baseline="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1200" cap="none" spc="0" normalizeH="0" baseline="0" noProof="0" dirty="0">
                <a:ln>
                  <a:noFill/>
                </a:ln>
                <a:solidFill>
                  <a:srgbClr val="0563C1"/>
                </a:solidFill>
                <a:effectLst/>
                <a:uLnTx/>
                <a:uFillTx/>
                <a:latin typeface="Times New Roman" panose="02020603050405020304" pitchFamily="18" charset="0"/>
                <a:ea typeface="楷体" panose="02010609060101010101" pitchFamily="49" charset="-122"/>
                <a:cs typeface="Times New Roman" panose="02020603050405020304" pitchFamily="18" charset="0"/>
              </a:rPr>
              <a:t>明智的；理智的；合理的</a:t>
            </a:r>
            <a:endParaRPr kumimoji="0" lang="zh-CN" altLang="en-US" sz="2400" b="0" i="0" u="none" strike="noStrike" kern="1200" cap="none" spc="0" normalizeH="0" baseline="0" noProof="0" dirty="0">
              <a:ln>
                <a:noFill/>
              </a:ln>
              <a:solidFill>
                <a:srgbClr val="0563C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355600" marR="0" lvl="0" indent="-355600" algn="just" defTabSz="914400" rtl="0" eaLnBrk="1" fontAlgn="base" latinLnBrk="0" hangingPunct="1">
              <a:lnSpc>
                <a:spcPct val="125000"/>
              </a:lnSpc>
              <a:spcBef>
                <a:spcPts val="0"/>
              </a:spcBef>
              <a:spcAft>
                <a:spcPct val="0"/>
              </a:spcAft>
              <a:buClrTx/>
              <a:buSzTx/>
              <a:buFont typeface="Arial" panose="020B0604020202020204" pitchFamily="34" charset="0"/>
              <a:buNone/>
              <a:defRPr/>
            </a:pPr>
            <a:r>
              <a:rPr kumimoji="0" lang="en-US" altLang="en-US" b="1"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rPr>
              <a:t> </a:t>
            </a:r>
            <a:r>
              <a:rPr kumimoji="0" lang="en-US" b="1"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rPr>
              <a:t>[Comparison]    sensible,   sensitive</a:t>
            </a:r>
            <a:r>
              <a:rPr kumimoji="0" lang="en-US"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a:t>
            </a:r>
            <a:r>
              <a:rPr kumimoji="0" lang="zh-CN" altLang="en-US"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敏感的</a:t>
            </a:r>
            <a:r>
              <a:rPr kumimoji="0" lang="en-US"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a:t>
            </a:r>
            <a:endParaRPr kumimoji="0" lang="zh-CN" altLang="en-US" b="1"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endParaRPr>
          </a:p>
          <a:p>
            <a:pPr marL="355600" marR="0" lvl="0" indent="-355600" algn="just" defTabSz="914400" rtl="0" eaLnBrk="1" fontAlgn="base" latinLnBrk="0" hangingPunct="1">
              <a:lnSpc>
                <a:spcPct val="125000"/>
              </a:lnSpc>
              <a:spcBef>
                <a:spcPts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pic>
        <p:nvPicPr>
          <p:cNvPr id="3" name="图片 2"/>
          <p:cNvPicPr>
            <a:picLocks noChangeAspect="1"/>
          </p:cNvPicPr>
          <p:nvPr/>
        </p:nvPicPr>
        <p:blipFill rotWithShape="1">
          <a:blip r:embed="rId2"/>
          <a:srcRect t="21541"/>
          <a:stretch>
            <a:fillRect/>
          </a:stretch>
        </p:blipFill>
        <p:spPr>
          <a:xfrm>
            <a:off x="2203536" y="1059873"/>
            <a:ext cx="1476375" cy="343766"/>
          </a:xfrm>
          <a:prstGeom prst="rect">
            <a:avLst/>
          </a:prstGeom>
        </p:spPr>
      </p:pic>
      <p:pic>
        <p:nvPicPr>
          <p:cNvPr id="4" name="图片 3"/>
          <p:cNvPicPr/>
          <p:nvPr/>
        </p:nvPicPr>
        <p:blipFill>
          <a:blip r:embed="rId3"/>
          <a:srcRect l="33474" r="34053"/>
          <a:stretch>
            <a:fillRect/>
          </a:stretch>
        </p:blipFill>
        <p:spPr>
          <a:xfrm>
            <a:off x="9446895" y="2815590"/>
            <a:ext cx="2320925" cy="3176905"/>
          </a:xfrm>
          <a:prstGeom prst="rect">
            <a:avLst/>
          </a:prstGeom>
        </p:spPr>
      </p:pic>
      <p:sp>
        <p:nvSpPr>
          <p:cNvPr id="5" name="文本框 4"/>
          <p:cNvSpPr txBox="1"/>
          <p:nvPr/>
        </p:nvSpPr>
        <p:spPr>
          <a:xfrm>
            <a:off x="818515" y="2552700"/>
            <a:ext cx="7917815" cy="2675255"/>
          </a:xfrm>
          <a:prstGeom prst="rect">
            <a:avLst/>
          </a:prstGeom>
          <a:noFill/>
        </p:spPr>
        <p:txBody>
          <a:bodyPr wrap="square" rtlCol="0">
            <a:spAutoFit/>
          </a:bodyPr>
          <a:p>
            <a:pPr marL="355600" marR="0" lvl="0" indent="-355600" algn="just" defTabSz="914400" rtl="0" eaLnBrk="1" fontAlgn="base" latinLnBrk="0" hangingPunct="1">
              <a:lnSpc>
                <a:spcPct val="120000"/>
              </a:lnSpc>
              <a:spcBef>
                <a:spcPts val="0"/>
              </a:spcBef>
              <a:spcAft>
                <a:spcPct val="0"/>
              </a:spcAft>
              <a:buClrTx/>
              <a:buSzTx/>
              <a:buFont typeface="Arial" panose="020B0604020202020204" pitchFamily="34" charset="0"/>
              <a:buNone/>
              <a:defRPr/>
            </a:pPr>
            <a:r>
              <a:rPr lang="en-US" altLang="zh-CN" sz="2800" noProof="0" dirty="0">
                <a:ln>
                  <a:noFill/>
                </a:ln>
                <a:solidFill>
                  <a:schemeClr val="tx1"/>
                </a:solidFill>
                <a:effectLst/>
                <a:uLnTx/>
                <a:uFillTx/>
                <a:latin typeface="Calibri" panose="020F0502020204030204"/>
                <a:ea typeface="宋体" panose="02010600030101010101" pitchFamily="2" charset="-122"/>
                <a:sym typeface="+mn-ea"/>
              </a:rPr>
              <a:t>1. It was a ______ decision to save some money each month, given the uncertain economic situation.</a:t>
            </a:r>
            <a:endParaRPr lang="en-US" altLang="zh-CN" sz="2800" noProof="0" dirty="0">
              <a:ln>
                <a:noFill/>
              </a:ln>
              <a:solidFill>
                <a:schemeClr val="tx1"/>
              </a:solidFill>
              <a:effectLst/>
              <a:uLnTx/>
              <a:uFillTx/>
              <a:latin typeface="Calibri" panose="020F0502020204030204"/>
              <a:ea typeface="宋体" panose="02010600030101010101" pitchFamily="2" charset="-122"/>
              <a:sym typeface="+mn-ea"/>
            </a:endParaRPr>
          </a:p>
          <a:p>
            <a:pPr marL="355600" marR="0" lvl="0" indent="-355600" algn="just" defTabSz="914400" rtl="0" eaLnBrk="1" fontAlgn="base" latinLnBrk="0" hangingPunct="1">
              <a:lnSpc>
                <a:spcPct val="120000"/>
              </a:lnSpc>
              <a:spcBef>
                <a:spcPts val="0"/>
              </a:spcBef>
              <a:spcAft>
                <a:spcPct val="0"/>
              </a:spcAft>
              <a:buClrTx/>
              <a:buSzTx/>
              <a:buFont typeface="Arial" panose="020B0604020202020204" pitchFamily="34" charset="0"/>
              <a:buNone/>
              <a:defRPr/>
            </a:pPr>
            <a:r>
              <a:rPr lang="en-US" altLang="zh-CN" sz="2800" noProof="0" dirty="0">
                <a:ln>
                  <a:noFill/>
                </a:ln>
                <a:solidFill>
                  <a:schemeClr val="tx1"/>
                </a:solidFill>
                <a:effectLst/>
                <a:uLnTx/>
                <a:uFillTx/>
                <a:latin typeface="Calibri" panose="020F0502020204030204"/>
                <a:ea typeface="宋体" panose="02010600030101010101" pitchFamily="2" charset="-122"/>
              </a:rPr>
              <a:t>2. She's very </a:t>
            </a:r>
            <a:r>
              <a:rPr lang="en-US" altLang="zh-CN" sz="2800" noProof="0" dirty="0">
                <a:ln>
                  <a:noFill/>
                </a:ln>
                <a:solidFill>
                  <a:schemeClr val="tx1"/>
                </a:solidFill>
                <a:effectLst/>
                <a:uLnTx/>
                <a:uFillTx/>
                <a:latin typeface="Calibri" panose="020F0502020204030204"/>
                <a:ea typeface="宋体" panose="02010600030101010101" pitchFamily="2" charset="-122"/>
                <a:sym typeface="+mn-ea"/>
              </a:rPr>
              <a:t>______</a:t>
            </a:r>
            <a:r>
              <a:rPr lang="en-US" altLang="zh-CN" sz="2800" noProof="0" dirty="0">
                <a:ln>
                  <a:noFill/>
                </a:ln>
                <a:solidFill>
                  <a:schemeClr val="tx1"/>
                </a:solidFill>
                <a:effectLst/>
                <a:uLnTx/>
                <a:uFillTx/>
                <a:latin typeface="Calibri" panose="020F0502020204030204"/>
                <a:ea typeface="宋体" panose="02010600030101010101" pitchFamily="2" charset="-122"/>
              </a:rPr>
              <a:t> about her family background and often avoids discussing it with others.</a:t>
            </a:r>
            <a:endParaRPr lang="en-US" altLang="zh-CN" sz="2800" noProof="0" dirty="0">
              <a:ln>
                <a:noFill/>
              </a:ln>
              <a:solidFill>
                <a:schemeClr val="tx1"/>
              </a:solidFill>
              <a:effectLst/>
              <a:uLnTx/>
              <a:uFillTx/>
              <a:latin typeface="Calibri" panose="020F0502020204030204"/>
              <a:ea typeface="宋体" panose="02010600030101010101" pitchFamily="2" charset="-122"/>
            </a:endParaRPr>
          </a:p>
          <a:p>
            <a:pPr marL="355600" marR="0" lvl="0" indent="-355600" algn="just" defTabSz="914400" rtl="0" eaLnBrk="1" fontAlgn="base" latinLnBrk="0" hangingPunct="1">
              <a:lnSpc>
                <a:spcPct val="120000"/>
              </a:lnSpc>
              <a:spcBef>
                <a:spcPts val="0"/>
              </a:spcBef>
              <a:spcAft>
                <a:spcPct val="0"/>
              </a:spcAft>
              <a:buClrTx/>
              <a:buSzTx/>
              <a:buFont typeface="Arial" panose="020B0604020202020204" pitchFamily="34" charset="0"/>
              <a:buNone/>
              <a:defRPr/>
            </a:pPr>
            <a:r>
              <a:rPr lang="en-US" altLang="zh-CN" sz="2800" noProof="0" dirty="0">
                <a:ln>
                  <a:noFill/>
                </a:ln>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 </a:t>
            </a:r>
            <a:r>
              <a:rPr lang="en-US" altLang="zh-CN" sz="2800" noProof="0" dirty="0">
                <a:ln>
                  <a:noFill/>
                </a:ln>
                <a:solidFill>
                  <a:schemeClr val="tx1"/>
                </a:solidFill>
                <a:effectLst/>
                <a:uLnTx/>
                <a:uFillTx/>
                <a:latin typeface="Calibri" panose="020F0502020204030204"/>
                <a:ea typeface="宋体" panose="02010600030101010101" pitchFamily="2" charset="-122"/>
              </a:rPr>
              <a:t>She was a ________ girl and did not panic.</a:t>
            </a:r>
            <a:endParaRPr lang="en-US" altLang="zh-CN" sz="2800" noProof="0" dirty="0">
              <a:ln>
                <a:noFill/>
              </a:ln>
              <a:solidFill>
                <a:schemeClr val="tx1"/>
              </a:solidFill>
              <a:effectLst/>
              <a:uLnTx/>
              <a:uFillTx/>
              <a:latin typeface="Calibri" panose="020F0502020204030204"/>
              <a:ea typeface="宋体" panose="02010600030101010101" pitchFamily="2" charset="-122"/>
            </a:endParaRPr>
          </a:p>
        </p:txBody>
      </p:sp>
      <p:sp>
        <p:nvSpPr>
          <p:cNvPr id="6" name="文本框 5"/>
          <p:cNvSpPr txBox="1"/>
          <p:nvPr/>
        </p:nvSpPr>
        <p:spPr>
          <a:xfrm>
            <a:off x="2326005" y="2634615"/>
            <a:ext cx="1353820" cy="460375"/>
          </a:xfrm>
          <a:prstGeom prst="rect">
            <a:avLst/>
          </a:prstGeom>
          <a:noFill/>
        </p:spPr>
        <p:txBody>
          <a:bodyPr wrap="square" rtlCol="0" anchor="t">
            <a:spAutoFit/>
          </a:bodyPr>
          <a:p>
            <a:r>
              <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rPr>
              <a:t>sensible</a:t>
            </a:r>
            <a:endPar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7" name="文本框 6"/>
          <p:cNvSpPr txBox="1"/>
          <p:nvPr/>
        </p:nvSpPr>
        <p:spPr>
          <a:xfrm>
            <a:off x="2898775" y="3660140"/>
            <a:ext cx="1353820" cy="460375"/>
          </a:xfrm>
          <a:prstGeom prst="rect">
            <a:avLst/>
          </a:prstGeom>
          <a:noFill/>
        </p:spPr>
        <p:txBody>
          <a:bodyPr wrap="square" rtlCol="0" anchor="t">
            <a:spAutoFit/>
          </a:bodyPr>
          <a:p>
            <a:r>
              <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rPr>
              <a:t>sensitive</a:t>
            </a:r>
            <a:endPar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2" name="文本框 1"/>
          <p:cNvSpPr txBox="1"/>
          <p:nvPr/>
        </p:nvSpPr>
        <p:spPr>
          <a:xfrm>
            <a:off x="2766060" y="4685665"/>
            <a:ext cx="1353820" cy="460375"/>
          </a:xfrm>
          <a:prstGeom prst="rect">
            <a:avLst/>
          </a:prstGeom>
          <a:noFill/>
        </p:spPr>
        <p:txBody>
          <a:bodyPr wrap="square" rtlCol="0" anchor="t">
            <a:spAutoFit/>
          </a:bodyPr>
          <a:p>
            <a:r>
              <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rPr>
              <a:t>sensible</a:t>
            </a:r>
            <a:endParaRPr lang="en-US" altLang="zh-CN" sz="24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checkerboard(across)">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heckerboard(across)">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P spid="5" grpId="0"/>
      <p:bldP spid="6" grpId="0"/>
      <p:bldP spid="7"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476758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2. Translate the following sentences, paying attention to the words and expressions in bold type which may have different meanings in different contexts.</a:t>
            </a:r>
            <a:endParaRPr kumimoji="0" lang="en-US" altLang="zh-CN" sz="2800" b="1"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lang="en-US" altLang="zh-CN" dirty="0">
                <a:solidFill>
                  <a:sysClr val="windowText" lastClr="000000"/>
                </a:solidFill>
                <a:latin typeface="Calibri" panose="020F0502020204030204"/>
                <a:ea typeface="宋体" panose="02010600030101010101" pitchFamily="2" charset="-122"/>
              </a:rPr>
              <a:t>1.</a:t>
            </a:r>
            <a:r>
              <a:rPr kumimoji="0" lang="en-US" altLang="zh-CN"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lang="en-US" altLang="zh-CN" b="1" dirty="0">
                <a:solidFill>
                  <a:srgbClr val="ED7D31">
                    <a:lumMod val="75000"/>
                  </a:srgbClr>
                </a:solidFill>
                <a:latin typeface="Calibri" panose="020F0502020204030204"/>
                <a:ea typeface="宋体" panose="02010600030101010101" pitchFamily="2" charset="-122"/>
              </a:rPr>
              <a:t>Plainly</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he considers himself a promising political </a:t>
            </a:r>
            <a:r>
              <a:rPr lang="en-US" altLang="zh-CN" b="1" dirty="0">
                <a:solidFill>
                  <a:srgbClr val="ED7D31">
                    <a:lumMod val="75000"/>
                  </a:srgbClr>
                </a:solidFill>
                <a:latin typeface="Calibri" panose="020F0502020204030204"/>
                <a:ea typeface="宋体" panose="02010600030101010101" pitchFamily="2" charset="-122"/>
              </a:rPr>
              <a:t>figure</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in that country.</a:t>
            </a:r>
            <a:endParaRPr kumimoji="0" lang="en-US" altLang="zh-CN" sz="2800" b="0" i="0" u="none" strike="noStrike" kern="1200" cap="none" spc="-10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显然</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，他认为自己是那个国家很有前途的政治</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人物</a:t>
            </a:r>
            <a:r>
              <a:rPr lang="zh-CN" altLang="en-US" sz="2400" dirty="0">
                <a:solidFill>
                  <a:srgbClr val="C00000"/>
                </a:solidFill>
                <a:latin typeface="Calibri" panose="020F0502020204030204"/>
                <a:ea typeface="宋体" panose="02010600030101010101" pitchFamily="2" charset="-122"/>
              </a:rPr>
              <a:t>。</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lang="en-US" altLang="zh-CN" dirty="0">
                <a:solidFill>
                  <a:sysClr val="windowText" lastClr="000000"/>
                </a:solidFill>
                <a:latin typeface="Calibri" panose="020F0502020204030204"/>
                <a:ea typeface="宋体" panose="02010600030101010101" pitchFamily="2" charset="-122"/>
              </a:rPr>
              <a:t>2</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lang="en-US" altLang="zh-CN" spc="-100" dirty="0">
                <a:solidFill>
                  <a:sysClr val="windowText" lastClr="000000"/>
                </a:solidFill>
                <a:latin typeface="Calibri" panose="020F0502020204030204"/>
                <a:ea typeface="宋体" panose="02010600030101010101" pitchFamily="2" charset="-122"/>
              </a:rPr>
              <a:t>I can’t </a:t>
            </a:r>
            <a:r>
              <a:rPr lang="en-US" altLang="zh-CN" b="1" dirty="0">
                <a:solidFill>
                  <a:srgbClr val="ED7D31">
                    <a:lumMod val="75000"/>
                  </a:srgbClr>
                </a:solidFill>
                <a:latin typeface="Calibri" panose="020F0502020204030204"/>
                <a:ea typeface="宋体" panose="02010600030101010101" pitchFamily="2" charset="-122"/>
              </a:rPr>
              <a:t>figure out </a:t>
            </a:r>
            <a:r>
              <a:rPr lang="en-US" altLang="zh-CN" spc="-100" dirty="0">
                <a:solidFill>
                  <a:sysClr val="windowText" lastClr="000000"/>
                </a:solidFill>
                <a:latin typeface="Calibri" panose="020F0502020204030204"/>
                <a:ea typeface="宋体" panose="02010600030101010101" pitchFamily="2" charset="-122"/>
              </a:rPr>
              <a:t>why she keeps changing her </a:t>
            </a:r>
            <a:r>
              <a:rPr lang="en-US" altLang="zh-CN" b="1" dirty="0">
                <a:solidFill>
                  <a:srgbClr val="ED7D31">
                    <a:lumMod val="75000"/>
                  </a:srgbClr>
                </a:solidFill>
                <a:latin typeface="Calibri" panose="020F0502020204030204"/>
                <a:ea typeface="宋体" panose="02010600030101010101" pitchFamily="2" charset="-122"/>
              </a:rPr>
              <a:t>quarters</a:t>
            </a:r>
            <a:r>
              <a:rPr kumimoji="0" lang="en-US" altLang="zh-CN"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endParaRPr kumimoji="0" lang="en-US" altLang="zh-CN" b="0" i="0" u="none" strike="noStrike" kern="1200" cap="none" spc="-10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我</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想</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不</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明白</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她为什么要不断地改变</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住处</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lang="en-US" altLang="zh-CN" dirty="0">
                <a:solidFill>
                  <a:sysClr val="windowText" lastClr="000000"/>
                </a:solidFill>
                <a:latin typeface="Calibri" panose="020F0502020204030204"/>
                <a:ea typeface="宋体" panose="02010600030101010101" pitchFamily="2" charset="-122"/>
              </a:rPr>
              <a:t>3</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b="0" i="0" u="none" strike="noStrike" cap="none" spc="-110" normalizeH="0" noProof="0" dirty="0">
                <a:ln>
                  <a:noFill/>
                </a:ln>
                <a:solidFill>
                  <a:sysClr val="windowText" lastClr="000000"/>
                </a:solidFill>
                <a:effectLst/>
                <a:uLnTx/>
                <a:uFillTx/>
                <a:latin typeface="Calibri" panose="020F0502020204030204"/>
                <a:ea typeface="宋体" panose="02010600030101010101" pitchFamily="2" charset="-122"/>
                <a:cs typeface="+mn-cs"/>
              </a:rPr>
              <a:t>The only thing I know about the country is “The rain in Spain stays mainly in the </a:t>
            </a:r>
            <a:r>
              <a:rPr lang="en-US" altLang="zh-CN" b="1" spc="-110" dirty="0">
                <a:solidFill>
                  <a:srgbClr val="ED7D31">
                    <a:lumMod val="75000"/>
                  </a:srgbClr>
                </a:solidFill>
                <a:latin typeface="Calibri" panose="020F0502020204030204"/>
                <a:ea typeface="宋体" panose="02010600030101010101" pitchFamily="2" charset="-122"/>
              </a:rPr>
              <a:t>plain</a:t>
            </a:r>
            <a:r>
              <a:rPr kumimoji="0" lang="en-US" altLang="zh-CN" b="0" i="0" u="none" strike="noStrike" cap="none" spc="-110" normalizeH="0" noProof="0" dirty="0">
                <a:ln>
                  <a:noFill/>
                </a:ln>
                <a:solidFill>
                  <a:sysClr val="windowText" lastClr="000000"/>
                </a:solidFill>
                <a:effectLst/>
                <a:uLnTx/>
                <a:uFillTx/>
                <a:latin typeface="Calibri" panose="020F0502020204030204"/>
                <a:ea typeface="宋体" panose="02010600030101010101" pitchFamily="2" charset="-122"/>
                <a:cs typeface="+mn-cs"/>
              </a:rPr>
              <a:t>,” which is an expression I picked up at school more than a </a:t>
            </a:r>
            <a:r>
              <a:rPr lang="en-US" altLang="zh-CN" b="1" spc="-110" dirty="0">
                <a:solidFill>
                  <a:srgbClr val="ED7D31">
                    <a:lumMod val="75000"/>
                  </a:srgbClr>
                </a:solidFill>
                <a:latin typeface="Calibri" panose="020F0502020204030204"/>
                <a:ea typeface="宋体" panose="02010600030101010101" pitchFamily="2" charset="-122"/>
              </a:rPr>
              <a:t>quarter</a:t>
            </a:r>
            <a:r>
              <a:rPr kumimoji="0" lang="en-US" altLang="zh-CN" b="0" i="0" u="none" strike="noStrike" cap="none" spc="-110" normalizeH="0" noProof="0" dirty="0">
                <a:ln>
                  <a:noFill/>
                </a:ln>
                <a:solidFill>
                  <a:sysClr val="windowText" lastClr="000000"/>
                </a:solidFill>
                <a:effectLst/>
                <a:uLnTx/>
                <a:uFillTx/>
                <a:latin typeface="Calibri" panose="020F0502020204030204"/>
                <a:ea typeface="宋体" panose="02010600030101010101" pitchFamily="2" charset="-122"/>
                <a:cs typeface="+mn-cs"/>
              </a:rPr>
              <a:t> of a century ago.</a:t>
            </a:r>
            <a:endParaRPr kumimoji="0" lang="en-US" altLang="zh-CN" b="0" i="0" u="none" strike="noStrike" cap="none" spc="-110" normalizeH="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关于这个国家我只知道“西班牙的雨集中在</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平原</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地区”，这还是我</a:t>
            </a:r>
            <a:r>
              <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25</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多年（</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四分之一个</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多世纪）前在上学的时候学到的一句话。</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6" end="6"/>
                                            </p:txEl>
                                          </p:spTgt>
                                        </p:tgtEl>
                                        <p:attrNameLst>
                                          <p:attrName>style.visibility</p:attrName>
                                        </p:attrNameLst>
                                      </p:cBhvr>
                                      <p:to>
                                        <p:strVal val="visible"/>
                                      </p:to>
                                    </p:set>
                                    <p:animEffect transition="in" filter="dissolve">
                                      <p:cBhvr>
                                        <p:cTn id="17"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Translate the following sentences, paying attention to the words and expressions in bold type which may have different meanings in different contexts.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12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a:t>
            </a:r>
            <a:r>
              <a:rPr kumimoji="0" lang="en-US" altLang="zh-CN" sz="2400" b="0" i="0" u="none" strike="noStrike" kern="1200" cap="none" spc="-12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lang="en-US" altLang="zh-CN" spc="-140" dirty="0">
                <a:solidFill>
                  <a:sysClr val="windowText" lastClr="000000"/>
                </a:solidFill>
                <a:latin typeface="Calibri" panose="020F0502020204030204"/>
                <a:ea typeface="宋体" panose="02010600030101010101" pitchFamily="2" charset="-122"/>
              </a:rPr>
              <a:t>The basketball player seemed to have </a:t>
            </a:r>
            <a:r>
              <a:rPr lang="en-US" altLang="zh-CN" b="1" u="sng" spc="-140" dirty="0">
                <a:solidFill>
                  <a:srgbClr val="ED7D31">
                    <a:lumMod val="75000"/>
                  </a:srgbClr>
                </a:solidFill>
                <a:latin typeface="Calibri" panose="020F0502020204030204"/>
                <a:ea typeface="宋体" panose="02010600030101010101" pitchFamily="2" charset="-122"/>
              </a:rPr>
              <a:t>cast</a:t>
            </a:r>
            <a:r>
              <a:rPr lang="en-US" altLang="zh-CN" u="sng" spc="-140" dirty="0">
                <a:solidFill>
                  <a:sysClr val="windowText" lastClr="000000"/>
                </a:solidFill>
                <a:latin typeface="Calibri" panose="020F0502020204030204"/>
                <a:ea typeface="宋体" panose="02010600030101010101" pitchFamily="2" charset="-122"/>
              </a:rPr>
              <a:t> a spell upon</a:t>
            </a:r>
            <a:r>
              <a:rPr lang="en-US" altLang="zh-CN" spc="-140" dirty="0">
                <a:solidFill>
                  <a:sysClr val="windowText" lastClr="000000"/>
                </a:solidFill>
                <a:latin typeface="Calibri" panose="020F0502020204030204"/>
                <a:ea typeface="宋体" panose="02010600030101010101" pitchFamily="2" charset="-122"/>
              </a:rPr>
              <a:t> the spectators in the first </a:t>
            </a:r>
            <a:r>
              <a:rPr kumimoji="0" lang="en-US" altLang="zh-CN" sz="2800" b="1" i="0" u="none" strike="noStrike" kern="1200" cap="none" spc="-140" normalizeH="0" baseline="0" noProof="0" dirty="0">
                <a:ln>
                  <a:noFill/>
                </a:ln>
                <a:solidFill>
                  <a:srgbClr val="ED7D31">
                    <a:lumMod val="75000"/>
                  </a:srgbClr>
                </a:solidFill>
                <a:effectLst/>
                <a:uLnTx/>
                <a:uFillTx/>
                <a:latin typeface="Calibri" panose="020F0502020204030204"/>
                <a:ea typeface="宋体" panose="02010600030101010101" pitchFamily="2" charset="-122"/>
                <a:cs typeface="+mn-cs"/>
              </a:rPr>
              <a:t>quarter</a:t>
            </a:r>
            <a:r>
              <a:rPr kumimoji="0" lang="en-US" altLang="zh-CN" sz="2800" b="0" i="0" u="none" strike="noStrike" kern="1200" cap="none" spc="-14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14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在开局</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第一节</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，那个篮球运动员似乎就已经</a:t>
            </a:r>
            <a:r>
              <a:rPr kumimoji="0" lang="zh-CN" altLang="en-US" sz="24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把观众都迷住了</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It is </a:t>
            </a:r>
            <a:r>
              <a:rPr lang="en-US" altLang="zh-CN" b="1" spc="-140" dirty="0">
                <a:solidFill>
                  <a:srgbClr val="ED7D31">
                    <a:lumMod val="75000"/>
                  </a:srgbClr>
                </a:solidFill>
                <a:latin typeface="Calibri" panose="020F0502020204030204"/>
                <a:ea typeface="宋体" panose="02010600030101010101" pitchFamily="2" charset="-122"/>
              </a:rPr>
              <a:t>plain</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to me that you can’t </a:t>
            </a:r>
            <a:r>
              <a:rPr lang="en-US" altLang="zh-CN" b="1" spc="-140" dirty="0">
                <a:solidFill>
                  <a:srgbClr val="ED7D31">
                    <a:lumMod val="75000"/>
                  </a:srgbClr>
                </a:solidFill>
                <a:latin typeface="Calibri" panose="020F0502020204030204"/>
                <a:ea typeface="宋体" panose="02010600030101010101" pitchFamily="2" charset="-122"/>
              </a:rPr>
              <a:t>beat</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that movie for its strong </a:t>
            </a:r>
            <a:r>
              <a:rPr lang="en-US" altLang="zh-CN" b="1" u="sng" spc="-140" dirty="0">
                <a:solidFill>
                  <a:srgbClr val="ED7D31">
                    <a:lumMod val="75000"/>
                  </a:srgbClr>
                </a:solidFill>
                <a:latin typeface="Calibri" panose="020F0502020204030204"/>
                <a:ea typeface="宋体" panose="02010600030101010101" pitchFamily="2" charset="-122"/>
              </a:rPr>
              <a:t>cast</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10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在我看来，</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显而易见</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，那个电影</a:t>
            </a:r>
            <a:r>
              <a:rPr kumimoji="0" lang="zh-CN" altLang="en-US" sz="24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演员阵容</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十分强大，这点别的电影无法相比。</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a:t>
            </a:r>
            <a:r>
              <a:rPr kumimoji="0" lang="en-US" altLang="zh-CN" sz="2800" b="0" i="0" u="none" strike="noStrike" kern="1200" cap="none" spc="-11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I have a Ph.D. degree </a:t>
            </a:r>
            <a:r>
              <a:rPr lang="en-US" altLang="zh-CN" b="1" spc="-140" dirty="0">
                <a:solidFill>
                  <a:srgbClr val="ED7D31">
                    <a:lumMod val="75000"/>
                  </a:srgbClr>
                </a:solidFill>
                <a:latin typeface="Calibri" panose="020F0502020204030204"/>
                <a:ea typeface="宋体" panose="02010600030101010101" pitchFamily="2" charset="-122"/>
              </a:rPr>
              <a:t>all right</a:t>
            </a:r>
            <a:r>
              <a:rPr kumimoji="0" lang="en-US" altLang="zh-CN" sz="2800" b="0" i="0" u="none" strike="noStrike" kern="1200" cap="none" spc="-11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but a </a:t>
            </a:r>
            <a:r>
              <a:rPr lang="en-US" altLang="zh-CN" b="1" spc="-140" dirty="0">
                <a:solidFill>
                  <a:srgbClr val="ED7D31">
                    <a:lumMod val="75000"/>
                  </a:srgbClr>
                </a:solidFill>
                <a:latin typeface="Calibri" panose="020F0502020204030204"/>
                <a:ea typeface="宋体" panose="02010600030101010101" pitchFamily="2" charset="-122"/>
              </a:rPr>
              <a:t>plain</a:t>
            </a:r>
            <a:r>
              <a:rPr kumimoji="0" lang="en-US" altLang="zh-CN" sz="2800" b="0" i="0" u="none" strike="noStrike" kern="1200" cap="none" spc="-11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-looking girl stands no chance in beauty contests. The focus is usually on height, </a:t>
            </a:r>
            <a:r>
              <a:rPr lang="en-US" altLang="zh-CN" b="1" spc="-140" dirty="0">
                <a:solidFill>
                  <a:srgbClr val="ED7D31">
                    <a:lumMod val="75000"/>
                  </a:srgbClr>
                </a:solidFill>
                <a:latin typeface="Calibri" panose="020F0502020204030204"/>
                <a:ea typeface="宋体" panose="02010600030101010101" pitchFamily="2" charset="-122"/>
              </a:rPr>
              <a:t>figure</a:t>
            </a:r>
            <a:r>
              <a:rPr kumimoji="0" lang="en-US" altLang="zh-CN" sz="2800" b="0" i="0" u="none" strike="noStrike" kern="1200" cap="none" spc="-11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and a pretty face.</a:t>
            </a:r>
            <a:endParaRPr kumimoji="0" lang="en-US" altLang="zh-CN" sz="2800" b="0" i="0" u="none" strike="noStrike" kern="1200" cap="none" spc="-11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不错，我是有一个博士学位，但是像我这样姿色</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平平</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的女孩在选美比赛中根本没有机会。人家强调的一般都是个子高挑啦，</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身材</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啦，还有漂亮的脸蛋啦。</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685800" marR="0" lvl="1"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6" end="6"/>
                                            </p:txEl>
                                          </p:spTgt>
                                        </p:tgtEl>
                                        <p:attrNameLst>
                                          <p:attrName>style.visibility</p:attrName>
                                        </p:attrNameLst>
                                      </p:cBhvr>
                                      <p:to>
                                        <p:strVal val="visible"/>
                                      </p:to>
                                    </p:set>
                                    <p:animEffect transition="in" filter="dissolve">
                                      <p:cBhvr>
                                        <p:cTn id="17"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469900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Translate the following sentences, paying attention to the words and expressions in bold type which may have different meanings in different contexts.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12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a:t>
            </a:r>
            <a:r>
              <a:rPr kumimoji="0" lang="en-US" altLang="zh-CN" sz="2400" b="0" i="0" u="none" strike="noStrike" kern="1200" cap="none" spc="-12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lang="en-US" altLang="zh-CN" b="1" spc="-140" dirty="0">
                <a:solidFill>
                  <a:srgbClr val="ED7D31">
                    <a:lumMod val="75000"/>
                  </a:srgbClr>
                </a:solidFill>
                <a:latin typeface="Calibri" panose="020F0502020204030204"/>
                <a:ea typeface="宋体" panose="02010600030101010101" pitchFamily="2" charset="-122"/>
              </a:rPr>
              <a:t>All right</a:t>
            </a:r>
            <a:r>
              <a:rPr kumimoji="0" lang="en-US" altLang="zh-CN" sz="2800" b="0" i="0" u="none" strike="noStrike" kern="1200" cap="none" spc="-14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Now stop </a:t>
            </a:r>
            <a:r>
              <a:rPr lang="en-US" altLang="zh-CN" b="1" u="sng" spc="-140" dirty="0">
                <a:solidFill>
                  <a:srgbClr val="ED7D31">
                    <a:lumMod val="75000"/>
                  </a:srgbClr>
                </a:solidFill>
                <a:latin typeface="Calibri" panose="020F0502020204030204"/>
                <a:ea typeface="宋体" panose="02010600030101010101" pitchFamily="2" charset="-122"/>
              </a:rPr>
              <a:t>beating</a:t>
            </a:r>
            <a:r>
              <a:rPr kumimoji="0" lang="en-US" altLang="zh-CN" sz="2800" b="0" i="0" u="sng" strike="noStrike" kern="1200" cap="none" spc="-14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about the bush</a:t>
            </a:r>
            <a:r>
              <a:rPr kumimoji="0" lang="en-US" altLang="zh-CN" sz="2800" b="0" i="0" u="none" strike="noStrike" kern="1200" cap="none" spc="-14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Just give me the </a:t>
            </a:r>
            <a:r>
              <a:rPr lang="en-US" altLang="zh-CN" b="1" spc="-140" dirty="0">
                <a:solidFill>
                  <a:srgbClr val="ED7D31">
                    <a:lumMod val="75000"/>
                  </a:srgbClr>
                </a:solidFill>
                <a:latin typeface="Calibri" panose="020F0502020204030204"/>
                <a:ea typeface="宋体" panose="02010600030101010101" pitchFamily="2" charset="-122"/>
              </a:rPr>
              <a:t>plain</a:t>
            </a:r>
            <a:r>
              <a:rPr kumimoji="0" lang="en-US" altLang="zh-CN" sz="2800" b="0" i="0" u="none" strike="noStrike" kern="1200" cap="none" spc="-14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truth.</a:t>
            </a:r>
            <a:endParaRPr kumimoji="0" lang="en-US" altLang="zh-CN" sz="2800" b="0" i="0" u="none" strike="noStrike" kern="1200" cap="none" spc="-14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行啦！你就不要再东拉西扯，</a:t>
            </a:r>
            <a:r>
              <a:rPr kumimoji="0" lang="zh-CN" altLang="en-US" sz="24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转弯抹角</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了。跟我说实话吧。</a:t>
            </a: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8.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When I was told that I had to pay $50,000 for the damage, my heart missed a </a:t>
            </a:r>
            <a:r>
              <a:rPr lang="en-US" altLang="zh-CN" b="1" spc="-140" dirty="0">
                <a:solidFill>
                  <a:srgbClr val="ED7D31">
                    <a:lumMod val="75000"/>
                  </a:srgbClr>
                </a:solidFill>
                <a:latin typeface="Calibri" panose="020F0502020204030204"/>
                <a:ea typeface="宋体" panose="02010600030101010101" pitchFamily="2" charset="-122"/>
              </a:rPr>
              <a:t>beat</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It was an impossible </a:t>
            </a:r>
            <a:r>
              <a:rPr lang="en-US" altLang="zh-CN" b="1" spc="-140" dirty="0">
                <a:solidFill>
                  <a:srgbClr val="ED7D31">
                    <a:lumMod val="75000"/>
                  </a:srgbClr>
                </a:solidFill>
                <a:latin typeface="Calibri" panose="020F0502020204030204"/>
                <a:ea typeface="宋体" panose="02010600030101010101" pitchFamily="2" charset="-122"/>
              </a:rPr>
              <a:t>figure</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for me to afford.</a:t>
            </a:r>
            <a:endParaRPr kumimoji="0" lang="en-US" altLang="zh-CN" sz="2800" b="0" i="0" u="none" strike="noStrike" kern="1200" cap="none" spc="-10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在我被告知我得付五万美元赔偿费的那一刹那，我的心</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跳</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好像一下都停了。这是我不可能付得起的</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数目</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All right, I slapped his face, but he hit me back </a:t>
            </a:r>
            <a:r>
              <a:rPr kumimoji="0" lang="en-US" altLang="zh-CN" sz="2800" b="1" i="0" u="none" strike="noStrike" kern="1200" cap="none" spc="-140" normalizeH="0" baseline="0" dirty="0">
                <a:solidFill>
                  <a:srgbClr val="ED7D31">
                    <a:lumMod val="75000"/>
                  </a:srgbClr>
                </a:solidFill>
                <a:latin typeface="Calibri" panose="020F0502020204030204"/>
                <a:ea typeface="宋体" panose="02010600030101010101" pitchFamily="2" charset="-122"/>
                <a:cs typeface="+mn-cs"/>
              </a:rPr>
              <a:t>squarely</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on the jaw, so we are </a:t>
            </a:r>
            <a:r>
              <a:rPr kumimoji="0" lang="en-US" altLang="zh-CN" sz="2800" b="1" i="0" u="none" strike="noStrike" kern="1200" cap="none" spc="-140" normalizeH="0" baseline="0" dirty="0">
                <a:solidFill>
                  <a:srgbClr val="ED7D31">
                    <a:lumMod val="75000"/>
                  </a:srgbClr>
                </a:solidFill>
                <a:latin typeface="Calibri" panose="020F0502020204030204"/>
                <a:ea typeface="宋体" panose="02010600030101010101" pitchFamily="2" charset="-122"/>
                <a:cs typeface="+mn-cs"/>
              </a:rPr>
              <a:t>square</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好吧，我扇了他一耳光，但他也</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不偏不倚</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打在我下巴上，所以我们</a:t>
            </a:r>
            <a:r>
              <a:rPr kumimoji="0" lang="zh-CN" altLang="en-US" sz="2400" b="1"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扯平了</a:t>
            </a:r>
            <a:r>
              <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zh-CN" altLang="en-US"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2" name="图片 11">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5" end="5"/>
                                            </p:txEl>
                                          </p:spTgt>
                                        </p:tgtEl>
                                        <p:attrNameLst>
                                          <p:attrName>style.visibility</p:attrName>
                                        </p:attrNameLst>
                                      </p:cBhvr>
                                      <p:to>
                                        <p:strVal val="visible"/>
                                      </p:to>
                                    </p:set>
                                    <p:animEffect transition="in" filter="dissolve">
                                      <p:cBhvr>
                                        <p:cTn id="17" dur="500"/>
                                        <p:tgtEl>
                                          <p:spTgt spid="46">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6" end="6"/>
                                            </p:txEl>
                                          </p:spTgt>
                                        </p:tgtEl>
                                        <p:attrNameLst>
                                          <p:attrName>style.visibility</p:attrName>
                                        </p:attrNameLst>
                                      </p:cBhvr>
                                      <p:to>
                                        <p:strVal val="visible"/>
                                      </p:to>
                                    </p:set>
                                    <p:animEffect transition="in" filter="dissolve">
                                      <p:cBhvr>
                                        <p:cTn id="22"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Fill in the blanks with the correct form of the phrases listed below.</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lang="en-US" altLang="zh-CN" sz="2600" spc="-100" dirty="0">
              <a:solidFill>
                <a:sysClr val="windowText" lastClr="000000"/>
              </a:solidFill>
              <a:latin typeface="Calibri" panose="020F0502020204030204"/>
              <a:ea typeface="宋体" panose="02010600030101010101" pitchFamily="2" charset="-122"/>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r>
              <a:rPr kumimoji="0" lang="en-US" altLang="zh-CN" sz="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90000"/>
              </a:lnSpc>
              <a:spcBef>
                <a:spcPts val="12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1. The novel is about a poor black American put ___________ on a rape charge(</a:t>
            </a:r>
            <a:r>
              <a:rPr kumimoji="0" lang="zh-CN" altLang="en-US"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指控</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which is actually false.</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9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People sometimes __________ in the middle of a sentence and can’t go on. It can happen to anybody.</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9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I’m not sure if Mary is still in Macao. We __________ each other after we both married.</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9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It’s been more than three months since she __________ her daughter last, and she is getting very worried.</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685800" marR="0" lvl="1"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8245705" y="2906057"/>
            <a:ext cx="2372497" cy="523220"/>
          </a:xfrm>
          <a:prstGeom prst="rect">
            <a:avLst/>
          </a:prstGeom>
          <a:noFill/>
        </p:spPr>
        <p:txBody>
          <a:bodyPr wrap="square" rtlCol="0">
            <a:spAutoFit/>
          </a:bodyPr>
          <a:lstStyle/>
          <a:p>
            <a:pPr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under arrest</a:t>
            </a:r>
            <a:endParaRPr lang="zh-CN" altLang="en-US" sz="28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3629889" y="3763998"/>
            <a:ext cx="2372497" cy="523220"/>
          </a:xfrm>
          <a:prstGeom prst="rect">
            <a:avLst/>
          </a:prstGeom>
          <a:noFill/>
        </p:spPr>
        <p:txBody>
          <a:bodyPr wrap="square" rtlCol="0">
            <a:spAutoFit/>
          </a:bodyPr>
          <a:lstStyle/>
          <a:p>
            <a:pPr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get stuck</a:t>
            </a:r>
            <a:endParaRPr lang="zh-CN" altLang="en-US" sz="2800" dirty="0">
              <a:solidFill>
                <a:srgbClr val="C00000"/>
              </a:solidFill>
              <a:latin typeface="Calibri" panose="020F0502020204030204" charset="0"/>
              <a:ea typeface="宋体" panose="02010600030101010101" pitchFamily="2" charset="-122"/>
            </a:endParaRPr>
          </a:p>
        </p:txBody>
      </p:sp>
      <p:sp>
        <p:nvSpPr>
          <p:cNvPr id="14" name="文本框 13"/>
          <p:cNvSpPr txBox="1"/>
          <p:nvPr/>
        </p:nvSpPr>
        <p:spPr>
          <a:xfrm>
            <a:off x="6920343" y="4560621"/>
            <a:ext cx="2372497" cy="523220"/>
          </a:xfrm>
          <a:prstGeom prst="rect">
            <a:avLst/>
          </a:prstGeom>
          <a:noFill/>
        </p:spPr>
        <p:txBody>
          <a:bodyPr wrap="square" rtlCol="0">
            <a:spAutoFit/>
          </a:bodyPr>
          <a:lstStyle/>
          <a:p>
            <a:pPr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lost track of</a:t>
            </a:r>
            <a:endParaRPr lang="zh-CN" altLang="en-US" sz="2800" dirty="0">
              <a:solidFill>
                <a:srgbClr val="C00000"/>
              </a:solidFill>
              <a:latin typeface="Calibri" panose="020F0502020204030204" charset="0"/>
              <a:ea typeface="宋体" panose="02010600030101010101" pitchFamily="2" charset="-122"/>
            </a:endParaRPr>
          </a:p>
        </p:txBody>
      </p:sp>
      <p:sp>
        <p:nvSpPr>
          <p:cNvPr id="15" name="文本框 14"/>
          <p:cNvSpPr txBox="1"/>
          <p:nvPr/>
        </p:nvSpPr>
        <p:spPr>
          <a:xfrm>
            <a:off x="7316735" y="5324334"/>
            <a:ext cx="2372497" cy="523220"/>
          </a:xfrm>
          <a:prstGeom prst="rect">
            <a:avLst/>
          </a:prstGeom>
          <a:noFill/>
        </p:spPr>
        <p:txBody>
          <a:bodyPr wrap="square" rtlCol="0">
            <a:spAutoFit/>
          </a:bodyPr>
          <a:lstStyle/>
          <a:p>
            <a:pPr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heard from</a:t>
            </a:r>
            <a:endParaRPr lang="zh-CN" altLang="en-US" sz="2800" dirty="0">
              <a:solidFill>
                <a:srgbClr val="C00000"/>
              </a:solidFill>
              <a:latin typeface="Calibri" panose="020F0502020204030204" charset="0"/>
              <a:ea typeface="宋体" panose="02010600030101010101" pitchFamily="2" charset="-122"/>
            </a:endParaRPr>
          </a:p>
        </p:txBody>
      </p:sp>
      <p:sp>
        <p:nvSpPr>
          <p:cNvPr id="2" name="文本框 1"/>
          <p:cNvSpPr txBox="1"/>
          <p:nvPr/>
        </p:nvSpPr>
        <p:spPr>
          <a:xfrm>
            <a:off x="394370" y="1539831"/>
            <a:ext cx="11080917" cy="1332673"/>
          </a:xfrm>
          <a:prstGeom prst="rect">
            <a:avLst/>
          </a:prstGeom>
          <a:noFill/>
          <a:ln w="31750" cmpd="sng">
            <a:solidFill>
              <a:schemeClr val="accent6">
                <a:lumMod val="50000"/>
              </a:schemeClr>
            </a:solidFill>
          </a:ln>
        </p:spPr>
        <p:txBody>
          <a:bodyPr wrap="square" rtlCol="0">
            <a:spAutoFit/>
          </a:bodyPr>
          <a:lstStyle/>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600" spc="-100" dirty="0">
                <a:solidFill>
                  <a:sysClr val="windowText" lastClr="000000"/>
                </a:solidFill>
                <a:latin typeface="Calibri" panose="020F0502020204030204"/>
                <a:ea typeface="宋体" panose="02010600030101010101" pitchFamily="2" charset="-122"/>
              </a:rPr>
              <a:t>	</a:t>
            </a:r>
            <a:r>
              <a:rPr lang="en-US" altLang="zh-CN" sz="2800" spc="-100" dirty="0">
                <a:solidFill>
                  <a:sysClr val="windowText" lastClr="000000"/>
                </a:solidFill>
                <a:latin typeface="Calibri" panose="020F0502020204030204"/>
                <a:ea typeface="宋体" panose="02010600030101010101" pitchFamily="2" charset="-122"/>
              </a:rPr>
              <a:t>for show	tear down	bring up	hear from	catch up	</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change … into	get stuck	in existence	know of	compete with</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ask for	under arrest	on earth	lose track of</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Fill in the blanks with the correct form of the phrases listed below.</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r>
              <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lang="en-US" altLang="zh-CN" sz="2600" spc="-100" dirty="0">
              <a:solidFill>
                <a:sysClr val="windowText" lastClr="000000"/>
              </a:solidFill>
              <a:latin typeface="Calibri" panose="020F0502020204030204"/>
              <a:ea typeface="宋体" panose="02010600030101010101" pitchFamily="2" charset="-122"/>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r>
              <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12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a:t>
            </a:r>
            <a:r>
              <a:rPr kumimoji="0" lang="en-US" altLang="zh-CN" sz="2800"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It was a brilliant idea to </a:t>
            </a:r>
            <a:r>
              <a:rPr kumimoji="0" lang="en-US" altLang="zh-CN"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the old warship </a:t>
            </a:r>
            <a:r>
              <a:rPr kumimoji="0" lang="en-US" altLang="zh-CN"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rPr>
              <a:t>a floating hotel.</a:t>
            </a:r>
            <a:endParaRPr kumimoji="0" lang="en-US" altLang="zh-CN" sz="2800" b="0" i="0" u="none" strike="noStrike" kern="1200" cap="none" spc="-100" normalizeH="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Many people believe that some prehistoric animals are still </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although efforts to find them have, so far, proven to be in vain.</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I don’t know her personally, but I do </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her. She is known to have published some best-selling stories for children.</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685800" marR="0" lvl="1"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3983926" y="3047025"/>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change</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3" name="文本框 12"/>
          <p:cNvSpPr txBox="1"/>
          <p:nvPr/>
        </p:nvSpPr>
        <p:spPr>
          <a:xfrm>
            <a:off x="8118763" y="3023335"/>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into</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4" name="文本框 13"/>
          <p:cNvSpPr txBox="1"/>
          <p:nvPr/>
        </p:nvSpPr>
        <p:spPr>
          <a:xfrm>
            <a:off x="9890219" y="3453033"/>
            <a:ext cx="2372497" cy="523220"/>
          </a:xfrm>
          <a:prstGeom prst="rect">
            <a:avLst/>
          </a:prstGeom>
          <a:noFill/>
        </p:spPr>
        <p:txBody>
          <a:bodyPr wrap="square" rtlCol="0">
            <a:spAutoFit/>
          </a:bodyPr>
          <a:lstStyle/>
          <a:p>
            <a:pPr lvl="0"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in existence</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5" name="文本框 14"/>
          <p:cNvSpPr txBox="1"/>
          <p:nvPr/>
        </p:nvSpPr>
        <p:spPr>
          <a:xfrm>
            <a:off x="6432750" y="4315902"/>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k</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now of</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1" name="文本框 10"/>
          <p:cNvSpPr txBox="1"/>
          <p:nvPr/>
        </p:nvSpPr>
        <p:spPr>
          <a:xfrm>
            <a:off x="587490" y="1539831"/>
            <a:ext cx="11261807" cy="1332673"/>
          </a:xfrm>
          <a:prstGeom prst="rect">
            <a:avLst/>
          </a:prstGeom>
          <a:noFill/>
          <a:ln w="31750" cmpd="sng">
            <a:solidFill>
              <a:schemeClr val="accent6">
                <a:lumMod val="50000"/>
              </a:schemeClr>
            </a:solidFill>
          </a:ln>
        </p:spPr>
        <p:txBody>
          <a:bodyPr wrap="square" rtlCol="0">
            <a:spAutoFit/>
          </a:bodyPr>
          <a:lstStyle/>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600" spc="-100" dirty="0">
                <a:solidFill>
                  <a:sysClr val="windowText" lastClr="000000"/>
                </a:solidFill>
                <a:latin typeface="Calibri" panose="020F0502020204030204"/>
                <a:ea typeface="宋体" panose="02010600030101010101" pitchFamily="2" charset="-122"/>
              </a:rPr>
              <a:t>	</a:t>
            </a:r>
            <a:r>
              <a:rPr lang="en-US" altLang="zh-CN" sz="2800" spc="-100" dirty="0">
                <a:solidFill>
                  <a:sysClr val="windowText" lastClr="000000"/>
                </a:solidFill>
                <a:latin typeface="Calibri" panose="020F0502020204030204"/>
                <a:ea typeface="宋体" panose="02010600030101010101" pitchFamily="2" charset="-122"/>
              </a:rPr>
              <a:t>for show	tear down	bring up	hear from	catch up	</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change … into	get stuck	in existence	know of	compete with</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ask for	under arrest	on earth	lose track of</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521843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Fill in the blanks with the correct form of the phrases listed below.</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lang="en-US" altLang="zh-CN" sz="2600" spc="-100" dirty="0">
              <a:solidFill>
                <a:sysClr val="windowText" lastClr="000000"/>
              </a:solidFill>
              <a:latin typeface="Calibri" panose="020F0502020204030204"/>
              <a:ea typeface="宋体" panose="02010600030101010101" pitchFamily="2" charset="-122"/>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r>
              <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6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1200"/>
              </a:spcBef>
              <a:spcAft>
                <a:spcPct val="0"/>
              </a:spcAft>
              <a:buClrTx/>
              <a:buSzTx/>
              <a:buFont typeface="Arial" panose="020B0604020202020204" pitchFamily="34" charset="0"/>
              <a:buNone/>
              <a:tabLst>
                <a:tab pos="1524000" algn="l"/>
                <a:tab pos="3138170" algn="l"/>
                <a:tab pos="5382895" algn="l"/>
                <a:tab pos="7175500" algn="l"/>
              </a:tabLst>
              <a:defRPr/>
            </a:pPr>
            <a:r>
              <a:rPr lang="en-US" altLang="zh-CN" dirty="0">
                <a:solidFill>
                  <a:sysClr val="windowText" lastClr="000000"/>
                </a:solidFill>
                <a:latin typeface="Calibri" panose="020F0502020204030204"/>
                <a:ea typeface="宋体" panose="02010600030101010101" pitchFamily="2" charset="-122"/>
              </a:rPr>
              <a:t>8</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Nowadays our farmers begin to __________ with the latest developments in agricultural science and technology and _____________ foreign farmers successfully.</a:t>
            </a:r>
            <a:endPar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I know a man who seems to have been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to believe that he will be the greatest scholar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He keeps collecting books, but I’ve hardly seen him read any of them. They are just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0"/>
              </a:spcBef>
              <a:spcAft>
                <a:spcPct val="0"/>
              </a:spcAft>
              <a:buClrTx/>
              <a:buSzTx/>
              <a:buFont typeface="Arial" panose="020B0604020202020204" pitchFamily="34" charset="0"/>
              <a:buNone/>
              <a:tabLst>
                <a:tab pos="1524000" algn="l"/>
                <a:tab pos="3138170" algn="l"/>
                <a:tab pos="5382895" algn="l"/>
                <a:tab pos="7175500" algn="l"/>
              </a:tabLst>
              <a:defRPr/>
            </a:pPr>
            <a:r>
              <a:rPr lang="en-US" altLang="zh-CN" dirty="0">
                <a:solidFill>
                  <a:sysClr val="windowText" lastClr="000000"/>
                </a:solidFill>
                <a:latin typeface="Calibri" panose="020F0502020204030204"/>
                <a:ea typeface="宋体" panose="02010600030101010101" pitchFamily="2" charset="-122"/>
              </a:rPr>
              <a:t>10</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 think they are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trouble building houses on the dry bed of the lake. Those houses will have to be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sooner or later.</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5627277" y="2636128"/>
            <a:ext cx="2372497" cy="523220"/>
          </a:xfrm>
          <a:prstGeom prst="rect">
            <a:avLst/>
          </a:prstGeom>
          <a:noFill/>
        </p:spPr>
        <p:txBody>
          <a:bodyPr wrap="square" rtlCol="0">
            <a:spAutoFit/>
          </a:bodyPr>
          <a:lstStyle/>
          <a:p>
            <a:pPr lvl="0"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catch up</a:t>
            </a:r>
            <a:endParaRPr lang="en-US" altLang="zh-CN" sz="2800" dirty="0">
              <a:solidFill>
                <a:srgbClr val="C00000"/>
              </a:solidFill>
              <a:latin typeface="Calibri" panose="020F0502020204030204" charset="0"/>
              <a:ea typeface="宋体" panose="02010600030101010101" pitchFamily="2" charset="-122"/>
            </a:endParaRPr>
          </a:p>
        </p:txBody>
      </p:sp>
      <p:sp>
        <p:nvSpPr>
          <p:cNvPr id="14" name="文本框 13"/>
          <p:cNvSpPr txBox="1"/>
          <p:nvPr/>
        </p:nvSpPr>
        <p:spPr>
          <a:xfrm>
            <a:off x="5881254" y="3027609"/>
            <a:ext cx="2372497" cy="523220"/>
          </a:xfrm>
          <a:prstGeom prst="rect">
            <a:avLst/>
          </a:prstGeom>
          <a:noFill/>
        </p:spPr>
        <p:txBody>
          <a:bodyPr wrap="square" rtlCol="0">
            <a:spAutoFit/>
          </a:bodyPr>
          <a:lstStyle/>
          <a:p>
            <a:pPr lvl="0"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compete with</a:t>
            </a:r>
            <a:endParaRPr lang="en-US" altLang="zh-CN" sz="2800" dirty="0">
              <a:solidFill>
                <a:srgbClr val="C00000"/>
              </a:solidFill>
              <a:latin typeface="Calibri" panose="020F0502020204030204" charset="0"/>
              <a:ea typeface="宋体" panose="02010600030101010101" pitchFamily="2" charset="-122"/>
            </a:endParaRPr>
          </a:p>
        </p:txBody>
      </p:sp>
      <p:sp>
        <p:nvSpPr>
          <p:cNvPr id="15" name="文本框 14"/>
          <p:cNvSpPr txBox="1"/>
          <p:nvPr/>
        </p:nvSpPr>
        <p:spPr>
          <a:xfrm>
            <a:off x="3780846" y="3889969"/>
            <a:ext cx="2372497" cy="523220"/>
          </a:xfrm>
          <a:prstGeom prst="rect">
            <a:avLst/>
          </a:prstGeom>
          <a:noFill/>
        </p:spPr>
        <p:txBody>
          <a:bodyPr wrap="square" rtlCol="0">
            <a:spAutoFit/>
          </a:bodyPr>
          <a:lstStyle/>
          <a:p>
            <a:pPr lvl="0" eaLnBrk="0" fontAlgn="base" hangingPunct="0">
              <a:spcBef>
                <a:spcPct val="0"/>
              </a:spcBef>
              <a:spcAft>
                <a:spcPct val="0"/>
              </a:spcAft>
            </a:pPr>
            <a:r>
              <a:rPr lang="en-US" altLang="zh-CN" sz="2800" dirty="0">
                <a:solidFill>
                  <a:srgbClr val="C00000"/>
                </a:solidFill>
                <a:latin typeface="Calibri" panose="020F0502020204030204" charset="0"/>
                <a:ea typeface="宋体" panose="02010600030101010101" pitchFamily="2" charset="-122"/>
              </a:rPr>
              <a:t>on earth</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7" name="文本框 16"/>
          <p:cNvSpPr txBox="1"/>
          <p:nvPr/>
        </p:nvSpPr>
        <p:spPr>
          <a:xfrm>
            <a:off x="6414516" y="3465471"/>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brought up</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8" name="文本框 17"/>
          <p:cNvSpPr txBox="1"/>
          <p:nvPr/>
        </p:nvSpPr>
        <p:spPr>
          <a:xfrm>
            <a:off x="6714075" y="4320436"/>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f</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or show</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9" name="文本框 18"/>
          <p:cNvSpPr txBox="1"/>
          <p:nvPr/>
        </p:nvSpPr>
        <p:spPr>
          <a:xfrm>
            <a:off x="3312463" y="4739758"/>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a</a:t>
            </a:r>
            <a:r>
              <a:rPr kumimoji="0" lang="en-US" altLang="zh-CN" sz="2800" b="0" i="0" u="none" strike="noStrike" kern="1200" cap="none" spc="0" normalizeH="0" baseline="0" noProof="0" dirty="0" err="1">
                <a:ln>
                  <a:noFill/>
                </a:ln>
                <a:solidFill>
                  <a:srgbClr val="C00000"/>
                </a:solidFill>
                <a:effectLst/>
                <a:uLnTx/>
                <a:uFillTx/>
                <a:latin typeface="Calibri" panose="020F0502020204030204" charset="0"/>
                <a:ea typeface="宋体" panose="02010600030101010101" pitchFamily="2" charset="-122"/>
                <a:cs typeface="+mn-cs"/>
              </a:rPr>
              <a:t>sking</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 for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20" name="文本框 19"/>
          <p:cNvSpPr txBox="1"/>
          <p:nvPr/>
        </p:nvSpPr>
        <p:spPr>
          <a:xfrm>
            <a:off x="5523810" y="5203028"/>
            <a:ext cx="237249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t</a:t>
            </a:r>
            <a:r>
              <a:rPr kumimoji="0" lang="en-US" altLang="zh-CN" sz="2800" b="0" i="0" u="none" strike="noStrike" kern="1200" cap="none" spc="0" normalizeH="0" baseline="0" noProof="0" dirty="0" err="1">
                <a:ln>
                  <a:noFill/>
                </a:ln>
                <a:solidFill>
                  <a:srgbClr val="C00000"/>
                </a:solidFill>
                <a:effectLst/>
                <a:uLnTx/>
                <a:uFillTx/>
                <a:latin typeface="Calibri" panose="020F0502020204030204" charset="0"/>
                <a:ea typeface="宋体" panose="02010600030101010101" pitchFamily="2" charset="-122"/>
                <a:cs typeface="+mn-cs"/>
              </a:rPr>
              <a:t>orn</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 down</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pic>
        <p:nvPicPr>
          <p:cNvPr id="16" name="图片 15">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
        <p:nvSpPr>
          <p:cNvPr id="22" name="文本框 21"/>
          <p:cNvSpPr txBox="1"/>
          <p:nvPr/>
        </p:nvSpPr>
        <p:spPr>
          <a:xfrm>
            <a:off x="522439" y="1375410"/>
            <a:ext cx="11261807" cy="1332673"/>
          </a:xfrm>
          <a:prstGeom prst="rect">
            <a:avLst/>
          </a:prstGeom>
          <a:noFill/>
          <a:ln w="31750" cmpd="sng">
            <a:solidFill>
              <a:schemeClr val="accent6">
                <a:lumMod val="50000"/>
              </a:schemeClr>
            </a:solidFill>
          </a:ln>
        </p:spPr>
        <p:txBody>
          <a:bodyPr wrap="square" rtlCol="0">
            <a:spAutoFit/>
          </a:bodyPr>
          <a:lstStyle/>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600" spc="-100" dirty="0">
                <a:solidFill>
                  <a:sysClr val="windowText" lastClr="000000"/>
                </a:solidFill>
                <a:latin typeface="Calibri" panose="020F0502020204030204"/>
                <a:ea typeface="宋体" panose="02010600030101010101" pitchFamily="2" charset="-122"/>
              </a:rPr>
              <a:t>	</a:t>
            </a:r>
            <a:r>
              <a:rPr lang="en-US" altLang="zh-CN" sz="2800" spc="-100" dirty="0">
                <a:solidFill>
                  <a:sysClr val="windowText" lastClr="000000"/>
                </a:solidFill>
                <a:latin typeface="Calibri" panose="020F0502020204030204"/>
                <a:ea typeface="宋体" panose="02010600030101010101" pitchFamily="2" charset="-122"/>
              </a:rPr>
              <a:t>for show	tear down	bring up	hear from	catch up	</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change … into	get stuck	in existence	know of	compete with</a:t>
            </a:r>
            <a:endParaRPr lang="en-US" altLang="zh-CN" sz="2800" spc="-100" dirty="0">
              <a:solidFill>
                <a:sysClr val="windowText" lastClr="000000"/>
              </a:solidFill>
              <a:latin typeface="Calibri" panose="020F0502020204030204"/>
              <a:ea typeface="宋体" panose="02010600030101010101" pitchFamily="2" charset="-122"/>
            </a:endParaRPr>
          </a:p>
          <a:p>
            <a:pPr marL="266700" lvl="0" indent="-266700" algn="just" defTabSz="873125" fontAlgn="base">
              <a:lnSpc>
                <a:spcPct val="90000"/>
              </a:lnSpc>
              <a:spcBef>
                <a:spcPts val="300"/>
              </a:spcBef>
              <a:spcAft>
                <a:spcPct val="0"/>
              </a:spcAft>
              <a:tabLst>
                <a:tab pos="2331720" algn="l"/>
                <a:tab pos="3138170" algn="l"/>
                <a:tab pos="4486275" algn="l"/>
                <a:tab pos="6816725" algn="l"/>
                <a:tab pos="8970645" algn="l"/>
              </a:tabLst>
              <a:defRPr/>
            </a:pPr>
            <a:r>
              <a:rPr lang="en-US" altLang="zh-CN" sz="2800" spc="-100" dirty="0">
                <a:solidFill>
                  <a:sysClr val="windowText" lastClr="000000"/>
                </a:solidFill>
                <a:latin typeface="Calibri" panose="020F0502020204030204"/>
                <a:ea typeface="宋体" panose="02010600030101010101" pitchFamily="2" charset="-122"/>
              </a:rPr>
              <a:t>	ask for	under arrest	on earth	lose track of</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7" grpId="0"/>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Fill in the blanks with the correct prepositions or adverbs that collocate with the verb “turn.”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1. Thanks to the reform and opening-up policy, this small seaside fishing village turned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 new commercial center in less than two decades.</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The proposal to build another dam on the river was turned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a:t>
            </a:r>
            <a:r>
              <a:rPr kumimoji="0" lang="zh-CN" altLang="en-US" sz="2800" b="0" i="0" u="none" strike="noStrike" kern="1200" cap="none" spc="-100" normalizeH="0" baseline="0" noProof="0" dirty="0">
                <a:ln>
                  <a:noFill/>
                </a:ln>
                <a:solidFill>
                  <a:schemeClr val="accent1"/>
                </a:solidFill>
                <a:effectLst/>
                <a:uLnTx/>
                <a:uFillTx/>
                <a:latin typeface="Calibri" panose="020F0502020204030204"/>
                <a:ea typeface="宋体" panose="02010600030101010101" pitchFamily="2" charset="-122"/>
                <a:cs typeface="+mn-cs"/>
              </a:rPr>
              <a:t>拒绝</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by the Provincial People’s Congress because it was harmful to the environment.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Turn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the TV. Let us all turn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上床睡觉</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now if we want to start off at early dawn tomorrow.</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He was very kind and generous. People in the neighborhood would often turn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求助于</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him whenever they badly needed help.</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73125" rtl="0" eaLnBrk="1" fontAlgn="base" latinLnBrk="0" hangingPunct="1">
              <a:lnSpc>
                <a:spcPct val="90000"/>
              </a:lnSpc>
              <a:spcBef>
                <a:spcPts val="300"/>
              </a:spcBef>
              <a:spcAft>
                <a:spcPct val="0"/>
              </a:spcAft>
              <a:buClrTx/>
              <a:buSzTx/>
              <a:buFont typeface="Arial" panose="020B0604020202020204" pitchFamily="34" charset="0"/>
              <a:buNone/>
              <a:tabLst>
                <a:tab pos="2331720" algn="l"/>
                <a:tab pos="3138170" algn="l"/>
                <a:tab pos="4486275" algn="l"/>
                <a:tab pos="6816725" algn="l"/>
                <a:tab pos="8970645" algn="l"/>
              </a:tabLst>
              <a:defRPr/>
            </a:pPr>
            <a:endParaRPr kumimoji="0" lang="en-US" altLang="zh-CN" sz="24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685800" marR="0" lvl="1"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1794487" y="2242722"/>
            <a:ext cx="785683"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into</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3" name="文本框 12"/>
          <p:cNvSpPr txBox="1"/>
          <p:nvPr/>
        </p:nvSpPr>
        <p:spPr>
          <a:xfrm>
            <a:off x="9695350" y="2735782"/>
            <a:ext cx="1103630"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down</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4" name="文本框 13"/>
          <p:cNvSpPr txBox="1"/>
          <p:nvPr/>
        </p:nvSpPr>
        <p:spPr>
          <a:xfrm>
            <a:off x="1564290" y="3677727"/>
            <a:ext cx="881195"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off</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5" name="文本框 14"/>
          <p:cNvSpPr txBox="1"/>
          <p:nvPr/>
        </p:nvSpPr>
        <p:spPr>
          <a:xfrm>
            <a:off x="5943201" y="3641435"/>
            <a:ext cx="528482"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in</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7" name="文本框 16"/>
          <p:cNvSpPr txBox="1"/>
          <p:nvPr/>
        </p:nvSpPr>
        <p:spPr>
          <a:xfrm>
            <a:off x="1557202" y="5001620"/>
            <a:ext cx="574879"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to</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509016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Fill in the blanks with the correct prepositions or adverbs that collocate with the verb “turn.”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She looked very shy, but she turned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结果是，证明是</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to be the most courageous person among us in the face of danger.</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According to this agreement we would build the power station, operate it for twenty years, and then turn it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移交</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to that country.</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Jimmy finally persuaded the wanted man to turn himself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________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自首</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to the police and from then on turn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 new leaf</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洗心革面</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in his life.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8. People’s tastes differ. The same art, music, or food may turn some people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使感兴趣</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but turn others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a:t>
            </a:r>
            <a:r>
              <a:rPr kumimoji="0" lang="zh-CN" altLang="en-US"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使厌烦</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It’s quite natural.</a:t>
            </a:r>
            <a:endParaRPr kumimoji="0" lang="en-US" altLang="zh-CN" sz="24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6172986" y="1813231"/>
            <a:ext cx="785683"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out</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3" name="文本框 12"/>
          <p:cNvSpPr txBox="1"/>
          <p:nvPr/>
        </p:nvSpPr>
        <p:spPr>
          <a:xfrm>
            <a:off x="5069003" y="3162930"/>
            <a:ext cx="1103630"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over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4" name="文本框 13"/>
          <p:cNvSpPr txBox="1"/>
          <p:nvPr/>
        </p:nvSpPr>
        <p:spPr>
          <a:xfrm>
            <a:off x="9508634" y="3637004"/>
            <a:ext cx="1362525"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i</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n/over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5" name="文本框 14"/>
          <p:cNvSpPr txBox="1"/>
          <p:nvPr/>
        </p:nvSpPr>
        <p:spPr>
          <a:xfrm>
            <a:off x="5394386" y="4066721"/>
            <a:ext cx="949437"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over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7" name="文本框 16"/>
          <p:cNvSpPr txBox="1"/>
          <p:nvPr/>
        </p:nvSpPr>
        <p:spPr>
          <a:xfrm>
            <a:off x="547255" y="4994693"/>
            <a:ext cx="1316181"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o</a:t>
            </a: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n</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8" name="文本框 17"/>
          <p:cNvSpPr txBox="1"/>
          <p:nvPr/>
        </p:nvSpPr>
        <p:spPr>
          <a:xfrm>
            <a:off x="5483225" y="4970145"/>
            <a:ext cx="860425"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2800" dirty="0">
                <a:solidFill>
                  <a:srgbClr val="C00000"/>
                </a:solidFill>
                <a:latin typeface="Calibri" panose="020F0502020204030204" charset="0"/>
                <a:ea typeface="宋体" panose="02010600030101010101" pitchFamily="2" charset="-122"/>
              </a:rPr>
              <a:t>off</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394398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Fill in the blanks with the correct prepositions or adverbs that collocate with the verb “turn.”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It’s getting late; I must be on my way. But I will turn it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in my mind</a:t>
            </a:r>
            <a:r>
              <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反复考虑</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and tell you what I think of the plan tomorrow.</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lang="en-US" altLang="zh-CN" dirty="0">
                <a:solidFill>
                  <a:sysClr val="windowText" lastClr="000000"/>
                </a:solidFill>
                <a:latin typeface="Calibri" panose="020F0502020204030204"/>
                <a:ea typeface="宋体" panose="02010600030101010101" pitchFamily="2" charset="-122"/>
              </a:rPr>
              <a:t>10</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 don’t understand why anybody should be praised for turning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生产</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more cigarettes if we agree that cigarettes are harmful to our health.</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897255" rtl="0" eaLnBrk="1" fontAlgn="base" latinLnBrk="0" hangingPunct="1">
              <a:lnSpc>
                <a:spcPct val="100000"/>
              </a:lnSpc>
              <a:spcBef>
                <a:spcPts val="600"/>
              </a:spcBef>
              <a:spcAft>
                <a:spcPct val="0"/>
              </a:spcAft>
              <a:buClrTx/>
              <a:buSzTx/>
              <a:buFont typeface="Arial" panose="020B0604020202020204" pitchFamily="34" charset="0"/>
              <a:buNone/>
              <a:tabLst>
                <a:tab pos="1524000" algn="l"/>
                <a:tab pos="3138170" algn="l"/>
                <a:tab pos="5382895" algn="l"/>
                <a:tab pos="7175500" algn="l"/>
              </a:tabLst>
              <a:defRPr/>
            </a:pPr>
            <a:r>
              <a:rPr lang="en-US" altLang="zh-CN" dirty="0">
                <a:solidFill>
                  <a:sysClr val="windowText" lastClr="000000"/>
                </a:solidFill>
                <a:latin typeface="Calibri" panose="020F0502020204030204"/>
                <a:ea typeface="宋体" panose="02010600030101010101" pitchFamily="2" charset="-122"/>
              </a:rPr>
              <a:t>11</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The speaker was extremely popular; you wouldn’t believe how many people turned </a:t>
            </a:r>
            <a:r>
              <a:rPr kumimoji="0" lang="en-US" altLang="zh-CN" sz="2800" b="0"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______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that day to listen to his talk.</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8527473" y="1799376"/>
            <a:ext cx="931480"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over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3" name="文本框 12"/>
          <p:cNvSpPr txBox="1"/>
          <p:nvPr/>
        </p:nvSpPr>
        <p:spPr>
          <a:xfrm>
            <a:off x="10119359" y="2712099"/>
            <a:ext cx="964276"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out</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4" name="文本框 13"/>
          <p:cNvSpPr txBox="1"/>
          <p:nvPr/>
        </p:nvSpPr>
        <p:spPr>
          <a:xfrm>
            <a:off x="1860925" y="4056119"/>
            <a:ext cx="757584" cy="523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up</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pic>
        <p:nvPicPr>
          <p:cNvPr id="15" name="图片 1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Study the following examples and translate the sentences, using the “wish + that-clause” pattern.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1.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我当然愿意把我的车借你用，可是我现在正要到医院探望我母亲。</a:t>
            </a:r>
            <a:endParaRPr kumimoji="0" lang="en-US" altLang="zh-CN" sz="24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I wish I could let you use my car, but I am just on my way to visit my mother in the hospital.</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我要是有你的脑袋那么聪明就好了。我其实并不聪明，但是我一直自以为是。</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I wish I had a brain like yours. I am not really a smart man, and yet I have always been so sure of myself.</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我现在开始感觉到自己上了年纪了，我真希望能再年轻二十岁。</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I am beginning to feel age telling on me. How I wish I were twenty years younger</a:t>
            </a:r>
            <a:r>
              <a:rPr kumimoji="0" lang="en-US" altLang="zh-CN" sz="1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6" end="6"/>
                                            </p:txEl>
                                          </p:spTgt>
                                        </p:tgtEl>
                                        <p:attrNameLst>
                                          <p:attrName>style.visibility</p:attrName>
                                        </p:attrNameLst>
                                      </p:cBhvr>
                                      <p:to>
                                        <p:strVal val="visible"/>
                                      </p:to>
                                    </p:set>
                                    <p:animEffect transition="in" filter="dissolve">
                                      <p:cBhvr>
                                        <p:cTn id="17"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Study the following examples and translate the sentences, using the “wish + that-clause” pattern.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我这辈子生活一团糟，我真希望当初能听你的劝告。</a:t>
            </a:r>
            <a:endParaRPr kumimoji="0" lang="en-US" altLang="zh-CN" sz="24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I have made a mess of my life. I wish I had taken your advice.</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我知道投资有风险，我当初真不该把所有鸡蛋都放在一个篮子里。</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I know that investment is always risky. I wish I had not </a:t>
            </a:r>
            <a:r>
              <a:rPr kumimoji="0" lang="en-US" altLang="zh-CN" sz="2800" b="0" i="0" u="sng"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put all my eggs in one basket</a:t>
            </a:r>
            <a:r>
              <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a:t>
            </a:r>
            <a:r>
              <a:rPr lang="en-US" altLang="zh-CN" dirty="0">
                <a:solidFill>
                  <a:sysClr val="windowText" lastClr="000000"/>
                </a:solidFill>
                <a:latin typeface="Calibri" panose="020F0502020204030204"/>
                <a:ea typeface="宋体" panose="02010600030101010101" pitchFamily="2" charset="-122"/>
              </a:rPr>
              <a:t>.</a:t>
            </a:r>
            <a:r>
              <a:rPr lang="en-US" altLang="zh-CN" sz="2400" dirty="0">
                <a:solidFill>
                  <a:sysClr val="windowText" lastClr="000000"/>
                </a:solidFill>
                <a:latin typeface="Calibri" panose="020F0502020204030204"/>
                <a:ea typeface="宋体" panose="02010600030101010101" pitchFamily="2" charset="-122"/>
              </a:rPr>
              <a:t> </a:t>
            </a:r>
            <a:r>
              <a:rPr lang="zh-CN" altLang="en-US" sz="2400" dirty="0">
                <a:solidFill>
                  <a:sysClr val="windowText" lastClr="000000"/>
                </a:solidFill>
                <a:latin typeface="Calibri" panose="020F0502020204030204"/>
                <a:ea typeface="宋体" panose="02010600030101010101" pitchFamily="2" charset="-122"/>
              </a:rPr>
              <a:t>说起后悔的事情，我真希望进大学的第一学期我没有浪费那么多时间享受自己所谓的自由。</a:t>
            </a:r>
            <a:endParaRPr lang="en-US" altLang="zh-CN" sz="2400" dirty="0">
              <a:solidFill>
                <a:sysClr val="windowText" lastClr="000000"/>
              </a:solidFill>
              <a:latin typeface="Calibri" panose="020F0502020204030204"/>
              <a:ea typeface="宋体" panose="02010600030101010101" pitchFamily="2" charset="-122"/>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Speaking of regrets, I wish I had not wasted so much time enjoying my so-called freedom in my first semester at the university</a:t>
            </a:r>
            <a:r>
              <a:rPr kumimoji="0" lang="en-US" altLang="zh-CN" sz="1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1" name="图片 10">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6" end="6"/>
                                            </p:txEl>
                                          </p:spTgt>
                                        </p:tgtEl>
                                        <p:attrNameLst>
                                          <p:attrName>style.visibility</p:attrName>
                                        </p:attrNameLst>
                                      </p:cBhvr>
                                      <p:to>
                                        <p:strVal val="visible"/>
                                      </p:to>
                                    </p:set>
                                    <p:animEffect transition="in" filter="dissolve">
                                      <p:cBhvr>
                                        <p:cTn id="17"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Study the following examples and translate the sentences, using the “wish + that-clause” pattern.</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回想起来，我们真希望当初没有把那些森林都改成农田。</a:t>
            </a:r>
            <a:endParaRPr kumimoji="0" lang="en-US" altLang="zh-CN" sz="24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Looking back, how we wish that we had not turned the forests into farmland.</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8.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作为一个历史学家，我真应该对我所学的历史教训都认真对待。</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As a historian, I wish I had taken historical lessons I learned more seriously. </a:t>
            </a:r>
            <a:endPar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915670" marR="0" lvl="2" indent="0" algn="l" defTabSz="914400" rtl="0" eaLnBrk="1" fontAlgn="base" latinLnBrk="0" hangingPunct="1">
              <a:lnSpc>
                <a:spcPct val="90000"/>
              </a:lnSpc>
              <a:spcBef>
                <a:spcPts val="500"/>
              </a:spcBef>
              <a:spcAft>
                <a:spcPct val="0"/>
              </a:spcAft>
              <a:buClrTx/>
              <a:buSzTx/>
              <a:buNone/>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1" name="图片 10" descr="2"/>
          <p:cNvPicPr>
            <a:picLocks noChangeAspect="1"/>
          </p:cNvPicPr>
          <p:nvPr/>
        </p:nvPicPr>
        <p:blipFill>
          <a:blip r:embed="rId4"/>
          <a:stretch>
            <a:fillRect/>
          </a:stretch>
        </p:blipFill>
        <p:spPr>
          <a:xfrm>
            <a:off x="10854023" y="6007035"/>
            <a:ext cx="1103630" cy="554990"/>
          </a:xfrm>
          <a:prstGeom prst="rect">
            <a:avLst/>
          </a:prstGeom>
        </p:spPr>
      </p:pic>
      <p:pic>
        <p:nvPicPr>
          <p:cNvPr id="12" name="图片 11">
            <a:hlinkClick r:id="rId2"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Translate the following sentences, using the words and expressions in the brackets.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1.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事业成功冲昏了他的头脑。不管合伙人如何劝他谦虚一点，他都充耳不闻。</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(turn one’s head; turn a deaf ear to)</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Career</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success turned his head. No matter how (hard) his partners tried to advise him to be modest, he turned a deaf ear to their advice.</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随着故事情节的展开，你逐渐意识到自己最初的猜想是多么错误。</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(unfold)</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As the story/plot unfolds, you gradually realize how wrong your initial assumptions (original guesses) were.</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69875" y="881380"/>
            <a:ext cx="11684000" cy="410591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Translate the following sentences, using the words and expressions in the brackets.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多年来我们学校培养了很多优秀的学生，大家都在各自的岗位上做着贡献。</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(position)</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For years, our school has produced (turned out/graduated) many good students, all of whom have been making their contributions in their various positions</a:t>
            </a:r>
            <a:r>
              <a:rPr lang="en-US" altLang="zh-CN" spc="-60" dirty="0">
                <a:solidFill>
                  <a:srgbClr val="C00000"/>
                </a:solidFill>
                <a:latin typeface="Calibri" panose="020F0502020204030204"/>
                <a:ea typeface="宋体" panose="02010600030101010101" pitchFamily="2" charset="-122"/>
              </a:rPr>
              <a:t>.</a:t>
            </a:r>
            <a:endParaRPr kumimoji="0" lang="en-US" altLang="zh-CN"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我原来以为这个话题会非常乏味，可是这位教授的演讲让我着了迷</a:t>
            </a:r>
            <a:r>
              <a:rPr kumimoji="0" lang="zh-CN" altLang="en-US" sz="20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(turn sb. on)</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I thought the subject would be boring, but the professor’s lecture really turned me on</a:t>
            </a:r>
            <a:r>
              <a:rPr kumimoji="0" lang="en-US" altLang="zh-CN"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455485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Translate the following sentences, using the words and expressions in the brackets.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他相信这件事值得一试，但是他知道不管我们做什么都必须有人民的支持。</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(worth)</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He believed that it was worth trying, but he knew that whatever we do, we must have people’s support</a:t>
            </a:r>
            <a:r>
              <a:rPr kumimoji="0" lang="en-US" altLang="zh-CN"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很多人决定拆除被地震毁掉的老房子，建造新的。但有些人不然，他们宁可按原样翻新修补，以便留个回忆</a:t>
            </a:r>
            <a:r>
              <a:rPr kumimoji="0" lang="zh-CN" altLang="en-US" sz="20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(tear)</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Many people decided to tear down their old houses destroyed by the earthquake and build new ones, but some people didn’t. Instead, they preferred to renew them for memory’s sake.</a:t>
            </a:r>
            <a:endParaRPr kumimoji="0" lang="en-US" altLang="zh-CN" sz="1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1" name="图片 10">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4000" cy="449135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Translate the following sentences, using the words and expressions in the brackets.</a:t>
            </a:r>
            <a:endPar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我给你看怎样用手机追踪你的货物。</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(keep track of)</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Let me show you how you can keep track of your shipment with your smartphone.</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8. </a:t>
            </a:r>
            <a:r>
              <a:rPr kumimoji="0" lang="zh-CN" altLang="en-US" sz="24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水灾过去以后，我们首先要清理垃圾，修通道路。当然，我们也要让生还者有地方可住，有东西可吃</a:t>
            </a:r>
            <a:r>
              <a:rPr kumimoji="0" lang="zh-CN" altLang="en-US" sz="20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(have </a:t>
            </a:r>
            <a:r>
              <a:rPr kumimoji="0" lang="en-US" altLang="zh-CN" sz="2800" b="0" i="0" u="none" strike="noStrike" kern="1200" cap="none" spc="0" normalizeH="0" baseline="0" noProof="0" dirty="0" err="1">
                <a:ln>
                  <a:noFill/>
                </a:ln>
                <a:solidFill>
                  <a:srgbClr val="CC6600"/>
                </a:solidFill>
                <a:effectLst/>
                <a:uLnTx/>
                <a:uFillTx/>
                <a:latin typeface="Calibri" panose="020F0502020204030204"/>
                <a:ea typeface="宋体" panose="02010600030101010101" pitchFamily="2" charset="-122"/>
                <a:cs typeface="+mn-cs"/>
              </a:rPr>
              <a:t>sth</a:t>
            </a:r>
            <a:r>
              <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rPr>
              <a:t>. done)</a:t>
            </a:r>
            <a:endParaRPr kumimoji="0" lang="en-US" altLang="zh-CN" sz="2800" b="0" i="0" u="none" strike="noStrike" kern="1200" cap="none" spc="0" normalizeH="0" baseline="0" noProof="0" dirty="0">
              <a:ln>
                <a:noFill/>
              </a:ln>
              <a:solidFill>
                <a:srgbClr val="CC66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rPr>
              <a:t>When the flood is gone, the first thing we must do is to have the garbage removed and the road repaired. Of course, we must also have the survivors properly sheltered and fed.</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2" name="图片 11">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lang="en-US" altLang="zh-CN" b="1" spc="-100" dirty="0">
                <a:solidFill>
                  <a:sysClr val="windowText" lastClr="000000"/>
                </a:solidFill>
                <a:latin typeface="Calibri" panose="020F0502020204030204"/>
                <a:ea typeface="宋体" panose="02010600030101010101" pitchFamily="2" charset="-122"/>
              </a:rPr>
              <a:t>8</a:t>
            </a: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1" i="0" u="none" strike="noStrike" kern="1200" cap="none" normalizeH="0" noProof="0" dirty="0">
                <a:ln>
                  <a:noFill/>
                </a:ln>
                <a:solidFill>
                  <a:sysClr val="windowText" lastClr="000000"/>
                </a:solidFill>
                <a:effectLst/>
                <a:uLnTx/>
                <a:uFillTx/>
                <a:latin typeface="Calibri" panose="020F0502020204030204"/>
                <a:ea typeface="宋体" panose="02010600030101010101" pitchFamily="2" charset="-122"/>
                <a:cs typeface="+mn-cs"/>
              </a:rPr>
              <a:t>Fill in each blank of the passage with ONE suitable word.</a:t>
            </a:r>
            <a:endParaRPr kumimoji="0" lang="en-US" altLang="zh-CN" sz="2800" b="1" i="0" u="none" strike="noStrike" kern="1200" cap="none" normalizeH="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The tradition of dedicating a day in (1) ________ of friends began in the United States in 1935. The U.S. Congress, that year, declared the first Sunday of August to be known as National Friendship Day. Although it began as a small event, (2) ________ then,</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celebration of the occasion has become an annual affair. Gradually, however, Friendship Day has become a(n) (3) __________________ festival, which is </a:t>
            </a:r>
            <a:r>
              <a:rPr kumimoji="0" lang="en-US" altLang="zh-CN"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commemorated</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in other countries as well, and more and more people come to appreciate the (4) ________________ of honoring friendship—one of the most important human (5) ________________.</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lang="en-US" altLang="zh-CN" dirty="0">
                <a:solidFill>
                  <a:sysClr val="windowText" lastClr="000000"/>
                </a:solidFill>
                <a:latin typeface="Calibri" panose="020F0502020204030204"/>
                <a:ea typeface="宋体" panose="02010600030101010101" pitchFamily="2" charset="-122"/>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7046624" y="1324237"/>
            <a:ext cx="1677431" cy="523220"/>
          </a:xfrm>
          <a:prstGeom prst="rect">
            <a:avLst/>
          </a:prstGeom>
          <a:noFill/>
        </p:spPr>
        <p:txBody>
          <a:bodyPr wrap="square" rtlCol="0">
            <a:spAutoFit/>
          </a:bodyPr>
          <a:lstStyle>
            <a:defPPr>
              <a:defRPr lang="zh-CN"/>
            </a:defPPr>
            <a:lvl1pPr>
              <a:defRPr sz="2800">
                <a:solidFill>
                  <a:srgbClr val="C00000"/>
                </a:solidFill>
              </a:defRPr>
            </a:lvl1pPr>
          </a:lstStyle>
          <a:p>
            <a:pPr eaLnBrk="0" fontAlgn="base" hangingPunct="0">
              <a:spcBef>
                <a:spcPct val="0"/>
              </a:spcBef>
              <a:spcAft>
                <a:spcPct val="0"/>
              </a:spcAft>
            </a:pPr>
            <a:r>
              <a:rPr lang="en-US" altLang="zh-CN" dirty="0" err="1">
                <a:latin typeface="Calibri" panose="020F0502020204030204" charset="0"/>
                <a:ea typeface="宋体" panose="02010600030101010101" pitchFamily="2" charset="-122"/>
              </a:rPr>
              <a:t>hornor</a:t>
            </a:r>
            <a:endParaRPr lang="zh-CN" altLang="en-US" dirty="0">
              <a:latin typeface="Calibri" panose="020F0502020204030204" charset="0"/>
              <a:ea typeface="宋体" panose="02010600030101010101" pitchFamily="2" charset="-122"/>
            </a:endParaRPr>
          </a:p>
        </p:txBody>
      </p:sp>
      <p:sp>
        <p:nvSpPr>
          <p:cNvPr id="13" name="文本框 12"/>
          <p:cNvSpPr txBox="1"/>
          <p:nvPr/>
        </p:nvSpPr>
        <p:spPr>
          <a:xfrm>
            <a:off x="2017424" y="2605393"/>
            <a:ext cx="1677431" cy="523220"/>
          </a:xfrm>
          <a:prstGeom prst="rect">
            <a:avLst/>
          </a:prstGeom>
          <a:noFill/>
        </p:spPr>
        <p:txBody>
          <a:bodyPr wrap="square" rtlCol="0">
            <a:spAutoFit/>
          </a:bodyPr>
          <a:lstStyle>
            <a:defPPr>
              <a:defRPr lang="zh-CN"/>
            </a:defPPr>
            <a:lvl1pPr>
              <a:defRPr sz="2800">
                <a:solidFill>
                  <a:srgbClr val="C00000"/>
                </a:solidFill>
              </a:defRPr>
            </a:lvl1pPr>
          </a:lstStyle>
          <a:p>
            <a:pPr eaLnBrk="0" fontAlgn="base" hangingPunct="0">
              <a:spcBef>
                <a:spcPct val="0"/>
              </a:spcBef>
              <a:spcAft>
                <a:spcPct val="0"/>
              </a:spcAft>
            </a:pPr>
            <a:r>
              <a:rPr lang="en-US" altLang="zh-CN" dirty="0">
                <a:latin typeface="Calibri" panose="020F0502020204030204" charset="0"/>
                <a:ea typeface="宋体" panose="02010600030101010101" pitchFamily="2" charset="-122"/>
              </a:rPr>
              <a:t>since</a:t>
            </a:r>
            <a:endParaRPr lang="zh-CN" altLang="en-US" dirty="0">
              <a:latin typeface="Calibri" panose="020F0502020204030204" charset="0"/>
              <a:ea typeface="宋体" panose="02010600030101010101" pitchFamily="2" charset="-122"/>
            </a:endParaRPr>
          </a:p>
        </p:txBody>
      </p:sp>
      <p:sp>
        <p:nvSpPr>
          <p:cNvPr id="14" name="文本框 13"/>
          <p:cNvSpPr txBox="1"/>
          <p:nvPr/>
        </p:nvSpPr>
        <p:spPr>
          <a:xfrm>
            <a:off x="5922414" y="3469042"/>
            <a:ext cx="3401291" cy="523220"/>
          </a:xfrm>
          <a:prstGeom prst="rect">
            <a:avLst/>
          </a:prstGeom>
          <a:noFill/>
        </p:spPr>
        <p:txBody>
          <a:bodyPr wrap="square" rtlCol="0">
            <a:spAutoFit/>
          </a:bodyPr>
          <a:lstStyle>
            <a:defPPr>
              <a:defRPr lang="zh-CN"/>
            </a:defPPr>
            <a:lvl1pPr>
              <a:defRPr sz="2800">
                <a:solidFill>
                  <a:srgbClr val="C00000"/>
                </a:solidFill>
              </a:defRPr>
            </a:lvl1pPr>
          </a:lstStyle>
          <a:p>
            <a:pPr eaLnBrk="0" fontAlgn="base" hangingPunct="0">
              <a:spcBef>
                <a:spcPct val="0"/>
              </a:spcBef>
              <a:spcAft>
                <a:spcPct val="0"/>
              </a:spcAft>
            </a:pPr>
            <a:r>
              <a:rPr lang="en-US" altLang="zh-CN" dirty="0">
                <a:latin typeface="Calibri" panose="020F0502020204030204" charset="0"/>
                <a:ea typeface="宋体" panose="02010600030101010101" pitchFamily="2" charset="-122"/>
              </a:rPr>
              <a:t>popular/international</a:t>
            </a:r>
            <a:endParaRPr lang="zh-CN" altLang="en-US" dirty="0">
              <a:latin typeface="Calibri" panose="020F0502020204030204" charset="0"/>
              <a:ea typeface="宋体" panose="02010600030101010101" pitchFamily="2" charset="-122"/>
            </a:endParaRPr>
          </a:p>
        </p:txBody>
      </p:sp>
      <p:sp>
        <p:nvSpPr>
          <p:cNvPr id="15" name="文本框 14"/>
          <p:cNvSpPr txBox="1"/>
          <p:nvPr/>
        </p:nvSpPr>
        <p:spPr>
          <a:xfrm>
            <a:off x="3385024" y="4336333"/>
            <a:ext cx="2267631" cy="523220"/>
          </a:xfrm>
          <a:prstGeom prst="rect">
            <a:avLst/>
          </a:prstGeom>
          <a:noFill/>
        </p:spPr>
        <p:txBody>
          <a:bodyPr wrap="square" rtlCol="0">
            <a:spAutoFit/>
          </a:bodyPr>
          <a:lstStyle>
            <a:defPPr>
              <a:defRPr lang="zh-CN"/>
            </a:defPPr>
            <a:lvl1pPr>
              <a:defRPr sz="2800">
                <a:solidFill>
                  <a:srgbClr val="C00000"/>
                </a:solidFill>
              </a:defRPr>
            </a:lvl1pPr>
          </a:lstStyle>
          <a:p>
            <a:pPr eaLnBrk="0" fontAlgn="base" hangingPunct="0">
              <a:spcBef>
                <a:spcPct val="0"/>
              </a:spcBef>
              <a:spcAft>
                <a:spcPct val="0"/>
              </a:spcAft>
            </a:pPr>
            <a:r>
              <a:rPr lang="en-US" altLang="zh-CN" dirty="0">
                <a:latin typeface="Calibri" panose="020F0502020204030204" charset="0"/>
                <a:ea typeface="宋体" panose="02010600030101010101" pitchFamily="2" charset="-122"/>
              </a:rPr>
              <a:t>idea/practice</a:t>
            </a:r>
            <a:endParaRPr lang="zh-CN" altLang="en-US" dirty="0">
              <a:latin typeface="Calibri" panose="020F0502020204030204" charset="0"/>
              <a:ea typeface="宋体" panose="02010600030101010101" pitchFamily="2" charset="-122"/>
            </a:endParaRPr>
          </a:p>
        </p:txBody>
      </p:sp>
      <p:sp>
        <p:nvSpPr>
          <p:cNvPr id="16" name="文本框 15"/>
          <p:cNvSpPr txBox="1"/>
          <p:nvPr/>
        </p:nvSpPr>
        <p:spPr>
          <a:xfrm>
            <a:off x="3773919" y="4753059"/>
            <a:ext cx="2267631" cy="523220"/>
          </a:xfrm>
          <a:prstGeom prst="rect">
            <a:avLst/>
          </a:prstGeom>
          <a:noFill/>
        </p:spPr>
        <p:txBody>
          <a:bodyPr wrap="square" rtlCol="0">
            <a:spAutoFit/>
          </a:bodyPr>
          <a:lstStyle>
            <a:defPPr>
              <a:defRPr lang="zh-CN"/>
            </a:defPPr>
            <a:lvl1pPr>
              <a:defRPr sz="2800">
                <a:solidFill>
                  <a:srgbClr val="C00000"/>
                </a:solidFill>
              </a:defRPr>
            </a:lvl1pPr>
          </a:lstStyle>
          <a:p>
            <a:pPr eaLnBrk="0" fontAlgn="base" hangingPunct="0">
              <a:spcBef>
                <a:spcPct val="0"/>
              </a:spcBef>
              <a:spcAft>
                <a:spcPct val="0"/>
              </a:spcAft>
            </a:pPr>
            <a:r>
              <a:rPr lang="en-US" altLang="zh-CN" dirty="0">
                <a:latin typeface="Calibri" panose="020F0502020204030204" charset="0"/>
                <a:ea typeface="宋体" panose="02010600030101010101" pitchFamily="2" charset="-122"/>
              </a:rPr>
              <a:t>relationships</a:t>
            </a:r>
            <a:endParaRPr lang="zh-CN" altLang="en-US" dirty="0">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8.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Fill in each blank of the passage with ONE suitable word.</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The occasion is celebrated in various (6) ________. Exchanging gifts, flowers, </a:t>
            </a:r>
            <a:r>
              <a:rPr kumimoji="0" lang="en-US" altLang="zh-CN"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friendship bands</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and greeting cards has become a(n) (7) ________ of Friendship Day. Partying all through the night is one of the recent developments, largely popular (8) ___________ young people.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Now, with the development of information technology, exchanging wishes and greetings is no (9) ________ just limited to sending cards, letters, or emails. Some brand-new methods of conveying wishes on the occasion are much (10) ________ by </a:t>
            </a:r>
            <a:r>
              <a:rPr kumimoji="0" lang="en-US" altLang="zh-CN" sz="2800" b="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netizens</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users of the Internet, including e-cards, instant messages, and video chat.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sp>
        <p:nvSpPr>
          <p:cNvPr id="12" name="文本框 11"/>
          <p:cNvSpPr txBox="1"/>
          <p:nvPr/>
        </p:nvSpPr>
        <p:spPr>
          <a:xfrm>
            <a:off x="7840239" y="1291360"/>
            <a:ext cx="1677431" cy="523220"/>
          </a:xfrm>
          <a:prstGeom prst="rect">
            <a:avLst/>
          </a:prstGeom>
          <a:noFill/>
        </p:spPr>
        <p:txBody>
          <a:bodyPr wrap="square" rtlCol="0">
            <a:spAutoFit/>
          </a:bodyPr>
          <a:lstStyle>
            <a:defPPr>
              <a:defRPr lang="zh-CN"/>
            </a:defPPr>
            <a:lvl1pPr>
              <a:defRPr sz="2800">
                <a:solidFill>
                  <a:srgbClr val="C00000"/>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ways</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3" name="文本框 12"/>
          <p:cNvSpPr txBox="1"/>
          <p:nvPr/>
        </p:nvSpPr>
        <p:spPr>
          <a:xfrm>
            <a:off x="10021116" y="1760592"/>
            <a:ext cx="1677431" cy="523220"/>
          </a:xfrm>
          <a:prstGeom prst="rect">
            <a:avLst/>
          </a:prstGeom>
          <a:noFill/>
        </p:spPr>
        <p:txBody>
          <a:bodyPr wrap="square" rtlCol="0">
            <a:spAutoFit/>
          </a:bodyPr>
          <a:lstStyle>
            <a:defPPr>
              <a:defRPr lang="zh-CN"/>
            </a:defPPr>
            <a:lvl1pPr>
              <a:defRPr sz="2800">
                <a:solidFill>
                  <a:srgbClr val="C00000"/>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tradition</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4" name="文本框 13"/>
          <p:cNvSpPr txBox="1"/>
          <p:nvPr/>
        </p:nvSpPr>
        <p:spPr>
          <a:xfrm>
            <a:off x="5272624" y="2588721"/>
            <a:ext cx="2167268" cy="523220"/>
          </a:xfrm>
          <a:prstGeom prst="rect">
            <a:avLst/>
          </a:prstGeom>
          <a:noFill/>
        </p:spPr>
        <p:txBody>
          <a:bodyPr wrap="square" rtlCol="0">
            <a:spAutoFit/>
          </a:bodyPr>
          <a:lstStyle>
            <a:defPPr>
              <a:defRPr lang="zh-CN"/>
            </a:defPPr>
            <a:lvl1pPr>
              <a:defRPr sz="2800">
                <a:solidFill>
                  <a:srgbClr val="C00000"/>
                </a:solidFill>
              </a:defRPr>
            </a:lvl1pPr>
          </a:lstStyle>
          <a:p>
            <a:pPr lvl="0" eaLnBrk="0" fontAlgn="base" hangingPunct="0">
              <a:spcBef>
                <a:spcPct val="0"/>
              </a:spcBef>
              <a:spcAft>
                <a:spcPct val="0"/>
              </a:spcAft>
            </a:pPr>
            <a:r>
              <a:rPr lang="en-US" altLang="zh-CN" dirty="0">
                <a:latin typeface="Calibri" panose="020F0502020204030204" charset="0"/>
                <a:ea typeface="宋体" panose="02010600030101010101" pitchFamily="2" charset="-122"/>
              </a:rPr>
              <a:t>among/with</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5" name="文本框 14"/>
          <p:cNvSpPr txBox="1"/>
          <p:nvPr/>
        </p:nvSpPr>
        <p:spPr>
          <a:xfrm>
            <a:off x="3704647" y="3481694"/>
            <a:ext cx="1389776" cy="523220"/>
          </a:xfrm>
          <a:prstGeom prst="rect">
            <a:avLst/>
          </a:prstGeom>
          <a:noFill/>
        </p:spPr>
        <p:txBody>
          <a:bodyPr wrap="square" rtlCol="0">
            <a:spAutoFit/>
          </a:bodyPr>
          <a:lstStyle>
            <a:defPPr>
              <a:defRPr lang="zh-CN"/>
            </a:defPPr>
            <a:lvl1pPr>
              <a:defRPr sz="2800">
                <a:solidFill>
                  <a:srgbClr val="C00000"/>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longer</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sp>
        <p:nvSpPr>
          <p:cNvPr id="16" name="文本框 15"/>
          <p:cNvSpPr txBox="1"/>
          <p:nvPr/>
        </p:nvSpPr>
        <p:spPr>
          <a:xfrm>
            <a:off x="340155" y="4337421"/>
            <a:ext cx="1389776" cy="523220"/>
          </a:xfrm>
          <a:prstGeom prst="rect">
            <a:avLst/>
          </a:prstGeom>
          <a:noFill/>
        </p:spPr>
        <p:txBody>
          <a:bodyPr wrap="square" rtlCol="0">
            <a:spAutoFit/>
          </a:bodyPr>
          <a:lstStyle>
            <a:defPPr>
              <a:defRPr lang="zh-CN"/>
            </a:defPPr>
            <a:lvl1pPr>
              <a:defRPr sz="2800">
                <a:solidFill>
                  <a:srgbClr val="C00000"/>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rPr>
              <a:t>favored</a:t>
            </a:r>
            <a:endParaRPr kumimoji="0" lang="zh-CN" altLang="en-US" sz="2800" b="0" i="0" u="none" strike="noStrike" kern="1200" cap="none" spc="0" normalizeH="0" baseline="0" noProof="0" dirty="0">
              <a:ln>
                <a:noFill/>
              </a:ln>
              <a:solidFill>
                <a:srgbClr val="C00000"/>
              </a:solidFill>
              <a:effectLst/>
              <a:uLnTx/>
              <a:uFillTx/>
              <a:latin typeface="Calibri" panose="020F0502020204030204" charset="0"/>
              <a:ea typeface="宋体" panose="02010600030101010101" pitchFamily="2" charset="-122"/>
              <a:cs typeface="+mn-cs"/>
            </a:endParaRPr>
          </a:p>
        </p:txBody>
      </p:sp>
      <p:pic>
        <p:nvPicPr>
          <p:cNvPr id="18" name="图片 17" descr="2"/>
          <p:cNvPicPr>
            <a:picLocks noChangeAspect="1"/>
          </p:cNvPicPr>
          <p:nvPr/>
        </p:nvPicPr>
        <p:blipFill>
          <a:blip r:embed="rId6"/>
          <a:stretch>
            <a:fillRect/>
          </a:stretch>
        </p:blipFill>
        <p:spPr>
          <a:xfrm>
            <a:off x="10854023" y="6007035"/>
            <a:ext cx="1103630" cy="554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Find and correct the TWO mistakes in each exercise.</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1. It was getting late, and I was just about to close the bar when a fat man stumbled through the door. The snow outside by now was thickening, and the newly arrival was shivering in cold.</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It was getting late, and I was just about to close the bar when a fat man stumbled through the door. The snow outside by now was thickening, and the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new arrival/newly arrived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man was shivering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with</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cold.</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7" name="图片 16" descr="1"/>
          <p:cNvPicPr>
            <a:picLocks noChangeAspect="1"/>
          </p:cNvPicPr>
          <p:nvPr/>
        </p:nvPicPr>
        <p:blipFill>
          <a:blip r:embed="rId5"/>
          <a:stretch>
            <a:fillRect/>
          </a:stretch>
        </p:blipFill>
        <p:spPr>
          <a:xfrm>
            <a:off x="10850378" y="6007442"/>
            <a:ext cx="1103630" cy="554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2" name="图片 3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44" name="图片 43">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Find and correct the TWO mistakes in each exercise.</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2. The man was now worth of more than a million, but he decided not to leave all the money to his son, which was sensitive because if he did, it would probably make his son idle and useless, if not wanted by the police.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The man was now worth </a:t>
            </a:r>
            <a:r>
              <a:rPr kumimoji="0" lang="en-US" altLang="zh-CN" sz="2800" b="1" i="0" u="sng" strike="sngStrike" kern="1200" cap="none" spc="0" normalizeH="0" noProof="0" dirty="0">
                <a:ln>
                  <a:noFill/>
                </a:ln>
                <a:solidFill>
                  <a:srgbClr val="C00000"/>
                </a:solidFill>
                <a:effectLst/>
                <a:uLnTx/>
                <a:uFillTx/>
                <a:latin typeface="Calibri" panose="020F0502020204030204"/>
                <a:ea typeface="宋体" panose="02010600030101010101" pitchFamily="2" charset="-122"/>
                <a:cs typeface="+mn-cs"/>
              </a:rPr>
              <a:t>of</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more than a million, but he decided not to leave all the money to his son, which was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sensible</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because if he did, it would probably make his son idle and useless, if not wanted by the police.</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3. There are many differences among the leaders naturally, but they knew they must hang together if they did not want to be hung separately by King George.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There </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were</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 many differences among the leaders naturally, but they knew </a:t>
            </a:r>
            <a:r>
              <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they must hang together if they did not want to be </a:t>
            </a:r>
            <a:r>
              <a:rPr kumimoji="0" lang="en-US" altLang="zh-CN" sz="2800" b="1" i="0" u="sng"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hanged</a:t>
            </a:r>
            <a:r>
              <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rPr>
              <a:t> separately by King George.</a:t>
            </a:r>
            <a:endParaRPr kumimoji="0" lang="en-US" altLang="zh-CN" sz="2800" b="0" i="0" u="none" strike="noStrike" kern="1200" cap="none" spc="-100" normalizeH="0" noProof="0" dirty="0">
              <a:ln>
                <a:noFill/>
              </a:ln>
              <a:solidFill>
                <a:srgbClr val="C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7" name="图片 16" descr="1"/>
          <p:cNvPicPr>
            <a:picLocks noChangeAspect="1"/>
          </p:cNvPicPr>
          <p:nvPr/>
        </p:nvPicPr>
        <p:blipFill>
          <a:blip r:embed="rId6"/>
          <a:stretch>
            <a:fillRect/>
          </a:stretch>
        </p:blipFill>
        <p:spPr>
          <a:xfrm>
            <a:off x="10850378" y="6007442"/>
            <a:ext cx="1103630" cy="554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Find and correct the TWO mistakes in each exercise.</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4. His family were all terribly worried about him, for they haven’t heard of him after the plane crash was reported by the press.</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His family were all terribly worried about him, for they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hadn’t</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heard of him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since</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the plane crash was reported by the press.</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5. There was a guard in plain clothes on board the ship, casting his watchful eyes around time and then, for any sign of trouble.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There was a guard in plain clothes on board the ship, casting his watchful </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eye</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 around </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time and again</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from time to time</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now and then</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now and again</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every now and then</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every now and again</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 for any sign of trouble.</a:t>
            </a:r>
            <a:endPar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7" name="图片 16" descr="1"/>
          <p:cNvPicPr>
            <a:picLocks noChangeAspect="1"/>
          </p:cNvPicPr>
          <p:nvPr/>
        </p:nvPicPr>
        <p:blipFill>
          <a:blip r:embed="rId4"/>
          <a:stretch>
            <a:fillRect/>
          </a:stretch>
        </p:blipFill>
        <p:spPr>
          <a:xfrm>
            <a:off x="10850378" y="6007442"/>
            <a:ext cx="1103630" cy="554990"/>
          </a:xfrm>
          <a:prstGeom prst="rect">
            <a:avLst/>
          </a:prstGeom>
        </p:spPr>
      </p:pic>
      <p:pic>
        <p:nvPicPr>
          <p:cNvPr id="11" name="图片 10">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marR="0" lvl="0" indent="-266700" algn="just" defTabSz="914400" rtl="0" eaLnBrk="1" fontAlgn="base" latinLnBrk="0" hangingPunct="1">
              <a:lnSpc>
                <a:spcPct val="100000"/>
              </a:lnSpc>
              <a:spcBef>
                <a:spcPts val="300"/>
              </a:spcBef>
              <a:spcAft>
                <a:spcPct val="0"/>
              </a:spcAft>
              <a:buClrTx/>
              <a:buSzTx/>
              <a:buFont typeface="Arial" panose="020B0604020202020204" pitchFamily="34" charset="0"/>
              <a:buNone/>
              <a:defRPr/>
            </a:pPr>
            <a:r>
              <a:rPr kumimoji="0" lang="en-US" altLang="zh-CN" sz="2800" b="1" i="0" u="none" strike="noStrike" kern="1200" cap="none" spc="-10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9.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Find and correct the TWO mistakes in each exercise.</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6. That day my father suddenly had a sharp pain in the chest. He was a strong-built man and had never been known to have any health problem. The doctor asked us to make him lay down in bed first before he came.</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That day my father suddenly had a sharp pain in the chest. He was a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strongly</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-built man and had never been known to have any health problem. The doctor asked us to make him </a:t>
            </a:r>
            <a:r>
              <a:rPr kumimoji="0" lang="en-US" altLang="zh-CN" sz="2800" b="1" i="0" u="sng"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lie</a:t>
            </a:r>
            <a:r>
              <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rPr>
              <a:t> down in bed first before he came.</a:t>
            </a:r>
            <a:endParaRPr kumimoji="0" lang="en-US" altLang="zh-CN" sz="2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7. How I hope that the beautiful city wall of Beijing has been preserved. It is a pity we only see its value in hindsight.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base" latinLnBrk="0" hangingPunct="1">
              <a:lnSpc>
                <a:spcPct val="90000"/>
              </a:lnSpc>
              <a:spcBef>
                <a:spcPts val="3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How I </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wish</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 that the beautiful city wall of Beijing </a:t>
            </a:r>
            <a:r>
              <a:rPr kumimoji="0" lang="en-US" altLang="zh-CN" sz="2800" b="1" i="0" u="sng"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had</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 been preserved. It is a pity we only see its value </a:t>
            </a:r>
            <a:r>
              <a:rPr kumimoji="0" lang="en-US" altLang="zh-CN" sz="2800" b="0" i="0" u="none" strike="noStrike" kern="1200" cap="none" spc="-100" normalizeH="0" baseline="0" noProof="0">
                <a:ln>
                  <a:noFill/>
                </a:ln>
                <a:solidFill>
                  <a:srgbClr val="C00000"/>
                </a:solidFill>
                <a:effectLst/>
                <a:uLnTx/>
                <a:uFillTx/>
                <a:latin typeface="Calibri" panose="020F0502020204030204"/>
                <a:ea typeface="宋体" panose="02010600030101010101" pitchFamily="2" charset="-122"/>
                <a:cs typeface="+mn-cs"/>
              </a:rPr>
              <a:t>in hindsight</a:t>
            </a:r>
            <a:r>
              <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rPr>
              <a:t>.</a:t>
            </a:r>
            <a:endParaRPr kumimoji="0" lang="en-US" altLang="zh-CN" sz="2800" b="0" i="0" u="none" strike="noStrike" kern="1200" cap="none" spc="-10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0" marR="0" lvl="0" indent="0" algn="just" defTabSz="914400" rtl="0" eaLnBrk="1" fontAlgn="base" latinLnBrk="0" hangingPunct="1">
              <a:lnSpc>
                <a:spcPct val="100000"/>
              </a:lnSpc>
              <a:spcBef>
                <a:spcPts val="300"/>
              </a:spcBef>
              <a:spcAft>
                <a:spcPct val="0"/>
              </a:spcAft>
              <a:buClrTx/>
              <a:buSzTx/>
              <a:buFont typeface="Arial" panose="020B0604020202020204" pitchFamily="34" charset="0"/>
              <a:buNone/>
              <a:tabLst>
                <a:tab pos="4303395" algn="l"/>
              </a:tabLst>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266700" marR="0" lvl="0" indent="-266700" algn="just" defTabSz="914400" rtl="0" eaLnBrk="1" fontAlgn="auto" latinLnBrk="0" hangingPunct="1">
              <a:lnSpc>
                <a:spcPct val="100000"/>
              </a:lnSpc>
              <a:spcBef>
                <a:spcPts val="300"/>
              </a:spcBef>
              <a:spcAft>
                <a:spcPts val="0"/>
              </a:spcAft>
              <a:buClrTx/>
              <a:buSzTx/>
              <a:buFontTx/>
              <a:buNone/>
              <a:tabLst>
                <a:tab pos="4303395" algn="l"/>
              </a:tabLst>
              <a:defRPr/>
            </a:pPr>
            <a:endParaRPr kumimoji="0" lang="en-US" altLang="zh-CN" sz="2800" b="0" i="0" u="none" strike="noStrike" kern="1200" cap="none" spc="-60" normalizeH="0" baseline="0" noProof="0" dirty="0">
              <a:ln>
                <a:noFill/>
              </a:ln>
              <a:solidFill>
                <a:srgbClr val="C00000"/>
              </a:solidFill>
              <a:effectLst/>
              <a:uLnTx/>
              <a:uFillTx/>
              <a:latin typeface="Calibri" panose="020F0502020204030204"/>
              <a:ea typeface="宋体" panose="02010600030101010101" pitchFamily="2" charset="-122"/>
              <a:cs typeface="+mn-cs"/>
            </a:endParaRPr>
          </a:p>
          <a:p>
            <a:pPr marL="1143000" marR="0" lvl="2" indent="-227330" algn="l" defTabSz="914400" rtl="0" eaLnBrk="1" fontAlgn="base" latinLnBrk="0" hangingPunct="1">
              <a:lnSpc>
                <a:spcPct val="90000"/>
              </a:lnSpc>
              <a:spcBef>
                <a:spcPts val="5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sp>
        <p:nvSpPr>
          <p:cNvPr id="9" name="文本框 4"/>
          <p:cNvSpPr txBox="1">
            <a:spLocks noChangeArrowheads="1"/>
          </p:cNvSpPr>
          <p:nvPr/>
        </p:nvSpPr>
        <p:spPr bwMode="auto">
          <a:xfrm>
            <a:off x="184149" y="160338"/>
            <a:ext cx="7193395"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Exercises · Language Exercises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11" name="图片 10" descr="2"/>
          <p:cNvPicPr>
            <a:picLocks noChangeAspect="1"/>
          </p:cNvPicPr>
          <p:nvPr/>
        </p:nvPicPr>
        <p:blipFill>
          <a:blip r:embed="rId4"/>
          <a:stretch>
            <a:fillRect/>
          </a:stretch>
        </p:blipFill>
        <p:spPr>
          <a:xfrm>
            <a:off x="10854023" y="6007035"/>
            <a:ext cx="1103630" cy="554990"/>
          </a:xfrm>
          <a:prstGeom prst="rect">
            <a:avLst/>
          </a:prstGeom>
        </p:spPr>
      </p:pic>
      <p:pic>
        <p:nvPicPr>
          <p:cNvPr id="12" name="图片 11">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animEffect transition="in" filter="dissolve">
                                      <p:cBhvr>
                                        <p:cTn id="7" dur="500"/>
                                        <p:tgtEl>
                                          <p:spTgt spid="4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4" end="4"/>
                                            </p:txEl>
                                          </p:spTgt>
                                        </p:tgtEl>
                                        <p:attrNameLst>
                                          <p:attrName>style.visibility</p:attrName>
                                        </p:attrNameLst>
                                      </p:cBhvr>
                                      <p:to>
                                        <p:strVal val="visible"/>
                                      </p:to>
                                    </p:set>
                                    <p:animEffect transition="in" filter="dissolve">
                                      <p:cBhvr>
                                        <p:cTn id="12" dur="500"/>
                                        <p:tgtEl>
                                          <p:spTgt spid="4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8910,&quot;width&quot;:15840}"/>
</p:tagLst>
</file>

<file path=ppt/tags/tag2.xml><?xml version="1.0" encoding="utf-8"?>
<p:tagLst xmlns:p="http://schemas.openxmlformats.org/presentationml/2006/main">
  <p:tag name="commondata" val="eyJoZGlkIjoiZTY1NThmYzJlMWRjMDNhYzFmMTdkNmU1NThkNTc3ODEifQ=="/>
</p:tagLst>
</file>

<file path=ppt/theme/theme1.xml><?xml version="1.0" encoding="utf-8"?>
<a:theme xmlns:a="http://schemas.openxmlformats.org/drawingml/2006/main" name="2_Office 主题​​">
  <a:themeElements>
    <a:clrScheme name="自定义 4">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5B9BD5"/>
      </a:accent5>
      <a:accent6>
        <a:srgbClr val="70AD47"/>
      </a:accent6>
      <a:hlink>
        <a:srgbClr val="0070C0"/>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72C4"/>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14915</Words>
  <Application>WPS 演示</Application>
  <PresentationFormat>宽屏</PresentationFormat>
  <Paragraphs>401</Paragraphs>
  <Slides>27</Slides>
  <Notes>94</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27</vt:i4>
      </vt:variant>
    </vt:vector>
  </HeadingPairs>
  <TitlesOfParts>
    <vt:vector size="47" baseType="lpstr">
      <vt:lpstr>Arial</vt:lpstr>
      <vt:lpstr>宋体</vt:lpstr>
      <vt:lpstr>Wingdings</vt:lpstr>
      <vt:lpstr>Arial Black</vt:lpstr>
      <vt:lpstr>思源黑体 CN Regular</vt:lpstr>
      <vt:lpstr>黑体</vt:lpstr>
      <vt:lpstr>Calibri</vt:lpstr>
      <vt:lpstr>华文楷体</vt:lpstr>
      <vt:lpstr>Times New Roman</vt:lpstr>
      <vt:lpstr>楷体</vt:lpstr>
      <vt:lpstr>等线</vt:lpstr>
      <vt:lpstr>Calibri</vt:lpstr>
      <vt:lpstr>华文中宋</vt:lpstr>
      <vt:lpstr>微软雅黑</vt:lpstr>
      <vt:lpstr>Arial Unicode MS</vt:lpstr>
      <vt:lpstr>等线 Light</vt:lpstr>
      <vt:lpstr>Wingdings</vt:lpstr>
      <vt:lpstr>Arial Narrow</vt:lpstr>
      <vt:lpstr>2_Office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Dilys</dc:creator>
  <cp:lastModifiedBy>Cooper</cp:lastModifiedBy>
  <cp:revision>421</cp:revision>
  <dcterms:created xsi:type="dcterms:W3CDTF">2021-05-22T03:56:00Z</dcterms:created>
  <dcterms:modified xsi:type="dcterms:W3CDTF">2025-11-25T14:24:31Z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737E934D68304144BB92DEBF735B543B_12</vt:lpwstr>
  </property>
</Properties>
</file>