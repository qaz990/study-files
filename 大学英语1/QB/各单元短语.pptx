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63" r:id="rId3"/>
    <p:sldId id="262" r:id="rId4"/>
    <p:sldId id="258" r:id="rId5"/>
    <p:sldId id="264" r:id="rId6"/>
    <p:sldId id="265" r:id="rId7"/>
    <p:sldId id="266" r:id="rId8"/>
    <p:sldId id="267" r:id="rId9"/>
    <p:sldId id="268" r:id="rId10"/>
    <p:sldId id="269" r:id="rId11"/>
  </p:sldIdLst>
  <p:sldSz cx="12192000" cy="6858000"/>
  <p:notesSz cx="6858000" cy="9144000"/>
  <p:custDataLst>
    <p:tags r:id="rId16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notesMaster" Target="notesMasters/notesMaster1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6345" y="542290"/>
            <a:ext cx="3660140" cy="57734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紧紧抓住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他的手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两边是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街道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把老百姓转变成士兵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依依不舍地离去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映入眼帘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好奇的瞥了我一眼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顿时泪流满面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引起打斗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诉诸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体罚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徒劳无功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的等了很久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惊讶的停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了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下来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恍惚中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雪上加霜的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是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你体内未开发的力量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978400" y="542290"/>
            <a:ext cx="4893310" cy="57734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cling to/clutch his hand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street lined with...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make soldiers out of civilians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tear oneself away from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come into view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glance at me incuriosity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burst into tears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give rise to fighting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resort to physical punishment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wait for a long time in vain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came to a startled halt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in a daze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to add insult to injury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untapped powers within you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U1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1"/>
      <p:bldP spid="5" grpId="2" animBg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6345" y="626745"/>
            <a:ext cx="3994150" cy="455612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夭折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处于起步阶段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像一把刀刺穿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我的心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谴责这个忘恩负义的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儿子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安于我的生活状态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衣衫褴褛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我突然想到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村里到处都是乱扔的塑料袋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突然涌现出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狠揍他一顿</a:t>
            </a:r>
            <a:endParaRPr lang="zh-CN" altLang="en-US" sz="24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solidFill>
                  <a:srgbClr val="000000"/>
                </a:solidFill>
                <a:latin typeface="Times New Roman" panose="02020603050405020304" charset="0"/>
                <a:ea typeface="华文中宋" panose="02010600040101010101" charset="-122"/>
                <a:cs typeface="Times New Roman" panose="02020603050405020304" charset="0"/>
                <a:sym typeface="+mn-ea"/>
              </a:rPr>
              <a:t>万恶之源</a:t>
            </a:r>
            <a:endParaRPr lang="zh-CN" altLang="en-US" sz="2400">
              <a:solidFill>
                <a:srgbClr val="000000"/>
              </a:solidFill>
              <a:latin typeface="Times New Roman" panose="02020603050405020304" charset="0"/>
              <a:ea typeface="华文中宋" panose="02010600040101010101" charset="-122"/>
              <a:cs typeface="Times New Roman" panose="02020603050405020304" charset="0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祸不单行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301615" y="626745"/>
            <a:ext cx="5572125" cy="45561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die in infancy / in its infancy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like a knife piercing my heart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condemn such an ungrateful son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at peace with the conditions of my life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dressed in rags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It suddenly accurs to me that...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Plastic bags litter the village.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... spring up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give him a good beating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the root of all evils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宋体" panose="02010600030101010101" pitchFamily="2" charset="-122"/>
                <a:cs typeface="Calibri" panose="020F0502020204030204" charset="0"/>
              </a:rPr>
              <a:t>Misfortunes never come singly.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宋体" panose="02010600030101010101" pitchFamily="2" charset="-122"/>
              <a:cs typeface="Calibri" panose="020F0502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U2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6345" y="626745"/>
            <a:ext cx="4388485" cy="455612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因为缺少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……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算是一个愤世嫉俗的人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感到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刺骨的寒冷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将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扼杀在萌芽状态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盛开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/ 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蓬勃发展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中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他的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热情渐渐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消退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逗留；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徘徊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与我的裙子不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搭配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没有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的一半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有用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狂喜地颤抖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对她有求必应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/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百依百顺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835650" y="626745"/>
            <a:ext cx="4890770" cy="455612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for want of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something of a cynic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be chilled to the bone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nip sth. in the bud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in full </a:t>
            </a: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bloom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His enthusiasm ebbs away.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linger 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not go with my dress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not half as useful as...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 tremble  with ecstasy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deny her nothing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U4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6345" y="626745"/>
            <a:ext cx="4003040" cy="57734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零星散布在周围的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几栋房屋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向我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保证一切会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好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显示我的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无知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到达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目的地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达到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的顶峰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陡峭的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山路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我与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的邂逅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仔细地打量我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他拍拍我的肩膀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以防下雨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我渐渐领悟到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有意识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的突破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从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视角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我们各自保留意见吧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38775" y="626745"/>
            <a:ext cx="6049010" cy="577342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few houses scattered here and there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assure me that everything would work out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show my ignorance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reach the destination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reach the pinnacle of ...</a:t>
            </a:r>
            <a:endParaRPr lang="en-US" altLang="zh-CN" sz="240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steep mountain road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my encounter with 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inspect me carefully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He patted me on the shoulder.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in case it rains/ </a:t>
            </a: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in case it </a:t>
            </a: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shoud rain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It dawned on me that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conscious breakthrough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from a ... perspective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Let's agree to disagree.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U5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236345" y="626745"/>
            <a:ext cx="4600575" cy="53676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投去警觉的目光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 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早睡早起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轻微的优越感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和平守护者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拆除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发财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双手插兜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与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失去联系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概述他职业生涯的历程（发家史）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同时打量彼此的脸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被捕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中等收入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转弯抹角</a:t>
            </a:r>
            <a:endParaRPr lang="en-US" altLang="zh-CN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950585" y="626745"/>
            <a:ext cx="5746750" cy="53676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cast one’s watchful eye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keep early hours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slight air/sense of superiority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guardian of the peace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tear down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make a fortune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with pocketed hands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lose track of...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outline the history of his career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gaze upon the other’s face simultaneously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under arrest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moderate income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beating about the bush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U6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U7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36345" y="1073785"/>
            <a:ext cx="4388485" cy="49276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给我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留下刻薄的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印象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单独留出这天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直视某人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悬在他头上的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一把剑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纯粹出于无聊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对音乐的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迷恋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私底下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, 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关起门来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过分关注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, 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对</a:t>
            </a: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大惊小怪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摆脱这件麻烦事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剥夺我从音乐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获取的慰藉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雇了一个小提琴手给我伴奏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835650" y="1073785"/>
            <a:ext cx="5005705" cy="4927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... struck me as mean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set apart this day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look sb. (straight) in the face/eye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 sword hanging over his head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out of sheer boredom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weakness for music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behind closed doors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fuss over sth./sb.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get rid of the nuisance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2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deny me the consolation of music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engage a violinist to accompany me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U7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36345" y="1073785"/>
            <a:ext cx="4117340" cy="496189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10000"/>
              </a:lnSpc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满</a:t>
            </a: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面汗珠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宣布审判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结果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站在那儿目瞪口呆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还清，结帐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en-US" altLang="zh-CN" sz="2400">
                <a:latin typeface="华文中宋" panose="02010600040101010101" charset="-122"/>
                <a:ea typeface="华文中宋" panose="02010600040101010101" charset="-122"/>
              </a:rPr>
              <a:t>……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将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一帆风顺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（大胆）说出你的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观点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说得再委婉一些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熬夜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打断反方的发言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遭受惨重的伤亡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压垮骆驼的最后一根稻草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  <a:sym typeface="+mn-ea"/>
            </a:endParaRPr>
          </a:p>
          <a:p>
            <a:pPr>
              <a:lnSpc>
                <a:spcPct val="11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沉溺于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480685" y="1073785"/>
            <a:ext cx="6090285" cy="496189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(one’s face) beaded with perspiration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deliver a sentence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stood there stunned /stupefied/ dumbfounded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paid off 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to be smooth sailing 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come out with your opinion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speak more soothingly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sitting up all night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cut the opposite side short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suffer heavy casualties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the straw that broke the camel's back</a:t>
            </a:r>
            <a:endParaRPr lang="en-US" altLang="zh-CN" sz="240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1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indulge in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30188" y="115570"/>
            <a:ext cx="771525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U8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34085" y="958850"/>
            <a:ext cx="4388485" cy="48926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倒不是说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latin typeface="华文中宋" panose="02010600040101010101" charset="-122"/>
                <a:ea typeface="华文中宋" panose="02010600040101010101" charset="-122"/>
                <a:sym typeface="+mn-ea"/>
              </a:rPr>
              <a:t>等事情平息下来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（也许）最好的安排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像储存坚果过冬的松鼠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一样忙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被急事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耽搁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搬起石头砸了自己的脚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被血浸透的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绷带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  <a:sym typeface="+mn-ea"/>
              </a:rPr>
              <a:t>费力地走出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赶走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产生恶果；造成重大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损失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偶然发现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得过且过；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随波逐流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变得清晰；成为关注的</a:t>
            </a:r>
            <a:r>
              <a:rPr lang="zh-CN" altLang="en-US" sz="2400">
                <a:latin typeface="华文中宋" panose="02010600040101010101" charset="-122"/>
                <a:ea typeface="华文中宋" panose="02010600040101010101" charset="-122"/>
              </a:rPr>
              <a:t>焦点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480685" y="958850"/>
            <a:ext cx="6162675" cy="489267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Not that...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wait for things to quiet down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all for the best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as busy as a squirrel storing nuts for the winter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detained by some urgent business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picks up a stone only to drop it on his own toes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blood-soaked bandage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work my way out of/through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drive off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take one’s toll (on...)</a:t>
            </a:r>
            <a:endParaRPr lang="en-US" altLang="zh-CN" sz="240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  <a:sym typeface="+mn-ea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stumble upon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drift aimlessly /drift along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marL="0" indent="0">
              <a:lnSpc>
                <a:spcPct val="100000"/>
              </a:lnSpc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come into focus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/>
          <p:cNvSpPr/>
          <p:nvPr/>
        </p:nvSpPr>
        <p:spPr>
          <a:xfrm>
            <a:off x="226696" y="188595"/>
            <a:ext cx="1028700" cy="706755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en-US" altLang="zh-CN" sz="4000" b="1"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U10</a:t>
            </a:r>
            <a:endParaRPr lang="en-US" altLang="zh-CN" sz="4000" b="1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852930" y="520700"/>
            <a:ext cx="3302635" cy="600075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难以界定的概念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和谐统一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尝试解决这个问题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按三分制（打分）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本能反应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努力追求幸福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狼吞虎咽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得出宽泛的结论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随大溜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据传说</a:t>
            </a:r>
            <a:endParaRPr lang="zh-CN" altLang="en-US" sz="24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  <a:sym typeface="+mn-ea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使幸福最大化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推翻了他的观点</a:t>
            </a:r>
            <a:endParaRPr lang="zh-CN" altLang="en-US" sz="240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  <a:sym typeface="+mn-ea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与</a:t>
            </a:r>
            <a:r>
              <a:rPr lang="en-US" altLang="zh-CN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…</a:t>
            </a: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一致，相符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副作用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碳排放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华文中宋" panose="02010600040101010101" charset="-122"/>
              <a:ea typeface="华文中宋" panose="02010600040101010101" charset="-122"/>
              <a:cs typeface="Calibri" panose="020F0502020204030204" charset="0"/>
            </a:endParaRPr>
          </a:p>
          <a:p>
            <a:pPr marL="358775" lvl="0" indent="-358775" algn="just" eaLnBrk="1" hangingPunct="1">
              <a:lnSpc>
                <a:spcPct val="100000"/>
              </a:lnSpc>
              <a:buNone/>
              <a:defRPr/>
            </a:pPr>
            <a:r>
              <a:rPr lang="zh-CN" altLang="en-US" sz="24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华文中宋" panose="02010600040101010101" charset="-122"/>
                <a:ea typeface="华文中宋" panose="02010600040101010101" charset="-122"/>
                <a:cs typeface="Calibri" panose="020F0502020204030204" charset="0"/>
                <a:sym typeface="+mn-ea"/>
              </a:rPr>
              <a:t>环境恶化</a:t>
            </a:r>
            <a:endParaRPr lang="zh-CN" altLang="en-US" sz="2400"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282565" y="520700"/>
            <a:ext cx="4459605" cy="60007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a slippery concept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in harmony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take a stab at the problem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on a scale of 1 to 3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gut reaction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algn="l" eaLnBrk="1" hangingPunct="1">
              <a:lnSpc>
                <a:spcPct val="100000"/>
              </a:lnSpc>
              <a:buClrTx/>
              <a:buSzTx/>
              <a:buFont typeface="Wingdings" panose="05000000000000000000" charset="0"/>
              <a:buNone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strive for happiness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gorge on</a:t>
            </a:r>
            <a:endParaRPr kumimoji="0" lang="en-US" altLang="zh-CN" sz="2400" b="0" i="0" u="none" strike="noStrike" kern="1200" cap="none" spc="0" normalizeH="0" baseline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  <a:sym typeface="+mn-ea"/>
              </a:rPr>
              <a:t>arrive at broad conclusions</a:t>
            </a:r>
            <a:endParaRPr lang="en-US" altLang="zh-CN" sz="240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  <a:sym typeface="+mn-ea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herd/ follow the herd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Legend has it that...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maximize one’s happiness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disprove his statement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be consistent with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side effects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carbon emissions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  <a:p>
            <a:pPr lvl="0" indent="0" algn="just" eaLnBrk="1" hangingPunct="1">
              <a:lnSpc>
                <a:spcPct val="100000"/>
              </a:lnSpc>
              <a:buClr>
                <a:srgbClr val="000000"/>
              </a:buClr>
              <a:buFont typeface="Wingdings" panose="05000000000000000000" charset="0"/>
              <a:buNone/>
              <a:defRPr/>
            </a:pPr>
            <a:r>
              <a:rPr lang="en-US" altLang="zh-CN" sz="2400" b="0" i="0">
                <a:solidFill>
                  <a:schemeClr val="accent1"/>
                </a:solidFill>
                <a:latin typeface="Calibri" panose="020F0502020204030204" charset="0"/>
                <a:ea typeface="-apple-system"/>
                <a:cs typeface="Calibri" panose="020F0502020204030204" charset="0"/>
              </a:rPr>
              <a:t>environmental degradation</a:t>
            </a:r>
            <a:endParaRPr lang="en-US" altLang="zh-CN" sz="2400" b="0" i="0">
              <a:solidFill>
                <a:schemeClr val="accent1"/>
              </a:solidFill>
              <a:latin typeface="Calibri" panose="020F0502020204030204" charset="0"/>
              <a:ea typeface="-apple-system"/>
              <a:cs typeface="Calibri" panose="020F050202020403020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4294967295" end="429496729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8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>
                      <p:stCondLst>
                        <p:cond delay="indefinite"/>
                      </p:stCondLst>
                      <p:childTnLst>
                        <p:par>
                          <p:cTn id="169" fill="hold">
                            <p:stCondLst>
                              <p:cond delay="0"/>
                            </p:stCondLst>
                            <p:childTnLst>
                              <p:par>
                                <p:cTn id="17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>
                      <p:stCondLst>
                        <p:cond delay="indefinite"/>
                      </p:stCondLst>
                      <p:childTnLst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8" fill="hold">
                      <p:stCondLst>
                        <p:cond delay="indefinite"/>
                      </p:stCondLst>
                      <p:childTnLst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3" fill="hold">
                      <p:stCondLst>
                        <p:cond delay="indefinite"/>
                      </p:stCondLst>
                      <p:childTnLst>
                        <p:par>
                          <p:cTn id="184" fill="hold">
                            <p:stCondLst>
                              <p:cond delay="0"/>
                            </p:stCondLst>
                            <p:childTnLst>
                              <p:par>
                                <p:cTn id="18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8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8" fill="hold">
                      <p:stCondLst>
                        <p:cond delay="indefinite"/>
                      </p:stCondLst>
                      <p:childTnLst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>
                      <p:stCondLst>
                        <p:cond delay="indefinite"/>
                      </p:stCondLst>
                      <p:childTnLst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3" fill="hold">
                      <p:stCondLst>
                        <p:cond delay="indefinite"/>
                      </p:stCondLst>
                      <p:childTnLst>
                        <p:par>
                          <p:cTn id="204" fill="hold">
                            <p:stCondLst>
                              <p:cond delay="0"/>
                            </p:stCondLst>
                            <p:childTnLst>
                              <p:par>
                                <p:cTn id="20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0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>
                      <p:stCondLst>
                        <p:cond delay="indefinite"/>
                      </p:stCondLst>
                      <p:childTnLst>
                        <p:par>
                          <p:cTn id="209" fill="hold">
                            <p:stCondLst>
                              <p:cond delay="0"/>
                            </p:stCondLst>
                            <p:childTnLst>
                              <p:par>
                                <p:cTn id="2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2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7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2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7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2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37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8" fill="hold">
                      <p:stCondLst>
                        <p:cond delay="indefinite"/>
                      </p:stCondLst>
                      <p:childTnLst>
                        <p:par>
                          <p:cTn id="239" fill="hold">
                            <p:stCondLst>
                              <p:cond delay="0"/>
                            </p:stCondLst>
                            <p:childTnLst>
                              <p:par>
                                <p:cTn id="24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>
                      <p:stCondLst>
                        <p:cond delay="indefinite"/>
                      </p:stCondLst>
                      <p:childTnLst>
                        <p:par>
                          <p:cTn id="244" fill="hold">
                            <p:stCondLst>
                              <p:cond delay="0"/>
                            </p:stCondLst>
                            <p:childTnLst>
                              <p:par>
                                <p:cTn id="24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47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52" dur="500"/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tags/tag1.xml><?xml version="1.0" encoding="utf-8"?>
<p:tagLst xmlns:p="http://schemas.openxmlformats.org/presentationml/2006/main">
  <p:tag name="commondata" val="eyJoZGlkIjoiZTY1NThmYzJlMWRjMDNhYzFmMTdkNmU1NThkNTc3OD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3422</Words>
  <Application>WPS 演示</Application>
  <PresentationFormat>宽屏</PresentationFormat>
  <Paragraphs>266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华文中宋</vt:lpstr>
      <vt:lpstr>Calibri</vt:lpstr>
      <vt:lpstr>-apple-system</vt:lpstr>
      <vt:lpstr>Segoe Print</vt:lpstr>
      <vt:lpstr>Times New Roman</vt:lpstr>
      <vt:lpstr>Wingdings</vt:lpstr>
      <vt:lpstr>微软雅黑</vt:lpstr>
      <vt:lpstr>Arial Unicode MS</vt:lpstr>
      <vt:lpstr>Arial Narrow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Cooper</dc:creator>
  <cp:lastModifiedBy>Cooper</cp:lastModifiedBy>
  <cp:revision>15</cp:revision>
  <dcterms:created xsi:type="dcterms:W3CDTF">2023-08-09T12:44:00Z</dcterms:created>
  <dcterms:modified xsi:type="dcterms:W3CDTF">2025-12-22T14:24:46Z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2052-12.1.0.24034</vt:lpwstr>
  </property>
</Properties>
</file>