
<file path=[Content_Types].xml><?xml version="1.0" encoding="utf-8"?>
<Types xmlns="http://schemas.openxmlformats.org/package/2006/content-types">
  <Default Extension="jpeg" ContentType="image/jpeg"/>
  <Default Extension="JPG" ContentType="image/.jpg"/>
  <Default Extension="png" ContentType="image/png"/>
  <Default Extension="mp3" ContentType="audio/mp3"/>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3.webp" ContentType="image/webp"/>
  <Override PartName="/ppt/media/image14.webp" ContentType="image/webp"/>
  <Override PartName="/ppt/media/image15.webp" ContentType="image/webp"/>
  <Override PartName="/ppt/media/image16.webp" ContentType="image/webp"/>
  <Override PartName="/ppt/media/image17.webp" ContentType="image/webp"/>
  <Override PartName="/ppt/media/image18.webp" ContentType="image/webp"/>
  <Override PartName="/ppt/media/image19.webp" ContentType="image/webp"/>
  <Override PartName="/ppt/media/image20.webp" ContentType="image/webp"/>
  <Override PartName="/ppt/media/image21.webp" ContentType="image/webp"/>
  <Override PartName="/ppt/media/image22.webp" ContentType="image/webp"/>
  <Override PartName="/ppt/media/image27.webp" ContentType="image/webp"/>
  <Override PartName="/ppt/media/image29.webp" ContentType="image/webp"/>
  <Override PartName="/ppt/media/image30.webp" ContentType="image/webp"/>
  <Override PartName="/ppt/media/image31.webp" ContentType="image/webp"/>
  <Override PartName="/ppt/media/image32.webp" ContentType="image/webp"/>
  <Override PartName="/ppt/media/image34.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410" r:id="rId4"/>
    <p:sldId id="695" r:id="rId6"/>
    <p:sldId id="685" r:id="rId7"/>
    <p:sldId id="686" r:id="rId8"/>
    <p:sldId id="692" r:id="rId9"/>
    <p:sldId id="642" r:id="rId10"/>
    <p:sldId id="687" r:id="rId11"/>
    <p:sldId id="691" r:id="rId12"/>
    <p:sldId id="688" r:id="rId13"/>
    <p:sldId id="689" r:id="rId14"/>
    <p:sldId id="690" r:id="rId15"/>
    <p:sldId id="693" r:id="rId16"/>
    <p:sldId id="694" r:id="rId17"/>
    <p:sldId id="560" r:id="rId18"/>
    <p:sldId id="568" r:id="rId19"/>
    <p:sldId id="569" r:id="rId20"/>
    <p:sldId id="561" r:id="rId21"/>
    <p:sldId id="570" r:id="rId22"/>
    <p:sldId id="562" r:id="rId23"/>
    <p:sldId id="571" r:id="rId24"/>
    <p:sldId id="563" r:id="rId25"/>
    <p:sldId id="617" r:id="rId26"/>
    <p:sldId id="619" r:id="rId27"/>
    <p:sldId id="564" r:id="rId28"/>
    <p:sldId id="575" r:id="rId29"/>
    <p:sldId id="576" r:id="rId30"/>
    <p:sldId id="565" r:id="rId31"/>
    <p:sldId id="577" r:id="rId32"/>
    <p:sldId id="566" r:id="rId33"/>
    <p:sldId id="578" r:id="rId34"/>
    <p:sldId id="579" r:id="rId35"/>
    <p:sldId id="580" r:id="rId36"/>
  </p:sldIdLst>
  <p:sldSz cx="12192000" cy="6858000"/>
  <p:notesSz cx="6858000" cy="9144000"/>
  <p:custDataLst>
    <p:tags r:id="rId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FFFF"/>
    <a:srgbClr val="A1DFE1"/>
    <a:srgbClr val="808080"/>
    <a:srgbClr val="EFEFEF"/>
    <a:srgbClr val="F2F2F2"/>
    <a:srgbClr val="F6F8FB"/>
    <a:srgbClr val="E5A592"/>
    <a:srgbClr val="C1CADB"/>
    <a:srgbClr val="C0DB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93" autoAdjust="0"/>
    <p:restoredTop sz="91170" autoAdjust="0"/>
  </p:normalViewPr>
  <p:slideViewPr>
    <p:cSldViewPr snapToGrid="0">
      <p:cViewPr varScale="1">
        <p:scale>
          <a:sx n="116" d="100"/>
          <a:sy n="116" d="100"/>
        </p:scale>
        <p:origin x="465" y="54"/>
      </p:cViewPr>
      <p:guideLst/>
    </p:cSldViewPr>
  </p:slideViewPr>
  <p:outlineViewPr>
    <p:cViewPr>
      <p:scale>
        <a:sx n="33" d="100"/>
        <a:sy n="33" d="100"/>
      </p:scale>
      <p:origin x="0" y="0"/>
    </p:cViewPr>
  </p:outlin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0" Type="http://schemas.openxmlformats.org/officeDocument/2006/relationships/tags" Target="tags/tag47.xml"/><Relationship Id="rId4" Type="http://schemas.openxmlformats.org/officeDocument/2006/relationships/slide" Target="slides/slide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8ED925-CA01-421B-AFEF-F76D4320BFD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3F3C63-A1AE-4441-B6AD-2013F73B0DF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8ED925-CA01-421B-AFEF-F76D4320BFD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3F3C63-A1AE-4441-B6AD-2013F73B0DF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png"/><Relationship Id="rId7" Type="http://schemas.openxmlformats.org/officeDocument/2006/relationships/image" Target="../media/image5.png"/><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slide" Target="slide1.xml"/><Relationship Id="rId3" Type="http://schemas.openxmlformats.org/officeDocument/2006/relationships/image" Target="../media/image2.png"/><Relationship Id="rId2" Type="http://schemas.openxmlformats.org/officeDocument/2006/relationships/tags" Target="../tags/tag1.xml"/><Relationship Id="rId11" Type="http://schemas.openxmlformats.org/officeDocument/2006/relationships/notesSlide" Target="../notesSlides/notesSlide1.xml"/><Relationship Id="rId10"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0.jpeg"/><Relationship Id="rId3" Type="http://schemas.openxmlformats.org/officeDocument/2006/relationships/image" Target="../media/image9.png"/><Relationship Id="rId2" Type="http://schemas.openxmlformats.org/officeDocument/2006/relationships/slide" Target="slide1.xml"/><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9" Type="http://schemas.openxmlformats.org/officeDocument/2006/relationships/image" Target="../media/image17.webp"/><Relationship Id="rId8" Type="http://schemas.openxmlformats.org/officeDocument/2006/relationships/image" Target="../media/image16.webp"/><Relationship Id="rId7" Type="http://schemas.openxmlformats.org/officeDocument/2006/relationships/image" Target="../media/image15.webp"/><Relationship Id="rId6" Type="http://schemas.openxmlformats.org/officeDocument/2006/relationships/image" Target="../media/image14.webp"/><Relationship Id="rId5" Type="http://schemas.openxmlformats.org/officeDocument/2006/relationships/image" Target="../media/image13.webp"/><Relationship Id="rId4" Type="http://schemas.openxmlformats.org/officeDocument/2006/relationships/image" Target="../media/image9.png"/><Relationship Id="rId3" Type="http://schemas.openxmlformats.org/officeDocument/2006/relationships/image" Target="../media/image12.png"/><Relationship Id="rId2" Type="http://schemas.openxmlformats.org/officeDocument/2006/relationships/slide" Target="slide1.xml"/><Relationship Id="rId14" Type="http://schemas.openxmlformats.org/officeDocument/2006/relationships/notesSlide" Target="../notesSlides/notesSlide2.xml"/><Relationship Id="rId13" Type="http://schemas.openxmlformats.org/officeDocument/2006/relationships/slideLayout" Target="../slideLayouts/slideLayout18.xml"/><Relationship Id="rId12" Type="http://schemas.openxmlformats.org/officeDocument/2006/relationships/image" Target="../media/image20.webp"/><Relationship Id="rId11" Type="http://schemas.openxmlformats.org/officeDocument/2006/relationships/image" Target="../media/image19.webp"/><Relationship Id="rId10" Type="http://schemas.openxmlformats.org/officeDocument/2006/relationships/image" Target="../media/image18.webp"/><Relationship Id="rId1" Type="http://schemas.openxmlformats.org/officeDocument/2006/relationships/image" Target="../media/image11.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8.xml"/><Relationship Id="rId5" Type="http://schemas.openxmlformats.org/officeDocument/2006/relationships/image" Target="../media/image21.webp"/><Relationship Id="rId4" Type="http://schemas.openxmlformats.org/officeDocument/2006/relationships/image" Target="../media/image9.png"/><Relationship Id="rId3" Type="http://schemas.openxmlformats.org/officeDocument/2006/relationships/image" Target="../media/image12.png"/><Relationship Id="rId2" Type="http://schemas.openxmlformats.org/officeDocument/2006/relationships/slide" Target="slide1.xml"/><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image" Target="../media/image22.webp"/><Relationship Id="rId2" Type="http://schemas.openxmlformats.org/officeDocument/2006/relationships/tags" Target="../tags/tag3.xml"/><Relationship Id="rId12" Type="http://schemas.openxmlformats.org/officeDocument/2006/relationships/slideLayout" Target="../slideLayouts/slideLayout7.xml"/><Relationship Id="rId11" Type="http://schemas.openxmlformats.org/officeDocument/2006/relationships/tags" Target="../tags/tag10.xml"/><Relationship Id="rId10" Type="http://schemas.openxmlformats.org/officeDocument/2006/relationships/image" Target="../media/image23.png"/><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7.xml"/><Relationship Id="rId7" Type="http://schemas.openxmlformats.org/officeDocument/2006/relationships/image" Target="../media/image26.jpeg"/><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9.png"/><Relationship Id="rId3" Type="http://schemas.openxmlformats.org/officeDocument/2006/relationships/image" Target="../media/image12.png"/><Relationship Id="rId2" Type="http://schemas.openxmlformats.org/officeDocument/2006/relationships/slide" Target="slide1.xml"/><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7.xml"/><Relationship Id="rId7" Type="http://schemas.openxmlformats.org/officeDocument/2006/relationships/image" Target="../media/image29.webp"/><Relationship Id="rId6" Type="http://schemas.openxmlformats.org/officeDocument/2006/relationships/image" Target="../media/image28.png"/><Relationship Id="rId5" Type="http://schemas.openxmlformats.org/officeDocument/2006/relationships/image" Target="../media/image27.webp"/><Relationship Id="rId4" Type="http://schemas.openxmlformats.org/officeDocument/2006/relationships/image" Target="../media/image9.png"/><Relationship Id="rId3" Type="http://schemas.openxmlformats.org/officeDocument/2006/relationships/image" Target="../media/image12.png"/><Relationship Id="rId2" Type="http://schemas.openxmlformats.org/officeDocument/2006/relationships/slide" Target="slide1.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1" Type="http://schemas.openxmlformats.org/officeDocument/2006/relationships/slideLayout" Target="../slideLayouts/slideLayout7.xml"/><Relationship Id="rId10" Type="http://schemas.openxmlformats.org/officeDocument/2006/relationships/tags" Target="../tags/tag19.xml"/><Relationship Id="rId1" Type="http://schemas.openxmlformats.org/officeDocument/2006/relationships/tags" Target="../tags/tag11.xml"/></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7.xml"/><Relationship Id="rId5" Type="http://schemas.openxmlformats.org/officeDocument/2006/relationships/image" Target="../media/image30.webp"/><Relationship Id="rId4" Type="http://schemas.openxmlformats.org/officeDocument/2006/relationships/image" Target="../media/image9.png"/><Relationship Id="rId3" Type="http://schemas.openxmlformats.org/officeDocument/2006/relationships/image" Target="../media/image12.png"/><Relationship Id="rId2" Type="http://schemas.openxmlformats.org/officeDocument/2006/relationships/slide" Target="slide1.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7.xml"/><Relationship Id="rId5" Type="http://schemas.openxmlformats.org/officeDocument/2006/relationships/image" Target="../media/image31.webp"/><Relationship Id="rId4" Type="http://schemas.openxmlformats.org/officeDocument/2006/relationships/image" Target="../media/image9.png"/><Relationship Id="rId3" Type="http://schemas.openxmlformats.org/officeDocument/2006/relationships/image" Target="../media/image12.png"/><Relationship Id="rId2" Type="http://schemas.openxmlformats.org/officeDocument/2006/relationships/slide" Target="slide1.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image" Target="../media/image32.webp"/><Relationship Id="rId2" Type="http://schemas.openxmlformats.org/officeDocument/2006/relationships/tags" Target="../tags/tag21.xml"/><Relationship Id="rId12" Type="http://schemas.openxmlformats.org/officeDocument/2006/relationships/slideLayout" Target="../slideLayouts/slideLayout7.xml"/><Relationship Id="rId11" Type="http://schemas.openxmlformats.org/officeDocument/2006/relationships/tags" Target="../tags/tag28.xml"/><Relationship Id="rId10" Type="http://schemas.openxmlformats.org/officeDocument/2006/relationships/image" Target="../media/image23.png"/><Relationship Id="rId1" Type="http://schemas.openxmlformats.org/officeDocument/2006/relationships/tags" Target="../tags/tag20.xml"/></Relationships>
</file>

<file path=ppt/slides/_rels/slide12.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image" Target="../media/image34.webp"/><Relationship Id="rId5" Type="http://schemas.openxmlformats.org/officeDocument/2006/relationships/image" Target="../media/image33.png"/><Relationship Id="rId4" Type="http://schemas.microsoft.com/office/2007/relationships/media" Target="../media/media1.mp3"/><Relationship Id="rId3" Type="http://schemas.openxmlformats.org/officeDocument/2006/relationships/audio" Target="../media/media1.mp3"/><Relationship Id="rId2" Type="http://schemas.openxmlformats.org/officeDocument/2006/relationships/tags" Target="../tags/tag30.xml"/><Relationship Id="rId15" Type="http://schemas.openxmlformats.org/officeDocument/2006/relationships/slideLayout" Target="../slideLayouts/slideLayout7.xml"/><Relationship Id="rId14" Type="http://schemas.openxmlformats.org/officeDocument/2006/relationships/tags" Target="../tags/tag37.xml"/><Relationship Id="rId13" Type="http://schemas.openxmlformats.org/officeDocument/2006/relationships/image" Target="../media/image23.png"/><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9.xml"/></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5.png"/><Relationship Id="rId7" Type="http://schemas.openxmlformats.org/officeDocument/2006/relationships/image" Target="../media/image33.png"/><Relationship Id="rId6" Type="http://schemas.microsoft.com/office/2007/relationships/media" Target="../media/media2.mp3"/><Relationship Id="rId5" Type="http://schemas.openxmlformats.org/officeDocument/2006/relationships/audio" Target="../media/media2.mp3"/><Relationship Id="rId4" Type="http://schemas.openxmlformats.org/officeDocument/2006/relationships/image" Target="../media/image9.png"/><Relationship Id="rId3" Type="http://schemas.openxmlformats.org/officeDocument/2006/relationships/image" Target="../media/image12.png"/><Relationship Id="rId2" Type="http://schemas.openxmlformats.org/officeDocument/2006/relationships/slide" Target="slide1.xml"/><Relationship Id="rId10" Type="http://schemas.openxmlformats.org/officeDocument/2006/relationships/notesSlide" Target="../notesSlides/notesSlide8.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9.png"/><Relationship Id="rId3" Type="http://schemas.openxmlformats.org/officeDocument/2006/relationships/image" Target="../media/image12.png"/><Relationship Id="rId2" Type="http://schemas.openxmlformats.org/officeDocument/2006/relationships/slide" Target="slide1.xml"/><Relationship Id="rId1" Type="http://schemas.openxmlformats.org/officeDocument/2006/relationships/image" Target="../media/image36.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slide" Target="slide1.xml"/><Relationship Id="rId3" Type="http://schemas.openxmlformats.org/officeDocument/2006/relationships/image" Target="../media/image12.png"/><Relationship Id="rId2" Type="http://schemas.openxmlformats.org/officeDocument/2006/relationships/slide" Target="slide14.xml"/><Relationship Id="rId1" Type="http://schemas.openxmlformats.org/officeDocument/2006/relationships/image" Target="../media/image36.png"/></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slide" Target="slide1.xml"/><Relationship Id="rId3" Type="http://schemas.openxmlformats.org/officeDocument/2006/relationships/image" Target="../media/image12.png"/><Relationship Id="rId2" Type="http://schemas.openxmlformats.org/officeDocument/2006/relationships/slide" Target="slide14.xml"/><Relationship Id="rId1" Type="http://schemas.openxmlformats.org/officeDocument/2006/relationships/image" Target="../media/image36.png"/></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2.png"/><Relationship Id="rId3" Type="http://schemas.openxmlformats.org/officeDocument/2006/relationships/image" Target="../media/image9.png"/><Relationship Id="rId2" Type="http://schemas.openxmlformats.org/officeDocument/2006/relationships/slide" Target="slide1.xml"/><Relationship Id="rId1" Type="http://schemas.openxmlformats.org/officeDocument/2006/relationships/image" Target="../media/image36.pn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slide" Target="slide1.xml"/><Relationship Id="rId3" Type="http://schemas.openxmlformats.org/officeDocument/2006/relationships/image" Target="../media/image12.png"/><Relationship Id="rId2" Type="http://schemas.openxmlformats.org/officeDocument/2006/relationships/slide" Target="slide17.xml"/><Relationship Id="rId1" Type="http://schemas.openxmlformats.org/officeDocument/2006/relationships/image" Target="../media/image36.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2.png"/><Relationship Id="rId3" Type="http://schemas.openxmlformats.org/officeDocument/2006/relationships/image" Target="../media/image9.png"/><Relationship Id="rId2" Type="http://schemas.openxmlformats.org/officeDocument/2006/relationships/slide" Target="slide1.xml"/><Relationship Id="rId1" Type="http://schemas.openxmlformats.org/officeDocument/2006/relationships/image" Target="../media/image36.png"/></Relationships>
</file>

<file path=ppt/slides/_rels/slide20.xml.rels><?xml version="1.0" encoding="UTF-8" standalone="yes"?>
<Relationships xmlns="http://schemas.openxmlformats.org/package/2006/relationships"><Relationship Id="rId9" Type="http://schemas.openxmlformats.org/officeDocument/2006/relationships/tags" Target="../tags/tag43.xml"/><Relationship Id="rId8" Type="http://schemas.openxmlformats.org/officeDocument/2006/relationships/tags" Target="../tags/tag42.xml"/><Relationship Id="rId7" Type="http://schemas.openxmlformats.org/officeDocument/2006/relationships/tags" Target="../tags/tag41.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image" Target="../media/image12.png"/><Relationship Id="rId2" Type="http://schemas.openxmlformats.org/officeDocument/2006/relationships/slide" Target="slide19.xml"/><Relationship Id="rId15" Type="http://schemas.openxmlformats.org/officeDocument/2006/relationships/slideLayout" Target="../slideLayouts/slideLayout7.xml"/><Relationship Id="rId14" Type="http://schemas.openxmlformats.org/officeDocument/2006/relationships/image" Target="../media/image9.png"/><Relationship Id="rId13" Type="http://schemas.openxmlformats.org/officeDocument/2006/relationships/slide" Target="slide1.xml"/><Relationship Id="rId12" Type="http://schemas.openxmlformats.org/officeDocument/2006/relationships/tags" Target="../tags/tag46.xml"/><Relationship Id="rId11" Type="http://schemas.openxmlformats.org/officeDocument/2006/relationships/tags" Target="../tags/tag45.xml"/><Relationship Id="rId10" Type="http://schemas.openxmlformats.org/officeDocument/2006/relationships/tags" Target="../tags/tag44.xml"/><Relationship Id="rId1" Type="http://schemas.openxmlformats.org/officeDocument/2006/relationships/image" Target="../media/image36.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2.png"/><Relationship Id="rId3" Type="http://schemas.openxmlformats.org/officeDocument/2006/relationships/image" Target="../media/image9.png"/><Relationship Id="rId2" Type="http://schemas.openxmlformats.org/officeDocument/2006/relationships/slide" Target="slide1.xml"/><Relationship Id="rId1" Type="http://schemas.openxmlformats.org/officeDocument/2006/relationships/image" Target="../media/image36.png"/></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slide" Target="slide21.xml"/><Relationship Id="rId3" Type="http://schemas.openxmlformats.org/officeDocument/2006/relationships/image" Target="../media/image9.png"/><Relationship Id="rId2" Type="http://schemas.openxmlformats.org/officeDocument/2006/relationships/slide" Target="slide1.xml"/><Relationship Id="rId1" Type="http://schemas.openxmlformats.org/officeDocument/2006/relationships/image" Target="../media/image36.png"/></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slide" Target="slide1.xml"/><Relationship Id="rId3" Type="http://schemas.openxmlformats.org/officeDocument/2006/relationships/image" Target="../media/image12.png"/><Relationship Id="rId2" Type="http://schemas.openxmlformats.org/officeDocument/2006/relationships/slide" Target="slide21.xml"/><Relationship Id="rId1" Type="http://schemas.openxmlformats.org/officeDocument/2006/relationships/image" Target="../media/image36.pn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2.png"/><Relationship Id="rId3" Type="http://schemas.openxmlformats.org/officeDocument/2006/relationships/image" Target="../media/image9.png"/><Relationship Id="rId2" Type="http://schemas.openxmlformats.org/officeDocument/2006/relationships/slide" Target="slide1.xml"/><Relationship Id="rId1" Type="http://schemas.openxmlformats.org/officeDocument/2006/relationships/image" Target="../media/image36.png"/></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slide" Target="slide1.xml"/><Relationship Id="rId3" Type="http://schemas.openxmlformats.org/officeDocument/2006/relationships/image" Target="../media/image12.png"/><Relationship Id="rId2" Type="http://schemas.openxmlformats.org/officeDocument/2006/relationships/slide" Target="slide24.xml"/><Relationship Id="rId1" Type="http://schemas.openxmlformats.org/officeDocument/2006/relationships/image" Target="../media/image36.png"/></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slide" Target="slide1.xml"/><Relationship Id="rId3" Type="http://schemas.openxmlformats.org/officeDocument/2006/relationships/image" Target="../media/image12.png"/><Relationship Id="rId2" Type="http://schemas.openxmlformats.org/officeDocument/2006/relationships/slide" Target="slide24.xml"/><Relationship Id="rId1" Type="http://schemas.openxmlformats.org/officeDocument/2006/relationships/image" Target="../media/image36.pn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2.png"/><Relationship Id="rId3" Type="http://schemas.openxmlformats.org/officeDocument/2006/relationships/image" Target="../media/image9.png"/><Relationship Id="rId2" Type="http://schemas.openxmlformats.org/officeDocument/2006/relationships/slide" Target="slide1.xml"/><Relationship Id="rId1" Type="http://schemas.openxmlformats.org/officeDocument/2006/relationships/image" Target="../media/image36.png"/></Relationships>
</file>

<file path=ppt/slides/_rels/slide2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slide" Target="slide1.xml"/><Relationship Id="rId3" Type="http://schemas.openxmlformats.org/officeDocument/2006/relationships/image" Target="../media/image12.png"/><Relationship Id="rId2" Type="http://schemas.openxmlformats.org/officeDocument/2006/relationships/slide" Target="slide27.xml"/><Relationship Id="rId1" Type="http://schemas.openxmlformats.org/officeDocument/2006/relationships/image" Target="../media/image36.png"/></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2.png"/><Relationship Id="rId3" Type="http://schemas.openxmlformats.org/officeDocument/2006/relationships/image" Target="../media/image9.png"/><Relationship Id="rId2" Type="http://schemas.openxmlformats.org/officeDocument/2006/relationships/slide" Target="slide1.xml"/><Relationship Id="rId1" Type="http://schemas.openxmlformats.org/officeDocument/2006/relationships/image" Target="../media/image36.png"/></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slide" Target="slide1.xml"/><Relationship Id="rId3" Type="http://schemas.openxmlformats.org/officeDocument/2006/relationships/image" Target="../media/image12.png"/><Relationship Id="rId2" Type="http://schemas.openxmlformats.org/officeDocument/2006/relationships/slide" Target="slide29.xml"/><Relationship Id="rId1" Type="http://schemas.openxmlformats.org/officeDocument/2006/relationships/image" Target="../media/image36.png"/></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slide" Target="slide1.xml"/><Relationship Id="rId3" Type="http://schemas.openxmlformats.org/officeDocument/2006/relationships/image" Target="../media/image12.png"/><Relationship Id="rId2" Type="http://schemas.openxmlformats.org/officeDocument/2006/relationships/slide" Target="slide29.xml"/><Relationship Id="rId1" Type="http://schemas.openxmlformats.org/officeDocument/2006/relationships/image" Target="../media/image36.png"/></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slide" Target="slide1.xml"/><Relationship Id="rId3" Type="http://schemas.openxmlformats.org/officeDocument/2006/relationships/image" Target="../media/image12.png"/><Relationship Id="rId2" Type="http://schemas.openxmlformats.org/officeDocument/2006/relationships/slide" Target="slide29.xml"/><Relationship Id="rId1"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811375" y="0"/>
            <a:ext cx="9380625" cy="6858000"/>
          </a:xfrm>
          <a:prstGeom prst="rect">
            <a:avLst/>
          </a:prstGeom>
        </p:spPr>
      </p:pic>
      <p:pic>
        <p:nvPicPr>
          <p:cNvPr id="2" name="图片 1" descr="未标题-2"/>
          <p:cNvPicPr>
            <a:picLocks noChangeAspect="1"/>
          </p:cNvPicPr>
          <p:nvPr>
            <p:custDataLst>
              <p:tags r:id="rId2"/>
            </p:custDataLst>
          </p:nvPr>
        </p:nvPicPr>
        <p:blipFill>
          <a:blip r:embed="rId3"/>
          <a:srcRect t="8848" r="27500"/>
          <a:stretch>
            <a:fillRect/>
          </a:stretch>
        </p:blipFill>
        <p:spPr>
          <a:xfrm>
            <a:off x="0" y="-2886"/>
            <a:ext cx="7977505" cy="6860886"/>
          </a:xfrm>
          <a:prstGeom prst="rect">
            <a:avLst/>
          </a:prstGeom>
        </p:spPr>
      </p:pic>
      <p:sp>
        <p:nvSpPr>
          <p:cNvPr id="31" name="文本框 86"/>
          <p:cNvSpPr txBox="1"/>
          <p:nvPr/>
        </p:nvSpPr>
        <p:spPr>
          <a:xfrm>
            <a:off x="817634" y="1250139"/>
            <a:ext cx="2697975" cy="707886"/>
          </a:xfrm>
          <a:prstGeom prst="rect">
            <a:avLst/>
          </a:prstGeom>
          <a:noFill/>
          <a:effectLst>
            <a:outerShdw blurRad="393700" dist="698500" dir="8100000" sx="119000" sy="119000" algn="tr" rotWithShape="0">
              <a:prstClr val="black">
                <a:alpha val="63000"/>
              </a:prstClr>
            </a:outerShdw>
          </a:effectLst>
        </p:spPr>
        <p:txBody>
          <a:bodyPr wrap="square" rtlCol="0">
            <a:spAutoFit/>
          </a:bodyPr>
          <a:lstStyle/>
          <a:p>
            <a:r>
              <a:rPr lang="en-US" altLang="zh-CN" sz="4000" b="1" dirty="0">
                <a:solidFill>
                  <a:srgbClr val="FF9700"/>
                </a:solidFill>
                <a:latin typeface="Arial Black" panose="020B0A04020102020204" pitchFamily="34" charset="0"/>
                <a:ea typeface="思源黑体 CN Regular" panose="020B0500000000000000" charset="-122"/>
              </a:rPr>
              <a:t>Unit  7</a:t>
            </a:r>
            <a:endParaRPr lang="en-US" altLang="zh-CN" sz="4000" b="1" dirty="0">
              <a:solidFill>
                <a:srgbClr val="FF9700"/>
              </a:solidFill>
              <a:latin typeface="Arial Black" panose="020B0A04020102020204" pitchFamily="34" charset="0"/>
              <a:ea typeface="思源黑体 CN Regular" panose="020B0500000000000000" charset="-122"/>
            </a:endParaRPr>
          </a:p>
        </p:txBody>
      </p:sp>
      <p:pic>
        <p:nvPicPr>
          <p:cNvPr id="15" name="图片 14">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3763" y="2516437"/>
            <a:ext cx="3016405" cy="501676"/>
          </a:xfrm>
          <a:prstGeom prst="rect">
            <a:avLst/>
          </a:prstGeom>
        </p:spPr>
      </p:pic>
      <p:pic>
        <p:nvPicPr>
          <p:cNvPr id="17" name="图片 16">
            <a:hlinkClick r:id="rId4" action="ppaction://hlinksldjump"/>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3763" y="3268056"/>
            <a:ext cx="5004057" cy="501676"/>
          </a:xfrm>
          <a:prstGeom prst="rect">
            <a:avLst/>
          </a:prstGeom>
        </p:spPr>
      </p:pic>
      <p:pic>
        <p:nvPicPr>
          <p:cNvPr id="19" name="图片 18">
            <a:hlinkClick r:id="rId4" action="ppaction://hlinksldjump"/>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3763" y="4019675"/>
            <a:ext cx="3016405" cy="495325"/>
          </a:xfrm>
          <a:prstGeom prst="rect">
            <a:avLst/>
          </a:prstGeom>
        </p:spPr>
      </p:pic>
      <p:pic>
        <p:nvPicPr>
          <p:cNvPr id="21" name="图片 20">
            <a:hlinkClick r:id="rId4" action="ppaction://hlinksldjump"/>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3763" y="4764943"/>
            <a:ext cx="3733992" cy="488975"/>
          </a:xfrm>
          <a:prstGeom prst="rect">
            <a:avLst/>
          </a:prstGeom>
        </p:spPr>
      </p:pic>
      <p:pic>
        <p:nvPicPr>
          <p:cNvPr id="23" name="图片 22">
            <a:hlinkClick r:id="rId4" action="ppaction://hlinksldjump"/>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21471" y="5503862"/>
            <a:ext cx="5512083" cy="501676"/>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655"/>
            <a:ext cx="4390390" cy="46037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lvl="0"/>
            <a:r>
              <a:rPr lang="en-US" altLang="zh-CN" sz="2400" dirty="0">
                <a:solidFill>
                  <a:prstClr val="white"/>
                </a:solidFill>
                <a:latin typeface="Arial Black" panose="020B0A04020102020204" pitchFamily="34" charset="0"/>
              </a:rPr>
              <a:t>Poem</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charset="-122"/>
              <a:cs typeface="+mn-cs"/>
            </a:endParaRPr>
          </a:p>
        </p:txBody>
      </p:sp>
      <p:pic>
        <p:nvPicPr>
          <p:cNvPr id="11" name="图片 10">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pic>
        <p:nvPicPr>
          <p:cNvPr id="4" name="图片 3"/>
          <p:cNvPicPr/>
          <p:nvPr/>
        </p:nvPicPr>
        <p:blipFill>
          <a:blip r:embed="rId4"/>
          <a:srcRect r="45425"/>
          <a:stretch>
            <a:fillRect/>
          </a:stretch>
        </p:blipFill>
        <p:spPr>
          <a:xfrm>
            <a:off x="1051560" y="852170"/>
            <a:ext cx="5044440" cy="5596255"/>
          </a:xfrm>
          <a:prstGeom prst="rect">
            <a:avLst/>
          </a:prstGeom>
        </p:spPr>
      </p:pic>
      <p:sp>
        <p:nvSpPr>
          <p:cNvPr id="6" name="文本框 5"/>
          <p:cNvSpPr txBox="1"/>
          <p:nvPr/>
        </p:nvSpPr>
        <p:spPr>
          <a:xfrm>
            <a:off x="6269355" y="1380490"/>
            <a:ext cx="5132070" cy="4540250"/>
          </a:xfrm>
          <a:prstGeom prst="rect">
            <a:avLst/>
          </a:prstGeom>
          <a:solidFill>
            <a:srgbClr val="D8CDB7"/>
          </a:solidFill>
        </p:spPr>
        <p:txBody>
          <a:bodyPr wrap="square">
            <a:noAutofit/>
          </a:bodyPr>
          <a:p>
            <a:pPr marL="0" indent="0">
              <a:lnSpc>
                <a:spcPct val="130000"/>
              </a:lnSpc>
            </a:pPr>
            <a:r>
              <a:rPr lang="zh-CN" altLang="en-US" sz="2400" b="1" i="0">
                <a:solidFill>
                  <a:srgbClr val="535861"/>
                </a:solidFill>
                <a:latin typeface="楷体" panose="02010609060101010101" pitchFamily="49" charset="-122"/>
                <a:ea typeface="楷体" panose="02010609060101010101" pitchFamily="49" charset="-122"/>
                <a:cs typeface="楷体" panose="02010609060101010101" pitchFamily="49" charset="-122"/>
              </a:rPr>
              <a:t>要说出全部</a:t>
            </a:r>
            <a:r>
              <a:rPr lang="zh-CN" altLang="en-US" sz="2400" b="1" i="0">
                <a:solidFill>
                  <a:srgbClr val="535861"/>
                </a:solidFill>
                <a:latin typeface="楷体" panose="02010609060101010101" pitchFamily="49" charset="-122"/>
                <a:ea typeface="楷体" panose="02010609060101010101" pitchFamily="49" charset="-122"/>
                <a:cs typeface="楷体" panose="02010609060101010101" pitchFamily="49" charset="-122"/>
              </a:rPr>
              <a:t>真相，但切莫直言</a:t>
            </a:r>
            <a:r>
              <a:rPr lang="en-US" altLang="zh-CN" sz="2400" b="1" i="0">
                <a:solidFill>
                  <a:srgbClr val="535861"/>
                </a:solidFill>
                <a:latin typeface="楷体" panose="02010609060101010101" pitchFamily="49" charset="-122"/>
                <a:ea typeface="楷体" panose="02010609060101010101" pitchFamily="49" charset="-122"/>
                <a:cs typeface="楷体" panose="02010609060101010101" pitchFamily="49" charset="-122"/>
              </a:rPr>
              <a:t>——</a:t>
            </a:r>
            <a:endParaRPr lang="en-US" altLang="zh-CN" sz="2400" b="1" i="0">
              <a:solidFill>
                <a:srgbClr val="535861"/>
              </a:solidFill>
              <a:latin typeface="楷体" panose="02010609060101010101" pitchFamily="49" charset="-122"/>
              <a:ea typeface="楷体" panose="02010609060101010101" pitchFamily="49" charset="-122"/>
              <a:cs typeface="楷体" panose="02010609060101010101" pitchFamily="49" charset="-122"/>
            </a:endParaRPr>
          </a:p>
          <a:p>
            <a:pPr marL="0" indent="0">
              <a:lnSpc>
                <a:spcPct val="130000"/>
              </a:lnSpc>
            </a:pPr>
            <a:r>
              <a:rPr lang="zh-CN" altLang="en-US" sz="2400" b="1" i="0">
                <a:solidFill>
                  <a:srgbClr val="535861"/>
                </a:solidFill>
                <a:latin typeface="楷体" panose="02010609060101010101" pitchFamily="49" charset="-122"/>
                <a:ea typeface="楷体" panose="02010609060101010101" pitchFamily="49" charset="-122"/>
                <a:cs typeface="楷体" panose="02010609060101010101" pitchFamily="49" charset="-122"/>
              </a:rPr>
              <a:t>迂回之路方能取胜</a:t>
            </a:r>
            <a:endParaRPr lang="zh-CN" altLang="en-US" sz="2400" b="1" i="0">
              <a:solidFill>
                <a:srgbClr val="535861"/>
              </a:solidFill>
              <a:latin typeface="楷体" panose="02010609060101010101" pitchFamily="49" charset="-122"/>
              <a:ea typeface="楷体" panose="02010609060101010101" pitchFamily="49" charset="-122"/>
              <a:cs typeface="楷体" panose="02010609060101010101" pitchFamily="49" charset="-122"/>
            </a:endParaRPr>
          </a:p>
          <a:p>
            <a:pPr marL="0" indent="0">
              <a:lnSpc>
                <a:spcPct val="130000"/>
              </a:lnSpc>
            </a:pPr>
            <a:r>
              <a:rPr lang="zh-CN" altLang="en-US" sz="2400" b="1">
                <a:solidFill>
                  <a:srgbClr val="535861"/>
                </a:solidFill>
                <a:latin typeface="楷体" panose="02010609060101010101" pitchFamily="49" charset="-122"/>
                <a:ea typeface="楷体" panose="02010609060101010101" pitchFamily="49" charset="-122"/>
                <a:cs typeface="楷体" panose="02010609060101010101" pitchFamily="49" charset="-122"/>
                <a:sym typeface="+mn-ea"/>
              </a:rPr>
              <a:t>真相</a:t>
            </a:r>
            <a:r>
              <a:rPr lang="zh-CN" altLang="en-US" sz="2400" b="1" i="0">
                <a:solidFill>
                  <a:srgbClr val="535861"/>
                </a:solidFill>
                <a:latin typeface="楷体" panose="02010609060101010101" pitchFamily="49" charset="-122"/>
                <a:ea typeface="楷体" panose="02010609060101010101" pitchFamily="49" charset="-122"/>
                <a:cs typeface="楷体" panose="02010609060101010101" pitchFamily="49" charset="-122"/>
              </a:rPr>
              <a:t>的惊喜太炫目</a:t>
            </a:r>
            <a:endParaRPr lang="zh-CN" altLang="en-US" sz="2400" b="1" i="0">
              <a:solidFill>
                <a:srgbClr val="535861"/>
              </a:solidFill>
              <a:latin typeface="楷体" panose="02010609060101010101" pitchFamily="49" charset="-122"/>
              <a:ea typeface="楷体" panose="02010609060101010101" pitchFamily="49" charset="-122"/>
              <a:cs typeface="楷体" panose="02010609060101010101" pitchFamily="49" charset="-122"/>
            </a:endParaRPr>
          </a:p>
          <a:p>
            <a:pPr marL="0" indent="0">
              <a:lnSpc>
                <a:spcPct val="130000"/>
              </a:lnSpc>
            </a:pPr>
            <a:r>
              <a:rPr lang="zh-CN" altLang="en-US" sz="2400" b="1" i="0">
                <a:solidFill>
                  <a:srgbClr val="535861"/>
                </a:solidFill>
                <a:latin typeface="楷体" panose="02010609060101010101" pitchFamily="49" charset="-122"/>
                <a:ea typeface="楷体" panose="02010609060101010101" pitchFamily="49" charset="-122"/>
                <a:cs typeface="楷体" panose="02010609060101010101" pitchFamily="49" charset="-122"/>
              </a:rPr>
              <a:t>对于我们脆弱的欢喜而言，过于明亮</a:t>
            </a:r>
            <a:endParaRPr lang="zh-CN" altLang="en-US" sz="2400" b="1" i="0">
              <a:solidFill>
                <a:srgbClr val="535861"/>
              </a:solidFill>
              <a:latin typeface="楷体" panose="02010609060101010101" pitchFamily="49" charset="-122"/>
              <a:ea typeface="楷体" panose="02010609060101010101" pitchFamily="49" charset="-122"/>
              <a:cs typeface="楷体" panose="02010609060101010101" pitchFamily="49" charset="-122"/>
            </a:endParaRPr>
          </a:p>
          <a:p>
            <a:pPr marL="0" indent="0">
              <a:lnSpc>
                <a:spcPct val="130000"/>
              </a:lnSpc>
            </a:pPr>
            <a:endParaRPr lang="zh-CN" altLang="en-US" sz="2400" b="1" i="0">
              <a:solidFill>
                <a:srgbClr val="535861"/>
              </a:solidFill>
              <a:latin typeface="楷体" panose="02010609060101010101" pitchFamily="49" charset="-122"/>
              <a:ea typeface="楷体" panose="02010609060101010101" pitchFamily="49" charset="-122"/>
              <a:cs typeface="楷体" panose="02010609060101010101" pitchFamily="49" charset="-122"/>
            </a:endParaRPr>
          </a:p>
          <a:p>
            <a:pPr marL="0" indent="0">
              <a:lnSpc>
                <a:spcPct val="130000"/>
              </a:lnSpc>
            </a:pPr>
            <a:r>
              <a:rPr lang="zh-CN" altLang="en-US" sz="2400" b="1" i="0">
                <a:solidFill>
                  <a:srgbClr val="535861"/>
                </a:solidFill>
                <a:latin typeface="楷体" panose="02010609060101010101" pitchFamily="49" charset="-122"/>
                <a:ea typeface="楷体" panose="02010609060101010101" pitchFamily="49" charset="-122"/>
                <a:cs typeface="楷体" panose="02010609060101010101" pitchFamily="49" charset="-122"/>
              </a:rPr>
              <a:t>如缓解孩子对闪电的</a:t>
            </a:r>
            <a:r>
              <a:rPr lang="zh-CN" altLang="en-US" sz="2400" b="1" i="0">
                <a:solidFill>
                  <a:srgbClr val="535861"/>
                </a:solidFill>
                <a:latin typeface="楷体" panose="02010609060101010101" pitchFamily="49" charset="-122"/>
                <a:ea typeface="楷体" panose="02010609060101010101" pitchFamily="49" charset="-122"/>
                <a:cs typeface="楷体" panose="02010609060101010101" pitchFamily="49" charset="-122"/>
              </a:rPr>
              <a:t>惊恐</a:t>
            </a:r>
            <a:endParaRPr lang="zh-CN" altLang="en-US" sz="2400" b="1" i="0">
              <a:solidFill>
                <a:srgbClr val="535861"/>
              </a:solidFill>
              <a:latin typeface="楷体" panose="02010609060101010101" pitchFamily="49" charset="-122"/>
              <a:ea typeface="楷体" panose="02010609060101010101" pitchFamily="49" charset="-122"/>
              <a:cs typeface="楷体" panose="02010609060101010101" pitchFamily="49" charset="-122"/>
            </a:endParaRPr>
          </a:p>
          <a:p>
            <a:pPr marL="0" indent="0">
              <a:lnSpc>
                <a:spcPct val="130000"/>
              </a:lnSpc>
            </a:pPr>
            <a:r>
              <a:rPr lang="zh-CN" altLang="en-US" sz="2400" b="1">
                <a:solidFill>
                  <a:srgbClr val="535861"/>
                </a:solidFill>
                <a:latin typeface="楷体" panose="02010609060101010101" pitchFamily="49" charset="-122"/>
                <a:ea typeface="楷体" panose="02010609060101010101" pitchFamily="49" charset="-122"/>
                <a:cs typeface="楷体" panose="02010609060101010101" pitchFamily="49" charset="-122"/>
                <a:sym typeface="+mn-ea"/>
              </a:rPr>
              <a:t>需要我们慈爱</a:t>
            </a:r>
            <a:r>
              <a:rPr lang="zh-CN" altLang="en-US" sz="2400" b="1">
                <a:solidFill>
                  <a:srgbClr val="535861"/>
                </a:solidFill>
                <a:latin typeface="楷体" panose="02010609060101010101" pitchFamily="49" charset="-122"/>
                <a:ea typeface="楷体" panose="02010609060101010101" pitchFamily="49" charset="-122"/>
                <a:cs typeface="楷体" panose="02010609060101010101" pitchFamily="49" charset="-122"/>
                <a:sym typeface="+mn-ea"/>
              </a:rPr>
              <a:t>的解释</a:t>
            </a:r>
            <a:r>
              <a:rPr lang="zh-CN" altLang="en-US" sz="2400" b="1" i="0">
                <a:solidFill>
                  <a:srgbClr val="535861"/>
                </a:solidFill>
                <a:latin typeface="楷体" panose="02010609060101010101" pitchFamily="49" charset="-122"/>
                <a:ea typeface="楷体" panose="02010609060101010101" pitchFamily="49" charset="-122"/>
                <a:cs typeface="楷体" panose="02010609060101010101" pitchFamily="49" charset="-122"/>
              </a:rPr>
              <a:t>，</a:t>
            </a:r>
            <a:endParaRPr lang="zh-CN" altLang="en-US" sz="2400" b="1" i="0">
              <a:solidFill>
                <a:srgbClr val="535861"/>
              </a:solidFill>
              <a:latin typeface="楷体" panose="02010609060101010101" pitchFamily="49" charset="-122"/>
              <a:ea typeface="楷体" panose="02010609060101010101" pitchFamily="49" charset="-122"/>
              <a:cs typeface="楷体" panose="02010609060101010101" pitchFamily="49" charset="-122"/>
            </a:endParaRPr>
          </a:p>
          <a:p>
            <a:pPr marL="0" indent="0">
              <a:lnSpc>
                <a:spcPct val="130000"/>
              </a:lnSpc>
            </a:pPr>
            <a:r>
              <a:rPr lang="zh-CN" altLang="en-US" sz="2400" b="1">
                <a:solidFill>
                  <a:srgbClr val="535861"/>
                </a:solidFill>
                <a:latin typeface="楷体" panose="02010609060101010101" pitchFamily="49" charset="-122"/>
                <a:ea typeface="楷体" panose="02010609060101010101" pitchFamily="49" charset="-122"/>
                <a:cs typeface="楷体" panose="02010609060101010101" pitchFamily="49" charset="-122"/>
                <a:sym typeface="+mn-ea"/>
              </a:rPr>
              <a:t>真相</a:t>
            </a:r>
            <a:r>
              <a:rPr lang="zh-CN" altLang="en-US" sz="2400" b="1" i="0">
                <a:solidFill>
                  <a:srgbClr val="535861"/>
                </a:solidFill>
                <a:latin typeface="楷体" panose="02010609060101010101" pitchFamily="49" charset="-122"/>
                <a:ea typeface="楷体" panose="02010609060101010101" pitchFamily="49" charset="-122"/>
                <a:cs typeface="楷体" panose="02010609060101010101" pitchFamily="49" charset="-122"/>
              </a:rPr>
              <a:t>必须逐渐散发它的光芒，</a:t>
            </a:r>
            <a:endParaRPr lang="zh-CN" altLang="en-US" sz="2400" b="1" i="0">
              <a:solidFill>
                <a:srgbClr val="535861"/>
              </a:solidFill>
              <a:latin typeface="楷体" panose="02010609060101010101" pitchFamily="49" charset="-122"/>
              <a:ea typeface="楷体" panose="02010609060101010101" pitchFamily="49" charset="-122"/>
              <a:cs typeface="楷体" panose="02010609060101010101" pitchFamily="49" charset="-122"/>
            </a:endParaRPr>
          </a:p>
          <a:p>
            <a:pPr marL="0" indent="0">
              <a:lnSpc>
                <a:spcPct val="130000"/>
              </a:lnSpc>
            </a:pPr>
            <a:r>
              <a:rPr lang="zh-CN" altLang="en-US" sz="2400" b="1" i="0">
                <a:solidFill>
                  <a:srgbClr val="535861"/>
                </a:solidFill>
                <a:latin typeface="楷体" panose="02010609060101010101" pitchFamily="49" charset="-122"/>
                <a:ea typeface="楷体" panose="02010609060101010101" pitchFamily="49" charset="-122"/>
                <a:cs typeface="楷体" panose="02010609060101010101" pitchFamily="49" charset="-122"/>
              </a:rPr>
              <a:t>否则每一个人都会失明。</a:t>
            </a:r>
            <a:endParaRPr lang="zh-CN" altLang="en-US" sz="2400" b="1" i="0">
              <a:solidFill>
                <a:srgbClr val="535861"/>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338"/>
            <a:ext cx="2216150" cy="460375"/>
          </a:xfrm>
          <a:prstGeom prst="rect">
            <a:avLst/>
          </a:prstGeom>
          <a:noFill/>
          <a:ln w="9525">
            <a:noFill/>
            <a:miter lim="800000"/>
          </a:ln>
          <a:effectLst>
            <a:outerShdw blurRad="50800" dist="38100" dir="5400000" algn="t" rotWithShape="0">
              <a:prstClr val="black">
                <a:alpha val="40000"/>
              </a:prstClr>
            </a:outerShdw>
          </a:effectLst>
        </p:spPr>
        <p:txBody>
          <a:bodyPr>
            <a:spAutoFit/>
          </a:bodyPr>
          <a:lstStyle/>
          <a:p>
            <a:pPr eaLnBrk="1" hangingPunct="1">
              <a:buFont typeface="Arial" panose="020B0604020202020204" pitchFamily="34" charset="0"/>
              <a:buNone/>
            </a:pPr>
            <a:r>
              <a:rPr lang="en-US" altLang="zh-CN" sz="2400" dirty="0">
                <a:solidFill>
                  <a:schemeClr val="bg1"/>
                </a:solidFill>
                <a:latin typeface="Arial Black" panose="020B0A04020102020204" pitchFamily="34" charset="0"/>
              </a:rPr>
              <a:t>Glossary</a:t>
            </a:r>
            <a:endParaRPr lang="en-US" altLang="zh-CN" sz="2400" dirty="0">
              <a:solidFill>
                <a:schemeClr val="bg1"/>
              </a:solidFill>
              <a:latin typeface="Arial Black" panose="020B0A04020102020204" pitchFamily="34" charset="0"/>
            </a:endParaRPr>
          </a:p>
        </p:txBody>
      </p:sp>
      <p:pic>
        <p:nvPicPr>
          <p:cNvPr id="8" name="图片 7">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pic>
        <p:nvPicPr>
          <p:cNvPr id="10" name="图片 9">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3" name="文本框 2"/>
          <p:cNvSpPr txBox="1"/>
          <p:nvPr/>
        </p:nvSpPr>
        <p:spPr>
          <a:xfrm>
            <a:off x="867410" y="930275"/>
            <a:ext cx="10900410" cy="521970"/>
          </a:xfrm>
          <a:prstGeom prst="rect">
            <a:avLst/>
          </a:prstGeom>
          <a:noFill/>
          <a:ln w="28575">
            <a:solidFill>
              <a:schemeClr val="tx1"/>
            </a:solidFill>
          </a:ln>
        </p:spPr>
        <p:txBody>
          <a:bodyPr wrap="square" rtlCol="0">
            <a:spAutoFit/>
          </a:bodyPr>
          <a:p>
            <a:r>
              <a:rPr lang="en-US" altLang="zh-CN" sz="2800">
                <a:latin typeface="Arial Narrow" panose="020B0606020202030204" charset="0"/>
                <a:cs typeface="Arial Narrow" panose="020B0606020202030204" charset="0"/>
              </a:rPr>
              <a:t>delicacies    luxury    scrawl     spectacles     stupefied     sullen     throne     wince    </a:t>
            </a:r>
            <a:endParaRPr lang="en-US" altLang="zh-CN" sz="2800">
              <a:latin typeface="Arial Narrow" panose="020B0606020202030204" charset="0"/>
              <a:cs typeface="Arial Narrow" panose="020B0606020202030204" charset="0"/>
            </a:endParaRPr>
          </a:p>
        </p:txBody>
      </p:sp>
      <p:sp>
        <p:nvSpPr>
          <p:cNvPr id="2" name="文本框 1"/>
          <p:cNvSpPr txBox="1"/>
          <p:nvPr/>
        </p:nvSpPr>
        <p:spPr>
          <a:xfrm>
            <a:off x="1412875" y="3692525"/>
            <a:ext cx="1464310"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scrawl</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17" name="文本框 16"/>
          <p:cNvSpPr txBox="1"/>
          <p:nvPr/>
        </p:nvSpPr>
        <p:spPr>
          <a:xfrm>
            <a:off x="1282700" y="6003925"/>
            <a:ext cx="1835150"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luxury</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9" name="文本框 8"/>
          <p:cNvSpPr txBox="1"/>
          <p:nvPr/>
        </p:nvSpPr>
        <p:spPr>
          <a:xfrm>
            <a:off x="4195445" y="3702050"/>
            <a:ext cx="1408430"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throne</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12" name="文本框 11"/>
          <p:cNvSpPr txBox="1"/>
          <p:nvPr/>
        </p:nvSpPr>
        <p:spPr>
          <a:xfrm>
            <a:off x="6827520" y="3702050"/>
            <a:ext cx="1717675"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delicacies</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14" name="文本框 13"/>
          <p:cNvSpPr txBox="1"/>
          <p:nvPr/>
        </p:nvSpPr>
        <p:spPr>
          <a:xfrm>
            <a:off x="9581515" y="3631565"/>
            <a:ext cx="1877695"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spectacles</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16" name="文本框 15"/>
          <p:cNvSpPr txBox="1"/>
          <p:nvPr/>
        </p:nvSpPr>
        <p:spPr>
          <a:xfrm>
            <a:off x="3894455" y="6024245"/>
            <a:ext cx="1835150"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sullen</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19" name="文本框 18"/>
          <p:cNvSpPr txBox="1"/>
          <p:nvPr/>
        </p:nvSpPr>
        <p:spPr>
          <a:xfrm>
            <a:off x="6709410" y="6024245"/>
            <a:ext cx="1835150"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wince</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21" name="文本框 20"/>
          <p:cNvSpPr txBox="1"/>
          <p:nvPr/>
        </p:nvSpPr>
        <p:spPr>
          <a:xfrm>
            <a:off x="9525000" y="6003925"/>
            <a:ext cx="1835150"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stupefied</a:t>
            </a:r>
            <a:endParaRPr lang="en-US" sz="2800">
              <a:solidFill>
                <a:srgbClr val="C00000"/>
              </a:solidFill>
              <a:latin typeface="Arial Narrow" panose="020B0606020202030204" charset="0"/>
              <a:ea typeface="华文中宋" panose="02010600040101010101" charset="-122"/>
              <a:cs typeface="Arial Narrow" panose="020B0606020202030204" charset="0"/>
              <a:sym typeface="+mn-ea"/>
            </a:endParaRPr>
          </a:p>
        </p:txBody>
      </p:sp>
      <p:pic>
        <p:nvPicPr>
          <p:cNvPr id="4" name="图片 3"/>
          <p:cNvPicPr/>
          <p:nvPr/>
        </p:nvPicPr>
        <p:blipFill>
          <a:blip r:embed="rId5"/>
          <a:stretch>
            <a:fillRect/>
          </a:stretch>
        </p:blipFill>
        <p:spPr>
          <a:xfrm>
            <a:off x="824865" y="1658620"/>
            <a:ext cx="2551430" cy="1972945"/>
          </a:xfrm>
          <a:prstGeom prst="rect">
            <a:avLst/>
          </a:prstGeom>
          <a:ln w="12700">
            <a:solidFill>
              <a:schemeClr val="tx1"/>
            </a:solidFill>
          </a:ln>
        </p:spPr>
      </p:pic>
      <p:pic>
        <p:nvPicPr>
          <p:cNvPr id="5" name="图片 4"/>
          <p:cNvPicPr/>
          <p:nvPr/>
        </p:nvPicPr>
        <p:blipFill>
          <a:blip r:embed="rId6"/>
          <a:stretch>
            <a:fillRect/>
          </a:stretch>
        </p:blipFill>
        <p:spPr>
          <a:xfrm>
            <a:off x="3467735" y="1632585"/>
            <a:ext cx="2697480" cy="1999615"/>
          </a:xfrm>
          <a:prstGeom prst="rect">
            <a:avLst/>
          </a:prstGeom>
        </p:spPr>
      </p:pic>
      <p:pic>
        <p:nvPicPr>
          <p:cNvPr id="6" name="图片 5"/>
          <p:cNvPicPr/>
          <p:nvPr/>
        </p:nvPicPr>
        <p:blipFill>
          <a:blip r:embed="rId7"/>
          <a:stretch>
            <a:fillRect/>
          </a:stretch>
        </p:blipFill>
        <p:spPr>
          <a:xfrm>
            <a:off x="6256655" y="1658620"/>
            <a:ext cx="2754630" cy="1972945"/>
          </a:xfrm>
          <a:prstGeom prst="rect">
            <a:avLst/>
          </a:prstGeom>
        </p:spPr>
      </p:pic>
      <p:pic>
        <p:nvPicPr>
          <p:cNvPr id="7" name="图片 6"/>
          <p:cNvPicPr/>
          <p:nvPr/>
        </p:nvPicPr>
        <p:blipFill>
          <a:blip r:embed="rId8"/>
          <a:stretch>
            <a:fillRect/>
          </a:stretch>
        </p:blipFill>
        <p:spPr>
          <a:xfrm>
            <a:off x="824865" y="4236720"/>
            <a:ext cx="2551430" cy="1802765"/>
          </a:xfrm>
          <a:prstGeom prst="rect">
            <a:avLst/>
          </a:prstGeom>
        </p:spPr>
      </p:pic>
      <p:pic>
        <p:nvPicPr>
          <p:cNvPr id="11" name="图片 10"/>
          <p:cNvPicPr/>
          <p:nvPr/>
        </p:nvPicPr>
        <p:blipFill>
          <a:blip r:embed="rId9"/>
          <a:stretch>
            <a:fillRect/>
          </a:stretch>
        </p:blipFill>
        <p:spPr>
          <a:xfrm>
            <a:off x="9236710" y="1632585"/>
            <a:ext cx="2531110" cy="1999615"/>
          </a:xfrm>
          <a:prstGeom prst="rect">
            <a:avLst/>
          </a:prstGeom>
          <a:ln>
            <a:solidFill>
              <a:schemeClr val="tx1"/>
            </a:solidFill>
          </a:ln>
        </p:spPr>
      </p:pic>
      <p:pic>
        <p:nvPicPr>
          <p:cNvPr id="13" name="图片 12"/>
          <p:cNvPicPr/>
          <p:nvPr/>
        </p:nvPicPr>
        <p:blipFill>
          <a:blip r:embed="rId10"/>
          <a:srcRect l="6667" r="4693" b="8758"/>
          <a:stretch>
            <a:fillRect/>
          </a:stretch>
        </p:blipFill>
        <p:spPr>
          <a:xfrm>
            <a:off x="3601720" y="4214495"/>
            <a:ext cx="2654935" cy="1788795"/>
          </a:xfrm>
          <a:prstGeom prst="rect">
            <a:avLst/>
          </a:prstGeom>
        </p:spPr>
      </p:pic>
      <p:pic>
        <p:nvPicPr>
          <p:cNvPr id="15" name="图片 14"/>
          <p:cNvPicPr/>
          <p:nvPr/>
        </p:nvPicPr>
        <p:blipFill>
          <a:blip r:embed="rId11"/>
          <a:srcRect b="8912"/>
          <a:stretch>
            <a:fillRect/>
          </a:stretch>
        </p:blipFill>
        <p:spPr>
          <a:xfrm>
            <a:off x="9236710" y="4169410"/>
            <a:ext cx="2459355" cy="1818005"/>
          </a:xfrm>
          <a:prstGeom prst="rect">
            <a:avLst/>
          </a:prstGeom>
        </p:spPr>
      </p:pic>
      <p:pic>
        <p:nvPicPr>
          <p:cNvPr id="18" name="图片 17"/>
          <p:cNvPicPr/>
          <p:nvPr/>
        </p:nvPicPr>
        <p:blipFill>
          <a:blip r:embed="rId12"/>
          <a:srcRect l="7775" r="5810"/>
          <a:stretch>
            <a:fillRect/>
          </a:stretch>
        </p:blipFill>
        <p:spPr>
          <a:xfrm>
            <a:off x="6462395" y="4169410"/>
            <a:ext cx="2541905" cy="18180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heckerboard(across)">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checkerboard(across)">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checkerboard(across)">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checkerboard(across)">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checkerboard(across)">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checkerboard(across)">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checkerboard(across)">
                                      <p:cBhvr>
                                        <p:cTn id="4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P spid="9" grpId="0"/>
      <p:bldP spid="12" grpId="0"/>
      <p:bldP spid="14" grpId="0"/>
      <p:bldP spid="16" grpId="0"/>
      <p:bldP spid="19" grpId="0"/>
      <p:bldP spid="21"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338"/>
            <a:ext cx="2216150" cy="460375"/>
          </a:xfrm>
          <a:prstGeom prst="rect">
            <a:avLst/>
          </a:prstGeom>
          <a:noFill/>
          <a:ln w="9525">
            <a:noFill/>
            <a:miter lim="800000"/>
          </a:ln>
          <a:effectLst>
            <a:outerShdw blurRad="50800" dist="38100" dir="5400000" algn="t" rotWithShape="0">
              <a:prstClr val="black">
                <a:alpha val="40000"/>
              </a:prstClr>
            </a:outerShdw>
          </a:effectLst>
        </p:spPr>
        <p:txBody>
          <a:bodyPr>
            <a:spAutoFit/>
          </a:bodyPr>
          <a:lstStyle/>
          <a:p>
            <a:pPr eaLnBrk="1" hangingPunct="1">
              <a:buFont typeface="Arial" panose="020B0604020202020204" pitchFamily="34" charset="0"/>
              <a:buNone/>
            </a:pPr>
            <a:r>
              <a:rPr lang="en-US" altLang="zh-CN" sz="2400" dirty="0">
                <a:solidFill>
                  <a:schemeClr val="bg1"/>
                </a:solidFill>
                <a:latin typeface="Arial Black" panose="020B0A04020102020204" pitchFamily="34" charset="0"/>
              </a:rPr>
              <a:t>Glossary</a:t>
            </a:r>
            <a:endParaRPr lang="en-US" altLang="zh-CN" sz="2400" dirty="0">
              <a:solidFill>
                <a:schemeClr val="bg1"/>
              </a:solidFill>
              <a:latin typeface="Arial Black" panose="020B0A04020102020204" pitchFamily="34" charset="0"/>
            </a:endParaRPr>
          </a:p>
        </p:txBody>
      </p:sp>
      <p:pic>
        <p:nvPicPr>
          <p:cNvPr id="8" name="图片 7">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pic>
        <p:nvPicPr>
          <p:cNvPr id="10" name="图片 9">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3" name="文本框 2"/>
          <p:cNvSpPr txBox="1"/>
          <p:nvPr/>
        </p:nvSpPr>
        <p:spPr>
          <a:xfrm>
            <a:off x="619125" y="1999615"/>
            <a:ext cx="11363325" cy="3927475"/>
          </a:xfrm>
          <a:prstGeom prst="rect">
            <a:avLst/>
          </a:prstGeom>
          <a:noFill/>
        </p:spPr>
        <p:txBody>
          <a:bodyPr wrap="square" rtlCol="0">
            <a:noAutofit/>
          </a:bodyPr>
          <a:p>
            <a:pPr>
              <a:lnSpc>
                <a:spcPct val="110000"/>
              </a:lnSpc>
            </a:pPr>
            <a:r>
              <a:rPr lang="en-US" altLang="zh-CN" sz="2800">
                <a:latin typeface="Times New Roman" panose="02020603050405020304" pitchFamily="18" charset="0"/>
                <a:ea typeface="华文中宋" panose="02010600040101010101" charset="-122"/>
                <a:cs typeface="Times New Roman" panose="02020603050405020304" pitchFamily="18" charset="0"/>
              </a:rPr>
              <a:t>1. Almost kneeling down, </a:t>
            </a:r>
            <a:r>
              <a:rPr lang="en-US" altLang="zh-CN" sz="2800" dirty="0">
                <a:latin typeface="Times New Roman" panose="02020603050405020304" pitchFamily="18" charset="0"/>
                <a:ea typeface="华文中宋" panose="02010600040101010101" charset="-122"/>
                <a:cs typeface="Times New Roman" panose="02020603050405020304" pitchFamily="18" charset="0"/>
                <a:sym typeface="+mn-ea"/>
              </a:rPr>
              <a:t>the lady </a:t>
            </a:r>
            <a:r>
              <a:rPr lang="en-US" altLang="zh-CN" sz="2800" dirty="0">
                <a:solidFill>
                  <a:srgbClr val="C00000"/>
                </a:solidFill>
                <a:latin typeface="Times New Roman" panose="02020603050405020304" pitchFamily="18" charset="0"/>
                <a:ea typeface="华文中宋" panose="02010600040101010101" charset="-122"/>
                <a:cs typeface="Times New Roman" panose="02020603050405020304" pitchFamily="18" charset="0"/>
                <a:sym typeface="+mn-ea"/>
              </a:rPr>
              <a:t>________ </a:t>
            </a:r>
            <a:r>
              <a:rPr lang="en-US" altLang="zh-CN" sz="2800" dirty="0">
                <a:solidFill>
                  <a:schemeClr val="tx1"/>
                </a:solidFill>
                <a:latin typeface="Times New Roman" panose="02020603050405020304" pitchFamily="18" charset="0"/>
                <a:ea typeface="华文中宋" panose="02010600040101010101" charset="-122"/>
                <a:cs typeface="Times New Roman" panose="02020603050405020304" pitchFamily="18" charset="0"/>
                <a:sym typeface="+mn-ea"/>
              </a:rPr>
              <a:t>with</a:t>
            </a:r>
            <a:r>
              <a:rPr lang="en-US" altLang="zh-CN" sz="2800" dirty="0">
                <a:latin typeface="Times New Roman" panose="02020603050405020304" pitchFamily="18" charset="0"/>
                <a:ea typeface="华文中宋" panose="02010600040101010101" charset="-122"/>
                <a:cs typeface="Times New Roman" panose="02020603050405020304" pitchFamily="18" charset="0"/>
                <a:sym typeface="+mn-ea"/>
              </a:rPr>
              <a:t> her son to come back home</a:t>
            </a:r>
            <a:r>
              <a:rPr lang="en-US" altLang="zh-CN" sz="2800" dirty="0" smtClean="0">
                <a:solidFill>
                  <a:prstClr val="black"/>
                </a:solidFill>
                <a:latin typeface="Times New Roman" panose="02020603050405020304" pitchFamily="18" charset="0"/>
                <a:cs typeface="Times New Roman" panose="02020603050405020304" pitchFamily="18" charset="0"/>
                <a:sym typeface="+mn-ea"/>
              </a:rPr>
              <a:t>.</a:t>
            </a:r>
            <a:r>
              <a:rPr lang="en-US" altLang="zh-CN" sz="2800" dirty="0" smtClean="0">
                <a:solidFill>
                  <a:prstClr val="black"/>
                </a:solidFill>
                <a:latin typeface="Times New Roman" panose="02020603050405020304" pitchFamily="18" charset="0"/>
                <a:cs typeface="Times New Roman" panose="02020603050405020304" pitchFamily="18" charset="0"/>
                <a:sym typeface="+mn-ea"/>
              </a:rPr>
              <a:t> </a:t>
            </a:r>
            <a:endParaRPr lang="en-US" altLang="zh-CN" sz="2800">
              <a:latin typeface="Times New Roman" panose="02020603050405020304" pitchFamily="18" charset="0"/>
              <a:ea typeface="华文中宋" panose="02010600040101010101" charset="-122"/>
              <a:cs typeface="Times New Roman" panose="02020603050405020304" pitchFamily="18" charset="0"/>
            </a:endParaRPr>
          </a:p>
          <a:p>
            <a:pPr>
              <a:lnSpc>
                <a:spcPct val="110000"/>
              </a:lnSpc>
            </a:pPr>
            <a:r>
              <a:rPr lang="en-US" altLang="zh-CN" sz="2800">
                <a:latin typeface="Times New Roman" panose="02020603050405020304" pitchFamily="18" charset="0"/>
                <a:ea typeface="华文中宋" panose="02010600040101010101" charset="-122"/>
                <a:cs typeface="Times New Roman" panose="02020603050405020304" pitchFamily="18" charset="0"/>
              </a:rPr>
              <a:t>2. </a:t>
            </a:r>
            <a:r>
              <a:rPr lang="en-US" altLang="zh-CN" sz="2800" dirty="0">
                <a:latin typeface="Times New Roman" panose="02020603050405020304" pitchFamily="18" charset="0"/>
                <a:ea typeface="华文中宋" panose="02010600040101010101" charset="-122"/>
                <a:cs typeface="Times New Roman" panose="02020603050405020304" pitchFamily="18" charset="0"/>
                <a:sym typeface="+mn-ea"/>
              </a:rPr>
              <a:t>He ten</a:t>
            </a:r>
            <a:r>
              <a:rPr lang="en-US" altLang="zh-CN" sz="2800" dirty="0">
                <a:solidFill>
                  <a:schemeClr val="tx1"/>
                </a:solidFill>
                <a:latin typeface="Times New Roman" panose="02020603050405020304" pitchFamily="18" charset="0"/>
                <a:ea typeface="华文中宋" panose="02010600040101010101" charset="-122"/>
                <a:cs typeface="Times New Roman" panose="02020603050405020304" pitchFamily="18" charset="0"/>
                <a:sym typeface="+mn-ea"/>
              </a:rPr>
              <a:t>ds to ________ over </a:t>
            </a:r>
            <a:r>
              <a:rPr lang="en-US" altLang="zh-CN" sz="2800" dirty="0">
                <a:latin typeface="Times New Roman" panose="02020603050405020304" pitchFamily="18" charset="0"/>
                <a:ea typeface="华文中宋" panose="02010600040101010101" charset="-122"/>
                <a:cs typeface="Times New Roman" panose="02020603050405020304" pitchFamily="18" charset="0"/>
                <a:sym typeface="+mn-ea"/>
              </a:rPr>
              <a:t>his appearance before going out</a:t>
            </a:r>
            <a:r>
              <a:rPr lang="en-US" altLang="zh-CN" sz="2800" dirty="0" smtClean="0">
                <a:solidFill>
                  <a:prstClr val="black"/>
                </a:solidFill>
                <a:latin typeface="Times New Roman" panose="02020603050405020304" pitchFamily="18" charset="0"/>
                <a:cs typeface="Times New Roman" panose="02020603050405020304" pitchFamily="18" charset="0"/>
                <a:sym typeface="+mn-ea"/>
              </a:rPr>
              <a:t>.</a:t>
            </a:r>
            <a:endParaRPr lang="en-US" altLang="zh-CN" sz="2800">
              <a:latin typeface="Times New Roman" panose="02020603050405020304" pitchFamily="18" charset="0"/>
              <a:ea typeface="华文中宋" panose="02010600040101010101" charset="-122"/>
              <a:cs typeface="Times New Roman" panose="02020603050405020304" pitchFamily="18" charset="0"/>
            </a:endParaRPr>
          </a:p>
          <a:p>
            <a:pPr>
              <a:lnSpc>
                <a:spcPct val="110000"/>
              </a:lnSpc>
            </a:pPr>
            <a:r>
              <a:rPr lang="en-US" altLang="zh-CN" sz="2800">
                <a:latin typeface="Times New Roman" panose="02020603050405020304" pitchFamily="18" charset="0"/>
                <a:ea typeface="华文中宋" panose="02010600040101010101" charset="-122"/>
                <a:cs typeface="Times New Roman" panose="02020603050405020304" pitchFamily="18" charset="0"/>
              </a:rPr>
              <a:t>3. Luckily, </a:t>
            </a:r>
            <a:r>
              <a:rPr lang="en-US" altLang="zh-CN" sz="2800" dirty="0">
                <a:latin typeface="Times New Roman" panose="02020603050405020304" pitchFamily="18" charset="0"/>
                <a:ea typeface="华文中宋" panose="02010600040101010101" charset="-122"/>
                <a:cs typeface="Times New Roman" panose="02020603050405020304" pitchFamily="18" charset="0"/>
                <a:sym typeface="+mn-ea"/>
              </a:rPr>
              <a:t>I was</a:t>
            </a:r>
            <a:r>
              <a:rPr lang="en-US" altLang="zh-CN" sz="2800" dirty="0">
                <a:solidFill>
                  <a:schemeClr val="tx1"/>
                </a:solidFill>
                <a:latin typeface="Times New Roman" panose="02020603050405020304" pitchFamily="18" charset="0"/>
                <a:ea typeface="华文中宋" panose="02010600040101010101" charset="-122"/>
                <a:cs typeface="Times New Roman" panose="02020603050405020304" pitchFamily="18" charset="0"/>
                <a:sym typeface="+mn-ea"/>
              </a:rPr>
              <a:t> ________ </a:t>
            </a:r>
            <a:r>
              <a:rPr lang="en-US" altLang="zh-CN" sz="2800" dirty="0">
                <a:latin typeface="Times New Roman" panose="02020603050405020304" pitchFamily="18" charset="0"/>
                <a:ea typeface="华文中宋" panose="02010600040101010101" charset="-122"/>
                <a:cs typeface="Times New Roman" panose="02020603050405020304" pitchFamily="18" charset="0"/>
                <a:sym typeface="+mn-ea"/>
              </a:rPr>
              <a:t>permission to visit the palace.</a:t>
            </a:r>
            <a:endParaRPr lang="en-US" altLang="zh-CN" sz="2800">
              <a:latin typeface="Times New Roman" panose="02020603050405020304" pitchFamily="18" charset="0"/>
              <a:ea typeface="华文中宋" panose="02010600040101010101" charset="-122"/>
              <a:cs typeface="Times New Roman" panose="02020603050405020304" pitchFamily="18" charset="0"/>
            </a:endParaRPr>
          </a:p>
          <a:p>
            <a:pPr>
              <a:lnSpc>
                <a:spcPct val="110000"/>
              </a:lnSpc>
            </a:pPr>
            <a:r>
              <a:rPr lang="en-US" altLang="zh-CN" sz="2800">
                <a:latin typeface="Times New Roman" panose="02020603050405020304" pitchFamily="18" charset="0"/>
                <a:ea typeface="华文中宋" panose="02010600040101010101" charset="-122"/>
                <a:cs typeface="Times New Roman" panose="02020603050405020304" pitchFamily="18" charset="0"/>
              </a:rPr>
              <a:t>4. </a:t>
            </a:r>
            <a:r>
              <a:rPr lang="en-US" altLang="zh-CN" sz="2800" dirty="0">
                <a:latin typeface="Times New Roman" panose="02020603050405020304" pitchFamily="18" charset="0"/>
                <a:ea typeface="华文中宋" panose="02010600040101010101" charset="-122"/>
                <a:cs typeface="Times New Roman" panose="02020603050405020304" pitchFamily="18" charset="0"/>
                <a:sym typeface="+mn-ea"/>
              </a:rPr>
              <a:t>The children were a great __________ to him when his wife died</a:t>
            </a:r>
            <a:r>
              <a:rPr lang="en-US" altLang="zh-CN" sz="2800" noProof="0" dirty="0">
                <a:ln>
                  <a:noFill/>
                </a:ln>
                <a:solidFill>
                  <a:sysClr val="windowText" lastClr="000000"/>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rPr>
              <a:t>.</a:t>
            </a:r>
            <a:endParaRPr lang="en-US" altLang="zh-CN" sz="2800">
              <a:latin typeface="Times New Roman" panose="02020603050405020304" pitchFamily="18" charset="0"/>
              <a:ea typeface="华文中宋" panose="02010600040101010101" charset="-122"/>
              <a:cs typeface="Times New Roman" panose="02020603050405020304" pitchFamily="18" charset="0"/>
            </a:endParaRPr>
          </a:p>
          <a:p>
            <a:pPr>
              <a:lnSpc>
                <a:spcPct val="110000"/>
              </a:lnSpc>
            </a:pPr>
            <a:r>
              <a:rPr lang="en-US" altLang="zh-CN" sz="2800">
                <a:latin typeface="Times New Roman" panose="02020603050405020304" pitchFamily="18" charset="0"/>
                <a:ea typeface="华文中宋" panose="02010600040101010101" charset="-122"/>
                <a:cs typeface="Times New Roman" panose="02020603050405020304" pitchFamily="18" charset="0"/>
              </a:rPr>
              <a:t>5. He could be a bit of a _________ when he was drunk.</a:t>
            </a:r>
            <a:endParaRPr lang="en-US" altLang="zh-CN" sz="2800">
              <a:latin typeface="Times New Roman" panose="02020603050405020304" pitchFamily="18" charset="0"/>
              <a:ea typeface="华文中宋" panose="02010600040101010101" charset="-122"/>
              <a:cs typeface="Times New Roman" panose="02020603050405020304" pitchFamily="18" charset="0"/>
            </a:endParaRPr>
          </a:p>
          <a:p>
            <a:pPr>
              <a:lnSpc>
                <a:spcPct val="110000"/>
              </a:lnSpc>
            </a:pPr>
            <a:r>
              <a:rPr lang="en-US" altLang="zh-CN" sz="2800">
                <a:latin typeface="Times New Roman" panose="02020603050405020304" pitchFamily="18" charset="0"/>
                <a:ea typeface="华文中宋" panose="02010600040101010101" charset="-122"/>
                <a:cs typeface="Times New Roman" panose="02020603050405020304" pitchFamily="18" charset="0"/>
              </a:rPr>
              <a:t>6. </a:t>
            </a:r>
            <a:r>
              <a:rPr lang="en-US" altLang="zh-CN" sz="2800" dirty="0">
                <a:latin typeface="Times New Roman" panose="02020603050405020304" pitchFamily="18" charset="0"/>
                <a:ea typeface="华文中宋" panose="02010600040101010101" charset="-122"/>
                <a:cs typeface="Times New Roman" panose="02020603050405020304" pitchFamily="18" charset="0"/>
                <a:sym typeface="+mn-ea"/>
              </a:rPr>
              <a:t>It was a fierce battle: both sides had </a:t>
            </a:r>
            <a:r>
              <a:rPr lang="en-US" altLang="zh-CN" sz="2800" b="1" dirty="0">
                <a:latin typeface="Times New Roman" panose="02020603050405020304" pitchFamily="18" charset="0"/>
                <a:ea typeface="华文中宋" panose="02010600040101010101" charset="-122"/>
                <a:cs typeface="Times New Roman" panose="02020603050405020304" pitchFamily="18" charset="0"/>
                <a:sym typeface="+mn-ea"/>
              </a:rPr>
              <a:t>suffered heavy</a:t>
            </a:r>
            <a:r>
              <a:rPr lang="en-US" altLang="zh-CN" sz="2800" dirty="0">
                <a:latin typeface="Times New Roman" panose="02020603050405020304" pitchFamily="18" charset="0"/>
                <a:ea typeface="华文中宋" panose="02010600040101010101" charset="-122"/>
                <a:cs typeface="Times New Roman" panose="02020603050405020304" pitchFamily="18" charset="0"/>
                <a:sym typeface="+mn-ea"/>
              </a:rPr>
              <a:t>________</a:t>
            </a:r>
            <a:r>
              <a:rPr lang="en-US" altLang="zh-CN" sz="2800">
                <a:latin typeface="Times New Roman" panose="02020603050405020304" pitchFamily="18" charset="0"/>
                <a:ea typeface="华文中宋" panose="02010600040101010101" charset="-122"/>
                <a:cs typeface="Times New Roman" panose="02020603050405020304" pitchFamily="18" charset="0"/>
              </a:rPr>
              <a:t>.</a:t>
            </a:r>
            <a:endParaRPr lang="en-US" altLang="zh-CN" sz="2800">
              <a:latin typeface="Times New Roman" panose="02020603050405020304" pitchFamily="18" charset="0"/>
              <a:ea typeface="华文中宋" panose="02010600040101010101" charset="-122"/>
              <a:cs typeface="Times New Roman" panose="02020603050405020304" pitchFamily="18" charset="0"/>
            </a:endParaRPr>
          </a:p>
          <a:p>
            <a:pPr>
              <a:lnSpc>
                <a:spcPct val="110000"/>
              </a:lnSpc>
            </a:pPr>
            <a:r>
              <a:rPr lang="en-US" altLang="zh-CN" sz="2800">
                <a:latin typeface="Times New Roman" panose="02020603050405020304" pitchFamily="18" charset="0"/>
                <a:ea typeface="华文中宋" panose="02010600040101010101" charset="-122"/>
                <a:cs typeface="Times New Roman" panose="02020603050405020304" pitchFamily="18" charset="0"/>
              </a:rPr>
              <a:t>7. </a:t>
            </a:r>
            <a:r>
              <a:rPr lang="en-US" altLang="zh-CN" sz="2800" dirty="0">
                <a:latin typeface="Times New Roman" panose="02020603050405020304" pitchFamily="18" charset="0"/>
                <a:ea typeface="华文中宋" panose="02010600040101010101" charset="-122"/>
                <a:cs typeface="Times New Roman" panose="02020603050405020304" pitchFamily="18" charset="0"/>
                <a:sym typeface="+mn-ea"/>
              </a:rPr>
              <a:t>The difficulties strengthened her ________ to uncover the truth</a:t>
            </a:r>
            <a:r>
              <a:rPr lang="en-US" altLang="zh-CN" sz="2800">
                <a:latin typeface="Times New Roman" panose="02020603050405020304" pitchFamily="18" charset="0"/>
                <a:ea typeface="华文中宋" panose="02010600040101010101" charset="-122"/>
                <a:cs typeface="Times New Roman" panose="02020603050405020304" pitchFamily="18" charset="0"/>
              </a:rPr>
              <a:t>.</a:t>
            </a:r>
            <a:endParaRPr lang="en-US" altLang="zh-CN" sz="2800">
              <a:latin typeface="Times New Roman" panose="02020603050405020304" pitchFamily="18" charset="0"/>
              <a:ea typeface="华文中宋" panose="02010600040101010101" charset="-122"/>
              <a:cs typeface="Times New Roman" panose="02020603050405020304" pitchFamily="18" charset="0"/>
            </a:endParaRPr>
          </a:p>
          <a:p>
            <a:pPr>
              <a:lnSpc>
                <a:spcPct val="110000"/>
              </a:lnSpc>
            </a:pPr>
            <a:r>
              <a:rPr lang="en-US" altLang="zh-CN" sz="2800">
                <a:latin typeface="Times New Roman" panose="02020603050405020304" pitchFamily="18" charset="0"/>
                <a:ea typeface="华文中宋" panose="02010600040101010101" charset="-122"/>
                <a:cs typeface="Times New Roman" panose="02020603050405020304" pitchFamily="18" charset="0"/>
              </a:rPr>
              <a:t>8. </a:t>
            </a:r>
            <a:r>
              <a:rPr lang="en-US" altLang="zh-CN" sz="2800" dirty="0">
                <a:latin typeface="Times New Roman" panose="02020603050405020304" pitchFamily="18" charset="0"/>
                <a:ea typeface="华文中宋" panose="02010600040101010101" charset="-122"/>
                <a:cs typeface="Times New Roman" panose="02020603050405020304" pitchFamily="18" charset="0"/>
                <a:sym typeface="+mn-ea"/>
              </a:rPr>
              <a:t>We made a </a:t>
            </a:r>
            <a:r>
              <a:rPr lang="en-US" altLang="zh-CN" sz="2800" dirty="0">
                <a:solidFill>
                  <a:schemeClr val="tx1"/>
                </a:solidFill>
                <a:latin typeface="Times New Roman" panose="02020603050405020304" pitchFamily="18" charset="0"/>
                <a:ea typeface="华文中宋" panose="02010600040101010101" charset="-122"/>
                <a:cs typeface="Times New Roman" panose="02020603050405020304" pitchFamily="18" charset="0"/>
                <a:sym typeface="+mn-ea"/>
              </a:rPr>
              <a:t>_________</a:t>
            </a:r>
            <a:r>
              <a:rPr lang="en-US" altLang="zh-CN" sz="2800" dirty="0">
                <a:latin typeface="Times New Roman" panose="02020603050405020304" pitchFamily="18" charset="0"/>
                <a:ea typeface="华文中宋" panose="02010600040101010101" charset="-122"/>
                <a:cs typeface="Times New Roman" panose="02020603050405020304" pitchFamily="18" charset="0"/>
                <a:sym typeface="+mn-ea"/>
              </a:rPr>
              <a:t> arrangement to meet on Friday.</a:t>
            </a:r>
            <a:endParaRPr lang="en-US" altLang="zh-CN" sz="2800">
              <a:latin typeface="Times New Roman" panose="02020603050405020304" pitchFamily="18" charset="0"/>
              <a:ea typeface="华文中宋" panose="02010600040101010101" charset="-122"/>
              <a:cs typeface="Times New Roman" panose="02020603050405020304" pitchFamily="18" charset="0"/>
            </a:endParaRPr>
          </a:p>
        </p:txBody>
      </p:sp>
      <p:sp>
        <p:nvSpPr>
          <p:cNvPr id="2" name="文本框 1"/>
          <p:cNvSpPr txBox="1"/>
          <p:nvPr/>
        </p:nvSpPr>
        <p:spPr>
          <a:xfrm>
            <a:off x="803910" y="1379220"/>
            <a:ext cx="11054715" cy="521970"/>
          </a:xfrm>
          <a:prstGeom prst="rect">
            <a:avLst/>
          </a:prstGeom>
          <a:noFill/>
          <a:ln w="28575">
            <a:solidFill>
              <a:schemeClr val="tx1"/>
            </a:solidFill>
          </a:ln>
        </p:spPr>
        <p:txBody>
          <a:bodyPr wrap="square" rtlCol="0">
            <a:spAutoFit/>
          </a:bodyPr>
          <a:p>
            <a:r>
              <a:rPr lang="en-US" altLang="zh-CN" sz="2800" dirty="0">
                <a:solidFill>
                  <a:srgbClr val="C00000"/>
                </a:solidFill>
                <a:latin typeface="Times New Roman" panose="02020603050405020304" pitchFamily="18" charset="0"/>
                <a:ea typeface="华文中宋" panose="02010600040101010101" charset="-122"/>
                <a:cs typeface="Times New Roman" panose="02020603050405020304" pitchFamily="18" charset="0"/>
                <a:sym typeface="+mn-ea"/>
              </a:rPr>
              <a:t>casualty</a:t>
            </a:r>
            <a:r>
              <a:rPr lang="en-US" altLang="zh-CN" sz="2800">
                <a:latin typeface="Arial Narrow" panose="020B0606020202030204" charset="0"/>
                <a:cs typeface="Arial Narrow" panose="020B0606020202030204" charset="0"/>
              </a:rPr>
              <a:t>   </a:t>
            </a:r>
            <a:r>
              <a:rPr lang="en-US" altLang="zh-CN" sz="2800" dirty="0">
                <a:solidFill>
                  <a:srgbClr val="C00000"/>
                </a:solidFill>
                <a:latin typeface="Times New Roman" panose="02020603050405020304" pitchFamily="18" charset="0"/>
                <a:ea typeface="华文中宋" panose="02010600040101010101" charset="-122"/>
                <a:cs typeface="Times New Roman" panose="02020603050405020304" pitchFamily="18" charset="0"/>
                <a:sym typeface="+mn-ea"/>
              </a:rPr>
              <a:t>consolation</a:t>
            </a:r>
            <a:r>
              <a:rPr lang="en-US" altLang="zh-CN" sz="2800">
                <a:latin typeface="Arial Narrow" panose="020B0606020202030204" charset="0"/>
                <a:cs typeface="Arial Narrow" panose="020B0606020202030204" charset="0"/>
              </a:rPr>
              <a:t>    </a:t>
            </a:r>
            <a:r>
              <a:rPr lang="en-US" altLang="zh-CN" sz="2800" dirty="0">
                <a:solidFill>
                  <a:srgbClr val="C00000"/>
                </a:solidFill>
                <a:latin typeface="Times New Roman" panose="02020603050405020304" pitchFamily="18" charset="0"/>
                <a:ea typeface="华文中宋" panose="02010600040101010101" charset="-122"/>
                <a:cs typeface="Times New Roman" panose="02020603050405020304" pitchFamily="18" charset="0"/>
                <a:sym typeface="+mn-ea"/>
              </a:rPr>
              <a:t>fuss</a:t>
            </a:r>
            <a:r>
              <a:rPr lang="en-US" altLang="zh-CN" sz="2800">
                <a:latin typeface="Arial Narrow" panose="020B0606020202030204" charset="0"/>
                <a:cs typeface="Arial Narrow" panose="020B0606020202030204" charset="0"/>
              </a:rPr>
              <a:t>   </a:t>
            </a:r>
            <a:r>
              <a:rPr lang="en-US" altLang="zh-CN" sz="2800" dirty="0">
                <a:solidFill>
                  <a:srgbClr val="C00000"/>
                </a:solidFill>
                <a:latin typeface="Times New Roman" panose="02020603050405020304" pitchFamily="18" charset="0"/>
                <a:ea typeface="华文中宋" panose="02010600040101010101" charset="-122"/>
                <a:cs typeface="Times New Roman" panose="02020603050405020304" pitchFamily="18" charset="0"/>
                <a:sym typeface="+mn-ea"/>
              </a:rPr>
              <a:t>grant</a:t>
            </a:r>
            <a:r>
              <a:rPr lang="en-US" altLang="zh-CN" sz="2800">
                <a:latin typeface="Arial Narrow" panose="020B0606020202030204" charset="0"/>
                <a:cs typeface="Arial Narrow" panose="020B0606020202030204" charset="0"/>
              </a:rPr>
              <a:t>    </a:t>
            </a:r>
            <a:r>
              <a:rPr lang="en-US" altLang="zh-CN" sz="2800" dirty="0">
                <a:solidFill>
                  <a:srgbClr val="C00000"/>
                </a:solidFill>
                <a:latin typeface="Times New Roman" panose="02020603050405020304" pitchFamily="18" charset="0"/>
                <a:ea typeface="华文中宋" panose="02010600040101010101" charset="-122"/>
                <a:cs typeface="Times New Roman" panose="02020603050405020304" pitchFamily="18" charset="0"/>
                <a:sym typeface="+mn-ea"/>
              </a:rPr>
              <a:t>nuisance</a:t>
            </a:r>
            <a:r>
              <a:rPr lang="en-US" altLang="zh-CN" sz="2800">
                <a:latin typeface="Arial Narrow" panose="020B0606020202030204" charset="0"/>
                <a:cs typeface="Arial Narrow" panose="020B0606020202030204" charset="0"/>
              </a:rPr>
              <a:t>   </a:t>
            </a:r>
            <a:r>
              <a:rPr lang="en-US" altLang="zh-CN" sz="2800" dirty="0">
                <a:solidFill>
                  <a:srgbClr val="C00000"/>
                </a:solidFill>
                <a:latin typeface="Times New Roman" panose="02020603050405020304" pitchFamily="18" charset="0"/>
                <a:ea typeface="华文中宋" panose="02010600040101010101" charset="-122"/>
                <a:cs typeface="Times New Roman" panose="02020603050405020304" pitchFamily="18" charset="0"/>
                <a:sym typeface="+mn-ea"/>
              </a:rPr>
              <a:t>plead</a:t>
            </a:r>
            <a:r>
              <a:rPr lang="en-US" altLang="zh-CN" sz="2800">
                <a:latin typeface="Arial Narrow" panose="020B0606020202030204" charset="0"/>
                <a:cs typeface="Arial Narrow" panose="020B0606020202030204" charset="0"/>
              </a:rPr>
              <a:t>   </a:t>
            </a:r>
            <a:r>
              <a:rPr lang="en-US" altLang="zh-CN" sz="2800" dirty="0">
                <a:solidFill>
                  <a:srgbClr val="C00000"/>
                </a:solidFill>
                <a:latin typeface="Times New Roman" panose="02020603050405020304" pitchFamily="18" charset="0"/>
                <a:ea typeface="华文中宋" panose="02010600040101010101" charset="-122"/>
                <a:cs typeface="Times New Roman" panose="02020603050405020304" pitchFamily="18" charset="0"/>
                <a:sym typeface="+mn-ea"/>
              </a:rPr>
              <a:t>resolve</a:t>
            </a:r>
            <a:r>
              <a:rPr lang="en-US" altLang="zh-CN" sz="2800">
                <a:latin typeface="Arial Narrow" panose="020B0606020202030204" charset="0"/>
                <a:cs typeface="Arial Narrow" panose="020B0606020202030204" charset="0"/>
              </a:rPr>
              <a:t>   </a:t>
            </a:r>
            <a:r>
              <a:rPr lang="en-US" altLang="zh-CN" sz="2800" dirty="0">
                <a:solidFill>
                  <a:srgbClr val="C00000"/>
                </a:solidFill>
                <a:latin typeface="Times New Roman" panose="02020603050405020304" pitchFamily="18" charset="0"/>
                <a:ea typeface="华文中宋" panose="02010600040101010101" charset="-122"/>
                <a:cs typeface="Times New Roman" panose="02020603050405020304" pitchFamily="18" charset="0"/>
                <a:sym typeface="+mn-ea"/>
              </a:rPr>
              <a:t>tentative</a:t>
            </a:r>
            <a:r>
              <a:rPr lang="en-US" altLang="zh-CN" sz="2800">
                <a:latin typeface="Arial Narrow" panose="020B0606020202030204" charset="0"/>
                <a:cs typeface="Arial Narrow" panose="020B0606020202030204" charset="0"/>
              </a:rPr>
              <a:t>    </a:t>
            </a:r>
            <a:endParaRPr lang="en-US" altLang="zh-CN" sz="2800">
              <a:latin typeface="Arial Narrow" panose="020B0606020202030204" charset="0"/>
              <a:cs typeface="Arial Narrow" panose="020B0606020202030204" charset="0"/>
            </a:endParaRPr>
          </a:p>
        </p:txBody>
      </p:sp>
      <p:sp>
        <p:nvSpPr>
          <p:cNvPr id="4" name="文本框 3"/>
          <p:cNvSpPr txBox="1"/>
          <p:nvPr/>
        </p:nvSpPr>
        <p:spPr>
          <a:xfrm>
            <a:off x="667385" y="716280"/>
            <a:ext cx="9474835" cy="565150"/>
          </a:xfrm>
          <a:prstGeom prst="rect">
            <a:avLst/>
          </a:prstGeom>
          <a:noFill/>
        </p:spPr>
        <p:txBody>
          <a:bodyPr wrap="square" rtlCol="0">
            <a:spAutoFit/>
          </a:bodyPr>
          <a:p>
            <a:pPr>
              <a:lnSpc>
                <a:spcPct val="110000"/>
              </a:lnSpc>
            </a:pPr>
            <a:r>
              <a:rPr lang="en-US" altLang="zh-CN" sz="2800" i="1">
                <a:latin typeface="Times New Roman" panose="02020603050405020304" pitchFamily="18" charset="0"/>
                <a:ea typeface="华文中宋" panose="02010600040101010101" charset="-122"/>
                <a:cs typeface="Times New Roman" panose="02020603050405020304" pitchFamily="18" charset="0"/>
                <a:sym typeface="+mn-ea"/>
              </a:rPr>
              <a:t>Fill in each blank with the best word from the given words.</a:t>
            </a:r>
            <a:endParaRPr lang="en-US" altLang="zh-CN" sz="2800" i="1">
              <a:latin typeface="Times New Roman" panose="02020603050405020304" pitchFamily="18" charset="0"/>
              <a:ea typeface="华文中宋" panose="02010600040101010101" charset="-122"/>
              <a:cs typeface="Times New Roman" panose="02020603050405020304" pitchFamily="18" charset="0"/>
            </a:endParaRPr>
          </a:p>
        </p:txBody>
      </p:sp>
      <p:sp>
        <p:nvSpPr>
          <p:cNvPr id="17" name="文本框 16"/>
          <p:cNvSpPr txBox="1"/>
          <p:nvPr/>
        </p:nvSpPr>
        <p:spPr>
          <a:xfrm>
            <a:off x="5611495" y="2027555"/>
            <a:ext cx="1440180"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pleaded</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5" name="文本框 4"/>
          <p:cNvSpPr txBox="1"/>
          <p:nvPr/>
        </p:nvSpPr>
        <p:spPr>
          <a:xfrm>
            <a:off x="2967355" y="2479040"/>
            <a:ext cx="970915"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fuss</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6" name="文本框 5"/>
          <p:cNvSpPr txBox="1"/>
          <p:nvPr/>
        </p:nvSpPr>
        <p:spPr>
          <a:xfrm>
            <a:off x="3316605" y="2926080"/>
            <a:ext cx="1209040"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granted</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7" name="文本框 6"/>
          <p:cNvSpPr txBox="1"/>
          <p:nvPr/>
        </p:nvSpPr>
        <p:spPr>
          <a:xfrm>
            <a:off x="4779645" y="3438525"/>
            <a:ext cx="1844040" cy="521970"/>
          </a:xfrm>
          <a:prstGeom prst="rect">
            <a:avLst/>
          </a:prstGeom>
          <a:noFill/>
        </p:spPr>
        <p:txBody>
          <a:bodyPr wrap="square" rtlCol="0" anchor="t">
            <a:spAutoFit/>
          </a:bodyPr>
          <a:p>
            <a:pPr algn="ctr"/>
            <a:r>
              <a:rPr lang="en-US" altLang="zh-CN" sz="2800" dirty="0">
                <a:solidFill>
                  <a:srgbClr val="C00000"/>
                </a:solidFill>
                <a:latin typeface="Arial Narrow" panose="020B0606020202030204" charset="0"/>
                <a:ea typeface="华文中宋" panose="02010600040101010101" charset="-122"/>
                <a:cs typeface="Arial Narrow" panose="020B0606020202030204" charset="0"/>
                <a:sym typeface="+mn-ea"/>
              </a:rPr>
              <a:t>consolation</a:t>
            </a:r>
            <a:endParaRPr lang="en-US" altLang="zh-CN" sz="2800" dirty="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9" name="文本框 8"/>
          <p:cNvSpPr txBox="1"/>
          <p:nvPr/>
        </p:nvSpPr>
        <p:spPr>
          <a:xfrm>
            <a:off x="4227830" y="3888105"/>
            <a:ext cx="1588770"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nuisance</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11" name="文本框 10"/>
          <p:cNvSpPr txBox="1"/>
          <p:nvPr/>
        </p:nvSpPr>
        <p:spPr>
          <a:xfrm>
            <a:off x="8456930" y="4327525"/>
            <a:ext cx="1571625"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casualties</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12" name="文本框 11"/>
          <p:cNvSpPr txBox="1"/>
          <p:nvPr/>
        </p:nvSpPr>
        <p:spPr>
          <a:xfrm>
            <a:off x="5695315" y="4817110"/>
            <a:ext cx="1610360"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resolve</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sp>
        <p:nvSpPr>
          <p:cNvPr id="13" name="文本框 12"/>
          <p:cNvSpPr txBox="1"/>
          <p:nvPr/>
        </p:nvSpPr>
        <p:spPr>
          <a:xfrm>
            <a:off x="2816860" y="5226685"/>
            <a:ext cx="1610360" cy="521970"/>
          </a:xfrm>
          <a:prstGeom prst="rect">
            <a:avLst/>
          </a:prstGeom>
          <a:noFill/>
        </p:spPr>
        <p:txBody>
          <a:bodyPr wrap="square" rtlCol="0" anchor="t">
            <a:spAutoFit/>
          </a:bodyPr>
          <a:p>
            <a:pPr algn="ctr"/>
            <a:r>
              <a:rPr lang="en-US" sz="2800">
                <a:solidFill>
                  <a:srgbClr val="C00000"/>
                </a:solidFill>
                <a:latin typeface="Arial Narrow" panose="020B0606020202030204" charset="0"/>
                <a:ea typeface="华文中宋" panose="02010600040101010101" charset="-122"/>
                <a:cs typeface="Arial Narrow" panose="020B0606020202030204" charset="0"/>
                <a:sym typeface="+mn-ea"/>
              </a:rPr>
              <a:t>tentative</a:t>
            </a:r>
            <a:endParaRPr lang="en-US" sz="2000">
              <a:solidFill>
                <a:srgbClr val="C00000"/>
              </a:solidFill>
              <a:latin typeface="Arial Narrow" panose="020B0606020202030204" charset="0"/>
              <a:ea typeface="华文中宋" panose="02010600040101010101" charset="-122"/>
              <a:cs typeface="Arial Narrow" panose="020B0606020202030204" charset="0"/>
              <a:sym typeface="+mn-ea"/>
            </a:endParaRPr>
          </a:p>
        </p:txBody>
      </p:sp>
      <p:pic>
        <p:nvPicPr>
          <p:cNvPr id="14" name="图片 13"/>
          <p:cNvPicPr/>
          <p:nvPr/>
        </p:nvPicPr>
        <p:blipFill>
          <a:blip r:embed="rId5"/>
          <a:stretch>
            <a:fillRect/>
          </a:stretch>
        </p:blipFill>
        <p:spPr>
          <a:xfrm>
            <a:off x="9726295" y="5226050"/>
            <a:ext cx="2041525" cy="1372235"/>
          </a:xfrm>
          <a:prstGeom prst="rect">
            <a:avLst/>
          </a:prstGeom>
        </p:spPr>
      </p:pic>
      <p:sp>
        <p:nvSpPr>
          <p:cNvPr id="15" name="文本框 14"/>
          <p:cNvSpPr txBox="1"/>
          <p:nvPr/>
        </p:nvSpPr>
        <p:spPr>
          <a:xfrm>
            <a:off x="9415145" y="6271260"/>
            <a:ext cx="2443480" cy="337185"/>
          </a:xfrm>
          <a:prstGeom prst="rect">
            <a:avLst/>
          </a:prstGeom>
          <a:solidFill>
            <a:schemeClr val="bg1">
              <a:lumMod val="95000"/>
            </a:schemeClr>
          </a:solidFill>
        </p:spPr>
        <p:txBody>
          <a:bodyPr wrap="square" rtlCol="0" anchor="t">
            <a:spAutoFit/>
          </a:bodyPr>
          <a:p>
            <a:r>
              <a:rPr lang="en-US" altLang="zh-CN" sz="1600">
                <a:solidFill>
                  <a:srgbClr val="FF0000"/>
                </a:solidFill>
                <a:latin typeface="Cooper Black" panose="0208090404030B020404" charset="0"/>
                <a:cs typeface="Cooper Black" panose="0208090404030B020404" charset="0"/>
              </a:rPr>
              <a:t>Why all the fuss on it?</a:t>
            </a:r>
            <a:endParaRPr lang="en-US" altLang="zh-CN" sz="1600">
              <a:solidFill>
                <a:srgbClr val="FF0000"/>
              </a:solidFill>
              <a:latin typeface="Cooper Black" panose="0208090404030B020404" charset="0"/>
              <a:cs typeface="Cooper Black" panose="0208090404030B0204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heckerboard(across)">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checkerboard(across)">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heckerboard(across)">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checkerboard(across)">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checkerboard(across)">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checkerboard(across)">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checkerboard(across)">
                                      <p:cBhvr>
                                        <p:cTn id="4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5" grpId="0"/>
      <p:bldP spid="6" grpId="0"/>
      <p:bldP spid="7" grpId="0"/>
      <p:bldP spid="9" grpId="0"/>
      <p:bldP spid="11" grpId="0"/>
      <p:bldP spid="12"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64870" y="635000"/>
            <a:ext cx="10461625" cy="4230370"/>
          </a:xfrm>
          <a:prstGeom prst="rect">
            <a:avLst/>
          </a:prstGeom>
          <a:noFill/>
        </p:spPr>
        <p:txBody>
          <a:bodyPr wrap="square" rtlCol="0" anchor="ctr" anchorCtr="0">
            <a:noAutofit/>
          </a:bodyPr>
          <a:p>
            <a:pPr lvl="0" algn="l">
              <a:lnSpc>
                <a:spcPct val="90000"/>
              </a:lnSpc>
              <a:buNone/>
            </a:pPr>
            <a:r>
              <a:rPr lang="en-US" altLang="zh-CN" sz="3200" i="1">
                <a:solidFill>
                  <a:srgbClr val="000000"/>
                </a:solidFill>
                <a:latin typeface="Times New Roman" panose="02020603050405020304" pitchFamily="18" charset="0"/>
                <a:ea typeface="微软雅黑" panose="020B0503020204020204" charset="-122"/>
                <a:cs typeface="Times New Roman" panose="02020603050405020304" pitchFamily="18" charset="0"/>
              </a:rPr>
              <a:t>Fill in the blanks with the words given. Change the form if necessary.</a:t>
            </a:r>
            <a:endParaRPr lang="en-US" altLang="zh-CN" sz="3200" i="1">
              <a:solidFill>
                <a:srgbClr val="000000"/>
              </a:solidFill>
              <a:latin typeface="Times New Roman" panose="02020603050405020304" pitchFamily="18" charset="0"/>
              <a:ea typeface="微软雅黑" panose="020B0503020204020204" charset="-122"/>
              <a:cs typeface="Times New Roman" panose="02020603050405020304" pitchFamily="18" charset="0"/>
            </a:endParaRPr>
          </a:p>
          <a:p>
            <a:pPr lvl="0" algn="l">
              <a:lnSpc>
                <a:spcPct val="90000"/>
              </a:lnSpc>
              <a:buNone/>
            </a:pPr>
            <a:r>
              <a:rPr lang="en-US" altLang="zh-CN" sz="3200">
                <a:solidFill>
                  <a:srgbClr val="000000"/>
                </a:solidFill>
                <a:latin typeface="Times New Roman" panose="02020603050405020304" pitchFamily="18" charset="0"/>
                <a:ea typeface="微软雅黑" panose="020B0503020204020204" charset="-122"/>
                <a:cs typeface="Times New Roman" panose="02020603050405020304" pitchFamily="18" charset="0"/>
              </a:rPr>
              <a:t>     </a:t>
            </a:r>
            <a:r>
              <a:rPr lang="en-US" altLang="zh-CN" sz="3200" b="1">
                <a:solidFill>
                  <a:srgbClr val="000000"/>
                </a:solidFill>
                <a:latin typeface="Times New Roman" panose="02020603050405020304" pitchFamily="18" charset="0"/>
                <a:ea typeface="微软雅黑" panose="020B0503020204020204" charset="-122"/>
                <a:cs typeface="Times New Roman" panose="02020603050405020304" pitchFamily="18" charset="0"/>
              </a:rPr>
              <a:t>accompany,  assail,  sheer,  soothe,  throb</a:t>
            </a:r>
            <a:endParaRPr lang="en-US" altLang="zh-CN" sz="3200">
              <a:solidFill>
                <a:srgbClr val="000000"/>
              </a:solidFill>
              <a:latin typeface="Times New Roman" panose="02020603050405020304" pitchFamily="18" charset="0"/>
              <a:ea typeface="微软雅黑" panose="020B0503020204020204" charset="-122"/>
              <a:cs typeface="Times New Roman" panose="02020603050405020304" pitchFamily="18" charset="0"/>
            </a:endParaRPr>
          </a:p>
          <a:p>
            <a:pPr lvl="0" algn="l">
              <a:lnSpc>
                <a:spcPct val="90000"/>
              </a:lnSpc>
              <a:buNone/>
            </a:pPr>
            <a:r>
              <a:rPr lang="en-US" altLang="zh-CN" sz="3200">
                <a:solidFill>
                  <a:srgbClr val="000000"/>
                </a:solidFill>
                <a:latin typeface="Times New Roman" panose="02020603050405020304" pitchFamily="18" charset="0"/>
                <a:ea typeface="微软雅黑" panose="020B0503020204020204" charset="-122"/>
                <a:cs typeface="Times New Roman" panose="02020603050405020304" pitchFamily="18" charset="0"/>
              </a:rPr>
              <a:t>1. </a:t>
            </a:r>
            <a:r>
              <a:rPr lang="en-US" altLang="zh-CN" sz="3200" dirty="0">
                <a:latin typeface="Times New Roman" panose="02020603050405020304" pitchFamily="18" charset="0"/>
                <a:ea typeface="华文中宋" panose="02010600040101010101" charset="-122"/>
                <a:cs typeface="Times New Roman" panose="02020603050405020304" pitchFamily="18" charset="0"/>
                <a:sym typeface="+mn-ea"/>
              </a:rPr>
              <a:t>The enemy plane tried to  </a:t>
            </a:r>
            <a:r>
              <a:rPr lang="en-US" altLang="zh-CN" sz="3200" dirty="0">
                <a:solidFill>
                  <a:srgbClr val="639EF4"/>
                </a:solidFill>
                <a:latin typeface="Times New Roman" panose="02020603050405020304" pitchFamily="18" charset="0"/>
                <a:ea typeface="华文中宋" panose="02010600040101010101" charset="-122"/>
                <a:cs typeface="Times New Roman" panose="02020603050405020304" pitchFamily="18" charset="0"/>
                <a:sym typeface="+mn-ea"/>
              </a:rPr>
              <a:t>[填空1]</a:t>
            </a:r>
            <a:r>
              <a:rPr lang="en-US" altLang="zh-CN" sz="3200" dirty="0">
                <a:latin typeface="Times New Roman" panose="02020603050405020304" pitchFamily="18" charset="0"/>
                <a:ea typeface="华文中宋" panose="02010600040101010101" charset="-122"/>
                <a:cs typeface="Times New Roman" panose="02020603050405020304" pitchFamily="18" charset="0"/>
                <a:sym typeface="+mn-ea"/>
              </a:rPr>
              <a:t>  our defense position.</a:t>
            </a:r>
            <a:endParaRPr lang="en-US" altLang="zh-CN" sz="3200">
              <a:solidFill>
                <a:srgbClr val="000000"/>
              </a:solidFill>
              <a:latin typeface="Times New Roman" panose="02020603050405020304" pitchFamily="18" charset="0"/>
              <a:ea typeface="微软雅黑" panose="020B0503020204020204" charset="-122"/>
              <a:cs typeface="Times New Roman" panose="02020603050405020304" pitchFamily="18" charset="0"/>
            </a:endParaRPr>
          </a:p>
          <a:p>
            <a:pPr lvl="0" algn="l">
              <a:lnSpc>
                <a:spcPct val="90000"/>
              </a:lnSpc>
              <a:buNone/>
            </a:pPr>
            <a:r>
              <a:rPr lang="en-US" altLang="zh-CN" sz="3200">
                <a:solidFill>
                  <a:srgbClr val="000000"/>
                </a:solidFill>
                <a:latin typeface="Times New Roman" panose="02020603050405020304" pitchFamily="18" charset="0"/>
                <a:ea typeface="微软雅黑" panose="020B0503020204020204" charset="-122"/>
                <a:cs typeface="Times New Roman" panose="02020603050405020304" pitchFamily="18" charset="0"/>
              </a:rPr>
              <a:t>2. Young people are moving into big cities, which are  </a:t>
            </a:r>
            <a:r>
              <a:rPr lang="en-US" altLang="zh-CN" sz="3200">
                <a:solidFill>
                  <a:srgbClr val="639EF4"/>
                </a:solidFill>
                <a:latin typeface="Times New Roman" panose="02020603050405020304" pitchFamily="18" charset="0"/>
                <a:ea typeface="微软雅黑" panose="020B0503020204020204" charset="-122"/>
                <a:cs typeface="Times New Roman" panose="02020603050405020304" pitchFamily="18" charset="0"/>
              </a:rPr>
              <a:t>[填空2]</a:t>
            </a:r>
            <a:r>
              <a:rPr lang="en-US" altLang="zh-CN" sz="3200">
                <a:solidFill>
                  <a:srgbClr val="000000"/>
                </a:solidFill>
                <a:latin typeface="Times New Roman" panose="02020603050405020304" pitchFamily="18" charset="0"/>
                <a:ea typeface="微软雅黑" panose="020B0503020204020204" charset="-122"/>
                <a:cs typeface="Times New Roman" panose="02020603050405020304" pitchFamily="18" charset="0"/>
              </a:rPr>
              <a:t> with life and energy</a:t>
            </a:r>
            <a:endParaRPr lang="en-US" altLang="zh-CN" sz="3200">
              <a:solidFill>
                <a:srgbClr val="000000"/>
              </a:solidFill>
              <a:latin typeface="Times New Roman" panose="02020603050405020304" pitchFamily="18" charset="0"/>
              <a:ea typeface="微软雅黑" panose="020B0503020204020204" charset="-122"/>
              <a:cs typeface="Times New Roman" panose="02020603050405020304" pitchFamily="18" charset="0"/>
            </a:endParaRPr>
          </a:p>
          <a:p>
            <a:pPr lvl="0" algn="l">
              <a:lnSpc>
                <a:spcPct val="90000"/>
              </a:lnSpc>
              <a:buNone/>
            </a:pPr>
            <a:r>
              <a:rPr lang="en-US" altLang="zh-CN" sz="3200">
                <a:solidFill>
                  <a:srgbClr val="000000"/>
                </a:solidFill>
                <a:latin typeface="Times New Roman" panose="02020603050405020304" pitchFamily="18" charset="0"/>
                <a:ea typeface="微软雅黑" panose="020B0503020204020204" charset="-122"/>
                <a:cs typeface="Times New Roman" panose="02020603050405020304" pitchFamily="18" charset="0"/>
              </a:rPr>
              <a:t>3. </a:t>
            </a:r>
            <a:r>
              <a:rPr lang="en-US" altLang="zh-CN" sz="3200" dirty="0">
                <a:latin typeface="Times New Roman" panose="02020603050405020304" pitchFamily="18" charset="0"/>
                <a:ea typeface="华文中宋" panose="02010600040101010101" charset="-122"/>
                <a:cs typeface="Times New Roman" panose="02020603050405020304" pitchFamily="18" charset="0"/>
                <a:sym typeface="+mn-ea"/>
              </a:rPr>
              <a:t>They won the championship by  </a:t>
            </a:r>
            <a:r>
              <a:rPr lang="en-US" altLang="zh-CN" sz="3200" dirty="0">
                <a:solidFill>
                  <a:srgbClr val="639EF4"/>
                </a:solidFill>
                <a:latin typeface="Times New Roman" panose="02020603050405020304" pitchFamily="18" charset="0"/>
                <a:ea typeface="华文中宋" panose="02010600040101010101" charset="-122"/>
                <a:cs typeface="Times New Roman" panose="02020603050405020304" pitchFamily="18" charset="0"/>
                <a:sym typeface="+mn-ea"/>
              </a:rPr>
              <a:t>[填空3]</a:t>
            </a:r>
            <a:r>
              <a:rPr lang="en-US" altLang="zh-CN" sz="3200" dirty="0">
                <a:latin typeface="Times New Roman" panose="02020603050405020304" pitchFamily="18" charset="0"/>
                <a:ea typeface="华文中宋" panose="02010600040101010101" charset="-122"/>
                <a:cs typeface="Times New Roman" panose="02020603050405020304" pitchFamily="18" charset="0"/>
                <a:sym typeface="+mn-ea"/>
              </a:rPr>
              <a:t>  luck.</a:t>
            </a:r>
            <a:endParaRPr lang="en-US" altLang="zh-CN" sz="3200">
              <a:solidFill>
                <a:srgbClr val="000000"/>
              </a:solidFill>
              <a:latin typeface="Times New Roman" panose="02020603050405020304" pitchFamily="18" charset="0"/>
              <a:ea typeface="微软雅黑" panose="020B0503020204020204" charset="-122"/>
              <a:cs typeface="Times New Roman" panose="02020603050405020304" pitchFamily="18" charset="0"/>
            </a:endParaRPr>
          </a:p>
          <a:p>
            <a:pPr lvl="0" algn="l">
              <a:lnSpc>
                <a:spcPct val="90000"/>
              </a:lnSpc>
              <a:buNone/>
            </a:pPr>
            <a:r>
              <a:rPr lang="en-US" altLang="zh-CN" sz="3200">
                <a:solidFill>
                  <a:srgbClr val="000000"/>
                </a:solidFill>
                <a:latin typeface="Times New Roman" panose="02020603050405020304" pitchFamily="18" charset="0"/>
                <a:ea typeface="微软雅黑" panose="020B0503020204020204" charset="-122"/>
                <a:cs typeface="Times New Roman" panose="02020603050405020304" pitchFamily="18" charset="0"/>
              </a:rPr>
              <a:t>4. </a:t>
            </a:r>
            <a:r>
              <a:rPr lang="en-US" altLang="zh-CN" sz="3200" dirty="0">
                <a:latin typeface="Times New Roman" panose="02020603050405020304" pitchFamily="18" charset="0"/>
                <a:ea typeface="华文中宋" panose="02010600040101010101" charset="-122"/>
                <a:cs typeface="Times New Roman" panose="02020603050405020304" pitchFamily="18" charset="0"/>
                <a:sym typeface="+mn-ea"/>
              </a:rPr>
              <a:t>Children under 14 must be  </a:t>
            </a:r>
            <a:r>
              <a:rPr lang="en-US" altLang="zh-CN" sz="3200" dirty="0">
                <a:solidFill>
                  <a:srgbClr val="639EF4"/>
                </a:solidFill>
                <a:latin typeface="Times New Roman" panose="02020603050405020304" pitchFamily="18" charset="0"/>
                <a:ea typeface="华文中宋" panose="02010600040101010101" charset="-122"/>
                <a:cs typeface="Times New Roman" panose="02020603050405020304" pitchFamily="18" charset="0"/>
                <a:sym typeface="+mn-ea"/>
              </a:rPr>
              <a:t>[填空4]</a:t>
            </a:r>
            <a:r>
              <a:rPr lang="en-US" altLang="zh-CN" sz="3200" dirty="0">
                <a:latin typeface="Times New Roman" panose="02020603050405020304" pitchFamily="18" charset="0"/>
                <a:ea typeface="华文中宋" panose="02010600040101010101" charset="-122"/>
                <a:cs typeface="Times New Roman" panose="02020603050405020304" pitchFamily="18" charset="0"/>
                <a:sym typeface="+mn-ea"/>
              </a:rPr>
              <a:t>  by an adult.</a:t>
            </a:r>
            <a:endParaRPr lang="en-US" altLang="zh-CN" sz="3200">
              <a:solidFill>
                <a:srgbClr val="000000"/>
              </a:solidFill>
              <a:latin typeface="Times New Roman" panose="02020603050405020304" pitchFamily="18" charset="0"/>
              <a:ea typeface="微软雅黑" panose="020B0503020204020204" charset="-122"/>
              <a:cs typeface="Times New Roman" panose="02020603050405020304" pitchFamily="18" charset="0"/>
            </a:endParaRPr>
          </a:p>
          <a:p>
            <a:pPr lvl="0" algn="l">
              <a:lnSpc>
                <a:spcPct val="90000"/>
              </a:lnSpc>
              <a:buNone/>
            </a:pPr>
            <a:r>
              <a:rPr lang="en-US" altLang="zh-CN" sz="3200">
                <a:solidFill>
                  <a:srgbClr val="000000"/>
                </a:solidFill>
                <a:latin typeface="Times New Roman" panose="02020603050405020304" pitchFamily="18" charset="0"/>
                <a:ea typeface="微软雅黑" panose="020B0503020204020204" charset="-122"/>
                <a:cs typeface="Times New Roman" panose="02020603050405020304" pitchFamily="18" charset="0"/>
              </a:rPr>
              <a:t>5. </a:t>
            </a:r>
            <a:r>
              <a:rPr lang="en-US" altLang="zh-CN" sz="3200" dirty="0">
                <a:latin typeface="Times New Roman" panose="02020603050405020304" pitchFamily="18" charset="0"/>
                <a:ea typeface="华文中宋" panose="02010600040101010101" charset="-122"/>
                <a:cs typeface="Times New Roman" panose="02020603050405020304" pitchFamily="18" charset="0"/>
                <a:sym typeface="+mn-ea"/>
              </a:rPr>
              <a:t>When I'm anxious, I  </a:t>
            </a:r>
            <a:r>
              <a:rPr lang="en-US" altLang="zh-CN" sz="3200" dirty="0">
                <a:solidFill>
                  <a:srgbClr val="639EF4"/>
                </a:solidFill>
                <a:latin typeface="Times New Roman" panose="02020603050405020304" pitchFamily="18" charset="0"/>
                <a:ea typeface="华文中宋" panose="02010600040101010101" charset="-122"/>
                <a:cs typeface="Times New Roman" panose="02020603050405020304" pitchFamily="18" charset="0"/>
                <a:sym typeface="+mn-ea"/>
              </a:rPr>
              <a:t>[填空5]</a:t>
            </a:r>
            <a:r>
              <a:rPr lang="en-US" altLang="zh-CN" sz="3200" dirty="0">
                <a:latin typeface="Times New Roman" panose="02020603050405020304" pitchFamily="18" charset="0"/>
                <a:ea typeface="华文中宋" panose="02010600040101010101" charset="-122"/>
                <a:cs typeface="Times New Roman" panose="02020603050405020304" pitchFamily="18" charset="0"/>
                <a:sym typeface="+mn-ea"/>
              </a:rPr>
              <a:t>  myself with a nice cup of tea.</a:t>
            </a:r>
            <a:endParaRPr lang="en-US" altLang="zh-CN" sz="3200">
              <a:solidFill>
                <a:srgbClr val="000000"/>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4" name="圆角矩形 3"/>
          <p:cNvSpPr/>
          <p:nvPr>
            <p:custDataLst>
              <p:tags r:id="rId2"/>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endParaRPr>
          </a:p>
        </p:txBody>
      </p:sp>
      <p:pic>
        <p:nvPicPr>
          <p:cNvPr id="15" name="图片 14"/>
          <p:cNvPicPr/>
          <p:nvPr/>
        </p:nvPicPr>
        <p:blipFill>
          <a:blip r:embed="rId3"/>
          <a:stretch>
            <a:fillRect/>
          </a:stretch>
        </p:blipFill>
        <p:spPr>
          <a:xfrm>
            <a:off x="4330700" y="5012055"/>
            <a:ext cx="3155315" cy="1678305"/>
          </a:xfrm>
          <a:prstGeom prst="rect">
            <a:avLst/>
          </a:prstGeom>
        </p:spPr>
      </p:pic>
      <p:sp>
        <p:nvSpPr>
          <p:cNvPr id="16" name="文本框 15"/>
          <p:cNvSpPr txBox="1"/>
          <p:nvPr/>
        </p:nvSpPr>
        <p:spPr>
          <a:xfrm>
            <a:off x="4988560" y="6353175"/>
            <a:ext cx="1828800" cy="337185"/>
          </a:xfrm>
          <a:prstGeom prst="rect">
            <a:avLst/>
          </a:prstGeom>
          <a:solidFill>
            <a:schemeClr val="bg1">
              <a:lumMod val="95000"/>
            </a:schemeClr>
          </a:solidFill>
        </p:spPr>
        <p:txBody>
          <a:bodyPr wrap="square" rtlCol="0" anchor="t">
            <a:spAutoFit/>
          </a:bodyPr>
          <a:p>
            <a:pPr algn="ctr"/>
            <a:r>
              <a:rPr lang="en-US" altLang="zh-CN" sz="1600">
                <a:solidFill>
                  <a:srgbClr val="FF0000"/>
                </a:solidFill>
                <a:latin typeface="Cooper Black" panose="0208090404030B020404" charset="0"/>
                <a:cs typeface="Cooper Black" panose="0208090404030B020404" charset="0"/>
              </a:rPr>
              <a:t>Soothing Music</a:t>
            </a:r>
            <a:endParaRPr lang="en-US" altLang="zh-CN" sz="1600">
              <a:solidFill>
                <a:srgbClr val="FF0000"/>
              </a:solidFill>
              <a:latin typeface="Cooper Black" panose="0208090404030B020404" charset="0"/>
              <a:cs typeface="Cooper Black" panose="0208090404030B020404" charset="0"/>
            </a:endParaRPr>
          </a:p>
        </p:txBody>
      </p:sp>
      <p:grpSp>
        <p:nvGrpSpPr>
          <p:cNvPr id="9" name="组合 8"/>
          <p:cNvGrpSpPr/>
          <p:nvPr>
            <p:custDataLst>
              <p:tags r:id="rId4"/>
            </p:custDataLst>
          </p:nvPr>
        </p:nvGrpSpPr>
        <p:grpSpPr>
          <a:xfrm>
            <a:off x="0" y="0"/>
            <a:ext cx="12192000" cy="635000"/>
            <a:chOff x="0" y="0"/>
            <a:chExt cx="19200" cy="1000"/>
          </a:xfrm>
        </p:grpSpPr>
        <p:sp>
          <p:nvSpPr>
            <p:cNvPr id="5" name="TitleBackground"/>
            <p:cNvSpPr/>
            <p:nvPr>
              <p:custDataLst>
                <p:tags r:id="rId5"/>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ColorBlock"/>
            <p:cNvSpPr/>
            <p:nvPr>
              <p:custDataLst>
                <p:tags r:id="rId6"/>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TypeText"/>
            <p:cNvSpPr txBox="1"/>
            <p:nvPr>
              <p:custDataLst>
                <p:tags r:id="rId7"/>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endParaRPr>
            </a:p>
          </p:txBody>
        </p:sp>
        <p:sp>
          <p:nvSpPr>
            <p:cNvPr id="8" name="TipText"/>
            <p:cNvSpPr txBox="1"/>
            <p:nvPr>
              <p:custDataLst>
                <p:tags r:id="rId8"/>
              </p:custDataLst>
            </p:nvPr>
          </p:nvSpPr>
          <p:spPr>
            <a:xfrm>
              <a:off x="2248" y="172"/>
              <a:ext cx="3600" cy="800"/>
            </a:xfrm>
            <a:prstGeom prst="rect">
              <a:avLst/>
            </a:prstGeom>
            <a:noFill/>
          </p:spPr>
          <p:txBody>
            <a:bodyPr wrap="none" rtlCol="0" anchor="ctr" anchorCtr="0">
              <a:noAutofit/>
            </a:bodyPr>
            <a:p>
              <a:pPr lvl="0" algn="l">
                <a:buNone/>
              </a:pPr>
              <a:r>
                <a:rPr lang="en-US" altLang="en-US" sz="2000">
                  <a:solidFill>
                    <a:srgbClr val="808080"/>
                  </a:solidFill>
                  <a:latin typeface="微软雅黑" panose="020B0503020204020204" charset="-122"/>
                  <a:ea typeface="微软雅黑" panose="020B0503020204020204" charset="-122"/>
                  <a:cs typeface="微软雅黑" panose="020B0503020204020204" charset="-122"/>
                </a:rPr>
                <a:t>30</a:t>
              </a:r>
              <a:r>
                <a:rPr lang="zh-CN" altLang="en-US" sz="2000">
                  <a:solidFill>
                    <a:srgbClr val="808080"/>
                  </a:solidFill>
                  <a:latin typeface="微软雅黑" panose="020B0503020204020204" charset="-122"/>
                  <a:ea typeface="微软雅黑" panose="020B0503020204020204" charset="-122"/>
                  <a:cs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E75F"/>
          <p:cNvPicPr>
            <a:picLocks noChangeAspect="1"/>
          </p:cNvPicPr>
          <p:nvPr>
            <p:custDataLst>
              <p:tags r:id="rId9"/>
            </p:custDataLst>
          </p:nvPr>
        </p:nvPicPr>
        <p:blipFill>
          <a:blip r:embed="rId10"/>
          <a:stretch>
            <a:fillRect/>
          </a:stretch>
        </p:blipFill>
        <p:spPr>
          <a:xfrm>
            <a:off x="10642600" y="63500"/>
            <a:ext cx="1422400" cy="508000"/>
          </a:xfrm>
          <a:prstGeom prst="rect">
            <a:avLst/>
          </a:prstGeom>
        </p:spPr>
      </p:pic>
    </p:spTree>
    <p:custDataLst>
      <p:tags r:id="rId1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338"/>
            <a:ext cx="2216150" cy="460375"/>
          </a:xfrm>
          <a:prstGeom prst="rect">
            <a:avLst/>
          </a:prstGeom>
          <a:noFill/>
          <a:ln w="9525">
            <a:noFill/>
            <a:miter lim="800000"/>
          </a:ln>
          <a:effectLst>
            <a:outerShdw blurRad="50800" dist="38100" dir="5400000" algn="t" rotWithShape="0">
              <a:prstClr val="black">
                <a:alpha val="40000"/>
              </a:prstClr>
            </a:outerShdw>
          </a:effectLst>
        </p:spPr>
        <p:txBody>
          <a:bodyPr>
            <a:spAutoFit/>
          </a:bodyPr>
          <a:lstStyle/>
          <a:p>
            <a:pPr eaLnBrk="1" hangingPunct="1">
              <a:buFont typeface="Arial" panose="020B0604020202020204" pitchFamily="34" charset="0"/>
              <a:buNone/>
            </a:pPr>
            <a:r>
              <a:rPr lang="en-US" altLang="zh-CN" sz="2400" dirty="0">
                <a:solidFill>
                  <a:schemeClr val="bg1"/>
                </a:solidFill>
                <a:latin typeface="Arial Black" panose="020B0A04020102020204" pitchFamily="34" charset="0"/>
              </a:rPr>
              <a:t>Glossary</a:t>
            </a:r>
            <a:endParaRPr lang="en-US" altLang="zh-CN" sz="2400" dirty="0">
              <a:solidFill>
                <a:schemeClr val="bg1"/>
              </a:solidFill>
              <a:latin typeface="Arial Black" panose="020B0A04020102020204" pitchFamily="34" charset="0"/>
            </a:endParaRPr>
          </a:p>
        </p:txBody>
      </p:sp>
      <p:pic>
        <p:nvPicPr>
          <p:cNvPr id="8" name="图片 7">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pic>
        <p:nvPicPr>
          <p:cNvPr id="10" name="图片 9">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3" name="内容占位符 2"/>
          <p:cNvSpPr>
            <a:spLocks noGrp="1"/>
          </p:cNvSpPr>
          <p:nvPr/>
        </p:nvSpPr>
        <p:spPr>
          <a:xfrm>
            <a:off x="529590" y="932815"/>
            <a:ext cx="8586470" cy="36607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9705" indent="-179705" algn="just" eaLnBrk="1" hangingPunct="1">
              <a:lnSpc>
                <a:spcPct val="80000"/>
              </a:lnSpc>
              <a:buNone/>
              <a:defRPr/>
            </a:pPr>
            <a:r>
              <a:rPr lang="en-US" altLang="zh-CN" sz="3200" b="1" dirty="0">
                <a:latin typeface="Calibri" panose="020F0502020204030204" charset="0"/>
                <a:ea typeface="宋体" panose="02010600030101010101" pitchFamily="2" charset="-122"/>
                <a:cs typeface="Calibri" panose="020F0502020204030204" charset="0"/>
              </a:rPr>
              <a:t>engage</a:t>
            </a:r>
            <a:r>
              <a:rPr lang="zh-CN" altLang="en-US" sz="3200" dirty="0">
                <a:latin typeface="Calibri" panose="020F0502020204030204" charset="0"/>
                <a:ea typeface="宋体" panose="02010600030101010101" pitchFamily="2" charset="-122"/>
              </a:rPr>
              <a:t>                   </a:t>
            </a:r>
            <a:r>
              <a:rPr lang="en-US" altLang="zh-CN" i="1" dirty="0">
                <a:solidFill>
                  <a:srgbClr val="990000"/>
                </a:solidFill>
                <a:latin typeface="Calibri" panose="020F0502020204030204"/>
                <a:ea typeface="宋体" panose="02010600030101010101" pitchFamily="2" charset="-122"/>
              </a:rPr>
              <a:t>v.</a:t>
            </a:r>
            <a:r>
              <a:rPr lang="en-US" altLang="zh-CN" dirty="0">
                <a:solidFill>
                  <a:srgbClr val="990000"/>
                </a:solidFill>
                <a:latin typeface="Calibri" panose="020F0502020204030204"/>
                <a:ea typeface="宋体" panose="02010600030101010101" pitchFamily="2" charset="-122"/>
              </a:rPr>
              <a:t> </a:t>
            </a:r>
            <a:r>
              <a:rPr lang="zh-CN" altLang="en-US" dirty="0">
                <a:solidFill>
                  <a:srgbClr val="990000"/>
                </a:solidFill>
                <a:latin typeface="Calibri" panose="020F0502020204030204"/>
                <a:ea typeface="宋体" panose="02010600030101010101" pitchFamily="2" charset="-122"/>
              </a:rPr>
              <a:t> </a:t>
            </a:r>
            <a:endParaRPr lang="en-US" altLang="zh-CN" dirty="0">
              <a:solidFill>
                <a:srgbClr val="990000"/>
              </a:solidFill>
              <a:latin typeface="Calibri" panose="020F0502020204030204"/>
              <a:ea typeface="宋体" panose="02010600030101010101" pitchFamily="2" charset="-122"/>
            </a:endParaRPr>
          </a:p>
          <a:p>
            <a:pPr marL="179705" indent="-179705" algn="just" eaLnBrk="1" hangingPunct="1">
              <a:lnSpc>
                <a:spcPct val="80000"/>
              </a:lnSpc>
              <a:spcBef>
                <a:spcPts val="600"/>
              </a:spcBef>
              <a:buNone/>
              <a:defRPr/>
            </a:pPr>
            <a:r>
              <a:rPr lang="en-US" altLang="en-GB" dirty="0">
                <a:latin typeface="Calibri" panose="020F0502020204030204" charset="0"/>
                <a:ea typeface="宋体" panose="02010600030101010101" pitchFamily="2" charset="-122"/>
                <a:cs typeface="Calibri" panose="020F0502020204030204" charset="0"/>
                <a:sym typeface="+mn-ea"/>
              </a:rPr>
              <a:t>1.</a:t>
            </a:r>
            <a:r>
              <a:rPr lang="en-GB" altLang="zh-CN" dirty="0">
                <a:latin typeface="Calibri" panose="020F0502020204030204" charset="0"/>
                <a:ea typeface="宋体" panose="02010600030101010101" pitchFamily="2" charset="-122"/>
                <a:cs typeface="Calibri" panose="020F0502020204030204" charset="0"/>
                <a:sym typeface="+mn-ea"/>
              </a:rPr>
              <a:t>Only 10% of American adults </a:t>
            </a:r>
            <a:r>
              <a:rPr lang="en-GB" altLang="zh-CN" dirty="0">
                <a:solidFill>
                  <a:srgbClr val="FF0000"/>
                </a:solidFill>
                <a:latin typeface="Calibri" panose="020F0502020204030204" charset="0"/>
                <a:ea typeface="宋体" panose="02010600030101010101" pitchFamily="2" charset="-122"/>
                <a:cs typeface="Calibri" panose="020F0502020204030204" charset="0"/>
                <a:sym typeface="+mn-ea"/>
              </a:rPr>
              <a:t>engage</a:t>
            </a:r>
            <a:r>
              <a:rPr lang="en-GB" altLang="zh-CN" dirty="0">
                <a:latin typeface="Calibri" panose="020F0502020204030204" charset="0"/>
                <a:ea typeface="宋体" panose="02010600030101010101" pitchFamily="2" charset="-122"/>
                <a:cs typeface="Calibri" panose="020F0502020204030204" charset="0"/>
                <a:sym typeface="+mn-ea"/>
              </a:rPr>
              <a:t> in regular exercise.</a:t>
            </a:r>
            <a:endParaRPr lang="en-US" altLang="zh-CN" dirty="0">
              <a:latin typeface="Calibri" panose="020F0502020204030204"/>
              <a:ea typeface="宋体" panose="02010600030101010101" pitchFamily="2" charset="-122"/>
            </a:endParaRPr>
          </a:p>
          <a:p>
            <a:pPr marL="179705" indent="-179705" algn="just" eaLnBrk="1" hangingPunct="1">
              <a:lnSpc>
                <a:spcPct val="80000"/>
              </a:lnSpc>
              <a:spcBef>
                <a:spcPts val="600"/>
              </a:spcBef>
              <a:buNone/>
              <a:defRPr/>
            </a:pPr>
            <a:r>
              <a:rPr lang="en-US" altLang="zh-CN" dirty="0">
                <a:latin typeface="Calibri" panose="020F0502020204030204"/>
                <a:ea typeface="宋体" panose="02010600030101010101" pitchFamily="2" charset="-122"/>
              </a:rPr>
              <a:t>2. It is difficult to </a:t>
            </a:r>
            <a:r>
              <a:rPr lang="en-US" altLang="zh-CN" dirty="0">
                <a:solidFill>
                  <a:srgbClr val="FF0000"/>
                </a:solidFill>
                <a:latin typeface="Calibri" panose="020F0502020204030204"/>
                <a:ea typeface="宋体" panose="02010600030101010101" pitchFamily="2" charset="-122"/>
              </a:rPr>
              <a:t>engage</a:t>
            </a:r>
            <a:r>
              <a:rPr lang="en-US" altLang="zh-CN" dirty="0">
                <a:latin typeface="Calibri" panose="020F0502020204030204"/>
                <a:ea typeface="宋体" panose="02010600030101010101" pitchFamily="2" charset="-122"/>
              </a:rPr>
              <a:t> workers of quality now.</a:t>
            </a:r>
            <a:endParaRPr lang="en-US" altLang="zh-CN" dirty="0">
              <a:latin typeface="Calibri" panose="020F0502020204030204"/>
              <a:ea typeface="宋体" panose="02010600030101010101" pitchFamily="2" charset="-122"/>
            </a:endParaRPr>
          </a:p>
          <a:p>
            <a:pPr marL="179705" indent="-179705" algn="just" eaLnBrk="1" hangingPunct="1">
              <a:lnSpc>
                <a:spcPct val="80000"/>
              </a:lnSpc>
              <a:spcBef>
                <a:spcPts val="600"/>
              </a:spcBef>
              <a:buNone/>
              <a:defRPr/>
            </a:pPr>
            <a:r>
              <a:rPr lang="en-US" altLang="zh-CN" dirty="0">
                <a:latin typeface="Calibri" panose="020F0502020204030204"/>
                <a:ea typeface="宋体" panose="02010600030101010101" pitchFamily="2" charset="-122"/>
                <a:sym typeface="+mn-ea"/>
              </a:rPr>
              <a:t>3. It is a movie that </a:t>
            </a:r>
            <a:r>
              <a:rPr lang="en-US" altLang="zh-CN" dirty="0">
                <a:solidFill>
                  <a:srgbClr val="FF0000"/>
                </a:solidFill>
                <a:latin typeface="Calibri" panose="020F0502020204030204"/>
                <a:ea typeface="宋体" panose="02010600030101010101" pitchFamily="2" charset="-122"/>
                <a:sym typeface="+mn-ea"/>
              </a:rPr>
              <a:t>engages</a:t>
            </a:r>
            <a:r>
              <a:rPr lang="en-US" altLang="zh-CN" dirty="0">
                <a:latin typeface="Calibri" panose="020F0502020204030204"/>
                <a:ea typeface="宋体" panose="02010600030101010101" pitchFamily="2" charset="-122"/>
                <a:sym typeface="+mn-ea"/>
              </a:rPr>
              <a:t> both the mind and the eye.</a:t>
            </a:r>
            <a:endParaRPr lang="en-US" altLang="zh-CN" dirty="0">
              <a:latin typeface="Calibri" panose="020F0502020204030204"/>
              <a:ea typeface="宋体" panose="02010600030101010101" pitchFamily="2" charset="-122"/>
              <a:sym typeface="+mn-ea"/>
            </a:endParaRPr>
          </a:p>
          <a:p>
            <a:pPr marL="179705" indent="-179705" algn="just" eaLnBrk="1" hangingPunct="1">
              <a:lnSpc>
                <a:spcPct val="80000"/>
              </a:lnSpc>
              <a:spcBef>
                <a:spcPts val="600"/>
              </a:spcBef>
              <a:buNone/>
              <a:defRPr/>
            </a:pPr>
            <a:r>
              <a:rPr lang="en-US" altLang="zh-CN" dirty="0">
                <a:latin typeface="Calibri" panose="020F0502020204030204"/>
                <a:ea typeface="宋体" panose="02010600030101010101" pitchFamily="2" charset="-122"/>
                <a:sym typeface="+mn-ea"/>
              </a:rPr>
              <a:t>4. He is now </a:t>
            </a:r>
            <a:r>
              <a:rPr lang="en-US" altLang="zh-CN" dirty="0">
                <a:solidFill>
                  <a:srgbClr val="FF0000"/>
                </a:solidFill>
                <a:latin typeface="Calibri" panose="020F0502020204030204"/>
                <a:ea typeface="宋体" panose="02010600030101010101" pitchFamily="2" charset="-122"/>
                <a:sym typeface="+mn-ea"/>
              </a:rPr>
              <a:t>engaged</a:t>
            </a:r>
            <a:r>
              <a:rPr lang="en-US" altLang="zh-CN" dirty="0">
                <a:latin typeface="Calibri" panose="020F0502020204030204"/>
                <a:ea typeface="宋体" panose="02010600030101010101" pitchFamily="2" charset="-122"/>
                <a:sym typeface="+mn-ea"/>
              </a:rPr>
              <a:t> on his second novel.</a:t>
            </a:r>
            <a:endParaRPr lang="en-US" altLang="zh-CN" dirty="0">
              <a:latin typeface="Calibri" panose="020F0502020204030204"/>
              <a:ea typeface="宋体" panose="02010600030101010101" pitchFamily="2" charset="-122"/>
              <a:sym typeface="+mn-ea"/>
            </a:endParaRPr>
          </a:p>
          <a:p>
            <a:pPr marL="179705" indent="-179705" algn="just" eaLnBrk="1" hangingPunct="1">
              <a:lnSpc>
                <a:spcPct val="80000"/>
              </a:lnSpc>
              <a:spcBef>
                <a:spcPts val="600"/>
              </a:spcBef>
              <a:buNone/>
              <a:defRPr/>
            </a:pPr>
            <a:r>
              <a:rPr lang="en-US" altLang="zh-CN" dirty="0">
                <a:latin typeface="Calibri" panose="020F0502020204030204"/>
                <a:ea typeface="宋体" panose="02010600030101010101" pitchFamily="2" charset="-122"/>
              </a:rPr>
              <a:t>5. The two armies </a:t>
            </a:r>
            <a:r>
              <a:rPr lang="en-US" altLang="zh-CN" dirty="0">
                <a:solidFill>
                  <a:srgbClr val="FF0000"/>
                </a:solidFill>
                <a:latin typeface="Calibri" panose="020F0502020204030204"/>
                <a:ea typeface="宋体" panose="02010600030101010101" pitchFamily="2" charset="-122"/>
              </a:rPr>
              <a:t>engaged</a:t>
            </a:r>
            <a:r>
              <a:rPr lang="en-US" altLang="zh-CN" dirty="0">
                <a:latin typeface="Calibri" panose="020F0502020204030204"/>
                <a:ea typeface="宋体" panose="02010600030101010101" pitchFamily="2" charset="-122"/>
              </a:rPr>
              <a:t> on the open field.</a:t>
            </a:r>
            <a:endParaRPr lang="en-US" altLang="zh-CN" dirty="0">
              <a:latin typeface="Calibri" panose="020F0502020204030204"/>
              <a:ea typeface="宋体" panose="02010600030101010101" pitchFamily="2" charset="-122"/>
            </a:endParaRPr>
          </a:p>
          <a:p>
            <a:pPr marL="179705" indent="-179705" algn="just" eaLnBrk="1" hangingPunct="1">
              <a:lnSpc>
                <a:spcPct val="80000"/>
              </a:lnSpc>
              <a:spcBef>
                <a:spcPts val="600"/>
              </a:spcBef>
              <a:buNone/>
              <a:defRPr/>
            </a:pPr>
            <a:r>
              <a:rPr lang="en-US" altLang="zh-CN" dirty="0">
                <a:latin typeface="Calibri" panose="020F0502020204030204"/>
                <a:ea typeface="宋体" panose="02010600030101010101" pitchFamily="2" charset="-122"/>
              </a:rPr>
              <a:t>6. They plans to get married next spring after being </a:t>
            </a:r>
            <a:r>
              <a:rPr lang="en-US" altLang="zh-CN" dirty="0">
                <a:solidFill>
                  <a:srgbClr val="FF0000"/>
                </a:solidFill>
                <a:latin typeface="Calibri" panose="020F0502020204030204"/>
                <a:ea typeface="宋体" panose="02010600030101010101" pitchFamily="2" charset="-122"/>
              </a:rPr>
              <a:t>engaged</a:t>
            </a:r>
            <a:r>
              <a:rPr lang="en-US" altLang="zh-CN" dirty="0">
                <a:latin typeface="Calibri" panose="020F0502020204030204"/>
                <a:ea typeface="宋体" panose="02010600030101010101" pitchFamily="2" charset="-122"/>
              </a:rPr>
              <a:t> for over a year.</a:t>
            </a:r>
            <a:endParaRPr lang="en-US" altLang="zh-CN" dirty="0">
              <a:latin typeface="Calibri" panose="020F0502020204030204"/>
              <a:ea typeface="宋体" panose="02010600030101010101" pitchFamily="2" charset="-122"/>
            </a:endParaRPr>
          </a:p>
          <a:p>
            <a:pPr marL="0" indent="0" algn="just" eaLnBrk="1" hangingPunct="1">
              <a:spcBef>
                <a:spcPts val="600"/>
              </a:spcBef>
              <a:buNone/>
              <a:defRPr/>
            </a:pPr>
            <a:endParaRPr lang="en-US" altLang="zh-CN" dirty="0" smtClean="0">
              <a:latin typeface="Calibri" panose="020F0502020204030204"/>
              <a:ea typeface="宋体" panose="02010600030101010101" pitchFamily="2" charset="-122"/>
            </a:endParaRPr>
          </a:p>
        </p:txBody>
      </p:sp>
      <p:pic>
        <p:nvPicPr>
          <p:cNvPr id="4" name="图片 3"/>
          <p:cNvPicPr>
            <a:picLocks noChangeAspect="1"/>
          </p:cNvPicPr>
          <p:nvPr/>
        </p:nvPicPr>
        <p:blipFill>
          <a:blip r:embed="rId5"/>
          <a:stretch>
            <a:fillRect/>
          </a:stretch>
        </p:blipFill>
        <p:spPr>
          <a:xfrm>
            <a:off x="2101665" y="1054196"/>
            <a:ext cx="1166045" cy="312169"/>
          </a:xfrm>
          <a:prstGeom prst="rect">
            <a:avLst/>
          </a:prstGeom>
        </p:spPr>
      </p:pic>
      <p:sp>
        <p:nvSpPr>
          <p:cNvPr id="2" name="文本框 1"/>
          <p:cNvSpPr txBox="1"/>
          <p:nvPr/>
        </p:nvSpPr>
        <p:spPr>
          <a:xfrm>
            <a:off x="9277350" y="1366520"/>
            <a:ext cx="2625725" cy="2720975"/>
          </a:xfrm>
          <a:prstGeom prst="rect">
            <a:avLst/>
          </a:prstGeom>
          <a:solidFill>
            <a:schemeClr val="accent5">
              <a:lumMod val="20000"/>
              <a:lumOff val="80000"/>
            </a:schemeClr>
          </a:solidFill>
        </p:spPr>
        <p:txBody>
          <a:bodyPr wrap="square" rtlCol="0">
            <a:noAutofit/>
          </a:bodyPr>
          <a:p>
            <a:pPr>
              <a:lnSpc>
                <a:spcPct val="110000"/>
              </a:lnSpc>
            </a:pPr>
            <a:r>
              <a:rPr lang="zh-CN" altLang="en-US" sz="2400">
                <a:latin typeface="华文中宋" panose="02010600040101010101" charset="-122"/>
                <a:ea typeface="华文中宋" panose="02010600040101010101" charset="-122"/>
              </a:rPr>
              <a:t>参加；</a:t>
            </a:r>
            <a:r>
              <a:rPr lang="zh-CN" altLang="en-US" sz="2400">
                <a:latin typeface="华文中宋" panose="02010600040101010101" charset="-122"/>
                <a:ea typeface="华文中宋" panose="02010600040101010101" charset="-122"/>
              </a:rPr>
              <a:t>从事</a:t>
            </a:r>
            <a:endParaRPr lang="zh-CN" altLang="en-US" sz="2400">
              <a:latin typeface="华文中宋" panose="02010600040101010101" charset="-122"/>
              <a:ea typeface="华文中宋" panose="02010600040101010101" charset="-122"/>
            </a:endParaRPr>
          </a:p>
          <a:p>
            <a:pPr>
              <a:lnSpc>
                <a:spcPct val="110000"/>
              </a:lnSpc>
            </a:pPr>
            <a:r>
              <a:rPr lang="zh-CN" altLang="en-US" sz="2400">
                <a:latin typeface="华文中宋" panose="02010600040101010101" charset="-122"/>
                <a:ea typeface="华文中宋" panose="02010600040101010101" charset="-122"/>
              </a:rPr>
              <a:t>雇佣</a:t>
            </a:r>
            <a:endParaRPr lang="zh-CN" altLang="en-US" sz="2400">
              <a:latin typeface="华文中宋" panose="02010600040101010101" charset="-122"/>
              <a:ea typeface="华文中宋" panose="02010600040101010101" charset="-122"/>
            </a:endParaRPr>
          </a:p>
          <a:p>
            <a:pPr>
              <a:lnSpc>
                <a:spcPct val="110000"/>
              </a:lnSpc>
            </a:pPr>
            <a:r>
              <a:rPr lang="zh-CN" altLang="en-US" sz="2400">
                <a:latin typeface="华文中宋" panose="02010600040101010101" charset="-122"/>
                <a:ea typeface="华文中宋" panose="02010600040101010101" charset="-122"/>
              </a:rPr>
              <a:t>吸引（</a:t>
            </a:r>
            <a:r>
              <a:rPr lang="zh-CN" altLang="en-US" sz="2400">
                <a:latin typeface="华文中宋" panose="02010600040101010101" charset="-122"/>
                <a:ea typeface="华文中宋" panose="02010600040101010101" charset="-122"/>
              </a:rPr>
              <a:t>赏心悦目）</a:t>
            </a:r>
            <a:endParaRPr lang="zh-CN" altLang="en-US" sz="2400">
              <a:latin typeface="华文中宋" panose="02010600040101010101" charset="-122"/>
              <a:ea typeface="华文中宋" panose="02010600040101010101" charset="-122"/>
            </a:endParaRPr>
          </a:p>
          <a:p>
            <a:pPr>
              <a:lnSpc>
                <a:spcPct val="110000"/>
              </a:lnSpc>
            </a:pPr>
            <a:r>
              <a:rPr lang="zh-CN" altLang="en-US" sz="2400">
                <a:latin typeface="华文中宋" panose="02010600040101010101" charset="-122"/>
                <a:ea typeface="华文中宋" panose="02010600040101010101" charset="-122"/>
              </a:rPr>
              <a:t>忙于</a:t>
            </a:r>
            <a:endParaRPr lang="zh-CN" altLang="en-US" sz="2400">
              <a:latin typeface="华文中宋" panose="02010600040101010101" charset="-122"/>
              <a:ea typeface="华文中宋" panose="02010600040101010101" charset="-122"/>
            </a:endParaRPr>
          </a:p>
          <a:p>
            <a:pPr>
              <a:lnSpc>
                <a:spcPct val="110000"/>
              </a:lnSpc>
            </a:pPr>
            <a:r>
              <a:rPr lang="zh-CN" altLang="en-US" sz="2400">
                <a:latin typeface="华文中宋" panose="02010600040101010101" charset="-122"/>
                <a:ea typeface="华文中宋" panose="02010600040101010101" charset="-122"/>
              </a:rPr>
              <a:t>交战；</a:t>
            </a:r>
            <a:r>
              <a:rPr lang="zh-CN" altLang="en-US" sz="2400">
                <a:latin typeface="华文中宋" panose="02010600040101010101" charset="-122"/>
                <a:ea typeface="华文中宋" panose="02010600040101010101" charset="-122"/>
              </a:rPr>
              <a:t>交火</a:t>
            </a:r>
            <a:endParaRPr lang="zh-CN" altLang="en-US" sz="2400">
              <a:latin typeface="华文中宋" panose="02010600040101010101" charset="-122"/>
              <a:ea typeface="华文中宋" panose="02010600040101010101" charset="-122"/>
            </a:endParaRPr>
          </a:p>
          <a:p>
            <a:pPr>
              <a:lnSpc>
                <a:spcPct val="110000"/>
              </a:lnSpc>
            </a:pPr>
            <a:r>
              <a:rPr lang="zh-CN" altLang="en-US" sz="2400">
                <a:latin typeface="华文中宋" panose="02010600040101010101" charset="-122"/>
                <a:ea typeface="华文中宋" panose="02010600040101010101" charset="-122"/>
              </a:rPr>
              <a:t>订婚</a:t>
            </a:r>
            <a:endParaRPr lang="zh-CN" altLang="en-US" sz="2400">
              <a:latin typeface="华文中宋" panose="02010600040101010101" charset="-122"/>
              <a:ea typeface="华文中宋" panose="02010600040101010101" charset="-122"/>
            </a:endParaRPr>
          </a:p>
        </p:txBody>
      </p:sp>
      <p:pic>
        <p:nvPicPr>
          <p:cNvPr id="5" name="图片 4"/>
          <p:cNvPicPr/>
          <p:nvPr/>
        </p:nvPicPr>
        <p:blipFill>
          <a:blip r:embed="rId6"/>
          <a:srcRect l="18936" t="28844" r="21225" b="7134"/>
          <a:stretch>
            <a:fillRect/>
          </a:stretch>
        </p:blipFill>
        <p:spPr>
          <a:xfrm>
            <a:off x="8034020" y="4300220"/>
            <a:ext cx="2969895" cy="2124075"/>
          </a:xfrm>
          <a:prstGeom prst="rect">
            <a:avLst/>
          </a:prstGeom>
        </p:spPr>
      </p:pic>
      <p:pic>
        <p:nvPicPr>
          <p:cNvPr id="6" name="图片 5"/>
          <p:cNvPicPr/>
          <p:nvPr/>
        </p:nvPicPr>
        <p:blipFill>
          <a:blip r:embed="rId7"/>
          <a:srcRect l="11074" t="7833" r="10327" b="10523"/>
          <a:stretch>
            <a:fillRect/>
          </a:stretch>
        </p:blipFill>
        <p:spPr>
          <a:xfrm>
            <a:off x="4929505" y="4368800"/>
            <a:ext cx="2214245" cy="22136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checkerboard(across)">
                                      <p:cBhvr>
                                        <p:cTn id="7" dur="500"/>
                                        <p:tgtEl>
                                          <p:spTgt spid="2">
                                            <p:bg/>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checkerboard(across)">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checkerboard(across)">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checkerboard(across)">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checkerboard(across)">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checkerboard(across)">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checkerboard(across)">
                                      <p:cBhvr>
                                        <p:cTn id="3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338"/>
            <a:ext cx="2216150" cy="460375"/>
          </a:xfrm>
          <a:prstGeom prst="rect">
            <a:avLst/>
          </a:prstGeom>
          <a:noFill/>
          <a:ln w="9525">
            <a:noFill/>
            <a:miter lim="800000"/>
          </a:ln>
          <a:effectLst>
            <a:outerShdw blurRad="50800" dist="38100" dir="5400000" algn="t" rotWithShape="0">
              <a:prstClr val="black">
                <a:alpha val="40000"/>
              </a:prstClr>
            </a:outerShdw>
          </a:effectLst>
        </p:spPr>
        <p:txBody>
          <a:bodyPr>
            <a:spAutoFit/>
          </a:bodyPr>
          <a:lstStyle/>
          <a:p>
            <a:pPr eaLnBrk="1" hangingPunct="1">
              <a:buFont typeface="Arial" panose="020B0604020202020204" pitchFamily="34" charset="0"/>
              <a:buNone/>
            </a:pPr>
            <a:r>
              <a:rPr lang="en-US" altLang="zh-CN" sz="2400" dirty="0">
                <a:solidFill>
                  <a:schemeClr val="bg1"/>
                </a:solidFill>
                <a:latin typeface="Arial Black" panose="020B0A04020102020204" pitchFamily="34" charset="0"/>
              </a:rPr>
              <a:t>Glossary</a:t>
            </a:r>
            <a:endParaRPr lang="en-US" altLang="zh-CN" sz="2400" dirty="0">
              <a:solidFill>
                <a:schemeClr val="bg1"/>
              </a:solidFill>
              <a:latin typeface="Arial Black" panose="020B0A04020102020204" pitchFamily="34" charset="0"/>
            </a:endParaRPr>
          </a:p>
        </p:txBody>
      </p:sp>
      <p:pic>
        <p:nvPicPr>
          <p:cNvPr id="8" name="图片 7">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pic>
        <p:nvPicPr>
          <p:cNvPr id="10" name="图片 9">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3" name="内容占位符 2"/>
          <p:cNvSpPr>
            <a:spLocks noGrp="1"/>
          </p:cNvSpPr>
          <p:nvPr/>
        </p:nvSpPr>
        <p:spPr>
          <a:xfrm>
            <a:off x="791210" y="963930"/>
            <a:ext cx="6040120" cy="4318000"/>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eaLnBrk="1" hangingPunct="1">
              <a:lnSpc>
                <a:spcPct val="110000"/>
              </a:lnSpc>
              <a:spcBef>
                <a:spcPts val="600"/>
              </a:spcBef>
              <a:buNone/>
              <a:defRPr/>
            </a:pPr>
            <a:r>
              <a:rPr lang="en-US" sz="3200"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Comparison</a:t>
            </a:r>
            <a:endParaRPr lang="en-US" sz="3200"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gn="just" eaLnBrk="1" hangingPunct="1">
              <a:lnSpc>
                <a:spcPct val="110000"/>
              </a:lnSpc>
              <a:spcBef>
                <a:spcPts val="600"/>
              </a:spcBef>
              <a:buNone/>
              <a:defRPr/>
            </a:pPr>
            <a:r>
              <a:rPr lang="en-US" dirty="0">
                <a:solidFill>
                  <a:schemeClr val="tx1"/>
                </a:solidFill>
                <a:latin typeface="Arial" panose="020B0604020202020204" pitchFamily="34" charset="0"/>
                <a:ea typeface="宋体" panose="02010600030101010101" pitchFamily="2" charset="-122"/>
                <a:cs typeface="Arial" panose="020B0604020202020204" pitchFamily="34" charset="0"/>
              </a:rPr>
              <a:t>   </a:t>
            </a:r>
            <a:r>
              <a:rPr lang="en-US" dirty="0">
                <a:solidFill>
                  <a:srgbClr val="C00000"/>
                </a:solidFill>
                <a:latin typeface="Arial" panose="020B0604020202020204" pitchFamily="34" charset="0"/>
                <a:ea typeface="宋体" panose="02010600030101010101" pitchFamily="2" charset="-122"/>
                <a:cs typeface="Arial" panose="020B0604020202020204" pitchFamily="34" charset="0"/>
              </a:rPr>
              <a:t>a</a:t>
            </a:r>
            <a:r>
              <a:rPr lang="en-US" dirty="0">
                <a:solidFill>
                  <a:schemeClr val="tx1"/>
                </a:solidFill>
                <a:latin typeface="Arial" panose="020B0604020202020204" pitchFamily="34" charset="0"/>
                <a:ea typeface="宋体" panose="02010600030101010101" pitchFamily="2" charset="-122"/>
                <a:cs typeface="Arial" panose="020B0604020202020204" pitchFamily="34" charset="0"/>
              </a:rPr>
              <a:t>spiration </a:t>
            </a:r>
            <a:r>
              <a:rPr lang="zh-CN" altLang="en-US" dirty="0">
                <a:solidFill>
                  <a:schemeClr val="tx1"/>
                </a:solidFill>
                <a:latin typeface="Arial" panose="020B0604020202020204" pitchFamily="34" charset="0"/>
                <a:ea typeface="宋体" panose="02010600030101010101" pitchFamily="2" charset="-122"/>
                <a:cs typeface="Arial" panose="020B0604020202020204" pitchFamily="34" charset="0"/>
              </a:rPr>
              <a:t>渴望；抱负；志向</a:t>
            </a:r>
            <a:r>
              <a:rPr lang="en-US" dirty="0">
                <a:solidFill>
                  <a:schemeClr val="tx1"/>
                </a:solidFill>
                <a:latin typeface="Arial" panose="020B0604020202020204" pitchFamily="34" charset="0"/>
                <a:ea typeface="宋体" panose="02010600030101010101" pitchFamily="2" charset="-122"/>
                <a:cs typeface="Arial" panose="020B0604020202020204" pitchFamily="34" charset="0"/>
              </a:rPr>
              <a:t>   </a:t>
            </a:r>
            <a:endParaRPr lang="en-US" dirty="0">
              <a:solidFill>
                <a:schemeClr val="tx1"/>
              </a:solidFill>
              <a:latin typeface="Arial" panose="020B0604020202020204" pitchFamily="34" charset="0"/>
              <a:ea typeface="宋体" panose="02010600030101010101" pitchFamily="2" charset="-122"/>
              <a:cs typeface="Arial" panose="020B0604020202020204" pitchFamily="34" charset="0"/>
            </a:endParaRPr>
          </a:p>
          <a:p>
            <a:pPr marL="0" indent="0" algn="just" eaLnBrk="1" hangingPunct="1">
              <a:lnSpc>
                <a:spcPct val="110000"/>
              </a:lnSpc>
              <a:spcBef>
                <a:spcPts val="600"/>
              </a:spcBef>
              <a:buNone/>
              <a:defRPr/>
            </a:pPr>
            <a:r>
              <a:rPr lang="en-US" dirty="0">
                <a:solidFill>
                  <a:srgbClr val="C00000"/>
                </a:solidFill>
                <a:latin typeface="Arial" panose="020B0604020202020204" pitchFamily="34" charset="0"/>
                <a:ea typeface="宋体" panose="02010600030101010101" pitchFamily="2" charset="-122"/>
                <a:cs typeface="Arial" panose="020B0604020202020204" pitchFamily="34" charset="0"/>
                <a:sym typeface="+mn-ea"/>
              </a:rPr>
              <a:t>   in</a:t>
            </a:r>
            <a:r>
              <a:rPr lang="en-US" dirty="0">
                <a:latin typeface="Arial" panose="020B0604020202020204" pitchFamily="34" charset="0"/>
                <a:ea typeface="宋体" panose="02010600030101010101" pitchFamily="2" charset="-122"/>
                <a:cs typeface="Arial" panose="020B0604020202020204" pitchFamily="34" charset="0"/>
                <a:sym typeface="+mn-ea"/>
              </a:rPr>
              <a:t>spiration</a:t>
            </a:r>
            <a:r>
              <a:rPr lang="zh-CN" altLang="en-US" dirty="0">
                <a:solidFill>
                  <a:schemeClr val="tx1"/>
                </a:solidFill>
                <a:latin typeface="Arial" panose="020B0604020202020204" pitchFamily="34" charset="0"/>
                <a:ea typeface="宋体" panose="02010600030101010101" pitchFamily="2" charset="-122"/>
                <a:cs typeface="Arial" panose="020B0604020202020204" pitchFamily="34" charset="0"/>
              </a:rPr>
              <a:t>灵感；鼓舞</a:t>
            </a:r>
            <a:endParaRPr lang="en-US" altLang="en-US" dirty="0">
              <a:solidFill>
                <a:schemeClr val="tx1"/>
              </a:solidFill>
              <a:latin typeface="Arial" panose="020B0604020202020204" pitchFamily="34" charset="0"/>
              <a:ea typeface="宋体" panose="02010600030101010101" pitchFamily="2" charset="-122"/>
              <a:cs typeface="Arial" panose="020B0604020202020204" pitchFamily="34" charset="0"/>
            </a:endParaRPr>
          </a:p>
          <a:p>
            <a:pPr marL="0" indent="0" algn="just" eaLnBrk="1" hangingPunct="1">
              <a:lnSpc>
                <a:spcPct val="110000"/>
              </a:lnSpc>
              <a:spcBef>
                <a:spcPts val="600"/>
              </a:spcBef>
              <a:buNone/>
              <a:defRPr/>
            </a:pPr>
            <a:r>
              <a:rPr lang="en-US" altLang="en-US" dirty="0">
                <a:solidFill>
                  <a:schemeClr val="tx1"/>
                </a:solidFill>
                <a:latin typeface="Arial" panose="020B0604020202020204" pitchFamily="34" charset="0"/>
                <a:ea typeface="宋体" panose="02010600030101010101" pitchFamily="2" charset="-122"/>
                <a:cs typeface="Arial" panose="020B0604020202020204" pitchFamily="34" charset="0"/>
              </a:rPr>
              <a:t>   </a:t>
            </a:r>
            <a:r>
              <a:rPr lang="en-US" dirty="0">
                <a:solidFill>
                  <a:srgbClr val="C00000"/>
                </a:solidFill>
                <a:latin typeface="Arial" panose="020B0604020202020204" pitchFamily="34" charset="0"/>
                <a:ea typeface="宋体" panose="02010600030101010101" pitchFamily="2" charset="-122"/>
                <a:cs typeface="Arial" panose="020B0604020202020204" pitchFamily="34" charset="0"/>
              </a:rPr>
              <a:t>re</a:t>
            </a:r>
            <a:r>
              <a:rPr lang="en-US" dirty="0">
                <a:solidFill>
                  <a:schemeClr val="tx1"/>
                </a:solidFill>
                <a:latin typeface="Arial" panose="020B0604020202020204" pitchFamily="34" charset="0"/>
                <a:ea typeface="宋体" panose="02010600030101010101" pitchFamily="2" charset="-122"/>
                <a:cs typeface="Arial" panose="020B0604020202020204" pitchFamily="34" charset="0"/>
              </a:rPr>
              <a:t>spiration </a:t>
            </a:r>
            <a:r>
              <a:rPr lang="zh-CN" altLang="en-US" dirty="0">
                <a:solidFill>
                  <a:schemeClr val="tx1"/>
                </a:solidFill>
                <a:latin typeface="Arial" panose="020B0604020202020204" pitchFamily="34" charset="0"/>
                <a:ea typeface="宋体" panose="02010600030101010101" pitchFamily="2" charset="-122"/>
                <a:cs typeface="Arial" panose="020B0604020202020204" pitchFamily="34" charset="0"/>
              </a:rPr>
              <a:t>呼吸</a:t>
            </a:r>
            <a:endParaRPr lang="en-US" dirty="0">
              <a:solidFill>
                <a:schemeClr val="tx1"/>
              </a:solidFill>
              <a:latin typeface="Arial" panose="020B0604020202020204" pitchFamily="34" charset="0"/>
              <a:ea typeface="宋体" panose="02010600030101010101" pitchFamily="2" charset="-122"/>
              <a:cs typeface="Arial" panose="020B0604020202020204" pitchFamily="34" charset="0"/>
            </a:endParaRPr>
          </a:p>
          <a:p>
            <a:pPr marL="0" indent="0" algn="just" eaLnBrk="1" hangingPunct="1">
              <a:lnSpc>
                <a:spcPct val="110000"/>
              </a:lnSpc>
              <a:spcBef>
                <a:spcPts val="600"/>
              </a:spcBef>
              <a:buNone/>
              <a:defRPr/>
            </a:pPr>
            <a:r>
              <a:rPr lang="en-US" dirty="0">
                <a:solidFill>
                  <a:srgbClr val="C00000"/>
                </a:solidFill>
                <a:latin typeface="Arial" panose="020B0604020202020204" pitchFamily="34" charset="0"/>
                <a:ea typeface="宋体" panose="02010600030101010101" pitchFamily="2" charset="-122"/>
                <a:cs typeface="Arial" panose="020B0604020202020204" pitchFamily="34" charset="0"/>
              </a:rPr>
              <a:t>   per</a:t>
            </a:r>
            <a:r>
              <a:rPr lang="en-US" dirty="0">
                <a:solidFill>
                  <a:schemeClr val="tx1"/>
                </a:solidFill>
                <a:latin typeface="Arial" panose="020B0604020202020204" pitchFamily="34" charset="0"/>
                <a:ea typeface="宋体" panose="02010600030101010101" pitchFamily="2" charset="-122"/>
                <a:cs typeface="Arial" panose="020B0604020202020204" pitchFamily="34" charset="0"/>
              </a:rPr>
              <a:t>spiration </a:t>
            </a:r>
            <a:r>
              <a:rPr lang="zh-CN" altLang="en-US" dirty="0">
                <a:solidFill>
                  <a:schemeClr val="tx1"/>
                </a:solidFill>
                <a:latin typeface="Arial" panose="020B0604020202020204" pitchFamily="34" charset="0"/>
                <a:ea typeface="宋体" panose="02010600030101010101" pitchFamily="2" charset="-122"/>
                <a:cs typeface="Arial" panose="020B0604020202020204" pitchFamily="34" charset="0"/>
              </a:rPr>
              <a:t>汗水，出汗</a:t>
            </a:r>
            <a:endParaRPr lang="en-US" dirty="0">
              <a:solidFill>
                <a:schemeClr val="tx1"/>
              </a:solidFill>
              <a:latin typeface="Arial" panose="020B0604020202020204" pitchFamily="34" charset="0"/>
              <a:ea typeface="宋体" panose="02010600030101010101" pitchFamily="2" charset="-122"/>
              <a:cs typeface="Arial" panose="020B0604020202020204" pitchFamily="34" charset="0"/>
            </a:endParaRPr>
          </a:p>
          <a:p>
            <a:pPr marL="0" indent="0" algn="just" eaLnBrk="1" hangingPunct="1">
              <a:lnSpc>
                <a:spcPct val="110000"/>
              </a:lnSpc>
              <a:spcBef>
                <a:spcPts val="600"/>
              </a:spcBef>
              <a:buNone/>
              <a:defRPr/>
            </a:pPr>
            <a:r>
              <a:rPr lang="en-US" dirty="0">
                <a:solidFill>
                  <a:schemeClr val="tx1"/>
                </a:solidFill>
                <a:latin typeface="Arial" panose="020B0604020202020204" pitchFamily="34" charset="0"/>
                <a:ea typeface="宋体" panose="02010600030101010101" pitchFamily="2" charset="-122"/>
                <a:cs typeface="Arial" panose="020B0604020202020204" pitchFamily="34" charset="0"/>
              </a:rPr>
              <a:t>   </a:t>
            </a:r>
            <a:r>
              <a:rPr lang="en-US" dirty="0">
                <a:solidFill>
                  <a:srgbClr val="C00000"/>
                </a:solidFill>
                <a:latin typeface="Arial" panose="020B0604020202020204" pitchFamily="34" charset="0"/>
                <a:ea typeface="宋体" panose="02010600030101010101" pitchFamily="2" charset="-122"/>
                <a:cs typeface="Arial" panose="020B0604020202020204" pitchFamily="34" charset="0"/>
              </a:rPr>
              <a:t>con</a:t>
            </a:r>
            <a:r>
              <a:rPr lang="en-US" dirty="0">
                <a:solidFill>
                  <a:schemeClr val="tx1"/>
                </a:solidFill>
                <a:latin typeface="Arial" panose="020B0604020202020204" pitchFamily="34" charset="0"/>
                <a:ea typeface="宋体" panose="02010600030101010101" pitchFamily="2" charset="-122"/>
                <a:cs typeface="Arial" panose="020B0604020202020204" pitchFamily="34" charset="0"/>
              </a:rPr>
              <a:t>spiracy </a:t>
            </a:r>
            <a:r>
              <a:rPr lang="zh-CN" altLang="en-US" dirty="0">
                <a:solidFill>
                  <a:schemeClr val="tx1"/>
                </a:solidFill>
                <a:latin typeface="Arial" panose="020B0604020202020204" pitchFamily="34" charset="0"/>
                <a:ea typeface="宋体" panose="02010600030101010101" pitchFamily="2" charset="-122"/>
                <a:cs typeface="Arial" panose="020B0604020202020204" pitchFamily="34" charset="0"/>
              </a:rPr>
              <a:t>阴谋</a:t>
            </a:r>
            <a:r>
              <a:rPr lang="en-US" dirty="0">
                <a:solidFill>
                  <a:schemeClr val="tx1"/>
                </a:solidFill>
                <a:latin typeface="Arial" panose="020B0604020202020204" pitchFamily="34" charset="0"/>
                <a:ea typeface="宋体" panose="02010600030101010101" pitchFamily="2" charset="-122"/>
                <a:cs typeface="Arial" panose="020B0604020202020204" pitchFamily="34" charset="0"/>
              </a:rPr>
              <a:t>   </a:t>
            </a:r>
            <a:endParaRPr lang="en-US" dirty="0">
              <a:solidFill>
                <a:schemeClr val="tx1"/>
              </a:solidFill>
              <a:latin typeface="Arial" panose="020B0604020202020204" pitchFamily="34" charset="0"/>
              <a:ea typeface="宋体" panose="02010600030101010101" pitchFamily="2" charset="-122"/>
              <a:cs typeface="Arial" panose="020B0604020202020204" pitchFamily="34" charset="0"/>
            </a:endParaRPr>
          </a:p>
          <a:p>
            <a:pPr marL="0" indent="0" algn="just" eaLnBrk="1" hangingPunct="1">
              <a:lnSpc>
                <a:spcPct val="110000"/>
              </a:lnSpc>
              <a:spcBef>
                <a:spcPts val="600"/>
              </a:spcBef>
              <a:buNone/>
              <a:defRPr/>
            </a:pPr>
            <a:r>
              <a:rPr lang="en-US" dirty="0">
                <a:solidFill>
                  <a:schemeClr val="tx1"/>
                </a:solidFill>
                <a:latin typeface="Arial" panose="020B0604020202020204" pitchFamily="34" charset="0"/>
                <a:ea typeface="宋体" panose="02010600030101010101" pitchFamily="2" charset="-122"/>
                <a:cs typeface="Arial" panose="020B0604020202020204" pitchFamily="34" charset="0"/>
              </a:rPr>
              <a:t>   </a:t>
            </a:r>
            <a:r>
              <a:rPr lang="en-US" dirty="0">
                <a:solidFill>
                  <a:srgbClr val="C00000"/>
                </a:solidFill>
                <a:latin typeface="Arial" panose="020B0604020202020204" pitchFamily="34" charset="0"/>
                <a:ea typeface="宋体" panose="02010600030101010101" pitchFamily="2" charset="-122"/>
                <a:cs typeface="Arial" panose="020B0604020202020204" pitchFamily="34" charset="0"/>
              </a:rPr>
              <a:t>ex</a:t>
            </a:r>
            <a:r>
              <a:rPr lang="en-US" dirty="0">
                <a:solidFill>
                  <a:schemeClr val="tx1"/>
                </a:solidFill>
                <a:latin typeface="Arial" panose="020B0604020202020204" pitchFamily="34" charset="0"/>
                <a:ea typeface="宋体" panose="02010600030101010101" pitchFamily="2" charset="-122"/>
                <a:cs typeface="Arial" panose="020B0604020202020204" pitchFamily="34" charset="0"/>
              </a:rPr>
              <a:t>piration </a:t>
            </a:r>
            <a:r>
              <a:rPr lang="zh-CN" altLang="en-US" dirty="0">
                <a:solidFill>
                  <a:schemeClr val="tx1"/>
                </a:solidFill>
                <a:latin typeface="Arial" panose="020B0604020202020204" pitchFamily="34" charset="0"/>
                <a:ea typeface="宋体" panose="02010600030101010101" pitchFamily="2" charset="-122"/>
                <a:cs typeface="Arial" panose="020B0604020202020204" pitchFamily="34" charset="0"/>
              </a:rPr>
              <a:t>期满，</a:t>
            </a:r>
            <a:r>
              <a:rPr lang="zh-CN" altLang="en-US" dirty="0">
                <a:solidFill>
                  <a:schemeClr val="tx1"/>
                </a:solidFill>
                <a:latin typeface="Arial" panose="020B0604020202020204" pitchFamily="34" charset="0"/>
                <a:ea typeface="宋体" panose="02010600030101010101" pitchFamily="2" charset="-122"/>
                <a:cs typeface="Arial" panose="020B0604020202020204" pitchFamily="34" charset="0"/>
              </a:rPr>
              <a:t>到期</a:t>
            </a:r>
            <a:endParaRPr lang="en-US" altLang="zh-CN" dirty="0" smtClean="0">
              <a:solidFill>
                <a:schemeClr val="tx1"/>
              </a:solidFill>
              <a:latin typeface="Arial" panose="020B0604020202020204" pitchFamily="34" charset="0"/>
              <a:ea typeface="华文中宋" panose="02010600040101010101" charset="-122"/>
              <a:cs typeface="Arial" panose="020B0604020202020204" pitchFamily="34" charset="0"/>
              <a:sym typeface="+mn-ea"/>
            </a:endParaRPr>
          </a:p>
        </p:txBody>
      </p:sp>
      <p:pic>
        <p:nvPicPr>
          <p:cNvPr id="7" name="图片 6"/>
          <p:cNvPicPr/>
          <p:nvPr/>
        </p:nvPicPr>
        <p:blipFill>
          <a:blip r:embed="rId5"/>
          <a:stretch>
            <a:fillRect/>
          </a:stretch>
        </p:blipFill>
        <p:spPr>
          <a:xfrm>
            <a:off x="8531860" y="4171315"/>
            <a:ext cx="3340100" cy="2108835"/>
          </a:xfrm>
          <a:prstGeom prst="rect">
            <a:avLst/>
          </a:prstGeom>
        </p:spPr>
      </p:pic>
      <p:pic>
        <p:nvPicPr>
          <p:cNvPr id="2" name="图片 1"/>
          <p:cNvPicPr/>
          <p:nvPr/>
        </p:nvPicPr>
        <p:blipFill>
          <a:blip r:embed="rId6"/>
          <a:stretch>
            <a:fillRect/>
          </a:stretch>
        </p:blipFill>
        <p:spPr>
          <a:xfrm>
            <a:off x="7202170" y="963930"/>
            <a:ext cx="4861560" cy="2971800"/>
          </a:xfrm>
          <a:prstGeom prst="rect">
            <a:avLst/>
          </a:prstGeom>
        </p:spPr>
      </p:pic>
      <p:pic>
        <p:nvPicPr>
          <p:cNvPr id="4" name="图片 3"/>
          <p:cNvPicPr/>
          <p:nvPr/>
        </p:nvPicPr>
        <p:blipFill>
          <a:blip r:embed="rId7"/>
          <a:stretch>
            <a:fillRect/>
          </a:stretch>
        </p:blipFill>
        <p:spPr>
          <a:xfrm>
            <a:off x="6570345" y="4030345"/>
            <a:ext cx="1771650" cy="2390775"/>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697865" y="635000"/>
            <a:ext cx="10274935" cy="5182870"/>
          </a:xfrm>
          <a:prstGeom prst="rect">
            <a:avLst/>
          </a:prstGeom>
          <a:noFill/>
        </p:spPr>
        <p:txBody>
          <a:bodyPr wrap="square" rtlCol="0" anchor="ctr" anchorCtr="0">
            <a:noAutofit/>
          </a:bodyPr>
          <a:p>
            <a:pPr marL="0" indent="0" algn="just" eaLnBrk="1" hangingPunct="1">
              <a:lnSpc>
                <a:spcPct val="110000"/>
              </a:lnSpc>
              <a:spcBef>
                <a:spcPts val="600"/>
              </a:spcBef>
              <a:buNone/>
              <a:defRPr/>
            </a:pPr>
            <a:r>
              <a:rPr lang="en-US" sz="2800" b="1" i="1" dirty="0">
                <a:latin typeface="Times New Roman" panose="02020603050405020304" pitchFamily="18" charset="0"/>
                <a:ea typeface="宋体" panose="02010600030101010101" pitchFamily="2" charset="-122"/>
                <a:cs typeface="Times New Roman" panose="02020603050405020304" pitchFamily="18" charset="0"/>
                <a:sym typeface="+mn-ea"/>
              </a:rPr>
              <a:t>Fill in the blanks with the words given:</a:t>
            </a:r>
            <a:endParaRPr lang="en-US"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gn="just" eaLnBrk="1" hangingPunct="1">
              <a:lnSpc>
                <a:spcPct val="110000"/>
              </a:lnSpc>
              <a:spcBef>
                <a:spcPts val="600"/>
              </a:spcBef>
              <a:buNone/>
              <a:defRPr/>
            </a:pPr>
            <a:r>
              <a:rPr lang="en-US" sz="28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   aspiration </a:t>
            </a:r>
            <a:r>
              <a:rPr lang="zh-CN" altLang="en-US" sz="28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渴望；抱负；志向</a:t>
            </a:r>
            <a:r>
              <a:rPr lang="en-US" sz="28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   </a:t>
            </a:r>
            <a:r>
              <a:rPr lang="en-US" sz="28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inspiration</a:t>
            </a:r>
            <a:r>
              <a:rPr lang="zh-CN" altLang="en-US" sz="28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灵感；鼓舞</a:t>
            </a:r>
            <a:endParaRPr lang="en-US" altLang="en-US" sz="28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gn="just" eaLnBrk="1" hangingPunct="1">
              <a:lnSpc>
                <a:spcPct val="110000"/>
              </a:lnSpc>
              <a:spcBef>
                <a:spcPts val="600"/>
              </a:spcBef>
              <a:buNone/>
              <a:defRPr/>
            </a:pPr>
            <a:r>
              <a:rPr lang="en-US" altLang="en-US" sz="28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   </a:t>
            </a:r>
            <a:r>
              <a:rPr lang="en-US" sz="28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respiration </a:t>
            </a:r>
            <a:r>
              <a:rPr lang="zh-CN" altLang="en-US" sz="28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呼吸</a:t>
            </a:r>
            <a:r>
              <a:rPr lang="en-US" sz="28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                       perspiration </a:t>
            </a:r>
            <a:r>
              <a:rPr lang="zh-CN" altLang="en-US" sz="28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汗水，出汗</a:t>
            </a:r>
            <a:endParaRPr lang="en-US" sz="28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gn="just" eaLnBrk="1" hangingPunct="1">
              <a:lnSpc>
                <a:spcPct val="110000"/>
              </a:lnSpc>
              <a:spcBef>
                <a:spcPts val="600"/>
              </a:spcBef>
              <a:buNone/>
              <a:defRPr/>
            </a:pPr>
            <a:r>
              <a:rPr lang="en-US" sz="28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   conspiracy </a:t>
            </a:r>
            <a:r>
              <a:rPr lang="zh-CN" altLang="en-US" sz="28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阴谋</a:t>
            </a:r>
            <a:r>
              <a:rPr lang="en-US" sz="28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                       expiration </a:t>
            </a:r>
            <a:r>
              <a:rPr lang="zh-CN" altLang="en-US" sz="28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期满，到期</a:t>
            </a:r>
            <a:endParaRPr lang="zh-CN" altLang="en-US" sz="28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gn="just" eaLnBrk="1" hangingPunct="1">
              <a:lnSpc>
                <a:spcPct val="110000"/>
              </a:lnSpc>
              <a:spcBef>
                <a:spcPts val="600"/>
              </a:spcBef>
              <a:buNone/>
              <a:defRPr/>
            </a:pPr>
            <a:r>
              <a:rPr lang="en-US" sz="2600" dirty="0">
                <a:latin typeface="Arial" panose="020B0604020202020204" pitchFamily="34" charset="0"/>
                <a:ea typeface="宋体" panose="02010600030101010101" pitchFamily="2" charset="-122"/>
                <a:cs typeface="Arial" panose="020B0604020202020204" pitchFamily="34" charset="0"/>
                <a:sym typeface="+mn-ea"/>
              </a:rPr>
              <a:t>1. As Thomas Edison said, </a:t>
            </a:r>
            <a:r>
              <a:rPr lang="en-US" altLang="zh-CN" sz="2600" dirty="0">
                <a:latin typeface="Arial" panose="020B0604020202020204" pitchFamily="34" charset="0"/>
                <a:ea typeface="华文中宋" panose="02010600040101010101" charset="-122"/>
                <a:cs typeface="Arial" panose="020B0604020202020204" pitchFamily="34" charset="0"/>
                <a:sym typeface="+mn-ea"/>
              </a:rPr>
              <a:t>Genius is 1%   </a:t>
            </a:r>
            <a:r>
              <a:rPr lang="en-US" altLang="zh-CN" sz="2600" dirty="0">
                <a:solidFill>
                  <a:srgbClr val="639EF4"/>
                </a:solidFill>
                <a:latin typeface="Arial" panose="020B0604020202020204" pitchFamily="34" charset="0"/>
                <a:ea typeface="华文中宋" panose="02010600040101010101" charset="-122"/>
                <a:cs typeface="Arial" panose="020B0604020202020204" pitchFamily="34" charset="0"/>
                <a:sym typeface="+mn-ea"/>
              </a:rPr>
              <a:t>[填空1]</a:t>
            </a:r>
            <a:r>
              <a:rPr lang="en-US" altLang="zh-CN" sz="2600" dirty="0">
                <a:latin typeface="Arial" panose="020B0604020202020204" pitchFamily="34" charset="0"/>
                <a:ea typeface="华文中宋" panose="02010600040101010101" charset="-122"/>
                <a:cs typeface="Arial" panose="020B0604020202020204" pitchFamily="34" charset="0"/>
                <a:sym typeface="+mn-ea"/>
              </a:rPr>
              <a:t> and 99%  </a:t>
            </a:r>
            <a:r>
              <a:rPr lang="en-US" altLang="zh-CN" sz="2600" dirty="0">
                <a:solidFill>
                  <a:srgbClr val="639EF4"/>
                </a:solidFill>
                <a:latin typeface="Arial" panose="020B0604020202020204" pitchFamily="34" charset="0"/>
                <a:ea typeface="华文中宋" panose="02010600040101010101" charset="-122"/>
                <a:cs typeface="Arial" panose="020B0604020202020204" pitchFamily="34" charset="0"/>
                <a:sym typeface="+mn-ea"/>
              </a:rPr>
              <a:t>[填空2]</a:t>
            </a:r>
            <a:r>
              <a:rPr lang="en-US" altLang="zh-CN" sz="2600" dirty="0">
                <a:latin typeface="Arial" panose="020B0604020202020204" pitchFamily="34" charset="0"/>
                <a:ea typeface="华文中宋" panose="02010600040101010101" charset="-122"/>
                <a:cs typeface="Arial" panose="020B0604020202020204" pitchFamily="34" charset="0"/>
                <a:sym typeface="+mn-ea"/>
              </a:rPr>
              <a:t> .</a:t>
            </a:r>
            <a:endParaRPr lang="en-US" altLang="zh-CN" sz="2600" dirty="0">
              <a:solidFill>
                <a:schemeClr val="tx1"/>
              </a:solidFill>
              <a:latin typeface="Arial" panose="020B0604020202020204" pitchFamily="34" charset="0"/>
              <a:ea typeface="华文中宋" panose="02010600040101010101" charset="-122"/>
              <a:cs typeface="Arial" panose="020B0604020202020204" pitchFamily="34" charset="0"/>
              <a:sym typeface="+mn-ea"/>
            </a:endParaRPr>
          </a:p>
          <a:p>
            <a:pPr marL="0" indent="0" algn="just" eaLnBrk="1" hangingPunct="1">
              <a:lnSpc>
                <a:spcPct val="110000"/>
              </a:lnSpc>
              <a:spcBef>
                <a:spcPts val="600"/>
              </a:spcBef>
              <a:buNone/>
              <a:defRPr/>
            </a:pPr>
            <a:r>
              <a:rPr lang="en-US" altLang="zh-CN" sz="2600" dirty="0" smtClean="0">
                <a:latin typeface="Arial" panose="020B0604020202020204" pitchFamily="34" charset="0"/>
                <a:ea typeface="华文中宋" panose="02010600040101010101" charset="-122"/>
                <a:cs typeface="Arial" panose="020B0604020202020204" pitchFamily="34" charset="0"/>
                <a:sym typeface="+mn-ea"/>
              </a:rPr>
              <a:t>2. Her  </a:t>
            </a:r>
            <a:r>
              <a:rPr lang="en-US" altLang="zh-CN" sz="2600" dirty="0" smtClean="0">
                <a:solidFill>
                  <a:srgbClr val="639EF4"/>
                </a:solidFill>
                <a:latin typeface="Arial" panose="020B0604020202020204" pitchFamily="34" charset="0"/>
                <a:ea typeface="华文中宋" panose="02010600040101010101" charset="-122"/>
                <a:cs typeface="Arial" panose="020B0604020202020204" pitchFamily="34" charset="0"/>
                <a:sym typeface="+mn-ea"/>
              </a:rPr>
              <a:t>[填空3]</a:t>
            </a:r>
            <a:r>
              <a:rPr lang="en-US" altLang="zh-CN" sz="2600" dirty="0" smtClean="0">
                <a:latin typeface="Arial" panose="020B0604020202020204" pitchFamily="34" charset="0"/>
                <a:ea typeface="华文中宋" panose="02010600040101010101" charset="-122"/>
                <a:cs typeface="Arial" panose="020B0604020202020204" pitchFamily="34" charset="0"/>
                <a:sym typeface="+mn-ea"/>
              </a:rPr>
              <a:t>  to become a UN diplomat stems from a deep desire to promote global peace.</a:t>
            </a:r>
            <a:endParaRPr lang="en-US" altLang="zh-CN" sz="2600" dirty="0" smtClean="0">
              <a:solidFill>
                <a:schemeClr val="tx1"/>
              </a:solidFill>
              <a:latin typeface="Arial" panose="020B0604020202020204" pitchFamily="34" charset="0"/>
              <a:ea typeface="华文中宋" panose="02010600040101010101" charset="-122"/>
              <a:cs typeface="Arial" panose="020B0604020202020204" pitchFamily="34" charset="0"/>
              <a:sym typeface="+mn-ea"/>
            </a:endParaRPr>
          </a:p>
          <a:p>
            <a:pPr marL="0" indent="0" algn="just" eaLnBrk="1" hangingPunct="1">
              <a:lnSpc>
                <a:spcPct val="110000"/>
              </a:lnSpc>
              <a:spcBef>
                <a:spcPts val="600"/>
              </a:spcBef>
              <a:buNone/>
              <a:defRPr/>
            </a:pPr>
            <a:r>
              <a:rPr lang="en-US" altLang="zh-CN" sz="2600" dirty="0" smtClean="0">
                <a:latin typeface="Arial" panose="020B0604020202020204" pitchFamily="34" charset="0"/>
                <a:ea typeface="华文中宋" panose="02010600040101010101" charset="-122"/>
                <a:cs typeface="Arial" panose="020B0604020202020204" pitchFamily="34" charset="0"/>
                <a:sym typeface="+mn-ea"/>
              </a:rPr>
              <a:t>3. The </a:t>
            </a:r>
            <a:r>
              <a:rPr lang="en-US" altLang="zh-CN" sz="2600" dirty="0" smtClean="0">
                <a:solidFill>
                  <a:srgbClr val="639EF4"/>
                </a:solidFill>
                <a:latin typeface="Arial" panose="020B0604020202020204" pitchFamily="34" charset="0"/>
                <a:ea typeface="华文中宋" panose="02010600040101010101" charset="-122"/>
                <a:cs typeface="Arial" panose="020B0604020202020204" pitchFamily="34" charset="0"/>
                <a:sym typeface="+mn-ea"/>
              </a:rPr>
              <a:t>[填空4]</a:t>
            </a:r>
            <a:r>
              <a:rPr lang="en-US" altLang="zh-CN" sz="2600" dirty="0" smtClean="0">
                <a:latin typeface="Arial" panose="020B0604020202020204" pitchFamily="34" charset="0"/>
                <a:ea typeface="华文中宋" panose="02010600040101010101" charset="-122"/>
                <a:cs typeface="Arial" panose="020B0604020202020204" pitchFamily="34" charset="0"/>
                <a:sym typeface="+mn-ea"/>
              </a:rPr>
              <a:t>  date on this yogurt was November 20.</a:t>
            </a:r>
            <a:endParaRPr lang="zh-CN" altLang="en-US" sz="2600">
              <a:solidFill>
                <a:srgbClr val="000000"/>
              </a:solidFill>
              <a:latin typeface="微软雅黑" panose="020B0503020204020204" charset="-122"/>
              <a:ea typeface="微软雅黑" panose="020B0503020204020204" charset="-122"/>
            </a:endParaRPr>
          </a:p>
        </p:txBody>
      </p:sp>
      <p:sp>
        <p:nvSpPr>
          <p:cNvPr id="4" name="圆角矩形 3"/>
          <p:cNvSpPr/>
          <p:nvPr>
            <p:custDataLst>
              <p:tags r:id="rId2"/>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endParaRPr>
          </a:p>
        </p:txBody>
      </p:sp>
      <p:grpSp>
        <p:nvGrpSpPr>
          <p:cNvPr id="9" name="组合 8"/>
          <p:cNvGrpSpPr/>
          <p:nvPr>
            <p:custDataLst>
              <p:tags r:id="rId3"/>
            </p:custDataLst>
          </p:nvPr>
        </p:nvGrpSpPr>
        <p:grpSpPr>
          <a:xfrm>
            <a:off x="0" y="0"/>
            <a:ext cx="12192000" cy="635000"/>
            <a:chOff x="0" y="0"/>
            <a:chExt cx="19200" cy="1000"/>
          </a:xfrm>
        </p:grpSpPr>
        <p:sp>
          <p:nvSpPr>
            <p:cNvPr id="5" name="TitleBackground"/>
            <p:cNvSpPr/>
            <p:nvPr>
              <p:custDataLst>
                <p:tags r:id="rId4"/>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ColorBlock"/>
            <p:cNvSpPr/>
            <p:nvPr>
              <p:custDataLst>
                <p:tags r:id="rId5"/>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TypeText"/>
            <p:cNvSpPr txBox="1"/>
            <p:nvPr>
              <p:custDataLst>
                <p:tags r:id="rId6"/>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endParaRPr>
            </a:p>
          </p:txBody>
        </p:sp>
        <p:sp>
          <p:nvSpPr>
            <p:cNvPr id="8" name="TipText"/>
            <p:cNvSpPr txBox="1"/>
            <p:nvPr>
              <p:custDataLst>
                <p:tags r:id="rId7"/>
              </p:custDataLst>
            </p:nvPr>
          </p:nvSpPr>
          <p:spPr>
            <a:xfrm>
              <a:off x="2248" y="172"/>
              <a:ext cx="3600" cy="800"/>
            </a:xfrm>
            <a:prstGeom prst="rect">
              <a:avLst/>
            </a:prstGeom>
            <a:noFill/>
          </p:spPr>
          <p:txBody>
            <a:bodyPr wrap="none" rtlCol="0" anchor="ctr" anchorCtr="0">
              <a:noAutofit/>
            </a:bodyPr>
            <a:p>
              <a:pPr lvl="0" algn="l">
                <a:buNone/>
              </a:pPr>
              <a:r>
                <a:rPr lang="en-US" altLang="en-US" sz="2000">
                  <a:solidFill>
                    <a:srgbClr val="808080"/>
                  </a:solidFill>
                  <a:latin typeface="微软雅黑" panose="020B0503020204020204" charset="-122"/>
                  <a:ea typeface="微软雅黑" panose="020B0503020204020204" charset="-122"/>
                  <a:cs typeface="微软雅黑" panose="020B0503020204020204" charset="-122"/>
                </a:rPr>
                <a:t>20</a:t>
              </a:r>
              <a:r>
                <a:rPr lang="zh-CN" altLang="en-US" sz="2000">
                  <a:solidFill>
                    <a:srgbClr val="808080"/>
                  </a:solidFill>
                  <a:latin typeface="微软雅黑" panose="020B0503020204020204" charset="-122"/>
                  <a:ea typeface="微软雅黑" panose="020B0503020204020204" charset="-122"/>
                  <a:cs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E75F"/>
          <p:cNvPicPr>
            <a:picLocks noChangeAspect="1"/>
          </p:cNvPicPr>
          <p:nvPr>
            <p:custDataLst>
              <p:tags r:id="rId8"/>
            </p:custDataLst>
          </p:nvPr>
        </p:nvPicPr>
        <p:blipFill>
          <a:blip r:embed="rId9"/>
          <a:stretch>
            <a:fillRect/>
          </a:stretch>
        </p:blipFill>
        <p:spPr>
          <a:xfrm>
            <a:off x="10642600" y="63500"/>
            <a:ext cx="1422400" cy="508000"/>
          </a:xfrm>
          <a:prstGeom prst="rect">
            <a:avLst/>
          </a:prstGeom>
        </p:spPr>
      </p:pic>
    </p:spTree>
    <p:custDataLst>
      <p:tags r:id="rId10"/>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655"/>
            <a:ext cx="3594100" cy="46037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eaLnBrk="1" hangingPunct="1">
              <a:buFont typeface="Arial" panose="020B0604020202020204" pitchFamily="34" charset="0"/>
              <a:buNone/>
            </a:pPr>
            <a:r>
              <a:rPr lang="en-US" altLang="zh-CN" sz="2400" dirty="0">
                <a:solidFill>
                  <a:schemeClr val="bg1"/>
                </a:solidFill>
                <a:latin typeface="Arial Black" panose="020B0A04020102020204" pitchFamily="34" charset="0"/>
              </a:rPr>
              <a:t>Unit 7 Phrases</a:t>
            </a:r>
            <a:endParaRPr lang="en-US" altLang="zh-CN" sz="2400" dirty="0">
              <a:solidFill>
                <a:schemeClr val="bg1"/>
              </a:solidFill>
              <a:latin typeface="Arial Black" panose="020B0A04020102020204" pitchFamily="34" charset="0"/>
            </a:endParaRPr>
          </a:p>
        </p:txBody>
      </p:sp>
      <p:pic>
        <p:nvPicPr>
          <p:cNvPr id="8" name="图片 7">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pic>
        <p:nvPicPr>
          <p:cNvPr id="10" name="图片 9">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 name="文本框 3"/>
          <p:cNvSpPr txBox="1"/>
          <p:nvPr/>
        </p:nvSpPr>
        <p:spPr>
          <a:xfrm>
            <a:off x="1236345" y="1073785"/>
            <a:ext cx="4388485" cy="4927600"/>
          </a:xfrm>
          <a:prstGeom prst="rect">
            <a:avLst/>
          </a:prstGeom>
          <a:solidFill>
            <a:schemeClr val="accent4">
              <a:lumMod val="20000"/>
              <a:lumOff val="80000"/>
            </a:schemeClr>
          </a:solidFill>
        </p:spPr>
        <p:txBody>
          <a:bodyPr wrap="square" rtlCol="0">
            <a:spAutoFit/>
          </a:bodyPr>
          <a:p>
            <a:pPr>
              <a:lnSpc>
                <a:spcPct val="120000"/>
              </a:lnSpc>
            </a:pPr>
            <a:r>
              <a:rPr lang="zh-CN" altLang="en-US" sz="2400">
                <a:latin typeface="华文中宋" panose="02010600040101010101" charset="-122"/>
                <a:ea typeface="华文中宋" panose="02010600040101010101" charset="-122"/>
              </a:rPr>
              <a:t>给我</a:t>
            </a:r>
            <a:r>
              <a:rPr lang="zh-CN" altLang="en-US" sz="2400">
                <a:latin typeface="华文中宋" panose="02010600040101010101" charset="-122"/>
                <a:ea typeface="华文中宋" panose="02010600040101010101" charset="-122"/>
                <a:sym typeface="+mn-ea"/>
              </a:rPr>
              <a:t>留下刻薄的</a:t>
            </a:r>
            <a:r>
              <a:rPr lang="zh-CN" altLang="en-US" sz="2400">
                <a:latin typeface="华文中宋" panose="02010600040101010101" charset="-122"/>
                <a:ea typeface="华文中宋" panose="02010600040101010101" charset="-122"/>
              </a:rPr>
              <a:t>印象</a:t>
            </a:r>
            <a:endParaRPr lang="zh-CN" altLang="en-US" sz="2400">
              <a:latin typeface="华文中宋" panose="02010600040101010101" charset="-122"/>
              <a:ea typeface="华文中宋" panose="02010600040101010101" charset="-122"/>
            </a:endParaRPr>
          </a:p>
          <a:p>
            <a:pPr>
              <a:lnSpc>
                <a:spcPct val="120000"/>
              </a:lnSpc>
            </a:pPr>
            <a:r>
              <a:rPr lang="zh-CN" altLang="en-US" sz="2400" dirty="0">
                <a:latin typeface="华文中宋" panose="02010600040101010101" charset="-122"/>
                <a:ea typeface="华文中宋" panose="02010600040101010101" charset="-122"/>
                <a:sym typeface="+mn-ea"/>
              </a:rPr>
              <a:t>单独留出这天</a:t>
            </a:r>
            <a:endParaRPr lang="zh-CN" altLang="en-US" sz="2400">
              <a:latin typeface="华文中宋" panose="02010600040101010101" charset="-122"/>
              <a:ea typeface="华文中宋" panose="02010600040101010101" charset="-122"/>
            </a:endParaRPr>
          </a:p>
          <a:p>
            <a:pPr>
              <a:lnSpc>
                <a:spcPct val="120000"/>
              </a:lnSpc>
            </a:pPr>
            <a:r>
              <a:rPr lang="zh-CN" altLang="en-US" sz="2400">
                <a:latin typeface="华文中宋" panose="02010600040101010101" charset="-122"/>
                <a:ea typeface="华文中宋" panose="02010600040101010101" charset="-122"/>
              </a:rPr>
              <a:t>直视某人</a:t>
            </a:r>
            <a:endParaRPr lang="zh-CN" altLang="en-US" sz="2400">
              <a:latin typeface="华文中宋" panose="02010600040101010101" charset="-122"/>
              <a:ea typeface="华文中宋" panose="02010600040101010101" charset="-122"/>
            </a:endParaRPr>
          </a:p>
          <a:p>
            <a:pPr>
              <a:lnSpc>
                <a:spcPct val="120000"/>
              </a:lnSpc>
            </a:pPr>
            <a:r>
              <a:rPr lang="zh-CN" altLang="en-US" sz="2400">
                <a:latin typeface="华文中宋" panose="02010600040101010101" charset="-122"/>
                <a:ea typeface="华文中宋" panose="02010600040101010101" charset="-122"/>
                <a:sym typeface="+mn-ea"/>
              </a:rPr>
              <a:t>悬在他头上的</a:t>
            </a:r>
            <a:r>
              <a:rPr lang="zh-CN" altLang="en-US" sz="2400">
                <a:latin typeface="华文中宋" panose="02010600040101010101" charset="-122"/>
                <a:ea typeface="华文中宋" panose="02010600040101010101" charset="-122"/>
              </a:rPr>
              <a:t>一把剑</a:t>
            </a:r>
            <a:endParaRPr lang="zh-CN" altLang="en-US" sz="2400">
              <a:latin typeface="华文中宋" panose="02010600040101010101" charset="-122"/>
              <a:ea typeface="华文中宋" panose="02010600040101010101" charset="-122"/>
            </a:endParaRPr>
          </a:p>
          <a:p>
            <a:pPr>
              <a:lnSpc>
                <a:spcPct val="120000"/>
              </a:lnSpc>
            </a:pPr>
            <a:r>
              <a:rPr lang="zh-CN" altLang="en-US" sz="2400">
                <a:latin typeface="华文中宋" panose="02010600040101010101" charset="-122"/>
                <a:ea typeface="华文中宋" panose="02010600040101010101" charset="-122"/>
              </a:rPr>
              <a:t>纯粹出于无聊</a:t>
            </a:r>
            <a:endParaRPr lang="zh-CN" altLang="en-US" sz="2400">
              <a:latin typeface="华文中宋" panose="02010600040101010101" charset="-122"/>
              <a:ea typeface="华文中宋" panose="02010600040101010101" charset="-122"/>
            </a:endParaRPr>
          </a:p>
          <a:p>
            <a:pPr>
              <a:lnSpc>
                <a:spcPct val="120000"/>
              </a:lnSpc>
            </a:pPr>
            <a:r>
              <a:rPr lang="zh-CN" altLang="en-US" sz="2400">
                <a:latin typeface="华文中宋" panose="02010600040101010101" charset="-122"/>
                <a:ea typeface="华文中宋" panose="02010600040101010101" charset="-122"/>
              </a:rPr>
              <a:t>对音乐的</a:t>
            </a:r>
            <a:r>
              <a:rPr lang="zh-CN" altLang="en-US" sz="2400">
                <a:latin typeface="华文中宋" panose="02010600040101010101" charset="-122"/>
                <a:ea typeface="华文中宋" panose="02010600040101010101" charset="-122"/>
              </a:rPr>
              <a:t>迷恋</a:t>
            </a:r>
            <a:endParaRPr lang="zh-CN" altLang="en-US" sz="2400">
              <a:latin typeface="华文中宋" panose="02010600040101010101" charset="-122"/>
              <a:ea typeface="华文中宋" panose="02010600040101010101" charset="-122"/>
            </a:endParaRPr>
          </a:p>
          <a:p>
            <a:pPr>
              <a:lnSpc>
                <a:spcPct val="120000"/>
              </a:lnSpc>
            </a:pPr>
            <a:r>
              <a:rPr lang="zh-CN" altLang="en-US" sz="2400">
                <a:latin typeface="华文中宋" panose="02010600040101010101" charset="-122"/>
                <a:ea typeface="华文中宋" panose="02010600040101010101" charset="-122"/>
              </a:rPr>
              <a:t>私底下</a:t>
            </a:r>
            <a:r>
              <a:rPr lang="en-US" altLang="zh-CN" sz="2400">
                <a:latin typeface="华文中宋" panose="02010600040101010101" charset="-122"/>
                <a:ea typeface="华文中宋" panose="02010600040101010101" charset="-122"/>
              </a:rPr>
              <a:t>, </a:t>
            </a:r>
            <a:r>
              <a:rPr lang="zh-CN" altLang="en-US" sz="2400">
                <a:latin typeface="华文中宋" panose="02010600040101010101" charset="-122"/>
                <a:ea typeface="华文中宋" panose="02010600040101010101" charset="-122"/>
              </a:rPr>
              <a:t>关起门来</a:t>
            </a:r>
            <a:endParaRPr lang="zh-CN" altLang="en-US" sz="2400">
              <a:latin typeface="华文中宋" panose="02010600040101010101" charset="-122"/>
              <a:ea typeface="华文中宋" panose="02010600040101010101" charset="-122"/>
            </a:endParaRPr>
          </a:p>
          <a:p>
            <a:pPr>
              <a:lnSpc>
                <a:spcPct val="120000"/>
              </a:lnSpc>
            </a:pPr>
            <a:r>
              <a:rPr lang="zh-CN" altLang="en-US" sz="2400">
                <a:latin typeface="华文中宋" panose="02010600040101010101" charset="-122"/>
                <a:ea typeface="华文中宋" panose="02010600040101010101" charset="-122"/>
              </a:rPr>
              <a:t>过分关注</a:t>
            </a:r>
            <a:r>
              <a:rPr lang="en-US" altLang="zh-CN" sz="2400">
                <a:latin typeface="华文中宋" panose="02010600040101010101" charset="-122"/>
                <a:ea typeface="华文中宋" panose="02010600040101010101" charset="-122"/>
              </a:rPr>
              <a:t>, </a:t>
            </a:r>
            <a:r>
              <a:rPr lang="zh-CN" altLang="en-US" sz="2400">
                <a:latin typeface="华文中宋" panose="02010600040101010101" charset="-122"/>
                <a:ea typeface="华文中宋" panose="02010600040101010101" charset="-122"/>
              </a:rPr>
              <a:t>对</a:t>
            </a:r>
            <a:r>
              <a:rPr lang="en-US" altLang="zh-CN" sz="2400">
                <a:latin typeface="华文中宋" panose="02010600040101010101" charset="-122"/>
                <a:ea typeface="华文中宋" panose="02010600040101010101" charset="-122"/>
              </a:rPr>
              <a:t>……</a:t>
            </a:r>
            <a:r>
              <a:rPr lang="zh-CN" altLang="en-US" sz="2400">
                <a:latin typeface="华文中宋" panose="02010600040101010101" charset="-122"/>
                <a:ea typeface="华文中宋" panose="02010600040101010101" charset="-122"/>
              </a:rPr>
              <a:t>大惊小怪</a:t>
            </a:r>
            <a:endParaRPr lang="zh-CN" altLang="en-US" sz="2400">
              <a:latin typeface="华文中宋" panose="02010600040101010101" charset="-122"/>
              <a:ea typeface="华文中宋" panose="02010600040101010101" charset="-122"/>
            </a:endParaRPr>
          </a:p>
          <a:p>
            <a:pPr>
              <a:lnSpc>
                <a:spcPct val="120000"/>
              </a:lnSpc>
            </a:pPr>
            <a:r>
              <a:rPr lang="zh-CN" altLang="en-US" sz="2400">
                <a:latin typeface="华文中宋" panose="02010600040101010101" charset="-122"/>
                <a:ea typeface="华文中宋" panose="02010600040101010101" charset="-122"/>
                <a:sym typeface="+mn-ea"/>
              </a:rPr>
              <a:t>摆脱这件麻烦事</a:t>
            </a:r>
            <a:endParaRPr lang="zh-CN" altLang="en-US" sz="2400">
              <a:latin typeface="华文中宋" panose="02010600040101010101" charset="-122"/>
              <a:ea typeface="华文中宋" panose="02010600040101010101" charset="-122"/>
            </a:endParaRPr>
          </a:p>
          <a:p>
            <a:pPr>
              <a:lnSpc>
                <a:spcPct val="120000"/>
              </a:lnSpc>
            </a:pPr>
            <a:r>
              <a:rPr lang="zh-CN" altLang="en-US" sz="2400">
                <a:latin typeface="华文中宋" panose="02010600040101010101" charset="-122"/>
                <a:ea typeface="华文中宋" panose="02010600040101010101" charset="-122"/>
              </a:rPr>
              <a:t>剥夺我从音乐</a:t>
            </a:r>
            <a:r>
              <a:rPr lang="zh-CN" altLang="en-US" sz="2400">
                <a:latin typeface="华文中宋" panose="02010600040101010101" charset="-122"/>
                <a:ea typeface="华文中宋" panose="02010600040101010101" charset="-122"/>
              </a:rPr>
              <a:t>获取的慰藉</a:t>
            </a:r>
            <a:endParaRPr lang="zh-CN" altLang="en-US" sz="2400">
              <a:latin typeface="华文中宋" panose="02010600040101010101" charset="-122"/>
              <a:ea typeface="华文中宋" panose="02010600040101010101" charset="-122"/>
            </a:endParaRPr>
          </a:p>
          <a:p>
            <a:pPr>
              <a:lnSpc>
                <a:spcPct val="110000"/>
              </a:lnSpc>
            </a:pPr>
            <a:r>
              <a:rPr lang="zh-CN" altLang="en-US" sz="2400">
                <a:latin typeface="华文中宋" panose="02010600040101010101" charset="-122"/>
                <a:ea typeface="华文中宋" panose="02010600040101010101" charset="-122"/>
                <a:sym typeface="+mn-ea"/>
              </a:rPr>
              <a:t>雇了一个小提琴手给我伴奏</a:t>
            </a:r>
            <a:endParaRPr lang="zh-CN" altLang="en-US" sz="2400">
              <a:latin typeface="华文中宋" panose="02010600040101010101" charset="-122"/>
              <a:ea typeface="华文中宋" panose="02010600040101010101" charset="-122"/>
            </a:endParaRPr>
          </a:p>
        </p:txBody>
      </p:sp>
      <p:sp>
        <p:nvSpPr>
          <p:cNvPr id="5" name="文本框 4"/>
          <p:cNvSpPr txBox="1"/>
          <p:nvPr/>
        </p:nvSpPr>
        <p:spPr>
          <a:xfrm>
            <a:off x="5835650" y="1073785"/>
            <a:ext cx="5005705" cy="4927600"/>
          </a:xfrm>
          <a:prstGeom prst="rect">
            <a:avLst/>
          </a:prstGeom>
          <a:solidFill>
            <a:schemeClr val="accent3">
              <a:lumMod val="20000"/>
              <a:lumOff val="80000"/>
            </a:schemeClr>
          </a:solidFill>
        </p:spPr>
        <p:txBody>
          <a:bodyPr wrap="square">
            <a:spAutoFit/>
          </a:bodyPr>
          <a:p>
            <a:pPr marL="0" indent="0">
              <a:lnSpc>
                <a:spcPct val="120000"/>
              </a:lnSpc>
            </a:pPr>
            <a:r>
              <a:rPr lang="en-US" altLang="zh-CN" sz="2400" b="0" i="0">
                <a:solidFill>
                  <a:schemeClr val="accent1"/>
                </a:solidFill>
                <a:latin typeface="Calibri" panose="020F0502020204030204" charset="0"/>
                <a:ea typeface="-apple-system"/>
                <a:cs typeface="Calibri" panose="020F0502020204030204" charset="0"/>
              </a:rPr>
              <a:t>... struck me as mean</a:t>
            </a:r>
            <a:endParaRPr lang="en-US" altLang="zh-CN" sz="2400" b="0" i="0">
              <a:solidFill>
                <a:schemeClr val="accent1"/>
              </a:solidFill>
              <a:latin typeface="Calibri" panose="020F0502020204030204" charset="0"/>
              <a:ea typeface="-apple-system"/>
              <a:cs typeface="Calibri" panose="020F0502020204030204" charset="0"/>
            </a:endParaRPr>
          </a:p>
          <a:p>
            <a:pPr marL="0" indent="0">
              <a:lnSpc>
                <a:spcPct val="120000"/>
              </a:lnSpc>
            </a:pPr>
            <a:r>
              <a:rPr lang="en-US" altLang="zh-CN" sz="2400" b="0" i="0">
                <a:solidFill>
                  <a:schemeClr val="accent1"/>
                </a:solidFill>
                <a:latin typeface="Calibri" panose="020F0502020204030204" charset="0"/>
                <a:ea typeface="-apple-system"/>
                <a:cs typeface="Calibri" panose="020F0502020204030204" charset="0"/>
              </a:rPr>
              <a:t>set apart this day</a:t>
            </a:r>
            <a:endParaRPr lang="en-US" altLang="zh-CN" sz="2400" b="0" i="0">
              <a:solidFill>
                <a:schemeClr val="accent1"/>
              </a:solidFill>
              <a:latin typeface="Calibri" panose="020F0502020204030204" charset="0"/>
              <a:ea typeface="-apple-system"/>
              <a:cs typeface="Calibri" panose="020F0502020204030204" charset="0"/>
            </a:endParaRPr>
          </a:p>
          <a:p>
            <a:pPr marL="0" indent="0">
              <a:lnSpc>
                <a:spcPct val="120000"/>
              </a:lnSpc>
            </a:pPr>
            <a:r>
              <a:rPr lang="en-US" altLang="zh-CN" sz="2400" b="0" i="0">
                <a:solidFill>
                  <a:schemeClr val="accent1"/>
                </a:solidFill>
                <a:latin typeface="Calibri" panose="020F0502020204030204" charset="0"/>
                <a:ea typeface="-apple-system"/>
                <a:cs typeface="Calibri" panose="020F0502020204030204" charset="0"/>
              </a:rPr>
              <a:t>look sb. (straight) in the face/eye</a:t>
            </a:r>
            <a:endParaRPr lang="en-US" altLang="zh-CN" sz="2400" b="0" i="0">
              <a:solidFill>
                <a:schemeClr val="accent1"/>
              </a:solidFill>
              <a:latin typeface="Calibri" panose="020F0502020204030204" charset="0"/>
              <a:ea typeface="-apple-system"/>
              <a:cs typeface="Calibri" panose="020F0502020204030204" charset="0"/>
            </a:endParaRPr>
          </a:p>
          <a:p>
            <a:pPr marL="0" indent="0">
              <a:lnSpc>
                <a:spcPct val="120000"/>
              </a:lnSpc>
            </a:pPr>
            <a:r>
              <a:rPr lang="en-US" altLang="zh-CN" sz="2400" b="0" i="0">
                <a:solidFill>
                  <a:schemeClr val="accent1"/>
                </a:solidFill>
                <a:latin typeface="Calibri" panose="020F0502020204030204" charset="0"/>
                <a:ea typeface="-apple-system"/>
                <a:cs typeface="Calibri" panose="020F0502020204030204" charset="0"/>
              </a:rPr>
              <a:t>a sword hanging over his head</a:t>
            </a:r>
            <a:endParaRPr lang="en-US" altLang="zh-CN" sz="2400" b="0" i="0">
              <a:solidFill>
                <a:schemeClr val="accent1"/>
              </a:solidFill>
              <a:latin typeface="Calibri" panose="020F0502020204030204" charset="0"/>
              <a:ea typeface="-apple-system"/>
              <a:cs typeface="Calibri" panose="020F0502020204030204" charset="0"/>
            </a:endParaRPr>
          </a:p>
          <a:p>
            <a:pPr marL="0" indent="0">
              <a:lnSpc>
                <a:spcPct val="120000"/>
              </a:lnSpc>
            </a:pPr>
            <a:r>
              <a:rPr lang="en-US" altLang="zh-CN" sz="2400" b="0" i="0">
                <a:solidFill>
                  <a:schemeClr val="accent1"/>
                </a:solidFill>
                <a:latin typeface="Calibri" panose="020F0502020204030204" charset="0"/>
                <a:ea typeface="-apple-system"/>
                <a:cs typeface="Calibri" panose="020F0502020204030204" charset="0"/>
              </a:rPr>
              <a:t>out of sheer boredom</a:t>
            </a:r>
            <a:endParaRPr lang="en-US" altLang="zh-CN" sz="2400" b="0" i="0">
              <a:solidFill>
                <a:schemeClr val="accent1"/>
              </a:solidFill>
              <a:latin typeface="Calibri" panose="020F0502020204030204" charset="0"/>
              <a:ea typeface="-apple-system"/>
              <a:cs typeface="Calibri" panose="020F0502020204030204" charset="0"/>
            </a:endParaRPr>
          </a:p>
          <a:p>
            <a:pPr marL="0" indent="0">
              <a:lnSpc>
                <a:spcPct val="120000"/>
              </a:lnSpc>
            </a:pPr>
            <a:r>
              <a:rPr lang="en-US" altLang="zh-CN" sz="2400" b="0" i="0">
                <a:solidFill>
                  <a:schemeClr val="accent1"/>
                </a:solidFill>
                <a:latin typeface="Calibri" panose="020F0502020204030204" charset="0"/>
                <a:ea typeface="-apple-system"/>
                <a:cs typeface="Calibri" panose="020F0502020204030204" charset="0"/>
              </a:rPr>
              <a:t>weakness for music</a:t>
            </a:r>
            <a:endParaRPr lang="en-US" altLang="zh-CN" sz="2400" b="0" i="0">
              <a:solidFill>
                <a:schemeClr val="accent1"/>
              </a:solidFill>
              <a:latin typeface="Calibri" panose="020F0502020204030204" charset="0"/>
              <a:ea typeface="-apple-system"/>
              <a:cs typeface="Calibri" panose="020F0502020204030204" charset="0"/>
            </a:endParaRPr>
          </a:p>
          <a:p>
            <a:pPr marL="0" indent="0">
              <a:lnSpc>
                <a:spcPct val="120000"/>
              </a:lnSpc>
            </a:pPr>
            <a:r>
              <a:rPr lang="en-US" altLang="zh-CN" sz="2400" b="0" i="0">
                <a:solidFill>
                  <a:schemeClr val="accent1"/>
                </a:solidFill>
                <a:latin typeface="Calibri" panose="020F0502020204030204" charset="0"/>
                <a:ea typeface="-apple-system"/>
                <a:cs typeface="Calibri" panose="020F0502020204030204" charset="0"/>
              </a:rPr>
              <a:t>behind closed doors</a:t>
            </a:r>
            <a:endParaRPr lang="en-US" altLang="zh-CN" sz="2400" b="0" i="0">
              <a:solidFill>
                <a:schemeClr val="accent1"/>
              </a:solidFill>
              <a:latin typeface="Calibri" panose="020F0502020204030204" charset="0"/>
              <a:ea typeface="-apple-system"/>
              <a:cs typeface="Calibri" panose="020F0502020204030204" charset="0"/>
            </a:endParaRPr>
          </a:p>
          <a:p>
            <a:pPr marL="0" indent="0">
              <a:lnSpc>
                <a:spcPct val="120000"/>
              </a:lnSpc>
            </a:pPr>
            <a:r>
              <a:rPr lang="en-US" altLang="zh-CN" sz="2400" b="0" i="0">
                <a:solidFill>
                  <a:schemeClr val="accent1"/>
                </a:solidFill>
                <a:latin typeface="Calibri" panose="020F0502020204030204" charset="0"/>
                <a:ea typeface="-apple-system"/>
                <a:cs typeface="Calibri" panose="020F0502020204030204" charset="0"/>
              </a:rPr>
              <a:t>fuss over sth./sb.</a:t>
            </a:r>
            <a:endParaRPr lang="en-US" altLang="zh-CN" sz="2400" b="0" i="0">
              <a:solidFill>
                <a:schemeClr val="accent1"/>
              </a:solidFill>
              <a:latin typeface="Calibri" panose="020F0502020204030204" charset="0"/>
              <a:ea typeface="-apple-system"/>
              <a:cs typeface="Calibri" panose="020F0502020204030204" charset="0"/>
            </a:endParaRPr>
          </a:p>
          <a:p>
            <a:pPr marL="0" indent="0">
              <a:lnSpc>
                <a:spcPct val="120000"/>
              </a:lnSpc>
            </a:pPr>
            <a:r>
              <a:rPr lang="en-US" altLang="zh-CN" sz="2400">
                <a:solidFill>
                  <a:schemeClr val="accent1"/>
                </a:solidFill>
                <a:latin typeface="Calibri" panose="020F0502020204030204" charset="0"/>
                <a:ea typeface="-apple-system"/>
                <a:cs typeface="Calibri" panose="020F0502020204030204" charset="0"/>
                <a:sym typeface="+mn-ea"/>
              </a:rPr>
              <a:t>get rid of the nuisance</a:t>
            </a:r>
            <a:endParaRPr lang="en-US" altLang="zh-CN" sz="2400" b="0" i="0">
              <a:solidFill>
                <a:schemeClr val="accent1"/>
              </a:solidFill>
              <a:latin typeface="Calibri" panose="020F0502020204030204" charset="0"/>
              <a:ea typeface="-apple-system"/>
              <a:cs typeface="Calibri" panose="020F0502020204030204" charset="0"/>
            </a:endParaRPr>
          </a:p>
          <a:p>
            <a:pPr marL="0" indent="0">
              <a:lnSpc>
                <a:spcPct val="120000"/>
              </a:lnSpc>
            </a:pPr>
            <a:r>
              <a:rPr lang="en-US" altLang="zh-CN" sz="2400" b="0" i="0">
                <a:solidFill>
                  <a:schemeClr val="accent1"/>
                </a:solidFill>
                <a:latin typeface="Calibri" panose="020F0502020204030204" charset="0"/>
                <a:ea typeface="-apple-system"/>
                <a:cs typeface="Calibri" panose="020F0502020204030204" charset="0"/>
              </a:rPr>
              <a:t>deny me the consolation of music</a:t>
            </a:r>
            <a:endParaRPr lang="en-US" altLang="zh-CN" sz="2400" b="0" i="0">
              <a:solidFill>
                <a:schemeClr val="accent1"/>
              </a:solidFill>
              <a:latin typeface="Calibri" panose="020F0502020204030204" charset="0"/>
              <a:ea typeface="-apple-system"/>
              <a:cs typeface="Calibri" panose="020F0502020204030204" charset="0"/>
            </a:endParaRPr>
          </a:p>
          <a:p>
            <a:pPr marL="0" indent="0">
              <a:lnSpc>
                <a:spcPct val="110000"/>
              </a:lnSpc>
            </a:pPr>
            <a:r>
              <a:rPr lang="en-US" altLang="zh-CN" sz="2400">
                <a:solidFill>
                  <a:schemeClr val="accent1"/>
                </a:solidFill>
                <a:latin typeface="Calibri" panose="020F0502020204030204" charset="0"/>
                <a:ea typeface="-apple-system"/>
                <a:cs typeface="Calibri" panose="020F0502020204030204" charset="0"/>
                <a:sym typeface="+mn-ea"/>
              </a:rPr>
              <a:t>engage a violinist to accompany me</a:t>
            </a:r>
            <a:endParaRPr lang="en-US" altLang="zh-CN" sz="2400" b="0" i="0">
              <a:solidFill>
                <a:schemeClr val="accent1"/>
              </a:solidFill>
              <a:latin typeface="Calibri" panose="020F0502020204030204" charset="0"/>
              <a:ea typeface="-apple-system"/>
              <a:cs typeface="Calibri" panose="020F0502020204030204" charset="0"/>
            </a:endParaRPr>
          </a:p>
        </p:txBody>
      </p:sp>
      <p:pic>
        <p:nvPicPr>
          <p:cNvPr id="2" name="图片 1"/>
          <p:cNvPicPr/>
          <p:nvPr/>
        </p:nvPicPr>
        <p:blipFill>
          <a:blip r:embed="rId5"/>
          <a:stretch>
            <a:fillRect/>
          </a:stretch>
        </p:blipFill>
        <p:spPr>
          <a:xfrm>
            <a:off x="9453245" y="3250565"/>
            <a:ext cx="2383790" cy="16535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xEl>
                                              <p:pRg st="4294967295" end="4294967295"/>
                                            </p:txEl>
                                          </p:spTgt>
                                        </p:tgtEl>
                                        <p:attrNameLst>
                                          <p:attrName>style.visibility</p:attrName>
                                        </p:attrNameLst>
                                      </p:cBhvr>
                                      <p:to>
                                        <p:strVal val="visible"/>
                                      </p:to>
                                    </p:set>
                                    <p:animEffect transition="in" filter="checkerboard(across)">
                                      <p:cBhvr>
                                        <p:cTn id="7" dur="500"/>
                                        <p:tgtEl>
                                          <p:spTgt spid="5">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heckerboard(across)">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checkerboard(across)">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checkerboard(across)">
                                      <p:cBhvr>
                                        <p:cTn id="37" dur="500"/>
                                        <p:tgtEl>
                                          <p:spTgt spid="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5">
                                            <p:txEl>
                                              <p:pRg st="6" end="6"/>
                                            </p:txEl>
                                          </p:spTgt>
                                        </p:tgtEl>
                                        <p:attrNameLst>
                                          <p:attrName>style.visibility</p:attrName>
                                        </p:attrNameLst>
                                      </p:cBhvr>
                                      <p:to>
                                        <p:strVal val="visible"/>
                                      </p:to>
                                    </p:set>
                                    <p:animEffect transition="in" filter="checkerboard(across)">
                                      <p:cBhvr>
                                        <p:cTn id="42" dur="500"/>
                                        <p:tgtEl>
                                          <p:spTgt spid="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5">
                                            <p:txEl>
                                              <p:pRg st="7" end="7"/>
                                            </p:txEl>
                                          </p:spTgt>
                                        </p:tgtEl>
                                        <p:attrNameLst>
                                          <p:attrName>style.visibility</p:attrName>
                                        </p:attrNameLst>
                                      </p:cBhvr>
                                      <p:to>
                                        <p:strVal val="visible"/>
                                      </p:to>
                                    </p:set>
                                    <p:animEffect transition="in" filter="checkerboard(across)">
                                      <p:cBhvr>
                                        <p:cTn id="47" dur="500"/>
                                        <p:tgtEl>
                                          <p:spTgt spid="5">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5">
                                            <p:txEl>
                                              <p:pRg st="8" end="8"/>
                                            </p:txEl>
                                          </p:spTgt>
                                        </p:tgtEl>
                                        <p:attrNameLst>
                                          <p:attrName>style.visibility</p:attrName>
                                        </p:attrNameLst>
                                      </p:cBhvr>
                                      <p:to>
                                        <p:strVal val="visible"/>
                                      </p:to>
                                    </p:set>
                                    <p:animEffect transition="in" filter="checkerboard(across)">
                                      <p:cBhvr>
                                        <p:cTn id="52" dur="500"/>
                                        <p:tgtEl>
                                          <p:spTgt spid="5">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5">
                                            <p:txEl>
                                              <p:pRg st="9" end="9"/>
                                            </p:txEl>
                                          </p:spTgt>
                                        </p:tgtEl>
                                        <p:attrNameLst>
                                          <p:attrName>style.visibility</p:attrName>
                                        </p:attrNameLst>
                                      </p:cBhvr>
                                      <p:to>
                                        <p:strVal val="visible"/>
                                      </p:to>
                                    </p:set>
                                    <p:animEffect transition="in" filter="checkerboard(across)">
                                      <p:cBhvr>
                                        <p:cTn id="57" dur="500"/>
                                        <p:tgtEl>
                                          <p:spTgt spid="5">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5">
                                            <p:txEl>
                                              <p:pRg st="10" end="10"/>
                                            </p:txEl>
                                          </p:spTgt>
                                        </p:tgtEl>
                                        <p:attrNameLst>
                                          <p:attrName>style.visibility</p:attrName>
                                        </p:attrNameLst>
                                      </p:cBhvr>
                                      <p:to>
                                        <p:strVal val="visible"/>
                                      </p:to>
                                    </p:set>
                                    <p:animEffect transition="in" filter="checkerboard(across)">
                                      <p:cBhvr>
                                        <p:cTn id="62"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655"/>
            <a:ext cx="3594100" cy="46037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eaLnBrk="1" hangingPunct="1">
              <a:buFont typeface="Arial" panose="020B0604020202020204" pitchFamily="34" charset="0"/>
              <a:buNone/>
            </a:pPr>
            <a:r>
              <a:rPr lang="en-US" altLang="zh-CN" sz="2400" dirty="0">
                <a:solidFill>
                  <a:schemeClr val="bg1"/>
                </a:solidFill>
                <a:latin typeface="Arial Black" panose="020B0A04020102020204" pitchFamily="34" charset="0"/>
              </a:rPr>
              <a:t>Unit 7 Phrases</a:t>
            </a:r>
            <a:endParaRPr lang="en-US" altLang="zh-CN" sz="2400" dirty="0">
              <a:solidFill>
                <a:schemeClr val="bg1"/>
              </a:solidFill>
              <a:latin typeface="Arial Black" panose="020B0A04020102020204" pitchFamily="34" charset="0"/>
            </a:endParaRPr>
          </a:p>
        </p:txBody>
      </p:sp>
      <p:pic>
        <p:nvPicPr>
          <p:cNvPr id="8" name="图片 7">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pic>
        <p:nvPicPr>
          <p:cNvPr id="10" name="图片 9">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 name="文本框 3"/>
          <p:cNvSpPr txBox="1"/>
          <p:nvPr/>
        </p:nvSpPr>
        <p:spPr>
          <a:xfrm>
            <a:off x="1236345" y="1073785"/>
            <a:ext cx="4117340" cy="4961890"/>
          </a:xfrm>
          <a:prstGeom prst="rect">
            <a:avLst/>
          </a:prstGeom>
          <a:solidFill>
            <a:schemeClr val="accent4">
              <a:lumMod val="20000"/>
              <a:lumOff val="80000"/>
            </a:schemeClr>
          </a:solidFill>
        </p:spPr>
        <p:txBody>
          <a:bodyPr wrap="square" rtlCol="0">
            <a:spAutoFit/>
          </a:bodyPr>
          <a:p>
            <a:pPr>
              <a:lnSpc>
                <a:spcPct val="110000"/>
              </a:lnSpc>
            </a:pPr>
            <a:r>
              <a:rPr lang="zh-CN" altLang="en-US" sz="2400" dirty="0">
                <a:latin typeface="华文中宋" panose="02010600040101010101" charset="-122"/>
                <a:ea typeface="华文中宋" panose="02010600040101010101" charset="-122"/>
                <a:sym typeface="+mn-ea"/>
              </a:rPr>
              <a:t>满</a:t>
            </a:r>
            <a:r>
              <a:rPr lang="zh-CN" altLang="en-US" sz="2400" dirty="0">
                <a:latin typeface="华文中宋" panose="02010600040101010101" charset="-122"/>
                <a:ea typeface="华文中宋" panose="02010600040101010101" charset="-122"/>
                <a:sym typeface="+mn-ea"/>
              </a:rPr>
              <a:t>面汗珠</a:t>
            </a:r>
            <a:endParaRPr lang="zh-CN" altLang="en-US" sz="2400">
              <a:latin typeface="华文中宋" panose="02010600040101010101" charset="-122"/>
              <a:ea typeface="华文中宋" panose="02010600040101010101" charset="-122"/>
            </a:endParaRPr>
          </a:p>
          <a:p>
            <a:pPr>
              <a:lnSpc>
                <a:spcPct val="110000"/>
              </a:lnSpc>
            </a:pPr>
            <a:r>
              <a:rPr lang="zh-CN" altLang="en-US" sz="2400">
                <a:latin typeface="华文中宋" panose="02010600040101010101" charset="-122"/>
                <a:ea typeface="华文中宋" panose="02010600040101010101" charset="-122"/>
              </a:rPr>
              <a:t>宣布审判</a:t>
            </a:r>
            <a:r>
              <a:rPr lang="zh-CN" altLang="en-US" sz="2400">
                <a:latin typeface="华文中宋" panose="02010600040101010101" charset="-122"/>
                <a:ea typeface="华文中宋" panose="02010600040101010101" charset="-122"/>
              </a:rPr>
              <a:t>结果</a:t>
            </a:r>
            <a:endParaRPr lang="zh-CN" altLang="en-US" sz="2400">
              <a:latin typeface="华文中宋" panose="02010600040101010101" charset="-122"/>
              <a:ea typeface="华文中宋" panose="02010600040101010101" charset="-122"/>
            </a:endParaRPr>
          </a:p>
          <a:p>
            <a:pPr>
              <a:lnSpc>
                <a:spcPct val="110000"/>
              </a:lnSpc>
            </a:pPr>
            <a:r>
              <a:rPr lang="zh-CN" altLang="en-US" sz="2400">
                <a:latin typeface="华文中宋" panose="02010600040101010101" charset="-122"/>
                <a:ea typeface="华文中宋" panose="02010600040101010101" charset="-122"/>
              </a:rPr>
              <a:t>站在那儿目瞪口呆</a:t>
            </a:r>
            <a:endParaRPr lang="zh-CN" altLang="en-US" sz="2400">
              <a:latin typeface="华文中宋" panose="02010600040101010101" charset="-122"/>
              <a:ea typeface="华文中宋" panose="02010600040101010101" charset="-122"/>
            </a:endParaRPr>
          </a:p>
          <a:p>
            <a:pPr>
              <a:lnSpc>
                <a:spcPct val="110000"/>
              </a:lnSpc>
            </a:pPr>
            <a:r>
              <a:rPr lang="zh-CN" altLang="en-US" sz="2400">
                <a:latin typeface="华文中宋" panose="02010600040101010101" charset="-122"/>
                <a:ea typeface="华文中宋" panose="02010600040101010101" charset="-122"/>
              </a:rPr>
              <a:t>还清，结帐</a:t>
            </a:r>
            <a:endParaRPr lang="zh-CN" altLang="en-US" sz="2400">
              <a:latin typeface="华文中宋" panose="02010600040101010101" charset="-122"/>
              <a:ea typeface="华文中宋" panose="02010600040101010101" charset="-122"/>
            </a:endParaRPr>
          </a:p>
          <a:p>
            <a:pPr>
              <a:lnSpc>
                <a:spcPct val="110000"/>
              </a:lnSpc>
            </a:pPr>
            <a:r>
              <a:rPr lang="en-US" altLang="zh-CN" sz="2400">
                <a:latin typeface="华文中宋" panose="02010600040101010101" charset="-122"/>
                <a:ea typeface="华文中宋" panose="02010600040101010101" charset="-122"/>
              </a:rPr>
              <a:t>……</a:t>
            </a:r>
            <a:r>
              <a:rPr lang="zh-CN" altLang="en-US" sz="2400">
                <a:latin typeface="华文中宋" panose="02010600040101010101" charset="-122"/>
                <a:ea typeface="华文中宋" panose="02010600040101010101" charset="-122"/>
              </a:rPr>
              <a:t>将</a:t>
            </a:r>
            <a:r>
              <a:rPr lang="zh-CN" altLang="en-US" sz="2400">
                <a:latin typeface="华文中宋" panose="02010600040101010101" charset="-122"/>
                <a:ea typeface="华文中宋" panose="02010600040101010101" charset="-122"/>
              </a:rPr>
              <a:t>一帆风顺</a:t>
            </a:r>
            <a:endParaRPr lang="zh-CN" altLang="en-US" sz="2400">
              <a:latin typeface="华文中宋" panose="02010600040101010101" charset="-122"/>
              <a:ea typeface="华文中宋" panose="02010600040101010101" charset="-122"/>
            </a:endParaRPr>
          </a:p>
          <a:p>
            <a:pPr>
              <a:lnSpc>
                <a:spcPct val="110000"/>
              </a:lnSpc>
            </a:pPr>
            <a:r>
              <a:rPr lang="zh-CN" altLang="en-US" sz="2400">
                <a:latin typeface="华文中宋" panose="02010600040101010101" charset="-122"/>
                <a:ea typeface="华文中宋" panose="02010600040101010101" charset="-122"/>
              </a:rPr>
              <a:t>（大胆）说出你的</a:t>
            </a:r>
            <a:r>
              <a:rPr lang="zh-CN" altLang="en-US" sz="2400">
                <a:latin typeface="华文中宋" panose="02010600040101010101" charset="-122"/>
                <a:ea typeface="华文中宋" panose="02010600040101010101" charset="-122"/>
              </a:rPr>
              <a:t>观点</a:t>
            </a:r>
            <a:endParaRPr lang="zh-CN" altLang="en-US" sz="2400">
              <a:latin typeface="华文中宋" panose="02010600040101010101" charset="-122"/>
              <a:ea typeface="华文中宋" panose="02010600040101010101" charset="-122"/>
            </a:endParaRPr>
          </a:p>
          <a:p>
            <a:pPr>
              <a:lnSpc>
                <a:spcPct val="110000"/>
              </a:lnSpc>
            </a:pPr>
            <a:r>
              <a:rPr lang="zh-CN" altLang="en-US" sz="2400">
                <a:latin typeface="华文中宋" panose="02010600040101010101" charset="-122"/>
                <a:ea typeface="华文中宋" panose="02010600040101010101" charset="-122"/>
              </a:rPr>
              <a:t>说得再委婉一些</a:t>
            </a:r>
            <a:endParaRPr lang="zh-CN" altLang="en-US" sz="2400">
              <a:latin typeface="华文中宋" panose="02010600040101010101" charset="-122"/>
              <a:ea typeface="华文中宋" panose="02010600040101010101" charset="-122"/>
            </a:endParaRPr>
          </a:p>
          <a:p>
            <a:pPr>
              <a:lnSpc>
                <a:spcPct val="110000"/>
              </a:lnSpc>
            </a:pPr>
            <a:r>
              <a:rPr lang="zh-CN" altLang="en-US" sz="2400">
                <a:latin typeface="华文中宋" panose="02010600040101010101" charset="-122"/>
                <a:ea typeface="华文中宋" panose="02010600040101010101" charset="-122"/>
              </a:rPr>
              <a:t>熬夜</a:t>
            </a:r>
            <a:endParaRPr lang="zh-CN" altLang="en-US" sz="2400">
              <a:latin typeface="华文中宋" panose="02010600040101010101" charset="-122"/>
              <a:ea typeface="华文中宋" panose="02010600040101010101" charset="-122"/>
            </a:endParaRPr>
          </a:p>
          <a:p>
            <a:pPr>
              <a:lnSpc>
                <a:spcPct val="110000"/>
              </a:lnSpc>
            </a:pPr>
            <a:r>
              <a:rPr lang="zh-CN" altLang="en-US" sz="2400">
                <a:latin typeface="华文中宋" panose="02010600040101010101" charset="-122"/>
                <a:ea typeface="华文中宋" panose="02010600040101010101" charset="-122"/>
                <a:sym typeface="+mn-ea"/>
              </a:rPr>
              <a:t>打断反方的发言</a:t>
            </a:r>
            <a:endParaRPr lang="zh-CN" altLang="en-US" sz="2400">
              <a:latin typeface="华文中宋" panose="02010600040101010101" charset="-122"/>
              <a:ea typeface="华文中宋" panose="02010600040101010101" charset="-122"/>
            </a:endParaRPr>
          </a:p>
          <a:p>
            <a:pPr>
              <a:lnSpc>
                <a:spcPct val="110000"/>
              </a:lnSpc>
            </a:pPr>
            <a:r>
              <a:rPr lang="zh-CN" altLang="en-US" sz="2400">
                <a:latin typeface="华文中宋" panose="02010600040101010101" charset="-122"/>
                <a:ea typeface="华文中宋" panose="02010600040101010101" charset="-122"/>
                <a:sym typeface="+mn-ea"/>
              </a:rPr>
              <a:t>遭受惨重的伤亡</a:t>
            </a:r>
            <a:endParaRPr lang="zh-CN" altLang="en-US" sz="2400">
              <a:latin typeface="华文中宋" panose="02010600040101010101" charset="-122"/>
              <a:ea typeface="华文中宋" panose="02010600040101010101" charset="-122"/>
            </a:endParaRPr>
          </a:p>
          <a:p>
            <a:pPr>
              <a:lnSpc>
                <a:spcPct val="110000"/>
              </a:lnSpc>
            </a:pPr>
            <a:r>
              <a:rPr lang="zh-CN" altLang="en-US" sz="2400">
                <a:latin typeface="华文中宋" panose="02010600040101010101" charset="-122"/>
                <a:ea typeface="华文中宋" panose="02010600040101010101" charset="-122"/>
                <a:sym typeface="+mn-ea"/>
              </a:rPr>
              <a:t>压垮骆驼的最后一根稻草</a:t>
            </a:r>
            <a:endParaRPr lang="zh-CN" altLang="en-US" sz="2400">
              <a:latin typeface="华文中宋" panose="02010600040101010101" charset="-122"/>
              <a:ea typeface="华文中宋" panose="02010600040101010101" charset="-122"/>
              <a:sym typeface="+mn-ea"/>
            </a:endParaRPr>
          </a:p>
          <a:p>
            <a:pPr>
              <a:lnSpc>
                <a:spcPct val="110000"/>
              </a:lnSpc>
            </a:pPr>
            <a:r>
              <a:rPr lang="zh-CN" altLang="en-US" sz="2400">
                <a:latin typeface="华文中宋" panose="02010600040101010101" charset="-122"/>
                <a:ea typeface="华文中宋" panose="02010600040101010101" charset="-122"/>
              </a:rPr>
              <a:t>沉溺于</a:t>
            </a:r>
            <a:endParaRPr lang="zh-CN" altLang="en-US" sz="2400">
              <a:latin typeface="华文中宋" panose="02010600040101010101" charset="-122"/>
              <a:ea typeface="华文中宋" panose="02010600040101010101" charset="-122"/>
            </a:endParaRPr>
          </a:p>
        </p:txBody>
      </p:sp>
      <p:sp>
        <p:nvSpPr>
          <p:cNvPr id="5" name="文本框 4"/>
          <p:cNvSpPr txBox="1"/>
          <p:nvPr/>
        </p:nvSpPr>
        <p:spPr>
          <a:xfrm>
            <a:off x="5480685" y="1073785"/>
            <a:ext cx="6090285" cy="4961890"/>
          </a:xfrm>
          <a:prstGeom prst="rect">
            <a:avLst/>
          </a:prstGeom>
          <a:solidFill>
            <a:schemeClr val="accent3">
              <a:lumMod val="20000"/>
              <a:lumOff val="80000"/>
            </a:schemeClr>
          </a:solidFill>
        </p:spPr>
        <p:txBody>
          <a:bodyPr wrap="square">
            <a:spAutoFit/>
          </a:bodyPr>
          <a:p>
            <a:pPr marL="0" indent="0">
              <a:lnSpc>
                <a:spcPct val="110000"/>
              </a:lnSpc>
            </a:pPr>
            <a:r>
              <a:rPr lang="en-US" altLang="zh-CN" sz="2400" b="0" i="0">
                <a:solidFill>
                  <a:schemeClr val="accent1"/>
                </a:solidFill>
                <a:latin typeface="Calibri" panose="020F0502020204030204" charset="0"/>
                <a:ea typeface="-apple-system"/>
                <a:cs typeface="Calibri" panose="020F0502020204030204" charset="0"/>
              </a:rPr>
              <a:t>(one’s face) beaded with perspiration</a:t>
            </a:r>
            <a:endParaRPr lang="en-US" altLang="zh-CN" sz="2400" b="0" i="0">
              <a:solidFill>
                <a:schemeClr val="accent1"/>
              </a:solidFill>
              <a:latin typeface="Calibri" panose="020F0502020204030204" charset="0"/>
              <a:ea typeface="-apple-system"/>
              <a:cs typeface="Calibri" panose="020F0502020204030204" charset="0"/>
            </a:endParaRPr>
          </a:p>
          <a:p>
            <a:pPr marL="0" indent="0">
              <a:lnSpc>
                <a:spcPct val="110000"/>
              </a:lnSpc>
            </a:pPr>
            <a:r>
              <a:rPr lang="en-US" altLang="zh-CN" sz="2400" b="0" i="0">
                <a:solidFill>
                  <a:schemeClr val="accent1"/>
                </a:solidFill>
                <a:latin typeface="Calibri" panose="020F0502020204030204" charset="0"/>
                <a:ea typeface="-apple-system"/>
                <a:cs typeface="Calibri" panose="020F0502020204030204" charset="0"/>
              </a:rPr>
              <a:t>deliver a sentence</a:t>
            </a:r>
            <a:endParaRPr lang="en-US" altLang="zh-CN" sz="2400" b="0" i="0">
              <a:solidFill>
                <a:schemeClr val="accent1"/>
              </a:solidFill>
              <a:latin typeface="Calibri" panose="020F0502020204030204" charset="0"/>
              <a:ea typeface="-apple-system"/>
              <a:cs typeface="Calibri" panose="020F0502020204030204" charset="0"/>
            </a:endParaRPr>
          </a:p>
          <a:p>
            <a:pPr marL="0" indent="0">
              <a:lnSpc>
                <a:spcPct val="110000"/>
              </a:lnSpc>
            </a:pPr>
            <a:r>
              <a:rPr lang="en-US" altLang="zh-CN" sz="2400" b="0" i="0">
                <a:solidFill>
                  <a:schemeClr val="accent1"/>
                </a:solidFill>
                <a:latin typeface="Calibri" panose="020F0502020204030204" charset="0"/>
                <a:ea typeface="-apple-system"/>
                <a:cs typeface="Calibri" panose="020F0502020204030204" charset="0"/>
              </a:rPr>
              <a:t>stood there stunned /stupefied/ dumbfounded</a:t>
            </a:r>
            <a:endParaRPr lang="en-US" altLang="zh-CN" sz="2400" b="0" i="0">
              <a:solidFill>
                <a:schemeClr val="accent1"/>
              </a:solidFill>
              <a:latin typeface="Calibri" panose="020F0502020204030204" charset="0"/>
              <a:ea typeface="-apple-system"/>
              <a:cs typeface="Calibri" panose="020F0502020204030204" charset="0"/>
            </a:endParaRPr>
          </a:p>
          <a:p>
            <a:pPr marL="0" indent="0">
              <a:lnSpc>
                <a:spcPct val="110000"/>
              </a:lnSpc>
            </a:pPr>
            <a:r>
              <a:rPr lang="en-US" altLang="zh-CN" sz="2400" b="0" i="0">
                <a:solidFill>
                  <a:schemeClr val="accent1"/>
                </a:solidFill>
                <a:latin typeface="Calibri" panose="020F0502020204030204" charset="0"/>
                <a:ea typeface="-apple-system"/>
                <a:cs typeface="Calibri" panose="020F0502020204030204" charset="0"/>
              </a:rPr>
              <a:t>paid off ...</a:t>
            </a:r>
            <a:endParaRPr lang="en-US" altLang="zh-CN" sz="2400" b="0" i="0">
              <a:solidFill>
                <a:schemeClr val="accent1"/>
              </a:solidFill>
              <a:latin typeface="Calibri" panose="020F0502020204030204" charset="0"/>
              <a:ea typeface="-apple-system"/>
              <a:cs typeface="Calibri" panose="020F0502020204030204" charset="0"/>
            </a:endParaRPr>
          </a:p>
          <a:p>
            <a:pPr marL="0" indent="0">
              <a:lnSpc>
                <a:spcPct val="110000"/>
              </a:lnSpc>
            </a:pPr>
            <a:r>
              <a:rPr lang="en-US" altLang="zh-CN" sz="2400" b="0" i="0">
                <a:solidFill>
                  <a:schemeClr val="accent1"/>
                </a:solidFill>
                <a:latin typeface="Calibri" panose="020F0502020204030204" charset="0"/>
                <a:ea typeface="-apple-system"/>
                <a:cs typeface="Calibri" panose="020F0502020204030204" charset="0"/>
              </a:rPr>
              <a:t>to be smooth sailing </a:t>
            </a:r>
            <a:endParaRPr lang="en-US" altLang="zh-CN" sz="2400" b="0" i="0">
              <a:solidFill>
                <a:schemeClr val="accent1"/>
              </a:solidFill>
              <a:latin typeface="Calibri" panose="020F0502020204030204" charset="0"/>
              <a:ea typeface="-apple-system"/>
              <a:cs typeface="Calibri" panose="020F0502020204030204" charset="0"/>
            </a:endParaRPr>
          </a:p>
          <a:p>
            <a:pPr marL="0" indent="0">
              <a:lnSpc>
                <a:spcPct val="110000"/>
              </a:lnSpc>
            </a:pPr>
            <a:r>
              <a:rPr lang="en-US" altLang="zh-CN" sz="2400" b="0" i="0">
                <a:solidFill>
                  <a:schemeClr val="accent1"/>
                </a:solidFill>
                <a:latin typeface="Calibri" panose="020F0502020204030204" charset="0"/>
                <a:ea typeface="-apple-system"/>
                <a:cs typeface="Calibri" panose="020F0502020204030204" charset="0"/>
              </a:rPr>
              <a:t>come out with your opinion</a:t>
            </a:r>
            <a:endParaRPr lang="en-US" altLang="zh-CN" sz="2400" b="0" i="0">
              <a:solidFill>
                <a:schemeClr val="accent1"/>
              </a:solidFill>
              <a:latin typeface="Calibri" panose="020F0502020204030204" charset="0"/>
              <a:ea typeface="-apple-system"/>
              <a:cs typeface="Calibri" panose="020F0502020204030204" charset="0"/>
            </a:endParaRPr>
          </a:p>
          <a:p>
            <a:pPr marL="0" indent="0">
              <a:lnSpc>
                <a:spcPct val="110000"/>
              </a:lnSpc>
            </a:pPr>
            <a:r>
              <a:rPr lang="en-US" altLang="zh-CN" sz="2400" b="0" i="0">
                <a:solidFill>
                  <a:schemeClr val="accent1"/>
                </a:solidFill>
                <a:latin typeface="Calibri" panose="020F0502020204030204" charset="0"/>
                <a:ea typeface="-apple-system"/>
                <a:cs typeface="Calibri" panose="020F0502020204030204" charset="0"/>
              </a:rPr>
              <a:t>speak more soothingly</a:t>
            </a:r>
            <a:endParaRPr lang="en-US" altLang="zh-CN" sz="2400" b="0" i="0">
              <a:solidFill>
                <a:schemeClr val="accent1"/>
              </a:solidFill>
              <a:latin typeface="Calibri" panose="020F0502020204030204" charset="0"/>
              <a:ea typeface="-apple-system"/>
              <a:cs typeface="Calibri" panose="020F0502020204030204" charset="0"/>
            </a:endParaRPr>
          </a:p>
          <a:p>
            <a:pPr marL="0" indent="0">
              <a:lnSpc>
                <a:spcPct val="110000"/>
              </a:lnSpc>
            </a:pPr>
            <a:r>
              <a:rPr lang="en-US" altLang="zh-CN" sz="2400" b="0" i="0">
                <a:solidFill>
                  <a:schemeClr val="accent1"/>
                </a:solidFill>
                <a:latin typeface="Calibri" panose="020F0502020204030204" charset="0"/>
                <a:ea typeface="-apple-system"/>
                <a:cs typeface="Calibri" panose="020F0502020204030204" charset="0"/>
              </a:rPr>
              <a:t>sitting up all night</a:t>
            </a:r>
            <a:endParaRPr lang="en-US" altLang="zh-CN" sz="2400" b="0" i="0">
              <a:solidFill>
                <a:schemeClr val="accent1"/>
              </a:solidFill>
              <a:latin typeface="Calibri" panose="020F0502020204030204" charset="0"/>
              <a:ea typeface="-apple-system"/>
              <a:cs typeface="Calibri" panose="020F0502020204030204" charset="0"/>
            </a:endParaRPr>
          </a:p>
          <a:p>
            <a:pPr marL="0" indent="0">
              <a:lnSpc>
                <a:spcPct val="110000"/>
              </a:lnSpc>
            </a:pPr>
            <a:r>
              <a:rPr lang="en-US" altLang="zh-CN" sz="2400">
                <a:solidFill>
                  <a:schemeClr val="accent1"/>
                </a:solidFill>
                <a:latin typeface="Calibri" panose="020F0502020204030204" charset="0"/>
                <a:ea typeface="-apple-system"/>
                <a:cs typeface="Calibri" panose="020F0502020204030204" charset="0"/>
                <a:sym typeface="+mn-ea"/>
              </a:rPr>
              <a:t>cut the opposite side short</a:t>
            </a:r>
            <a:endParaRPr lang="en-US" altLang="zh-CN" sz="2400" b="0" i="0">
              <a:solidFill>
                <a:schemeClr val="accent1"/>
              </a:solidFill>
              <a:latin typeface="Calibri" panose="020F0502020204030204" charset="0"/>
              <a:ea typeface="-apple-system"/>
              <a:cs typeface="Calibri" panose="020F0502020204030204" charset="0"/>
            </a:endParaRPr>
          </a:p>
          <a:p>
            <a:pPr marL="0" indent="0">
              <a:lnSpc>
                <a:spcPct val="110000"/>
              </a:lnSpc>
            </a:pPr>
            <a:r>
              <a:rPr lang="en-US" altLang="zh-CN" sz="2400">
                <a:solidFill>
                  <a:schemeClr val="accent1"/>
                </a:solidFill>
                <a:latin typeface="Calibri" panose="020F0502020204030204" charset="0"/>
                <a:ea typeface="-apple-system"/>
                <a:cs typeface="Calibri" panose="020F0502020204030204" charset="0"/>
                <a:sym typeface="+mn-ea"/>
              </a:rPr>
              <a:t>suffer heavy casualties</a:t>
            </a:r>
            <a:endParaRPr lang="en-US" altLang="zh-CN" sz="2400" b="0" i="0">
              <a:solidFill>
                <a:schemeClr val="accent1"/>
              </a:solidFill>
              <a:latin typeface="Calibri" panose="020F0502020204030204" charset="0"/>
              <a:ea typeface="-apple-system"/>
              <a:cs typeface="Calibri" panose="020F0502020204030204" charset="0"/>
            </a:endParaRPr>
          </a:p>
          <a:p>
            <a:pPr marL="0" indent="0">
              <a:lnSpc>
                <a:spcPct val="110000"/>
              </a:lnSpc>
            </a:pPr>
            <a:r>
              <a:rPr lang="en-US" altLang="zh-CN" sz="2400">
                <a:solidFill>
                  <a:schemeClr val="accent1"/>
                </a:solidFill>
                <a:latin typeface="Calibri" panose="020F0502020204030204" charset="0"/>
                <a:ea typeface="-apple-system"/>
                <a:cs typeface="Calibri" panose="020F0502020204030204" charset="0"/>
                <a:sym typeface="+mn-ea"/>
              </a:rPr>
              <a:t>the straw that broke the camel's back</a:t>
            </a:r>
            <a:endParaRPr lang="en-US" altLang="zh-CN" sz="2400">
              <a:solidFill>
                <a:schemeClr val="accent1"/>
              </a:solidFill>
              <a:latin typeface="Calibri" panose="020F0502020204030204" charset="0"/>
              <a:ea typeface="-apple-system"/>
              <a:cs typeface="Calibri" panose="020F0502020204030204" charset="0"/>
              <a:sym typeface="+mn-ea"/>
            </a:endParaRPr>
          </a:p>
          <a:p>
            <a:pPr marL="0" indent="0">
              <a:lnSpc>
                <a:spcPct val="110000"/>
              </a:lnSpc>
            </a:pPr>
            <a:r>
              <a:rPr lang="en-US" altLang="zh-CN" sz="2400" b="0" i="0">
                <a:solidFill>
                  <a:schemeClr val="accent1"/>
                </a:solidFill>
                <a:latin typeface="Calibri" panose="020F0502020204030204" charset="0"/>
                <a:ea typeface="-apple-system"/>
                <a:cs typeface="Calibri" panose="020F0502020204030204" charset="0"/>
              </a:rPr>
              <a:t>indulge in</a:t>
            </a:r>
            <a:endParaRPr lang="en-US" altLang="zh-CN" sz="2400" b="0" i="0">
              <a:solidFill>
                <a:schemeClr val="accent1"/>
              </a:solidFill>
              <a:latin typeface="Calibri" panose="020F0502020204030204" charset="0"/>
              <a:ea typeface="-apple-system"/>
              <a:cs typeface="Calibri" panose="020F0502020204030204" charset="0"/>
            </a:endParaRPr>
          </a:p>
        </p:txBody>
      </p:sp>
      <p:pic>
        <p:nvPicPr>
          <p:cNvPr id="3" name="图片 2"/>
          <p:cNvPicPr/>
          <p:nvPr/>
        </p:nvPicPr>
        <p:blipFill>
          <a:blip r:embed="rId5"/>
          <a:stretch>
            <a:fillRect/>
          </a:stretch>
        </p:blipFill>
        <p:spPr>
          <a:xfrm>
            <a:off x="9443720" y="2585403"/>
            <a:ext cx="2324100" cy="23907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xEl>
                                              <p:pRg st="4294967295" end="4294967295"/>
                                            </p:txEl>
                                          </p:spTgt>
                                        </p:tgtEl>
                                        <p:attrNameLst>
                                          <p:attrName>style.visibility</p:attrName>
                                        </p:attrNameLst>
                                      </p:cBhvr>
                                      <p:to>
                                        <p:strVal val="visible"/>
                                      </p:to>
                                    </p:set>
                                    <p:animEffect transition="in" filter="checkerboard(across)">
                                      <p:cBhvr>
                                        <p:cTn id="7" dur="500"/>
                                        <p:tgtEl>
                                          <p:spTgt spid="5">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heckerboard(across)">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checkerboard(across)">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checkerboard(across)">
                                      <p:cBhvr>
                                        <p:cTn id="37" dur="500"/>
                                        <p:tgtEl>
                                          <p:spTgt spid="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5">
                                            <p:txEl>
                                              <p:pRg st="6" end="6"/>
                                            </p:txEl>
                                          </p:spTgt>
                                        </p:tgtEl>
                                        <p:attrNameLst>
                                          <p:attrName>style.visibility</p:attrName>
                                        </p:attrNameLst>
                                      </p:cBhvr>
                                      <p:to>
                                        <p:strVal val="visible"/>
                                      </p:to>
                                    </p:set>
                                    <p:animEffect transition="in" filter="checkerboard(across)">
                                      <p:cBhvr>
                                        <p:cTn id="42" dur="500"/>
                                        <p:tgtEl>
                                          <p:spTgt spid="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5">
                                            <p:txEl>
                                              <p:pRg st="7" end="7"/>
                                            </p:txEl>
                                          </p:spTgt>
                                        </p:tgtEl>
                                        <p:attrNameLst>
                                          <p:attrName>style.visibility</p:attrName>
                                        </p:attrNameLst>
                                      </p:cBhvr>
                                      <p:to>
                                        <p:strVal val="visible"/>
                                      </p:to>
                                    </p:set>
                                    <p:animEffect transition="in" filter="checkerboard(across)">
                                      <p:cBhvr>
                                        <p:cTn id="47" dur="500"/>
                                        <p:tgtEl>
                                          <p:spTgt spid="5">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5">
                                            <p:txEl>
                                              <p:pRg st="8" end="8"/>
                                            </p:txEl>
                                          </p:spTgt>
                                        </p:tgtEl>
                                        <p:attrNameLst>
                                          <p:attrName>style.visibility</p:attrName>
                                        </p:attrNameLst>
                                      </p:cBhvr>
                                      <p:to>
                                        <p:strVal val="visible"/>
                                      </p:to>
                                    </p:set>
                                    <p:animEffect transition="in" filter="checkerboard(across)">
                                      <p:cBhvr>
                                        <p:cTn id="52" dur="500"/>
                                        <p:tgtEl>
                                          <p:spTgt spid="5">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5">
                                            <p:txEl>
                                              <p:pRg st="9" end="9"/>
                                            </p:txEl>
                                          </p:spTgt>
                                        </p:tgtEl>
                                        <p:attrNameLst>
                                          <p:attrName>style.visibility</p:attrName>
                                        </p:attrNameLst>
                                      </p:cBhvr>
                                      <p:to>
                                        <p:strVal val="visible"/>
                                      </p:to>
                                    </p:set>
                                    <p:animEffect transition="in" filter="checkerboard(across)">
                                      <p:cBhvr>
                                        <p:cTn id="57" dur="500"/>
                                        <p:tgtEl>
                                          <p:spTgt spid="5">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5">
                                            <p:txEl>
                                              <p:pRg st="10" end="10"/>
                                            </p:txEl>
                                          </p:spTgt>
                                        </p:tgtEl>
                                        <p:attrNameLst>
                                          <p:attrName>style.visibility</p:attrName>
                                        </p:attrNameLst>
                                      </p:cBhvr>
                                      <p:to>
                                        <p:strVal val="visible"/>
                                      </p:to>
                                    </p:set>
                                    <p:animEffect transition="in" filter="checkerboard(across)">
                                      <p:cBhvr>
                                        <p:cTn id="62" dur="500"/>
                                        <p:tgtEl>
                                          <p:spTgt spid="5">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5" presetClass="entr" presetSubtype="10" fill="hold" grpId="0" nodeType="clickEffect">
                                  <p:stCondLst>
                                    <p:cond delay="0"/>
                                  </p:stCondLst>
                                  <p:childTnLst>
                                    <p:set>
                                      <p:cBhvr>
                                        <p:cTn id="66" dur="1" fill="hold">
                                          <p:stCondLst>
                                            <p:cond delay="0"/>
                                          </p:stCondLst>
                                        </p:cTn>
                                        <p:tgtEl>
                                          <p:spTgt spid="5">
                                            <p:txEl>
                                              <p:pRg st="11" end="11"/>
                                            </p:txEl>
                                          </p:spTgt>
                                        </p:tgtEl>
                                        <p:attrNameLst>
                                          <p:attrName>style.visibility</p:attrName>
                                        </p:attrNameLst>
                                      </p:cBhvr>
                                      <p:to>
                                        <p:strVal val="visible"/>
                                      </p:to>
                                    </p:set>
                                    <p:animEffect transition="in" filter="checkerboard(across)">
                                      <p:cBhvr>
                                        <p:cTn id="67" dur="500"/>
                                        <p:tgtEl>
                                          <p:spTgt spid="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89330" y="875665"/>
            <a:ext cx="9753600" cy="4354830"/>
          </a:xfrm>
          <a:prstGeom prst="rect">
            <a:avLst/>
          </a:prstGeom>
          <a:noFill/>
        </p:spPr>
        <p:txBody>
          <a:bodyPr wrap="square" rtlCol="0" anchor="ctr" anchorCtr="0">
            <a:noAutofit/>
          </a:bodyPr>
          <a:p>
            <a:pPr lvl="0" algn="l">
              <a:lnSpc>
                <a:spcPct val="140000"/>
              </a:lnSpc>
              <a:buNone/>
            </a:pPr>
            <a:r>
              <a:rPr lang="en-US" altLang="zh-CN" sz="2600">
                <a:solidFill>
                  <a:srgbClr val="000000"/>
                </a:solidFill>
                <a:latin typeface="微软雅黑" panose="020B0503020204020204" charset="-122"/>
                <a:ea typeface="微软雅黑" panose="020B0503020204020204" charset="-122"/>
              </a:rPr>
              <a:t>Choose at least 3 </a:t>
            </a:r>
            <a:r>
              <a:rPr lang="en-US" altLang="zh-CN" sz="2600">
                <a:solidFill>
                  <a:srgbClr val="000000"/>
                </a:solidFill>
                <a:latin typeface="微软雅黑" panose="020B0503020204020204" charset="-122"/>
                <a:ea typeface="微软雅黑" panose="020B0503020204020204" charset="-122"/>
                <a:sym typeface="+mn-ea"/>
              </a:rPr>
              <a:t>phrases from below and </a:t>
            </a:r>
            <a:r>
              <a:rPr lang="en-US" altLang="zh-CN" sz="2600">
                <a:solidFill>
                  <a:srgbClr val="000000"/>
                </a:solidFill>
                <a:latin typeface="微软雅黑" panose="020B0503020204020204" charset="-122"/>
                <a:ea typeface="微软雅黑" panose="020B0503020204020204" charset="-122"/>
              </a:rPr>
              <a:t>m</a:t>
            </a:r>
            <a:r>
              <a:rPr lang="en-US" altLang="zh-CN" sz="2600">
                <a:solidFill>
                  <a:srgbClr val="000000"/>
                </a:solidFill>
                <a:latin typeface="微软雅黑" panose="020B0503020204020204" charset="-122"/>
                <a:ea typeface="微软雅黑" panose="020B0503020204020204" charset="-122"/>
              </a:rPr>
              <a:t>ake sentences with them.</a:t>
            </a:r>
            <a:endParaRPr lang="en-US" altLang="zh-CN" sz="2600">
              <a:solidFill>
                <a:srgbClr val="000000"/>
              </a:solidFill>
              <a:latin typeface="微软雅黑" panose="020B0503020204020204" charset="-122"/>
              <a:ea typeface="微软雅黑" panose="020B0503020204020204" charset="-122"/>
            </a:endParaRPr>
          </a:p>
          <a:p>
            <a:pPr lvl="0" algn="l">
              <a:lnSpc>
                <a:spcPct val="140000"/>
              </a:lnSpc>
              <a:buNone/>
            </a:pPr>
            <a:r>
              <a:rPr lang="en-US" altLang="zh-CN" sz="2600">
                <a:solidFill>
                  <a:schemeClr val="accent1"/>
                </a:solidFill>
                <a:latin typeface="Calibri" panose="020F0502020204030204" charset="0"/>
                <a:ea typeface="-apple-system"/>
                <a:cs typeface="Calibri" panose="020F0502020204030204" charset="0"/>
                <a:sym typeface="+mn-ea"/>
              </a:rPr>
              <a:t>1. a sword hanging over one’s head</a:t>
            </a:r>
            <a:endParaRPr lang="en-US" altLang="zh-CN" sz="2600">
              <a:solidFill>
                <a:schemeClr val="accent1"/>
              </a:solidFill>
              <a:latin typeface="Calibri" panose="020F0502020204030204" charset="0"/>
              <a:ea typeface="-apple-system"/>
              <a:cs typeface="Calibri" panose="020F0502020204030204" charset="0"/>
              <a:sym typeface="+mn-ea"/>
            </a:endParaRPr>
          </a:p>
          <a:p>
            <a:pPr marL="0" indent="0">
              <a:lnSpc>
                <a:spcPct val="140000"/>
              </a:lnSpc>
            </a:pPr>
            <a:r>
              <a:rPr lang="en-US" altLang="zh-CN" sz="2600">
                <a:solidFill>
                  <a:schemeClr val="accent1"/>
                </a:solidFill>
                <a:latin typeface="Calibri" panose="020F0502020204030204" charset="0"/>
                <a:ea typeface="-apple-system"/>
                <a:cs typeface="Calibri" panose="020F0502020204030204" charset="0"/>
                <a:sym typeface="+mn-ea"/>
              </a:rPr>
              <a:t>2. behind closed doors</a:t>
            </a:r>
            <a:endParaRPr lang="en-US" altLang="zh-CN" sz="2600" b="0" i="0">
              <a:solidFill>
                <a:schemeClr val="accent1"/>
              </a:solidFill>
              <a:latin typeface="Calibri" panose="020F0502020204030204" charset="0"/>
              <a:ea typeface="-apple-system"/>
              <a:cs typeface="Calibri" panose="020F0502020204030204" charset="0"/>
            </a:endParaRPr>
          </a:p>
          <a:p>
            <a:pPr marL="0" indent="0">
              <a:lnSpc>
                <a:spcPct val="140000"/>
              </a:lnSpc>
            </a:pPr>
            <a:r>
              <a:rPr lang="en-US" altLang="zh-CN" sz="2600">
                <a:solidFill>
                  <a:schemeClr val="accent1"/>
                </a:solidFill>
                <a:latin typeface="Calibri" panose="020F0502020204030204" charset="0"/>
                <a:ea typeface="-apple-system"/>
                <a:cs typeface="Calibri" panose="020F0502020204030204" charset="0"/>
                <a:sym typeface="+mn-ea"/>
              </a:rPr>
              <a:t>3. fuss over sth./sb.</a:t>
            </a:r>
            <a:endParaRPr lang="en-US" altLang="zh-CN" sz="2600">
              <a:solidFill>
                <a:schemeClr val="accent1"/>
              </a:solidFill>
              <a:latin typeface="Calibri" panose="020F0502020204030204" charset="0"/>
              <a:ea typeface="-apple-system"/>
              <a:cs typeface="Calibri" panose="020F0502020204030204" charset="0"/>
              <a:sym typeface="+mn-ea"/>
            </a:endParaRPr>
          </a:p>
          <a:p>
            <a:pPr marL="0" indent="0">
              <a:lnSpc>
                <a:spcPct val="140000"/>
              </a:lnSpc>
            </a:pPr>
            <a:r>
              <a:rPr lang="en-US" altLang="zh-CN" sz="2600">
                <a:solidFill>
                  <a:schemeClr val="accent1"/>
                </a:solidFill>
                <a:latin typeface="Calibri" panose="020F0502020204030204" charset="0"/>
                <a:ea typeface="-apple-system"/>
                <a:cs typeface="Calibri" panose="020F0502020204030204" charset="0"/>
                <a:sym typeface="+mn-ea"/>
              </a:rPr>
              <a:t>4. stood there stupefied</a:t>
            </a:r>
            <a:endParaRPr lang="en-US" altLang="zh-CN" sz="2600">
              <a:solidFill>
                <a:schemeClr val="accent1"/>
              </a:solidFill>
              <a:latin typeface="Calibri" panose="020F0502020204030204" charset="0"/>
              <a:ea typeface="-apple-system"/>
              <a:cs typeface="Calibri" panose="020F0502020204030204" charset="0"/>
              <a:sym typeface="+mn-ea"/>
            </a:endParaRPr>
          </a:p>
          <a:p>
            <a:pPr marL="0" indent="0">
              <a:lnSpc>
                <a:spcPct val="140000"/>
              </a:lnSpc>
            </a:pPr>
            <a:r>
              <a:rPr lang="en-US" altLang="zh-CN" sz="2600">
                <a:solidFill>
                  <a:schemeClr val="accent1"/>
                </a:solidFill>
                <a:latin typeface="Calibri" panose="020F0502020204030204" charset="0"/>
                <a:ea typeface="-apple-system"/>
                <a:cs typeface="Calibri" panose="020F0502020204030204" charset="0"/>
                <a:sym typeface="+mn-ea"/>
              </a:rPr>
              <a:t>5. to be smooth sailing</a:t>
            </a:r>
            <a:endParaRPr lang="en-US" altLang="zh-CN" sz="2600">
              <a:solidFill>
                <a:schemeClr val="accent1"/>
              </a:solidFill>
              <a:latin typeface="Calibri" panose="020F0502020204030204" charset="0"/>
              <a:ea typeface="-apple-system"/>
              <a:cs typeface="Calibri" panose="020F0502020204030204" charset="0"/>
              <a:sym typeface="+mn-ea"/>
            </a:endParaRPr>
          </a:p>
          <a:p>
            <a:pPr marL="0" indent="0">
              <a:lnSpc>
                <a:spcPct val="140000"/>
              </a:lnSpc>
            </a:pPr>
            <a:r>
              <a:rPr lang="en-US" altLang="zh-CN" sz="2600">
                <a:solidFill>
                  <a:schemeClr val="accent1"/>
                </a:solidFill>
                <a:latin typeface="Calibri" panose="020F0502020204030204" charset="0"/>
                <a:ea typeface="-apple-system"/>
                <a:cs typeface="Calibri" panose="020F0502020204030204" charset="0"/>
                <a:sym typeface="+mn-ea"/>
              </a:rPr>
              <a:t>6. the straw that broke one’s back/ might break one’s back</a:t>
            </a:r>
            <a:endParaRPr lang="en-US" altLang="zh-CN" sz="2600">
              <a:solidFill>
                <a:srgbClr val="000000"/>
              </a:solidFill>
              <a:latin typeface="微软雅黑" panose="020B0503020204020204" charset="-122"/>
              <a:ea typeface="微软雅黑" panose="020B0503020204020204" charset="-122"/>
            </a:endParaRPr>
          </a:p>
        </p:txBody>
      </p:sp>
      <p:sp>
        <p:nvSpPr>
          <p:cNvPr id="4" name="圆角矩形 3"/>
          <p:cNvSpPr/>
          <p:nvPr>
            <p:custDataLst>
              <p:tags r:id="rId2"/>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endParaRPr>
          </a:p>
        </p:txBody>
      </p:sp>
      <p:pic>
        <p:nvPicPr>
          <p:cNvPr id="10" name="图片 9"/>
          <p:cNvPicPr/>
          <p:nvPr/>
        </p:nvPicPr>
        <p:blipFill>
          <a:blip r:embed="rId3"/>
          <a:stretch>
            <a:fillRect/>
          </a:stretch>
        </p:blipFill>
        <p:spPr>
          <a:xfrm>
            <a:off x="7731760" y="1931353"/>
            <a:ext cx="3409950" cy="2390775"/>
          </a:xfrm>
          <a:prstGeom prst="rect">
            <a:avLst/>
          </a:prstGeom>
        </p:spPr>
      </p:pic>
      <p:grpSp>
        <p:nvGrpSpPr>
          <p:cNvPr id="9" name="组合 8"/>
          <p:cNvGrpSpPr/>
          <p:nvPr>
            <p:custDataLst>
              <p:tags r:id="rId4"/>
            </p:custDataLst>
          </p:nvPr>
        </p:nvGrpSpPr>
        <p:grpSpPr>
          <a:xfrm>
            <a:off x="0" y="0"/>
            <a:ext cx="12192000" cy="635000"/>
            <a:chOff x="0" y="0"/>
            <a:chExt cx="19200" cy="1000"/>
          </a:xfrm>
        </p:grpSpPr>
        <p:sp>
          <p:nvSpPr>
            <p:cNvPr id="5" name="TitleBackground"/>
            <p:cNvSpPr/>
            <p:nvPr>
              <p:custDataLst>
                <p:tags r:id="rId5"/>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ColorBlock"/>
            <p:cNvSpPr/>
            <p:nvPr>
              <p:custDataLst>
                <p:tags r:id="rId6"/>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TypeText"/>
            <p:cNvSpPr txBox="1"/>
            <p:nvPr>
              <p:custDataLst>
                <p:tags r:id="rId7"/>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主观题</a:t>
              </a:r>
              <a:endParaRPr lang="zh-CN" altLang="en-US" sz="2600">
                <a:solidFill>
                  <a:srgbClr val="000000"/>
                </a:solidFill>
                <a:latin typeface="微软雅黑" panose="020B0503020204020204" charset="-122"/>
                <a:ea typeface="微软雅黑" panose="020B0503020204020204" charset="-122"/>
              </a:endParaRPr>
            </a:p>
          </p:txBody>
        </p:sp>
        <p:sp>
          <p:nvSpPr>
            <p:cNvPr id="8" name="TipText"/>
            <p:cNvSpPr txBox="1"/>
            <p:nvPr>
              <p:custDataLst>
                <p:tags r:id="rId8"/>
              </p:custDataLst>
            </p:nvPr>
          </p:nvSpPr>
          <p:spPr>
            <a:xfrm>
              <a:off x="2248" y="172"/>
              <a:ext cx="3600" cy="800"/>
            </a:xfrm>
            <a:prstGeom prst="rect">
              <a:avLst/>
            </a:prstGeom>
            <a:noFill/>
          </p:spPr>
          <p:txBody>
            <a:bodyPr wrap="none" rtlCol="0" anchor="ctr" anchorCtr="0">
              <a:noAutofit/>
            </a:bodyPr>
            <a:p>
              <a:pPr lvl="0" algn="l">
                <a:buNone/>
              </a:pPr>
              <a:r>
                <a:rPr lang="en-US" altLang="en-US" sz="2000">
                  <a:solidFill>
                    <a:srgbClr val="808080"/>
                  </a:solidFill>
                  <a:latin typeface="微软雅黑" panose="020B0503020204020204" charset="-122"/>
                  <a:ea typeface="微软雅黑" panose="020B0503020204020204" charset="-122"/>
                  <a:cs typeface="微软雅黑" panose="020B0503020204020204" charset="-122"/>
                </a:rPr>
                <a:t>30</a:t>
              </a:r>
              <a:r>
                <a:rPr lang="zh-CN" altLang="en-US" sz="2000">
                  <a:solidFill>
                    <a:srgbClr val="808080"/>
                  </a:solidFill>
                  <a:latin typeface="微软雅黑" panose="020B0503020204020204" charset="-122"/>
                  <a:ea typeface="微软雅黑" panose="020B0503020204020204" charset="-122"/>
                  <a:cs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E75F"/>
          <p:cNvPicPr>
            <a:picLocks noChangeAspect="1"/>
          </p:cNvPicPr>
          <p:nvPr>
            <p:custDataLst>
              <p:tags r:id="rId9"/>
            </p:custDataLst>
          </p:nvPr>
        </p:nvPicPr>
        <p:blipFill>
          <a:blip r:embed="rId10"/>
          <a:stretch>
            <a:fillRect/>
          </a:stretch>
        </p:blipFill>
        <p:spPr>
          <a:xfrm>
            <a:off x="10642600" y="63500"/>
            <a:ext cx="1422400" cy="508000"/>
          </a:xfrm>
          <a:prstGeom prst="rect">
            <a:avLst/>
          </a:prstGeom>
        </p:spPr>
      </p:pic>
    </p:spTree>
    <p:custDataLst>
      <p:tags r:id="rId1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739140" y="739140"/>
            <a:ext cx="10368915" cy="4009390"/>
          </a:xfrm>
          <a:prstGeom prst="rect">
            <a:avLst/>
          </a:prstGeom>
          <a:noFill/>
        </p:spPr>
        <p:txBody>
          <a:bodyPr wrap="square" rtlCol="0" anchor="ctr" anchorCtr="0">
            <a:noAutofit/>
          </a:bodyPr>
          <a:p>
            <a:pPr lvl="0" algn="l">
              <a:lnSpc>
                <a:spcPct val="130000"/>
              </a:lnSpc>
              <a:buNone/>
            </a:pPr>
            <a:r>
              <a:rPr lang="en-US" altLang="zh-CN" sz="2600">
                <a:solidFill>
                  <a:srgbClr val="000000"/>
                </a:solidFill>
                <a:latin typeface="微软雅黑" panose="020B0503020204020204" charset="-122"/>
                <a:ea typeface="微软雅黑" panose="020B0503020204020204" charset="-122"/>
              </a:rPr>
              <a:t>Dictation 1:</a:t>
            </a:r>
            <a:endParaRPr lang="en-US" altLang="zh-CN" sz="2600">
              <a:solidFill>
                <a:srgbClr val="000000"/>
              </a:solidFill>
              <a:latin typeface="微软雅黑" panose="020B0503020204020204" charset="-122"/>
              <a:ea typeface="微软雅黑" panose="020B0503020204020204" charset="-122"/>
            </a:endParaRPr>
          </a:p>
          <a:p>
            <a:pPr lvl="0" algn="just">
              <a:lnSpc>
                <a:spcPct val="130000"/>
              </a:lnSpc>
              <a:buNone/>
            </a:pPr>
            <a:r>
              <a:rPr lang="en-US" altLang="zh-CN" sz="2800" spc="-140" dirty="0">
                <a:latin typeface="Arial" panose="020B0604020202020204" pitchFamily="34" charset="0"/>
                <a:ea typeface="宋体" panose="02010600030101010101" pitchFamily="2" charset="-122"/>
                <a:cs typeface="Arial" panose="020B0604020202020204" pitchFamily="34" charset="0"/>
                <a:sym typeface="+mn-ea"/>
              </a:rPr>
              <a:t>   All the way home he felt worried. </a:t>
            </a:r>
            <a:r>
              <a:rPr lang="en-US" altLang="zh-CN" sz="2800" spc="-140" dirty="0">
                <a:latin typeface="Arial" panose="020B0604020202020204" pitchFamily="34" charset="0"/>
                <a:ea typeface="宋体" panose="02010600030101010101" pitchFamily="2" charset="-122"/>
                <a:cs typeface="Arial" panose="020B0604020202020204" pitchFamily="34" charset="0"/>
                <a:sym typeface="+mn-ea"/>
              </a:rPr>
              <a:t>He knew that his of  </a:t>
            </a:r>
            <a:r>
              <a:rPr lang="en-US" altLang="zh-CN" sz="2800" spc="-140" dirty="0">
                <a:solidFill>
                  <a:srgbClr val="639EF4"/>
                </a:solidFill>
                <a:latin typeface="Arial" panose="020B0604020202020204" pitchFamily="34" charset="0"/>
                <a:ea typeface="宋体" panose="02010600030101010101" pitchFamily="2" charset="-122"/>
                <a:cs typeface="Arial" panose="020B0604020202020204" pitchFamily="34" charset="0"/>
                <a:sym typeface="+mn-ea"/>
              </a:rPr>
              <a:t>[填空1]</a:t>
            </a:r>
            <a:r>
              <a:rPr lang="en-US" altLang="zh-CN" sz="2800" spc="-140" dirty="0">
                <a:latin typeface="Arial" panose="020B0604020202020204" pitchFamily="34" charset="0"/>
                <a:ea typeface="宋体" panose="02010600030101010101" pitchFamily="2" charset="-122"/>
                <a:cs typeface="Arial" panose="020B0604020202020204" pitchFamily="34" charset="0"/>
                <a:sym typeface="+mn-ea"/>
              </a:rPr>
              <a:t>  life was not going to be smooth sailing  </a:t>
            </a:r>
            <a:r>
              <a:rPr lang="en-US" altLang="zh-CN" sz="2800" spc="-140" dirty="0">
                <a:solidFill>
                  <a:srgbClr val="639EF4"/>
                </a:solidFill>
                <a:latin typeface="Arial" panose="020B0604020202020204" pitchFamily="34" charset="0"/>
                <a:ea typeface="宋体" panose="02010600030101010101" pitchFamily="2" charset="-122"/>
                <a:cs typeface="Arial" panose="020B0604020202020204" pitchFamily="34" charset="0"/>
                <a:sym typeface="+mn-ea"/>
              </a:rPr>
              <a:t>[填空2]</a:t>
            </a:r>
            <a:r>
              <a:rPr lang="en-US" altLang="zh-CN" sz="2800" spc="-140" dirty="0">
                <a:latin typeface="Arial" panose="020B0604020202020204" pitchFamily="34" charset="0"/>
                <a:ea typeface="宋体" panose="02010600030101010101" pitchFamily="2" charset="-122"/>
                <a:cs typeface="Arial" panose="020B0604020202020204" pitchFamily="34" charset="0"/>
                <a:sym typeface="+mn-ea"/>
              </a:rPr>
              <a:t>  as so much of his future depended upon the headmaster’s  </a:t>
            </a:r>
            <a:r>
              <a:rPr lang="en-US" altLang="zh-CN" sz="2800" spc="-140" dirty="0">
                <a:solidFill>
                  <a:srgbClr val="639EF4"/>
                </a:solidFill>
                <a:latin typeface="Arial" panose="020B0604020202020204" pitchFamily="34" charset="0"/>
                <a:ea typeface="宋体" panose="02010600030101010101" pitchFamily="2" charset="-122"/>
                <a:cs typeface="Arial" panose="020B0604020202020204" pitchFamily="34" charset="0"/>
                <a:sym typeface="+mn-ea"/>
              </a:rPr>
              <a:t>[填空3]</a:t>
            </a:r>
            <a:r>
              <a:rPr lang="en-US" altLang="zh-CN" sz="2800" spc="-140" dirty="0">
                <a:latin typeface="Arial" panose="020B0604020202020204" pitchFamily="34" charset="0"/>
                <a:ea typeface="宋体" panose="02010600030101010101" pitchFamily="2" charset="-122"/>
                <a:cs typeface="Arial" panose="020B0604020202020204" pitchFamily="34" charset="0"/>
                <a:sym typeface="+mn-ea"/>
              </a:rPr>
              <a:t> . Did not</a:t>
            </a:r>
            <a:r>
              <a:rPr lang="zh-CN" altLang="en-US" sz="2800" spc="-140" dirty="0">
                <a:latin typeface="Arial" panose="020B0604020202020204" pitchFamily="34" charset="0"/>
                <a:ea typeface="宋体" panose="02010600030101010101" pitchFamily="2" charset="-122"/>
                <a:cs typeface="Arial" panose="020B0604020202020204" pitchFamily="34" charset="0"/>
                <a:sym typeface="+mn-ea"/>
              </a:rPr>
              <a:t> </a:t>
            </a:r>
            <a:r>
              <a:rPr lang="en-GB" altLang="zh-CN" sz="2800" spc="-140" dirty="0">
                <a:latin typeface="Arial" panose="020B0604020202020204" pitchFamily="34" charset="0"/>
                <a:ea typeface="宋体" panose="02010600030101010101" pitchFamily="2" charset="-122"/>
                <a:cs typeface="Arial" panose="020B0604020202020204" pitchFamily="34" charset="0"/>
                <a:sym typeface="+mn-ea"/>
              </a:rPr>
              <a:t>Harishchandra lose his  </a:t>
            </a:r>
            <a:r>
              <a:rPr lang="en-GB" altLang="zh-CN" sz="2800" spc="-140" dirty="0">
                <a:solidFill>
                  <a:srgbClr val="639EF4"/>
                </a:solidFill>
                <a:latin typeface="Arial" panose="020B0604020202020204" pitchFamily="34" charset="0"/>
                <a:ea typeface="宋体" panose="02010600030101010101" pitchFamily="2" charset="-122"/>
                <a:cs typeface="Arial" panose="020B0604020202020204" pitchFamily="34" charset="0"/>
                <a:sym typeface="+mn-ea"/>
              </a:rPr>
              <a:t>[填空4]</a:t>
            </a:r>
            <a:r>
              <a:rPr lang="en-GB" altLang="zh-CN" sz="2800" spc="-140" dirty="0">
                <a:latin typeface="Arial" panose="020B0604020202020204" pitchFamily="34" charset="0"/>
                <a:ea typeface="宋体" panose="02010600030101010101" pitchFamily="2" charset="-122"/>
                <a:cs typeface="Arial" panose="020B0604020202020204" pitchFamily="34" charset="0"/>
                <a:sym typeface="+mn-ea"/>
              </a:rPr>
              <a:t> , wife, child, because he would speak nothing but the  </a:t>
            </a:r>
            <a:r>
              <a:rPr lang="en-GB" altLang="zh-CN" sz="2800" spc="-140" dirty="0">
                <a:solidFill>
                  <a:srgbClr val="639EF4"/>
                </a:solidFill>
                <a:latin typeface="Arial" panose="020B0604020202020204" pitchFamily="34" charset="0"/>
                <a:ea typeface="宋体" panose="02010600030101010101" pitchFamily="2" charset="-122"/>
                <a:cs typeface="Arial" panose="020B0604020202020204" pitchFamily="34" charset="0"/>
                <a:sym typeface="+mn-ea"/>
              </a:rPr>
              <a:t>[填空5]</a:t>
            </a:r>
            <a:r>
              <a:rPr lang="en-GB" altLang="zh-CN" sz="2800" spc="-140" dirty="0">
                <a:latin typeface="Arial" panose="020B0604020202020204" pitchFamily="34" charset="0"/>
                <a:ea typeface="宋体" panose="02010600030101010101" pitchFamily="2" charset="-122"/>
                <a:cs typeface="Arial" panose="020B0604020202020204" pitchFamily="34" charset="0"/>
                <a:sym typeface="+mn-ea"/>
              </a:rPr>
              <a:t>  Truth?</a:t>
            </a:r>
            <a:endParaRPr lang="en-GB" altLang="zh-CN" sz="2800" spc="-140" dirty="0">
              <a:solidFill>
                <a:srgbClr val="000000"/>
              </a:solidFill>
              <a:latin typeface="Arial" panose="020B0604020202020204" pitchFamily="34" charset="0"/>
              <a:ea typeface="宋体" panose="02010600030101010101" pitchFamily="2" charset="-122"/>
              <a:cs typeface="Arial" panose="020B0604020202020204" pitchFamily="34" charset="0"/>
              <a:sym typeface="+mn-ea"/>
              <a:hlinkClick r:id="" action="ppaction://noaction"/>
            </a:endParaRPr>
          </a:p>
        </p:txBody>
      </p:sp>
      <p:sp>
        <p:nvSpPr>
          <p:cNvPr id="4" name="圆角矩形 3"/>
          <p:cNvSpPr/>
          <p:nvPr>
            <p:custDataLst>
              <p:tags r:id="rId2"/>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endParaRPr>
          </a:p>
        </p:txBody>
      </p:sp>
      <p:pic>
        <p:nvPicPr>
          <p:cNvPr id="15" name="第28段">
            <a:hlinkClick r:id="" action="ppaction://media"/>
          </p:cNvPr>
          <p:cNvPicPr/>
          <p:nvPr>
            <a:audioFile r:link="rId3"/>
            <p:extLst>
              <p:ext uri="{DAA4B4D4-6D71-4841-9C94-3DE7FCFB9230}">
                <p14:media xmlns:p14="http://schemas.microsoft.com/office/powerpoint/2010/main" r:embed="rId4"/>
              </p:ext>
            </p:extLst>
          </p:nvPr>
        </p:nvPicPr>
        <p:blipFill>
          <a:blip r:embed="rId5"/>
          <a:stretch>
            <a:fillRect/>
          </a:stretch>
        </p:blipFill>
        <p:spPr>
          <a:xfrm>
            <a:off x="9272905" y="4935220"/>
            <a:ext cx="495300" cy="495300"/>
          </a:xfrm>
          <a:prstGeom prst="rect">
            <a:avLst/>
          </a:prstGeom>
        </p:spPr>
      </p:pic>
      <p:pic>
        <p:nvPicPr>
          <p:cNvPr id="16" name="图片 15"/>
          <p:cNvPicPr/>
          <p:nvPr/>
        </p:nvPicPr>
        <p:blipFill>
          <a:blip r:embed="rId6"/>
          <a:stretch>
            <a:fillRect/>
          </a:stretch>
        </p:blipFill>
        <p:spPr>
          <a:xfrm>
            <a:off x="4420870" y="4450715"/>
            <a:ext cx="3627120" cy="2237105"/>
          </a:xfrm>
          <a:prstGeom prst="rect">
            <a:avLst/>
          </a:prstGeom>
        </p:spPr>
      </p:pic>
      <p:grpSp>
        <p:nvGrpSpPr>
          <p:cNvPr id="9" name="组合 8"/>
          <p:cNvGrpSpPr/>
          <p:nvPr>
            <p:custDataLst>
              <p:tags r:id="rId7"/>
            </p:custDataLst>
          </p:nvPr>
        </p:nvGrpSpPr>
        <p:grpSpPr>
          <a:xfrm>
            <a:off x="0" y="0"/>
            <a:ext cx="12192000" cy="635000"/>
            <a:chOff x="0" y="0"/>
            <a:chExt cx="19200" cy="1000"/>
          </a:xfrm>
        </p:grpSpPr>
        <p:sp>
          <p:nvSpPr>
            <p:cNvPr id="5" name="TitleBackground"/>
            <p:cNvSpPr/>
            <p:nvPr>
              <p:custDataLst>
                <p:tags r:id="rId8"/>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ColorBlock"/>
            <p:cNvSpPr/>
            <p:nvPr>
              <p:custDataLst>
                <p:tags r:id="rId9"/>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TypeText"/>
            <p:cNvSpPr txBox="1"/>
            <p:nvPr>
              <p:custDataLst>
                <p:tags r:id="rId10"/>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endParaRPr>
            </a:p>
          </p:txBody>
        </p:sp>
        <p:sp>
          <p:nvSpPr>
            <p:cNvPr id="8" name="TipText"/>
            <p:cNvSpPr txBox="1"/>
            <p:nvPr>
              <p:custDataLst>
                <p:tags r:id="rId11"/>
              </p:custDataLst>
            </p:nvPr>
          </p:nvSpPr>
          <p:spPr>
            <a:xfrm>
              <a:off x="2248" y="172"/>
              <a:ext cx="3600" cy="800"/>
            </a:xfrm>
            <a:prstGeom prst="rect">
              <a:avLst/>
            </a:prstGeom>
            <a:noFill/>
          </p:spPr>
          <p:txBody>
            <a:bodyPr wrap="none" rtlCol="0" anchor="ctr" anchorCtr="0">
              <a:noAutofit/>
            </a:bodyPr>
            <a:p>
              <a:pPr lvl="0" algn="l">
                <a:buNone/>
              </a:pPr>
              <a:r>
                <a:rPr lang="en-US" altLang="en-US" sz="2000">
                  <a:solidFill>
                    <a:srgbClr val="808080"/>
                  </a:solidFill>
                  <a:latin typeface="微软雅黑" panose="020B0503020204020204" charset="-122"/>
                  <a:ea typeface="微软雅黑" panose="020B0503020204020204" charset="-122"/>
                  <a:cs typeface="微软雅黑" panose="020B0503020204020204" charset="-122"/>
                </a:rPr>
                <a:t>20</a:t>
              </a:r>
              <a:r>
                <a:rPr lang="zh-CN" altLang="en-US" sz="2000">
                  <a:solidFill>
                    <a:srgbClr val="808080"/>
                  </a:solidFill>
                  <a:latin typeface="微软雅黑" panose="020B0503020204020204" charset="-122"/>
                  <a:ea typeface="微软雅黑" panose="020B0503020204020204" charset="-122"/>
                  <a:cs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2A5D"/>
          <p:cNvPicPr>
            <a:picLocks noChangeAspect="1"/>
          </p:cNvPicPr>
          <p:nvPr>
            <p:custDataLst>
              <p:tags r:id="rId12"/>
            </p:custDataLst>
          </p:nvPr>
        </p:nvPicPr>
        <p:blipFill>
          <a:blip r:embed="rId13"/>
          <a:stretch>
            <a:fillRect/>
          </a:stretch>
        </p:blipFill>
        <p:spPr>
          <a:xfrm>
            <a:off x="10642600" y="63500"/>
            <a:ext cx="1422400" cy="508000"/>
          </a:xfrm>
          <a:prstGeom prst="rect">
            <a:avLst/>
          </a:prstGeom>
        </p:spPr>
      </p:pic>
    </p:spTree>
    <p:custDataLst>
      <p:tags r:id="rId14"/>
    </p:custDataLst>
  </p:cSld>
  <p:clrMapOvr>
    <a:masterClrMapping/>
  </p:clrMapOvr>
  <p:timing>
    <p:tnLst>
      <p:par>
        <p:cTn id="1" dur="indefinite" restart="never" nodeType="tmRoot">
          <p:childTnLst>
            <p:audio>
              <p:cMediaNode>
                <p:cTn id="2" fill="hold" display="1">
                  <p:stCondLst>
                    <p:cond delay="indefinite"/>
                  </p:stCondLst>
                  <p:endCondLst>
                    <p:cond evt="onStopAudio">
                      <p:tgtEl>
                        <p:sldTgt/>
                      </p:tgtEl>
                    </p:cond>
                  </p:endCondLst>
                </p:cTn>
                <p:tgtEl>
                  <p:spTgt spid="15"/>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380365" y="160020"/>
            <a:ext cx="3594100" cy="46037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eaLnBrk="1" hangingPunct="1">
              <a:buFont typeface="Arial" panose="020B0604020202020204" pitchFamily="34" charset="0"/>
              <a:buNone/>
            </a:pPr>
            <a:r>
              <a:rPr lang="en-US" altLang="zh-CN" sz="2400" dirty="0">
                <a:solidFill>
                  <a:schemeClr val="bg1"/>
                </a:solidFill>
                <a:latin typeface="Arial Black" panose="020B0A04020102020204" pitchFamily="34" charset="0"/>
              </a:rPr>
              <a:t>Speech</a:t>
            </a:r>
            <a:endParaRPr lang="en-US" altLang="zh-CN" sz="2400" dirty="0">
              <a:solidFill>
                <a:schemeClr val="bg1"/>
              </a:solidFill>
              <a:latin typeface="Arial Black" panose="020B0A04020102020204" pitchFamily="34" charset="0"/>
            </a:endParaRPr>
          </a:p>
        </p:txBody>
      </p:sp>
      <p:pic>
        <p:nvPicPr>
          <p:cNvPr id="8" name="图片 7">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pic>
        <p:nvPicPr>
          <p:cNvPr id="10" name="图片 9">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 name="文本框 3"/>
          <p:cNvSpPr txBox="1"/>
          <p:nvPr/>
        </p:nvSpPr>
        <p:spPr>
          <a:xfrm>
            <a:off x="366395" y="948690"/>
            <a:ext cx="3670935" cy="2602230"/>
          </a:xfrm>
          <a:prstGeom prst="rect">
            <a:avLst/>
          </a:prstGeom>
          <a:solidFill>
            <a:schemeClr val="accent4">
              <a:lumMod val="20000"/>
              <a:lumOff val="80000"/>
            </a:schemeClr>
          </a:solidFill>
        </p:spPr>
        <p:txBody>
          <a:bodyPr wrap="square" rtlCol="0">
            <a:noAutofit/>
          </a:bodyPr>
          <a:p>
            <a:pPr algn="ctr">
              <a:lnSpc>
                <a:spcPct val="120000"/>
              </a:lnSpc>
            </a:pPr>
            <a:r>
              <a:rPr lang="en-US" sz="2200" dirty="0">
                <a:latin typeface="Arial" panose="020B0604020202020204" pitchFamily="34" charset="0"/>
                <a:ea typeface="华文中宋" panose="02010600040101010101" charset="-122"/>
                <a:cs typeface="Arial" panose="020B0604020202020204" pitchFamily="34" charset="0"/>
                <a:sym typeface="+mn-ea"/>
              </a:rPr>
              <a:t>Word tips</a:t>
            </a:r>
            <a:endParaRPr lang="en-US" sz="2200" dirty="0">
              <a:latin typeface="Arial" panose="020B0604020202020204" pitchFamily="34" charset="0"/>
              <a:ea typeface="华文中宋" panose="02010600040101010101" charset="-122"/>
              <a:cs typeface="Arial" panose="020B0604020202020204" pitchFamily="34" charset="0"/>
              <a:sym typeface="+mn-ea"/>
            </a:endParaRPr>
          </a:p>
          <a:p>
            <a:pPr>
              <a:lnSpc>
                <a:spcPct val="120000"/>
              </a:lnSpc>
            </a:pPr>
            <a:r>
              <a:rPr lang="en-US" sz="2200" dirty="0">
                <a:latin typeface="Arial" panose="020B0604020202020204" pitchFamily="34" charset="0"/>
                <a:ea typeface="华文中宋" panose="02010600040101010101" charset="-122"/>
                <a:cs typeface="Arial" panose="020B0604020202020204" pitchFamily="34" charset="0"/>
                <a:sym typeface="+mn-ea"/>
              </a:rPr>
              <a:t>warranted</a:t>
            </a:r>
            <a:r>
              <a:rPr lang="en-US" sz="2200" dirty="0">
                <a:latin typeface="华文中宋" panose="02010600040101010101" charset="-122"/>
                <a:ea typeface="华文中宋" panose="02010600040101010101" charset="-122"/>
                <a:sym typeface="+mn-ea"/>
              </a:rPr>
              <a:t> </a:t>
            </a:r>
            <a:r>
              <a:rPr lang="zh-CN" altLang="en-US" sz="2200" dirty="0">
                <a:latin typeface="华文中宋" panose="02010600040101010101" charset="-122"/>
                <a:ea typeface="华文中宋" panose="02010600040101010101" charset="-122"/>
                <a:sym typeface="+mn-ea"/>
              </a:rPr>
              <a:t>必要的，正当的</a:t>
            </a:r>
            <a:endParaRPr lang="zh-CN" altLang="en-US" sz="2200" dirty="0">
              <a:latin typeface="华文中宋" panose="02010600040101010101" charset="-122"/>
              <a:ea typeface="华文中宋" panose="02010600040101010101" charset="-122"/>
              <a:sym typeface="+mn-ea"/>
            </a:endParaRPr>
          </a:p>
          <a:p>
            <a:pPr>
              <a:lnSpc>
                <a:spcPct val="120000"/>
              </a:lnSpc>
            </a:pPr>
            <a:r>
              <a:rPr lang="en-US" sz="2200" dirty="0">
                <a:latin typeface="Arial" panose="020B0604020202020204" pitchFamily="34" charset="0"/>
                <a:ea typeface="华文中宋" panose="02010600040101010101" charset="-122"/>
                <a:cs typeface="Arial" panose="020B0604020202020204" pitchFamily="34" charset="0"/>
                <a:sym typeface="+mn-ea"/>
              </a:rPr>
              <a:t>naysayer </a:t>
            </a:r>
            <a:r>
              <a:rPr lang="zh-CN" altLang="en-US" sz="2200" dirty="0">
                <a:latin typeface="华文中宋" panose="02010600040101010101" charset="-122"/>
                <a:ea typeface="华文中宋" panose="02010600040101010101" charset="-122"/>
                <a:sym typeface="+mn-ea"/>
              </a:rPr>
              <a:t>否定者，唱反调者</a:t>
            </a:r>
            <a:endParaRPr lang="zh-CN" altLang="en-US" sz="2200" dirty="0">
              <a:latin typeface="华文中宋" panose="02010600040101010101" charset="-122"/>
              <a:ea typeface="华文中宋" panose="02010600040101010101" charset="-122"/>
              <a:sym typeface="+mn-ea"/>
            </a:endParaRPr>
          </a:p>
          <a:p>
            <a:pPr>
              <a:lnSpc>
                <a:spcPct val="120000"/>
              </a:lnSpc>
            </a:pPr>
            <a:r>
              <a:rPr lang="en-US" sz="2200" dirty="0">
                <a:latin typeface="Arial" panose="020B0604020202020204" pitchFamily="34" charset="0"/>
                <a:ea typeface="华文中宋" panose="02010600040101010101" charset="-122"/>
                <a:cs typeface="Arial" panose="020B0604020202020204" pitchFamily="34" charset="0"/>
                <a:sym typeface="+mn-ea"/>
              </a:rPr>
              <a:t>adversity</a:t>
            </a:r>
            <a:r>
              <a:rPr lang="en-US" altLang="zh-CN" sz="2200" dirty="0">
                <a:latin typeface="华文中宋" panose="02010600040101010101" charset="-122"/>
                <a:ea typeface="华文中宋" panose="02010600040101010101" charset="-122"/>
                <a:sym typeface="+mn-ea"/>
              </a:rPr>
              <a:t> </a:t>
            </a:r>
            <a:r>
              <a:rPr lang="zh-CN" altLang="en-US" sz="2200" dirty="0">
                <a:latin typeface="华文中宋" panose="02010600040101010101" charset="-122"/>
                <a:ea typeface="华文中宋" panose="02010600040101010101" charset="-122"/>
                <a:sym typeface="+mn-ea"/>
              </a:rPr>
              <a:t>困境</a:t>
            </a:r>
            <a:endParaRPr lang="en-US" altLang="zh-CN" sz="2200" dirty="0">
              <a:latin typeface="华文中宋" panose="02010600040101010101" charset="-122"/>
              <a:ea typeface="华文中宋" panose="02010600040101010101" charset="-122"/>
              <a:sym typeface="+mn-ea"/>
            </a:endParaRPr>
          </a:p>
          <a:p>
            <a:pPr>
              <a:lnSpc>
                <a:spcPct val="120000"/>
              </a:lnSpc>
            </a:pPr>
            <a:r>
              <a:rPr lang="en-US" sz="2200" dirty="0">
                <a:latin typeface="Arial" panose="020B0604020202020204" pitchFamily="34" charset="0"/>
                <a:ea typeface="华文中宋" panose="02010600040101010101" charset="-122"/>
                <a:cs typeface="Arial" panose="020B0604020202020204" pitchFamily="34" charset="0"/>
                <a:sym typeface="+mn-ea"/>
              </a:rPr>
              <a:t>righteous </a:t>
            </a:r>
            <a:r>
              <a:rPr lang="en-US" altLang="zh-CN" sz="2200" dirty="0">
                <a:latin typeface="Times New Roman" panose="02020603050405020304" pitchFamily="18" charset="0"/>
                <a:ea typeface="华文中宋" panose="02010600040101010101" charset="-122"/>
                <a:cs typeface="Times New Roman" panose="02020603050405020304" pitchFamily="18" charset="0"/>
                <a:sym typeface="+mn-ea"/>
              </a:rPr>
              <a:t>/</a:t>
            </a:r>
            <a:r>
              <a:rPr lang="en-US" altLang="en-US" sz="2200" dirty="0">
                <a:latin typeface="Times New Roman" panose="02020603050405020304" pitchFamily="18" charset="0"/>
                <a:ea typeface="华文中宋" panose="02010600040101010101" charset="-122"/>
                <a:cs typeface="Times New Roman" panose="02020603050405020304" pitchFamily="18" charset="0"/>
                <a:sym typeface="+mn-ea"/>
              </a:rPr>
              <a:t>ˈ</a:t>
            </a:r>
            <a:r>
              <a:rPr lang="en-US" altLang="zh-CN" sz="2200" dirty="0">
                <a:latin typeface="Times New Roman" panose="02020603050405020304" pitchFamily="18" charset="0"/>
                <a:ea typeface="华文中宋" panose="02010600040101010101" charset="-122"/>
                <a:cs typeface="Times New Roman" panose="02020603050405020304" pitchFamily="18" charset="0"/>
                <a:sym typeface="+mn-ea"/>
              </a:rPr>
              <a:t>ra</a:t>
            </a:r>
            <a:r>
              <a:rPr lang="en-US" altLang="en-US" sz="2200" dirty="0">
                <a:latin typeface="Times New Roman" panose="02020603050405020304" pitchFamily="18" charset="0"/>
                <a:ea typeface="华文中宋" panose="02010600040101010101" charset="-122"/>
                <a:cs typeface="Times New Roman" panose="02020603050405020304" pitchFamily="18" charset="0"/>
                <a:sym typeface="+mn-ea"/>
              </a:rPr>
              <a:t>ɪ</a:t>
            </a:r>
            <a:r>
              <a:rPr lang="en-US" altLang="zh-CN" sz="2200" dirty="0">
                <a:latin typeface="Times New Roman" panose="02020603050405020304" pitchFamily="18" charset="0"/>
                <a:ea typeface="华文中宋" panose="02010600040101010101" charset="-122"/>
                <a:cs typeface="Times New Roman" panose="02020603050405020304" pitchFamily="18" charset="0"/>
                <a:sym typeface="+mn-ea"/>
              </a:rPr>
              <a:t>t</a:t>
            </a:r>
            <a:r>
              <a:rPr lang="en-US" altLang="en-US" sz="2200" dirty="0">
                <a:latin typeface="Times New Roman" panose="02020603050405020304" pitchFamily="18" charset="0"/>
                <a:ea typeface="华文中宋" panose="02010600040101010101" charset="-122"/>
                <a:cs typeface="Times New Roman" panose="02020603050405020304" pitchFamily="18" charset="0"/>
                <a:sym typeface="+mn-ea"/>
              </a:rPr>
              <a:t>ʃə</a:t>
            </a:r>
            <a:r>
              <a:rPr lang="en-US" altLang="zh-CN" sz="2200" dirty="0">
                <a:latin typeface="Times New Roman" panose="02020603050405020304" pitchFamily="18" charset="0"/>
                <a:ea typeface="华文中宋" panose="02010600040101010101" charset="-122"/>
                <a:cs typeface="Times New Roman" panose="02020603050405020304" pitchFamily="18" charset="0"/>
                <a:sym typeface="+mn-ea"/>
              </a:rPr>
              <a:t>s/</a:t>
            </a:r>
            <a:r>
              <a:rPr lang="en-US" altLang="zh-CN" sz="2200" dirty="0">
                <a:latin typeface="华文中宋" panose="02010600040101010101" charset="-122"/>
                <a:ea typeface="华文中宋" panose="02010600040101010101" charset="-122"/>
                <a:sym typeface="+mn-ea"/>
              </a:rPr>
              <a:t> </a:t>
            </a:r>
            <a:r>
              <a:rPr lang="zh-CN" altLang="en-US" sz="2200">
                <a:latin typeface="华文中宋" panose="02010600040101010101" charset="-122"/>
                <a:ea typeface="华文中宋" panose="02010600040101010101" charset="-122"/>
              </a:rPr>
              <a:t>正当的；正义的</a:t>
            </a:r>
            <a:endParaRPr lang="zh-CN" altLang="en-US" sz="2200">
              <a:latin typeface="华文中宋" panose="02010600040101010101" charset="-122"/>
              <a:ea typeface="华文中宋" panose="02010600040101010101" charset="-122"/>
            </a:endParaRPr>
          </a:p>
        </p:txBody>
      </p:sp>
      <p:pic>
        <p:nvPicPr>
          <p:cNvPr id="6" name="特朗普励志演讲音频">
            <a:hlinkClick r:id="" action="ppaction://media"/>
          </p:cNvPr>
          <p:cNvPicPr/>
          <p:nvPr>
            <a:audioFile r:link="rId5"/>
            <p:extLst>
              <p:ext uri="{DAA4B4D4-6D71-4841-9C94-3DE7FCFB9230}">
                <p14:media xmlns:p14="http://schemas.microsoft.com/office/powerpoint/2010/main" r:embed="rId6"/>
              </p:ext>
            </p:extLst>
          </p:nvPr>
        </p:nvPicPr>
        <p:blipFill>
          <a:blip r:embed="rId7"/>
          <a:stretch>
            <a:fillRect/>
          </a:stretch>
        </p:blipFill>
        <p:spPr>
          <a:xfrm>
            <a:off x="3542030" y="5900420"/>
            <a:ext cx="495300" cy="495300"/>
          </a:xfrm>
          <a:prstGeom prst="rect">
            <a:avLst/>
          </a:prstGeom>
        </p:spPr>
      </p:pic>
      <p:pic>
        <p:nvPicPr>
          <p:cNvPr id="7" name="图片 6" descr="特朗普励志演讲[00_00_08][20251204-223006]"/>
          <p:cNvPicPr>
            <a:picLocks noChangeAspect="1"/>
          </p:cNvPicPr>
          <p:nvPr/>
        </p:nvPicPr>
        <p:blipFill>
          <a:blip r:embed="rId8"/>
          <a:stretch>
            <a:fillRect/>
          </a:stretch>
        </p:blipFill>
        <p:spPr>
          <a:xfrm>
            <a:off x="281940" y="3650615"/>
            <a:ext cx="3755390" cy="2214245"/>
          </a:xfrm>
          <a:prstGeom prst="rect">
            <a:avLst/>
          </a:prstGeom>
        </p:spPr>
      </p:pic>
      <p:sp>
        <p:nvSpPr>
          <p:cNvPr id="9" name="文本框 8"/>
          <p:cNvSpPr txBox="1"/>
          <p:nvPr/>
        </p:nvSpPr>
        <p:spPr>
          <a:xfrm>
            <a:off x="4135755" y="865505"/>
            <a:ext cx="7851140" cy="5513070"/>
          </a:xfrm>
          <a:prstGeom prst="rect">
            <a:avLst/>
          </a:prstGeom>
          <a:ln>
            <a:solidFill>
              <a:schemeClr val="accent4"/>
            </a:solidFill>
          </a:ln>
        </p:spPr>
        <p:txBody>
          <a:bodyPr wrap="square">
            <a:spAutoFit/>
          </a:bodyPr>
          <a:p>
            <a:pPr marL="0" indent="0" algn="just">
              <a:lnSpc>
                <a:spcPct val="90000"/>
              </a:lnSpc>
            </a:pPr>
            <a:r>
              <a:rPr lang="en-US" altLang="zh-CN" sz="2800" b="0" i="0">
                <a:solidFill>
                  <a:srgbClr val="0F0F0F"/>
                </a:solidFill>
                <a:latin typeface="Calibri" panose="020F0502020204030204" charset="0"/>
                <a:ea typeface="Inter"/>
                <a:cs typeface="Calibri" panose="020F0502020204030204" charset="0"/>
              </a:rPr>
              <a:t>Now, I want to take this opportunity to give you some advice. Over the course of your life, you will find </a:t>
            </a:r>
            <a:r>
              <a:rPr lang="en-US" altLang="zh-CN" sz="2400" b="0" i="0">
                <a:solidFill>
                  <a:srgbClr val="0F0F0F"/>
                </a:solidFill>
                <a:latin typeface="Calibri" panose="020F0502020204030204" charset="0"/>
                <a:ea typeface="Inter"/>
                <a:cs typeface="Calibri" panose="020F0502020204030204" charset="0"/>
              </a:rPr>
              <a:t>that</a:t>
            </a:r>
            <a:r>
              <a:rPr lang="en-US" altLang="zh-CN" sz="2800" b="0" i="0">
                <a:solidFill>
                  <a:srgbClr val="0F0F0F"/>
                </a:solidFill>
                <a:latin typeface="Calibri" panose="020F0502020204030204" charset="0"/>
                <a:ea typeface="Inter"/>
                <a:cs typeface="Calibri" panose="020F0502020204030204" charset="0"/>
              </a:rPr>
              <a:t> things are not always fair. You will find </a:t>
            </a:r>
            <a:r>
              <a:rPr lang="en-US" altLang="zh-CN" sz="2400" b="0" i="0">
                <a:solidFill>
                  <a:srgbClr val="0F0F0F"/>
                </a:solidFill>
                <a:latin typeface="Calibri" panose="020F0502020204030204" charset="0"/>
                <a:ea typeface="Inter"/>
                <a:cs typeface="Calibri" panose="020F0502020204030204" charset="0"/>
              </a:rPr>
              <a:t>that</a:t>
            </a:r>
            <a:r>
              <a:rPr lang="en-US" altLang="zh-CN" sz="2800" b="0" i="0">
                <a:solidFill>
                  <a:srgbClr val="0F0F0F"/>
                </a:solidFill>
                <a:latin typeface="Calibri" panose="020F0502020204030204" charset="0"/>
                <a:ea typeface="Inter"/>
                <a:cs typeface="Calibri" panose="020F0502020204030204" charset="0"/>
              </a:rPr>
              <a:t> things happen to you that you do not deserve, and that are not always </a:t>
            </a:r>
            <a:r>
              <a:rPr lang="en-US" altLang="zh-CN" sz="2800" b="0" i="0">
                <a:solidFill>
                  <a:schemeClr val="accent1"/>
                </a:solidFill>
                <a:latin typeface="Calibri" panose="020F0502020204030204" charset="0"/>
                <a:ea typeface="Inter"/>
                <a:cs typeface="Calibri" panose="020F0502020204030204" charset="0"/>
              </a:rPr>
              <a:t>warranted</a:t>
            </a:r>
            <a:r>
              <a:rPr lang="en-US" altLang="zh-CN" sz="2800" b="0" i="0">
                <a:solidFill>
                  <a:srgbClr val="0F0F0F"/>
                </a:solidFill>
                <a:latin typeface="Calibri" panose="020F0502020204030204" charset="0"/>
                <a:ea typeface="Inter"/>
                <a:cs typeface="Calibri" panose="020F0502020204030204" charset="0"/>
              </a:rPr>
              <a:t>. But you have to put your head down and fight, fight, fight. Never, ever, </a:t>
            </a:r>
            <a:r>
              <a:rPr lang="en-US" altLang="zh-CN" sz="2800" b="1" i="0">
                <a:solidFill>
                  <a:srgbClr val="0F0F0F"/>
                </a:solidFill>
                <a:latin typeface="Calibri" panose="020F0502020204030204" charset="0"/>
                <a:ea typeface="Inter"/>
                <a:cs typeface="Calibri" panose="020F0502020204030204" charset="0"/>
              </a:rPr>
              <a:t>ever</a:t>
            </a:r>
            <a:r>
              <a:rPr lang="en-US" altLang="zh-CN" sz="2800" b="0" i="0">
                <a:solidFill>
                  <a:srgbClr val="0F0F0F"/>
                </a:solidFill>
                <a:latin typeface="Calibri" panose="020F0502020204030204" charset="0"/>
                <a:ea typeface="Inter"/>
                <a:cs typeface="Calibri" panose="020F0502020204030204" charset="0"/>
              </a:rPr>
              <a:t> give up. Things will work out just fine.</a:t>
            </a:r>
            <a:endParaRPr lang="en-US" altLang="zh-CN" sz="2800" b="0" i="0">
              <a:solidFill>
                <a:srgbClr val="0F0F0F"/>
              </a:solidFill>
              <a:latin typeface="Calibri" panose="020F0502020204030204" charset="0"/>
              <a:ea typeface="Inter"/>
              <a:cs typeface="Calibri" panose="020F0502020204030204" charset="0"/>
            </a:endParaRPr>
          </a:p>
          <a:p>
            <a:pPr marL="0" indent="0" algn="just">
              <a:lnSpc>
                <a:spcPct val="90000"/>
              </a:lnSpc>
            </a:pPr>
            <a:r>
              <a:rPr lang="en-US" altLang="zh-CN" sz="2800" b="0" i="0">
                <a:solidFill>
                  <a:srgbClr val="0F0F0F"/>
                </a:solidFill>
                <a:latin typeface="Calibri" panose="020F0502020204030204" charset="0"/>
                <a:ea typeface="Inter"/>
                <a:cs typeface="Calibri" panose="020F0502020204030204" charset="0"/>
              </a:rPr>
              <a:t> </a:t>
            </a:r>
            <a:r>
              <a:rPr lang="en-US" altLang="zh-CN" sz="2800">
                <a:solidFill>
                  <a:srgbClr val="0F0F0F"/>
                </a:solidFill>
                <a:latin typeface="Calibri" panose="020F0502020204030204" charset="0"/>
                <a:ea typeface="Inter"/>
                <a:cs typeface="Calibri" panose="020F0502020204030204" charset="0"/>
                <a:sym typeface="+mn-ea"/>
              </a:rPr>
              <a:t>...</a:t>
            </a:r>
            <a:r>
              <a:rPr lang="en-US" altLang="zh-CN" sz="2800">
                <a:solidFill>
                  <a:srgbClr val="0F0F0F"/>
                </a:solidFill>
                <a:latin typeface="Calibri" panose="020F0502020204030204" charset="0"/>
                <a:ea typeface="Inter"/>
                <a:cs typeface="Calibri" panose="020F0502020204030204" charset="0"/>
                <a:sym typeface="+mn-ea"/>
              </a:rPr>
              <a:t>You </a:t>
            </a:r>
            <a:r>
              <a:rPr lang="en-US" altLang="zh-CN" sz="2800" b="1">
                <a:solidFill>
                  <a:srgbClr val="0F0F0F"/>
                </a:solidFill>
                <a:latin typeface="Calibri" panose="020F0502020204030204" charset="0"/>
                <a:ea typeface="Inter"/>
                <a:cs typeface="Calibri" panose="020F0502020204030204" charset="0"/>
                <a:sym typeface="+mn-ea"/>
              </a:rPr>
              <a:t>can’t</a:t>
            </a:r>
            <a:r>
              <a:rPr lang="en-US" altLang="zh-CN" sz="2800">
                <a:solidFill>
                  <a:srgbClr val="0F0F0F"/>
                </a:solidFill>
                <a:latin typeface="Calibri" panose="020F0502020204030204" charset="0"/>
                <a:ea typeface="Inter"/>
                <a:cs typeface="Calibri" panose="020F0502020204030204" charset="0"/>
                <a:sym typeface="+mn-ea"/>
              </a:rPr>
              <a:t> let them get you down. You </a:t>
            </a:r>
            <a:r>
              <a:rPr lang="en-US" altLang="zh-CN" sz="2800" b="1">
                <a:solidFill>
                  <a:srgbClr val="0F0F0F"/>
                </a:solidFill>
                <a:latin typeface="Calibri" panose="020F0502020204030204" charset="0"/>
                <a:ea typeface="Inter"/>
                <a:cs typeface="Calibri" panose="020F0502020204030204" charset="0"/>
                <a:sym typeface="+mn-ea"/>
              </a:rPr>
              <a:t>can’t</a:t>
            </a:r>
            <a:r>
              <a:rPr lang="en-US" altLang="zh-CN" sz="2800">
                <a:solidFill>
                  <a:srgbClr val="0F0F0F"/>
                </a:solidFill>
                <a:latin typeface="Calibri" panose="020F0502020204030204" charset="0"/>
                <a:ea typeface="Inter"/>
                <a:cs typeface="Calibri" panose="020F0502020204030204" charset="0"/>
                <a:sym typeface="+mn-ea"/>
              </a:rPr>
              <a:t> let the critics and </a:t>
            </a:r>
            <a:r>
              <a:rPr lang="en-US" altLang="zh-CN" sz="2800">
                <a:solidFill>
                  <a:schemeClr val="accent1"/>
                </a:solidFill>
                <a:latin typeface="Calibri" panose="020F0502020204030204" charset="0"/>
                <a:ea typeface="Inter"/>
                <a:cs typeface="Calibri" panose="020F0502020204030204" charset="0"/>
                <a:sym typeface="+mn-ea"/>
              </a:rPr>
              <a:t>naysayers</a:t>
            </a:r>
            <a:r>
              <a:rPr lang="en-US" altLang="zh-CN" sz="2800">
                <a:solidFill>
                  <a:srgbClr val="0F0F0F"/>
                </a:solidFill>
                <a:latin typeface="Calibri" panose="020F0502020204030204" charset="0"/>
                <a:ea typeface="Inter"/>
                <a:cs typeface="Calibri" panose="020F0502020204030204" charset="0"/>
                <a:sym typeface="+mn-ea"/>
              </a:rPr>
              <a:t> get in the way of your dreams. ...</a:t>
            </a:r>
            <a:r>
              <a:rPr lang="en-US" altLang="zh-CN" sz="2800" b="0" i="0">
                <a:solidFill>
                  <a:schemeClr val="accent1"/>
                </a:solidFill>
                <a:latin typeface="Calibri" panose="020F0502020204030204" charset="0"/>
                <a:ea typeface="Inter"/>
                <a:cs typeface="Calibri" panose="020F0502020204030204" charset="0"/>
              </a:rPr>
              <a:t>Adversity</a:t>
            </a:r>
            <a:r>
              <a:rPr lang="en-US" altLang="zh-CN" sz="2800" b="0" i="0">
                <a:solidFill>
                  <a:srgbClr val="0F0F0F"/>
                </a:solidFill>
                <a:latin typeface="Calibri" panose="020F0502020204030204" charset="0"/>
                <a:ea typeface="Inter"/>
                <a:cs typeface="Calibri" panose="020F0502020204030204" charset="0"/>
              </a:rPr>
              <a:t> makes you stronger.  Don’t give in, don’t back down, and never stop doing what you know is right.  </a:t>
            </a:r>
            <a:r>
              <a:rPr lang="en-US" altLang="zh-CN" sz="2800">
                <a:solidFill>
                  <a:srgbClr val="0F0F0F"/>
                </a:solidFill>
                <a:latin typeface="Calibri" panose="020F0502020204030204" charset="0"/>
                <a:ea typeface="Inter"/>
                <a:cs typeface="Calibri" panose="020F0502020204030204" charset="0"/>
                <a:sym typeface="+mn-ea"/>
              </a:rPr>
              <a:t>Nothing worth doing </a:t>
            </a:r>
            <a:r>
              <a:rPr lang="en-US" altLang="zh-CN" sz="2800" b="1">
                <a:solidFill>
                  <a:srgbClr val="0F0F0F"/>
                </a:solidFill>
                <a:latin typeface="Calibri" panose="020F0502020204030204" charset="0"/>
                <a:ea typeface="Inter"/>
                <a:cs typeface="Calibri" panose="020F0502020204030204" charset="0"/>
                <a:sym typeface="+mn-ea"/>
              </a:rPr>
              <a:t>ever</a:t>
            </a:r>
            <a:r>
              <a:rPr lang="en-US" altLang="zh-CN" sz="2800">
                <a:solidFill>
                  <a:srgbClr val="0F0F0F"/>
                </a:solidFill>
                <a:latin typeface="Calibri" panose="020F0502020204030204" charset="0"/>
                <a:ea typeface="Inter"/>
                <a:cs typeface="Calibri" panose="020F0502020204030204" charset="0"/>
                <a:sym typeface="+mn-ea"/>
              </a:rPr>
              <a:t>, ever, ever came easy. And the more </a:t>
            </a:r>
            <a:r>
              <a:rPr lang="en-US" altLang="zh-CN" sz="2800">
                <a:solidFill>
                  <a:schemeClr val="accent1"/>
                </a:solidFill>
                <a:latin typeface="Calibri" panose="020F0502020204030204" charset="0"/>
                <a:ea typeface="Inter"/>
                <a:cs typeface="Calibri" panose="020F0502020204030204" charset="0"/>
                <a:sym typeface="+mn-ea"/>
              </a:rPr>
              <a:t>righteous</a:t>
            </a:r>
            <a:r>
              <a:rPr lang="en-US" altLang="zh-CN" sz="2800">
                <a:solidFill>
                  <a:srgbClr val="0F0F0F"/>
                </a:solidFill>
                <a:latin typeface="Calibri" panose="020F0502020204030204" charset="0"/>
                <a:ea typeface="Inter"/>
                <a:cs typeface="Calibri" panose="020F0502020204030204" charset="0"/>
                <a:sym typeface="+mn-ea"/>
              </a:rPr>
              <a:t> you fight, the more opposition that you will face.</a:t>
            </a:r>
            <a:endParaRPr lang="en-US" altLang="zh-CN" sz="2800" b="0" i="0">
              <a:solidFill>
                <a:srgbClr val="0F0F0F"/>
              </a:solidFill>
              <a:latin typeface="Calibri" panose="020F0502020204030204" charset="0"/>
              <a:ea typeface="Inter"/>
              <a:cs typeface="Calibri" panose="020F05020202040302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p:cTn id="8" fill="hold" display="1">
                  <p:stCondLst>
                    <p:cond delay="indefinite"/>
                  </p:stCondLst>
                  <p:endCondLst>
                    <p:cond evt="onStopAudio">
                      <p:tgtEl>
                        <p:sldTgt/>
                      </p:tgtEl>
                    </p:cond>
                  </p:endCondLst>
                </p:cTn>
                <p:tgtEl>
                  <p:spTgt spid="6"/>
                </p:tgtEl>
              </p:cMediaNode>
            </p:audio>
          </p:childTnLst>
        </p:cTn>
      </p:par>
    </p:tnLst>
    <p:bldLst>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1"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algn="just">
              <a:buNone/>
              <a:defRPr/>
            </a:pPr>
            <a:r>
              <a:rPr lang="en-US" altLang="zh-CN" b="1" spc="-100" dirty="0">
                <a:latin typeface="Calibri" panose="020F0502020204030204"/>
                <a:ea typeface="宋体" panose="02010600030101010101" pitchFamily="2" charset="-122"/>
              </a:rPr>
              <a:t>2. </a:t>
            </a:r>
            <a:r>
              <a:rPr lang="en-US" altLang="zh-CN" b="1" dirty="0">
                <a:latin typeface="Calibri" panose="020F0502020204030204"/>
                <a:ea typeface="宋体" panose="02010600030101010101" pitchFamily="2" charset="-122"/>
              </a:rPr>
              <a:t>Translate the following sentences, paying attention to the words in bold </a:t>
            </a:r>
            <a:r>
              <a:rPr lang="en-US" altLang="zh-CN" b="1" dirty="0" smtClean="0">
                <a:latin typeface="Calibri" panose="020F0502020204030204"/>
                <a:ea typeface="宋体" panose="02010600030101010101" pitchFamily="2" charset="-122"/>
              </a:rPr>
              <a:t>type which </a:t>
            </a:r>
            <a:r>
              <a:rPr lang="en-US" altLang="zh-CN" b="1" dirty="0">
                <a:latin typeface="Calibri" panose="020F0502020204030204"/>
                <a:ea typeface="宋体" panose="02010600030101010101" pitchFamily="2" charset="-122"/>
              </a:rPr>
              <a:t>may have different meanings in different contexts.</a:t>
            </a:r>
            <a:endParaRPr lang="en-US" altLang="zh-CN" b="1" dirty="0">
              <a:latin typeface="Calibri" panose="020F0502020204030204"/>
              <a:ea typeface="宋体" panose="02010600030101010101" pitchFamily="2" charset="-122"/>
            </a:endParaRPr>
          </a:p>
          <a:p>
            <a:pPr marL="266700" indent="-266700" algn="just">
              <a:spcBef>
                <a:spcPts val="600"/>
              </a:spcBef>
              <a:buNone/>
              <a:defRPr/>
            </a:pPr>
            <a:r>
              <a:rPr lang="en-US" altLang="zh-CN" dirty="0">
                <a:solidFill>
                  <a:prstClr val="black"/>
                </a:solidFill>
                <a:latin typeface="Calibri" panose="020F0502020204030204"/>
                <a:ea typeface="宋体" panose="02010600030101010101" pitchFamily="2" charset="-122"/>
              </a:rPr>
              <a:t>1. Why don’t you </a:t>
            </a:r>
            <a:r>
              <a:rPr lang="en-US" altLang="zh-CN" spc="-100" dirty="0">
                <a:solidFill>
                  <a:schemeClr val="accent2">
                    <a:lumMod val="75000"/>
                  </a:schemeClr>
                </a:solidFill>
                <a:latin typeface="Calibri" panose="020F0502020204030204"/>
                <a:ea typeface="宋体" panose="02010600030101010101" pitchFamily="2" charset="-122"/>
              </a:rPr>
              <a:t>engage</a:t>
            </a:r>
            <a:r>
              <a:rPr lang="en-US" altLang="zh-CN" dirty="0">
                <a:solidFill>
                  <a:prstClr val="black"/>
                </a:solidFill>
                <a:latin typeface="Calibri" panose="020F0502020204030204"/>
                <a:ea typeface="宋体" panose="02010600030101010101" pitchFamily="2" charset="-122"/>
              </a:rPr>
              <a:t> a secretary to deal with all the paperwork?</a:t>
            </a:r>
            <a:endParaRPr lang="en-US" altLang="zh-CN" dirty="0">
              <a:solidFill>
                <a:prstClr val="black"/>
              </a:solidFill>
              <a:latin typeface="Calibri" panose="020F0502020204030204"/>
              <a:ea typeface="宋体" panose="02010600030101010101" pitchFamily="2" charset="-122"/>
            </a:endParaRPr>
          </a:p>
          <a:p>
            <a:pPr marL="266700" indent="-266700" algn="just">
              <a:spcBef>
                <a:spcPts val="600"/>
              </a:spcBef>
              <a:buNone/>
              <a:defRPr/>
            </a:pPr>
            <a:r>
              <a:rPr lang="en-US" altLang="zh-CN" sz="2400" dirty="0">
                <a:solidFill>
                  <a:prstClr val="black"/>
                </a:solidFill>
                <a:latin typeface="宋体" panose="02010600030101010101" pitchFamily="2" charset="-122"/>
                <a:ea typeface="宋体" panose="02010600030101010101" pitchFamily="2" charset="-122"/>
              </a:rPr>
              <a:t>  </a:t>
            </a:r>
            <a:r>
              <a:rPr lang="zh-CN" altLang="en-US" sz="2400" dirty="0">
                <a:solidFill>
                  <a:srgbClr val="C00000"/>
                </a:solidFill>
                <a:latin typeface="Calibri" panose="020F0502020204030204" charset="0"/>
                <a:ea typeface="宋体" panose="02010600030101010101" pitchFamily="2" charset="-122"/>
              </a:rPr>
              <a:t>你为什么不聘用一个秘书来处理这些文书工作呢？</a:t>
            </a:r>
            <a:endParaRPr lang="en-US" altLang="zh-CN" sz="2400" dirty="0">
              <a:solidFill>
                <a:srgbClr val="C00000"/>
              </a:solidFill>
              <a:latin typeface="Calibri" panose="020F0502020204030204" charset="0"/>
              <a:ea typeface="宋体" panose="02010600030101010101" pitchFamily="2" charset="-122"/>
            </a:endParaRPr>
          </a:p>
          <a:p>
            <a:pPr marL="266700" indent="-266700" algn="just">
              <a:spcBef>
                <a:spcPts val="600"/>
              </a:spcBef>
              <a:buNone/>
              <a:defRPr/>
            </a:pPr>
            <a:r>
              <a:rPr lang="en-US" altLang="zh-CN" dirty="0">
                <a:solidFill>
                  <a:prstClr val="black"/>
                </a:solidFill>
                <a:latin typeface="Calibri" panose="020F0502020204030204"/>
                <a:ea typeface="宋体" panose="02010600030101010101" pitchFamily="2" charset="-122"/>
              </a:rPr>
              <a:t>2. —Are you </a:t>
            </a:r>
            <a:r>
              <a:rPr lang="en-US" altLang="zh-CN" spc="-100" dirty="0">
                <a:solidFill>
                  <a:schemeClr val="accent2">
                    <a:lumMod val="75000"/>
                  </a:schemeClr>
                </a:solidFill>
                <a:latin typeface="Calibri" panose="020F0502020204030204"/>
                <a:ea typeface="宋体" panose="02010600030101010101" pitchFamily="2" charset="-122"/>
              </a:rPr>
              <a:t>engaged</a:t>
            </a:r>
            <a:r>
              <a:rPr lang="en-US" altLang="zh-CN" dirty="0">
                <a:solidFill>
                  <a:prstClr val="black"/>
                </a:solidFill>
                <a:latin typeface="Calibri" panose="020F0502020204030204"/>
                <a:ea typeface="宋体" panose="02010600030101010101" pitchFamily="2" charset="-122"/>
              </a:rPr>
              <a:t>, sir?</a:t>
            </a:r>
            <a:endParaRPr lang="en-US" altLang="zh-CN" dirty="0">
              <a:solidFill>
                <a:prstClr val="black"/>
              </a:solidFill>
              <a:latin typeface="Calibri" panose="020F0502020204030204"/>
              <a:ea typeface="宋体" panose="02010600030101010101" pitchFamily="2" charset="-122"/>
            </a:endParaRPr>
          </a:p>
          <a:p>
            <a:pPr marL="266700" indent="-266700" algn="just">
              <a:spcBef>
                <a:spcPts val="600"/>
              </a:spcBef>
              <a:buNone/>
              <a:defRPr/>
            </a:pPr>
            <a:r>
              <a:rPr lang="en-US" altLang="zh-CN" dirty="0">
                <a:solidFill>
                  <a:prstClr val="black"/>
                </a:solidFill>
                <a:latin typeface="Calibri" panose="020F0502020204030204"/>
                <a:ea typeface="宋体" panose="02010600030101010101" pitchFamily="2" charset="-122"/>
              </a:rPr>
              <a:t>    </a:t>
            </a:r>
            <a:r>
              <a:rPr lang="en-US" altLang="zh-CN" spc="-100" dirty="0">
                <a:solidFill>
                  <a:prstClr val="black"/>
                </a:solidFill>
                <a:latin typeface="Calibri" panose="020F0502020204030204"/>
                <a:ea typeface="宋体" panose="02010600030101010101" pitchFamily="2" charset="-122"/>
              </a:rPr>
              <a:t>—What business is it of yours? But as a matter of fact, I am </a:t>
            </a:r>
            <a:r>
              <a:rPr lang="en-US" altLang="zh-CN" spc="-100" dirty="0">
                <a:solidFill>
                  <a:schemeClr val="accent2">
                    <a:lumMod val="75000"/>
                  </a:schemeClr>
                </a:solidFill>
                <a:latin typeface="Calibri" panose="020F0502020204030204"/>
                <a:ea typeface="宋体" panose="02010600030101010101" pitchFamily="2" charset="-122"/>
              </a:rPr>
              <a:t>engaged</a:t>
            </a:r>
            <a:r>
              <a:rPr lang="en-US" altLang="zh-CN" spc="-100" dirty="0">
                <a:solidFill>
                  <a:prstClr val="black"/>
                </a:solidFill>
                <a:latin typeface="Calibri" panose="020F0502020204030204"/>
                <a:ea typeface="宋体" panose="02010600030101010101" pitchFamily="2" charset="-122"/>
              </a:rPr>
              <a:t>, to Miss ...</a:t>
            </a:r>
            <a:endParaRPr lang="en-US" altLang="zh-CN" spc="-100" dirty="0">
              <a:solidFill>
                <a:prstClr val="black"/>
              </a:solidFill>
              <a:latin typeface="Calibri" panose="020F0502020204030204"/>
              <a:ea typeface="宋体" panose="02010600030101010101" pitchFamily="2" charset="-122"/>
            </a:endParaRPr>
          </a:p>
          <a:p>
            <a:pPr marL="266700" indent="-266700" algn="just">
              <a:spcBef>
                <a:spcPts val="600"/>
              </a:spcBef>
              <a:buNone/>
              <a:defRPr/>
            </a:pPr>
            <a:r>
              <a:rPr lang="en-US" altLang="zh-CN" spc="-100" dirty="0">
                <a:solidFill>
                  <a:prstClr val="black"/>
                </a:solidFill>
                <a:latin typeface="Calibri" panose="020F0502020204030204"/>
                <a:ea typeface="宋体" panose="02010600030101010101" pitchFamily="2" charset="-122"/>
              </a:rPr>
              <a:t>     —</a:t>
            </a:r>
            <a:r>
              <a:rPr lang="en-US" altLang="zh-CN" dirty="0">
                <a:solidFill>
                  <a:prstClr val="black"/>
                </a:solidFill>
                <a:latin typeface="Calibri" panose="020F0502020204030204"/>
                <a:ea typeface="宋体" panose="02010600030101010101" pitchFamily="2" charset="-122"/>
              </a:rPr>
              <a:t>Oh, I mean, are you free, sir?</a:t>
            </a:r>
            <a:endParaRPr lang="en-US" altLang="zh-CN" dirty="0">
              <a:solidFill>
                <a:prstClr val="black"/>
              </a:solidFill>
              <a:latin typeface="Calibri" panose="020F0502020204030204"/>
              <a:ea typeface="宋体" panose="02010600030101010101" pitchFamily="2" charset="-122"/>
            </a:endParaRPr>
          </a:p>
          <a:p>
            <a:pPr marL="266700" indent="-266700" algn="just">
              <a:spcBef>
                <a:spcPts val="600"/>
              </a:spcBef>
              <a:buNone/>
              <a:defRPr/>
            </a:pPr>
            <a:r>
              <a:rPr lang="en-US" altLang="zh-CN" dirty="0">
                <a:solidFill>
                  <a:prstClr val="black"/>
                </a:solidFill>
                <a:latin typeface="Calibri" panose="020F0502020204030204"/>
                <a:ea typeface="宋体" panose="02010600030101010101" pitchFamily="2" charset="-122"/>
              </a:rPr>
              <a:t>    —You mean, am I disengaged?</a:t>
            </a:r>
            <a:endParaRPr lang="en-US" altLang="zh-CN" dirty="0">
              <a:solidFill>
                <a:prstClr val="black"/>
              </a:solidFill>
              <a:latin typeface="Calibri" panose="020F0502020204030204"/>
              <a:ea typeface="宋体" panose="02010600030101010101" pitchFamily="2" charset="-122"/>
            </a:endParaRPr>
          </a:p>
          <a:p>
            <a:pPr marL="266700" indent="-266700" algn="just">
              <a:spcBef>
                <a:spcPts val="600"/>
              </a:spcBef>
              <a:buNone/>
              <a:defRPr/>
            </a:pPr>
            <a:r>
              <a:rPr lang="en-US" altLang="zh-CN" sz="2400" dirty="0">
                <a:solidFill>
                  <a:srgbClr val="C00000"/>
                </a:solidFill>
                <a:latin typeface="Calibri" panose="020F0502020204030204" charset="0"/>
                <a:ea typeface="宋体" panose="02010600030101010101" pitchFamily="2" charset="-122"/>
              </a:rPr>
              <a:t>    </a:t>
            </a:r>
            <a:r>
              <a:rPr lang="en-US" altLang="zh-CN" sz="2400" dirty="0">
                <a:solidFill>
                  <a:srgbClr val="C00000"/>
                </a:solidFill>
                <a:latin typeface="宋体" panose="02010600030101010101" pitchFamily="2" charset="-122"/>
                <a:ea typeface="宋体" panose="02010600030101010101" pitchFamily="2" charset="-122"/>
              </a:rPr>
              <a:t>——</a:t>
            </a:r>
            <a:r>
              <a:rPr lang="zh-CN" altLang="en-US" sz="2400" dirty="0">
                <a:solidFill>
                  <a:srgbClr val="C00000"/>
                </a:solidFill>
                <a:latin typeface="Calibri" panose="020F0502020204030204" charset="0"/>
                <a:ea typeface="宋体" panose="02010600030101010101" pitchFamily="2" charset="-122"/>
              </a:rPr>
              <a:t>您有事忙着吗，先生</a:t>
            </a:r>
            <a:r>
              <a:rPr lang="zh-CN" altLang="en-US" sz="2400" dirty="0" smtClean="0">
                <a:solidFill>
                  <a:srgbClr val="C00000"/>
                </a:solidFill>
                <a:latin typeface="Calibri" panose="020F0502020204030204" charset="0"/>
                <a:ea typeface="宋体" panose="02010600030101010101" pitchFamily="2" charset="-122"/>
              </a:rPr>
              <a:t>？</a:t>
            </a:r>
            <a:endParaRPr lang="en-US" altLang="zh-CN" sz="2400" dirty="0">
              <a:solidFill>
                <a:srgbClr val="C00000"/>
              </a:solidFill>
              <a:latin typeface="Calibri" panose="020F0502020204030204" charset="0"/>
              <a:ea typeface="宋体" panose="02010600030101010101" pitchFamily="2" charset="-122"/>
            </a:endParaRPr>
          </a:p>
          <a:p>
            <a:pPr marL="266700" indent="-266700" algn="just">
              <a:spcBef>
                <a:spcPts val="600"/>
              </a:spcBef>
              <a:buNone/>
              <a:defRPr/>
            </a:pPr>
            <a:r>
              <a:rPr lang="en-US" altLang="zh-CN" sz="2400" dirty="0">
                <a:solidFill>
                  <a:srgbClr val="C00000"/>
                </a:solidFill>
                <a:latin typeface="Calibri" panose="020F0502020204030204" charset="0"/>
                <a:ea typeface="宋体" panose="02010600030101010101" pitchFamily="2" charset="-122"/>
              </a:rPr>
              <a:t> </a:t>
            </a:r>
            <a:r>
              <a:rPr lang="en-US" altLang="zh-CN" sz="2400" dirty="0" smtClean="0">
                <a:solidFill>
                  <a:srgbClr val="C00000"/>
                </a:solidFill>
                <a:latin typeface="Calibri" panose="020F0502020204030204" charset="0"/>
                <a:ea typeface="宋体" panose="02010600030101010101" pitchFamily="2" charset="-122"/>
              </a:rPr>
              <a:t>   </a:t>
            </a:r>
            <a:r>
              <a:rPr lang="en-US" altLang="zh-CN" sz="2400" dirty="0" smtClean="0">
                <a:solidFill>
                  <a:srgbClr val="C00000"/>
                </a:solidFill>
                <a:latin typeface="宋体" panose="02010600030101010101" pitchFamily="2" charset="-122"/>
                <a:ea typeface="宋体" panose="02010600030101010101" pitchFamily="2" charset="-122"/>
              </a:rPr>
              <a:t>——</a:t>
            </a:r>
            <a:r>
              <a:rPr lang="zh-CN" altLang="en-US" sz="2400" dirty="0">
                <a:solidFill>
                  <a:srgbClr val="C00000"/>
                </a:solidFill>
                <a:latin typeface="Calibri" panose="020F0502020204030204" charset="0"/>
                <a:ea typeface="宋体" panose="02010600030101010101" pitchFamily="2" charset="-122"/>
              </a:rPr>
              <a:t>这跟你有什么关系？不过，我确实订婚了，跟一位</a:t>
            </a:r>
            <a:r>
              <a:rPr lang="zh-CN" altLang="en-US" sz="2400" dirty="0" smtClean="0">
                <a:solidFill>
                  <a:srgbClr val="C00000"/>
                </a:solidFill>
                <a:latin typeface="Calibri" panose="020F0502020204030204" charset="0"/>
                <a:ea typeface="宋体" panose="02010600030101010101" pitchFamily="2" charset="-122"/>
              </a:rPr>
              <a:t>小姐</a:t>
            </a:r>
            <a:r>
              <a:rPr lang="en-US" altLang="zh-CN" sz="2400" dirty="0" smtClean="0">
                <a:solidFill>
                  <a:srgbClr val="C00000"/>
                </a:solidFill>
                <a:latin typeface="宋体" panose="02010600030101010101" pitchFamily="2" charset="-122"/>
                <a:ea typeface="宋体" panose="02010600030101010101" pitchFamily="2" charset="-122"/>
              </a:rPr>
              <a:t>……</a:t>
            </a:r>
            <a:endParaRPr lang="en-US" altLang="zh-CN" sz="2400" dirty="0">
              <a:solidFill>
                <a:srgbClr val="C00000"/>
              </a:solidFill>
              <a:latin typeface="宋体" panose="02010600030101010101" pitchFamily="2" charset="-122"/>
              <a:ea typeface="宋体" panose="02010600030101010101" pitchFamily="2" charset="-122"/>
            </a:endParaRPr>
          </a:p>
          <a:p>
            <a:pPr marL="266700" indent="-266700" algn="just">
              <a:spcBef>
                <a:spcPts val="600"/>
              </a:spcBef>
              <a:buNone/>
              <a:defRPr/>
            </a:pPr>
            <a:r>
              <a:rPr lang="en-US" altLang="zh-CN" sz="2400" dirty="0">
                <a:solidFill>
                  <a:srgbClr val="C00000"/>
                </a:solidFill>
                <a:latin typeface="宋体" panose="02010600030101010101" pitchFamily="2" charset="-122"/>
                <a:ea typeface="宋体" panose="02010600030101010101" pitchFamily="2" charset="-122"/>
              </a:rPr>
              <a:t> </a:t>
            </a:r>
            <a:r>
              <a:rPr lang="en-US" altLang="zh-CN" sz="2400" dirty="0" smtClean="0">
                <a:solidFill>
                  <a:srgbClr val="C00000"/>
                </a:solidFill>
                <a:latin typeface="宋体" panose="02010600030101010101" pitchFamily="2" charset="-122"/>
                <a:ea typeface="宋体" panose="02010600030101010101" pitchFamily="2" charset="-122"/>
              </a:rPr>
              <a:t> ——</a:t>
            </a:r>
            <a:r>
              <a:rPr lang="zh-CN" altLang="en-US" sz="2400" dirty="0">
                <a:solidFill>
                  <a:srgbClr val="C00000"/>
                </a:solidFill>
                <a:latin typeface="Calibri" panose="020F0502020204030204" charset="0"/>
                <a:ea typeface="宋体" panose="02010600030101010101" pitchFamily="2" charset="-122"/>
              </a:rPr>
              <a:t>噢，我的意思是，您现在有空吗</a:t>
            </a:r>
            <a:r>
              <a:rPr lang="en-US" altLang="zh-CN" sz="2400" dirty="0" smtClean="0">
                <a:solidFill>
                  <a:srgbClr val="C00000"/>
                </a:solidFill>
                <a:latin typeface="Calibri" panose="020F0502020204030204" charset="0"/>
                <a:ea typeface="宋体" panose="02010600030101010101" pitchFamily="2" charset="-122"/>
              </a:rPr>
              <a:t>?</a:t>
            </a:r>
            <a:endParaRPr lang="en-US" altLang="zh-CN" sz="2400" dirty="0" smtClean="0">
              <a:solidFill>
                <a:srgbClr val="C00000"/>
              </a:solidFill>
              <a:latin typeface="Calibri" panose="020F0502020204030204" charset="0"/>
              <a:ea typeface="宋体" panose="02010600030101010101" pitchFamily="2" charset="-122"/>
            </a:endParaRPr>
          </a:p>
          <a:p>
            <a:pPr marL="266700" indent="-266700" algn="just">
              <a:spcBef>
                <a:spcPts val="600"/>
              </a:spcBef>
              <a:buNone/>
              <a:defRPr/>
            </a:pPr>
            <a:r>
              <a:rPr lang="en-US" altLang="zh-CN" sz="2400" dirty="0">
                <a:solidFill>
                  <a:srgbClr val="C00000"/>
                </a:solidFill>
                <a:latin typeface="Calibri" panose="020F0502020204030204" charset="0"/>
                <a:ea typeface="宋体" panose="02010600030101010101" pitchFamily="2" charset="-122"/>
              </a:rPr>
              <a:t> </a:t>
            </a:r>
            <a:r>
              <a:rPr lang="en-US" altLang="zh-CN" sz="2400" dirty="0" smtClean="0">
                <a:solidFill>
                  <a:srgbClr val="C00000"/>
                </a:solidFill>
                <a:latin typeface="Calibri" panose="020F0502020204030204" charset="0"/>
                <a:ea typeface="宋体" panose="02010600030101010101" pitchFamily="2" charset="-122"/>
              </a:rPr>
              <a:t>   </a:t>
            </a:r>
            <a:r>
              <a:rPr lang="en-US" altLang="zh-CN" sz="2400" dirty="0" smtClean="0">
                <a:solidFill>
                  <a:srgbClr val="C00000"/>
                </a:solidFill>
                <a:latin typeface="宋体" panose="02010600030101010101" pitchFamily="2" charset="-122"/>
                <a:ea typeface="宋体" panose="02010600030101010101" pitchFamily="2" charset="-122"/>
              </a:rPr>
              <a:t>——</a:t>
            </a:r>
            <a:r>
              <a:rPr lang="zh-CN" altLang="en-US" sz="2400" dirty="0">
                <a:solidFill>
                  <a:srgbClr val="C00000"/>
                </a:solidFill>
                <a:latin typeface="Calibri" panose="020F0502020204030204" charset="0"/>
                <a:ea typeface="宋体" panose="02010600030101010101" pitchFamily="2" charset="-122"/>
              </a:rPr>
              <a:t>你是问，我是不是没在忙？</a:t>
            </a:r>
            <a:endParaRPr lang="en-US" altLang="zh-CN" sz="2400" dirty="0">
              <a:solidFill>
                <a:srgbClr val="C00000"/>
              </a:solidFill>
              <a:latin typeface="Calibri" panose="020F0502020204030204" charset="0"/>
              <a:ea typeface="宋体" panose="02010600030101010101" pitchFamily="2" charset="-122"/>
            </a:endParaRPr>
          </a:p>
          <a:p>
            <a:pPr marL="266700" indent="-266700" algn="just">
              <a:buNone/>
              <a:defRPr/>
            </a:pPr>
            <a:endParaRPr lang="en-US" altLang="zh-CN" dirty="0">
              <a:solidFill>
                <a:prstClr val="black"/>
              </a:solidFill>
              <a:latin typeface="Calibri" panose="020F0502020204030204"/>
              <a:ea typeface="宋体" panose="02010600030101010101" pitchFamily="2" charset="-122"/>
            </a:endParaRPr>
          </a:p>
        </p:txBody>
      </p:sp>
      <p:sp>
        <p:nvSpPr>
          <p:cNvPr id="7" name="文本框 4"/>
          <p:cNvSpPr txBox="1">
            <a:spLocks noChangeArrowheads="1"/>
          </p:cNvSpPr>
          <p:nvPr/>
        </p:nvSpPr>
        <p:spPr bwMode="auto">
          <a:xfrm>
            <a:off x="184150" y="160338"/>
            <a:ext cx="7029450"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r>
              <a:rPr lang="en-US" altLang="zh-CN" sz="2400" dirty="0">
                <a:solidFill>
                  <a:schemeClr val="bg1"/>
                </a:solidFill>
                <a:latin typeface="Arial Black" panose="020B0A04020102020204" pitchFamily="34" charset="0"/>
              </a:rPr>
              <a:t>Exercises · Language Exercises</a:t>
            </a:r>
            <a:endParaRPr lang="en-US" altLang="zh-CN" sz="2400" dirty="0">
              <a:solidFill>
                <a:schemeClr val="bg1"/>
              </a:solidFill>
              <a:latin typeface="Arial Black" panose="020B0A04020102020204" pitchFamily="34" charset="0"/>
            </a:endParaRPr>
          </a:p>
        </p:txBody>
      </p:sp>
      <p:pic>
        <p:nvPicPr>
          <p:cNvPr id="8" name="图片 7">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17946" y="174625"/>
            <a:ext cx="524510" cy="427355"/>
          </a:xfrm>
          <a:prstGeom prst="rect">
            <a:avLst/>
          </a:prstGeom>
        </p:spPr>
      </p:pic>
      <p:pic>
        <p:nvPicPr>
          <p:cNvPr id="9" name="图片 8">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dissolve">
                                      <p:cBhvr>
                                        <p:cTn id="7" dur="500"/>
                                        <p:tgtEl>
                                          <p:spTgt spid="1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1">
                                            <p:txEl>
                                              <p:pRg st="7" end="7"/>
                                            </p:txEl>
                                          </p:spTgt>
                                        </p:tgtEl>
                                        <p:attrNameLst>
                                          <p:attrName>style.visibility</p:attrName>
                                        </p:attrNameLst>
                                      </p:cBhvr>
                                      <p:to>
                                        <p:strVal val="visible"/>
                                      </p:to>
                                    </p:set>
                                    <p:animEffect transition="in" filter="dissolve">
                                      <p:cBhvr>
                                        <p:cTn id="12" dur="500"/>
                                        <p:tgtEl>
                                          <p:spTgt spid="11">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
                                            <p:txEl>
                                              <p:pRg st="8" end="8"/>
                                            </p:txEl>
                                          </p:spTgt>
                                        </p:tgtEl>
                                        <p:attrNameLst>
                                          <p:attrName>style.visibility</p:attrName>
                                        </p:attrNameLst>
                                      </p:cBhvr>
                                      <p:to>
                                        <p:strVal val="visible"/>
                                      </p:to>
                                    </p:set>
                                    <p:animEffect transition="in" filter="dissolve">
                                      <p:cBhvr>
                                        <p:cTn id="17" dur="500"/>
                                        <p:tgtEl>
                                          <p:spTgt spid="11">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1">
                                            <p:txEl>
                                              <p:pRg st="9" end="9"/>
                                            </p:txEl>
                                          </p:spTgt>
                                        </p:tgtEl>
                                        <p:attrNameLst>
                                          <p:attrName>style.visibility</p:attrName>
                                        </p:attrNameLst>
                                      </p:cBhvr>
                                      <p:to>
                                        <p:strVal val="visible"/>
                                      </p:to>
                                    </p:set>
                                    <p:animEffect transition="in" filter="dissolve">
                                      <p:cBhvr>
                                        <p:cTn id="22" dur="500"/>
                                        <p:tgtEl>
                                          <p:spTgt spid="11">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1">
                                            <p:txEl>
                                              <p:pRg st="10" end="10"/>
                                            </p:txEl>
                                          </p:spTgt>
                                        </p:tgtEl>
                                        <p:attrNameLst>
                                          <p:attrName>style.visibility</p:attrName>
                                        </p:attrNameLst>
                                      </p:cBhvr>
                                      <p:to>
                                        <p:strVal val="visible"/>
                                      </p:to>
                                    </p:set>
                                    <p:animEffect transition="in" filter="dissolve">
                                      <p:cBhvr>
                                        <p:cTn id="27" dur="500"/>
                                        <p:tgtEl>
                                          <p:spTgt spid="1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1"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algn="just">
              <a:buNone/>
              <a:defRPr/>
            </a:pPr>
            <a:r>
              <a:rPr lang="en-US" altLang="zh-CN" b="1" spc="-100" dirty="0">
                <a:latin typeface="Calibri" panose="020F0502020204030204"/>
                <a:ea typeface="宋体" panose="02010600030101010101" pitchFamily="2" charset="-122"/>
              </a:rPr>
              <a:t>2. </a:t>
            </a:r>
            <a:r>
              <a:rPr lang="en-US" altLang="zh-CN" b="1" dirty="0">
                <a:latin typeface="Calibri" panose="020F0502020204030204"/>
                <a:ea typeface="宋体" panose="02010600030101010101" pitchFamily="2" charset="-122"/>
              </a:rPr>
              <a:t>Translate the following sentences, paying attention to the words in bold type which may have different meanings in different contexts.</a:t>
            </a:r>
            <a:endParaRPr lang="en-US" altLang="zh-CN" b="1" dirty="0">
              <a:latin typeface="Calibri" panose="020F0502020204030204"/>
              <a:ea typeface="宋体" panose="02010600030101010101" pitchFamily="2" charset="-122"/>
            </a:endParaRPr>
          </a:p>
          <a:p>
            <a:pPr marL="266700" indent="-266700" algn="just">
              <a:spcBef>
                <a:spcPts val="600"/>
              </a:spcBef>
              <a:buNone/>
              <a:defRPr/>
            </a:pPr>
            <a:r>
              <a:rPr lang="en-US" altLang="zh-CN" dirty="0">
                <a:solidFill>
                  <a:prstClr val="black"/>
                </a:solidFill>
                <a:latin typeface="Calibri" panose="020F0502020204030204"/>
                <a:ea typeface="宋体" panose="02010600030101010101" pitchFamily="2" charset="-122"/>
              </a:rPr>
              <a:t>3. Our enemy spent a whole month trying to </a:t>
            </a:r>
            <a:r>
              <a:rPr lang="en-US" altLang="zh-CN" spc="-100" dirty="0">
                <a:solidFill>
                  <a:schemeClr val="accent2">
                    <a:lumMod val="75000"/>
                  </a:schemeClr>
                </a:solidFill>
                <a:latin typeface="Calibri" panose="020F0502020204030204"/>
                <a:ea typeface="宋体" panose="02010600030101010101" pitchFamily="2" charset="-122"/>
              </a:rPr>
              <a:t>engage</a:t>
            </a:r>
            <a:r>
              <a:rPr lang="en-US" altLang="zh-CN" dirty="0">
                <a:solidFill>
                  <a:prstClr val="black"/>
                </a:solidFill>
                <a:latin typeface="Calibri" panose="020F0502020204030204"/>
                <a:ea typeface="宋体" panose="02010600030101010101" pitchFamily="2" charset="-122"/>
              </a:rPr>
              <a:t> our main forces for a decisive battle, but they failed.</a:t>
            </a:r>
            <a:endParaRPr lang="en-US" altLang="zh-CN" dirty="0">
              <a:solidFill>
                <a:prstClr val="black"/>
              </a:solidFill>
              <a:latin typeface="Calibri" panose="020F0502020204030204"/>
              <a:ea typeface="宋体" panose="02010600030101010101" pitchFamily="2" charset="-122"/>
            </a:endParaRPr>
          </a:p>
          <a:p>
            <a:pPr marL="266700" indent="-266700" algn="just">
              <a:spcBef>
                <a:spcPts val="600"/>
              </a:spcBef>
              <a:buNone/>
              <a:defRPr/>
            </a:pPr>
            <a:r>
              <a:rPr lang="zh-CN" altLang="en-US" sz="2400" dirty="0">
                <a:solidFill>
                  <a:prstClr val="black"/>
                </a:solidFill>
                <a:latin typeface="宋体" panose="02010600030101010101" pitchFamily="2" charset="-122"/>
                <a:ea typeface="宋体" panose="02010600030101010101" pitchFamily="2" charset="-122"/>
              </a:rPr>
              <a:t>  </a:t>
            </a:r>
            <a:r>
              <a:rPr lang="zh-CN" altLang="en-US" sz="2400" dirty="0">
                <a:solidFill>
                  <a:srgbClr val="C00000"/>
                </a:solidFill>
                <a:latin typeface="Calibri" panose="020F0502020204030204" charset="0"/>
                <a:ea typeface="宋体" panose="02010600030101010101" pitchFamily="2" charset="-122"/>
              </a:rPr>
              <a:t>敌军花了整整一个月的时间试图与我军主力部队进行决战，但没有成功。</a:t>
            </a:r>
            <a:r>
              <a:rPr lang="zh-CN" altLang="en-US" sz="2400" dirty="0">
                <a:solidFill>
                  <a:srgbClr val="C00000"/>
                </a:solidFill>
                <a:latin typeface="宋体" panose="02010600030101010101" pitchFamily="2" charset="-122"/>
                <a:ea typeface="宋体" panose="02010600030101010101" pitchFamily="2" charset="-122"/>
              </a:rPr>
              <a:t>（</a:t>
            </a:r>
            <a:r>
              <a:rPr lang="en-US" altLang="zh-CN" dirty="0">
                <a:solidFill>
                  <a:srgbClr val="C00000"/>
                </a:solidFill>
                <a:latin typeface="Calibri" panose="020F0502020204030204" charset="0"/>
                <a:ea typeface="宋体" panose="02010600030101010101" pitchFamily="2" charset="-122"/>
              </a:rPr>
              <a:t>engage:</a:t>
            </a:r>
            <a:r>
              <a:rPr lang="zh-CN" altLang="en-US" sz="2400" dirty="0">
                <a:solidFill>
                  <a:srgbClr val="C00000"/>
                </a:solidFill>
                <a:latin typeface="Calibri" panose="020F0502020204030204" charset="0"/>
                <a:ea typeface="宋体" panose="02010600030101010101" pitchFamily="2" charset="-122"/>
              </a:rPr>
              <a:t>交战</a:t>
            </a:r>
            <a:r>
              <a:rPr lang="zh-CN" altLang="en-US" sz="2400" dirty="0">
                <a:solidFill>
                  <a:srgbClr val="C00000"/>
                </a:solidFill>
                <a:latin typeface="宋体" panose="02010600030101010101" pitchFamily="2" charset="-122"/>
                <a:ea typeface="宋体" panose="02010600030101010101" pitchFamily="2" charset="-122"/>
              </a:rPr>
              <a:t>）</a:t>
            </a:r>
            <a:endParaRPr lang="en-US" altLang="zh-CN" sz="2400" dirty="0">
              <a:solidFill>
                <a:srgbClr val="C00000"/>
              </a:solidFill>
              <a:latin typeface="Calibri" panose="020F0502020204030204" charset="0"/>
              <a:ea typeface="宋体" panose="02010600030101010101" pitchFamily="2" charset="-122"/>
            </a:endParaRPr>
          </a:p>
          <a:p>
            <a:pPr marL="266700" indent="-266700" algn="just">
              <a:spcBef>
                <a:spcPts val="600"/>
              </a:spcBef>
              <a:buNone/>
              <a:defRPr/>
            </a:pPr>
            <a:r>
              <a:rPr lang="en-US" altLang="zh-CN" dirty="0">
                <a:solidFill>
                  <a:prstClr val="black"/>
                </a:solidFill>
                <a:latin typeface="Calibri" panose="020F0502020204030204"/>
                <a:ea typeface="宋体" panose="02010600030101010101" pitchFamily="2" charset="-122"/>
              </a:rPr>
              <a:t>4. —Nobody is likely to miss him if he should disappear.</a:t>
            </a:r>
            <a:endParaRPr lang="en-US" altLang="zh-CN" dirty="0">
              <a:solidFill>
                <a:prstClr val="black"/>
              </a:solidFill>
              <a:latin typeface="Calibri" panose="020F0502020204030204"/>
              <a:ea typeface="宋体" panose="02010600030101010101" pitchFamily="2" charset="-122"/>
            </a:endParaRPr>
          </a:p>
          <a:p>
            <a:pPr marL="266700" indent="-266700" algn="just">
              <a:spcBef>
                <a:spcPts val="600"/>
              </a:spcBef>
              <a:buNone/>
              <a:defRPr/>
            </a:pPr>
            <a:r>
              <a:rPr lang="en-US" altLang="zh-CN" dirty="0">
                <a:solidFill>
                  <a:prstClr val="black"/>
                </a:solidFill>
                <a:latin typeface="Calibri" panose="020F0502020204030204"/>
                <a:ea typeface="宋体" panose="02010600030101010101" pitchFamily="2" charset="-122"/>
              </a:rPr>
              <a:t>    —Don’t be so </a:t>
            </a:r>
            <a:r>
              <a:rPr lang="en-US" altLang="zh-CN" spc="-100" dirty="0">
                <a:solidFill>
                  <a:schemeClr val="accent2">
                    <a:lumMod val="75000"/>
                  </a:schemeClr>
                </a:solidFill>
                <a:latin typeface="Calibri" panose="020F0502020204030204"/>
                <a:ea typeface="宋体" panose="02010600030101010101" pitchFamily="2" charset="-122"/>
              </a:rPr>
              <a:t>mean</a:t>
            </a:r>
            <a:r>
              <a:rPr lang="en-US" altLang="zh-CN" dirty="0">
                <a:solidFill>
                  <a:prstClr val="black"/>
                </a:solidFill>
                <a:latin typeface="Calibri" panose="020F0502020204030204"/>
                <a:ea typeface="宋体" panose="02010600030101010101" pitchFamily="2" charset="-122"/>
              </a:rPr>
              <a:t>. He strikes me as quite a generous and kind person.</a:t>
            </a:r>
            <a:endParaRPr lang="en-US" altLang="zh-CN" dirty="0">
              <a:solidFill>
                <a:prstClr val="black"/>
              </a:solidFill>
              <a:latin typeface="Calibri" panose="020F0502020204030204"/>
              <a:ea typeface="宋体" panose="02010600030101010101" pitchFamily="2" charset="-122"/>
            </a:endParaRPr>
          </a:p>
          <a:p>
            <a:pPr marL="266700" indent="-266700" algn="just">
              <a:spcBef>
                <a:spcPts val="600"/>
              </a:spcBef>
              <a:buNone/>
              <a:defRPr/>
            </a:pPr>
            <a:r>
              <a:rPr lang="zh-CN" altLang="en-US" sz="2400" dirty="0">
                <a:solidFill>
                  <a:srgbClr val="C00000"/>
                </a:solidFill>
                <a:latin typeface="Calibri" panose="020F0502020204030204" charset="0"/>
                <a:ea typeface="宋体" panose="02010600030101010101" pitchFamily="2" charset="-122"/>
              </a:rPr>
              <a:t>    </a:t>
            </a:r>
            <a:r>
              <a:rPr lang="en-US" altLang="zh-CN" sz="2400" dirty="0">
                <a:solidFill>
                  <a:srgbClr val="C00000"/>
                </a:solidFill>
                <a:latin typeface="宋体" panose="02010600030101010101" pitchFamily="2" charset="-122"/>
                <a:ea typeface="宋体" panose="02010600030101010101" pitchFamily="2" charset="-122"/>
                <a:cs typeface="宋体" panose="02010600030101010101" pitchFamily="2" charset="-122"/>
              </a:rPr>
              <a:t>——</a:t>
            </a:r>
            <a:r>
              <a:rPr lang="zh-CN" altLang="en-US" sz="2400" dirty="0">
                <a:solidFill>
                  <a:srgbClr val="C00000"/>
                </a:solidFill>
                <a:latin typeface="宋体" panose="02010600030101010101" pitchFamily="2" charset="-122"/>
                <a:ea typeface="宋体" panose="02010600030101010101" pitchFamily="2" charset="-122"/>
                <a:cs typeface="宋体" panose="02010600030101010101" pitchFamily="2" charset="-122"/>
              </a:rPr>
              <a:t>要是他失踪了，不会有人想他的。</a:t>
            </a:r>
            <a:endParaRPr lang="zh-CN" altLang="en-US" sz="2400" dirty="0">
              <a:solidFill>
                <a:srgbClr val="C00000"/>
              </a:solidFill>
              <a:latin typeface="宋体" panose="02010600030101010101" pitchFamily="2" charset="-122"/>
              <a:ea typeface="宋体" panose="02010600030101010101" pitchFamily="2" charset="-122"/>
              <a:cs typeface="宋体" panose="02010600030101010101" pitchFamily="2" charset="-122"/>
            </a:endParaRPr>
          </a:p>
          <a:p>
            <a:pPr marL="266700" indent="-266700" algn="just">
              <a:spcBef>
                <a:spcPts val="600"/>
              </a:spcBef>
              <a:buNone/>
              <a:defRPr/>
            </a:pPr>
            <a:r>
              <a:rPr lang="zh-CN" altLang="en-US" sz="2400" dirty="0">
                <a:solidFill>
                  <a:srgbClr val="C00000"/>
                </a:solidFill>
                <a:latin typeface="宋体" panose="02010600030101010101" pitchFamily="2" charset="-122"/>
                <a:ea typeface="宋体" panose="02010600030101010101" pitchFamily="2" charset="-122"/>
                <a:cs typeface="宋体" panose="02010600030101010101" pitchFamily="2" charset="-122"/>
              </a:rPr>
              <a:t>  </a:t>
            </a:r>
            <a:r>
              <a:rPr lang="en-US" altLang="zh-CN" sz="2400" dirty="0">
                <a:solidFill>
                  <a:srgbClr val="C00000"/>
                </a:solidFill>
                <a:latin typeface="宋体" panose="02010600030101010101" pitchFamily="2" charset="-122"/>
                <a:ea typeface="宋体" panose="02010600030101010101" pitchFamily="2" charset="-122"/>
                <a:cs typeface="宋体" panose="02010600030101010101" pitchFamily="2" charset="-122"/>
              </a:rPr>
              <a:t>——</a:t>
            </a:r>
            <a:r>
              <a:rPr lang="zh-CN" altLang="en-US" sz="2400" dirty="0">
                <a:solidFill>
                  <a:srgbClr val="C00000"/>
                </a:solidFill>
                <a:latin typeface="Calibri" panose="020F0502020204030204" charset="0"/>
                <a:ea typeface="宋体" panose="02010600030101010101" pitchFamily="2" charset="-122"/>
              </a:rPr>
              <a:t>别这么刻薄。我觉得他挺慷慨的，人也和善。（</a:t>
            </a:r>
            <a:r>
              <a:rPr lang="en-GB" altLang="zh-CN" sz="2400" dirty="0">
                <a:solidFill>
                  <a:srgbClr val="C00000"/>
                </a:solidFill>
                <a:latin typeface="Calibri" panose="020F0502020204030204" charset="0"/>
                <a:ea typeface="宋体" panose="02010600030101010101" pitchFamily="2" charset="-122"/>
              </a:rPr>
              <a:t> </a:t>
            </a:r>
            <a:r>
              <a:rPr lang="en-GB" altLang="zh-CN" dirty="0">
                <a:solidFill>
                  <a:srgbClr val="C00000"/>
                </a:solidFill>
                <a:latin typeface="Calibri" panose="020F0502020204030204" charset="0"/>
                <a:ea typeface="宋体" panose="02010600030101010101" pitchFamily="2" charset="-122"/>
              </a:rPr>
              <a:t>strike:</a:t>
            </a:r>
            <a:r>
              <a:rPr lang="zh-CN" altLang="en-US" sz="2400" dirty="0">
                <a:solidFill>
                  <a:srgbClr val="C00000"/>
                </a:solidFill>
                <a:latin typeface="Calibri" panose="020F0502020204030204" charset="0"/>
                <a:ea typeface="宋体" panose="02010600030101010101" pitchFamily="2" charset="-122"/>
              </a:rPr>
              <a:t>让人觉得）</a:t>
            </a:r>
            <a:endParaRPr lang="en-US" altLang="zh-CN" sz="2400" dirty="0">
              <a:solidFill>
                <a:srgbClr val="C00000"/>
              </a:solidFill>
              <a:latin typeface="Calibri" panose="020F0502020204030204" charset="0"/>
              <a:ea typeface="宋体" panose="02010600030101010101" pitchFamily="2" charset="-122"/>
            </a:endParaRPr>
          </a:p>
          <a:p>
            <a:pPr marL="266700" indent="-266700" algn="just">
              <a:spcBef>
                <a:spcPts val="600"/>
              </a:spcBef>
              <a:buNone/>
              <a:defRPr/>
            </a:pPr>
            <a:r>
              <a:rPr lang="en-US" altLang="zh-CN" spc="-100" dirty="0">
                <a:solidFill>
                  <a:prstClr val="black"/>
                </a:solidFill>
                <a:latin typeface="Calibri" panose="020F0502020204030204"/>
                <a:ea typeface="宋体" panose="02010600030101010101" pitchFamily="2" charset="-122"/>
              </a:rPr>
              <a:t>5. She is one of those who usually say what they </a:t>
            </a:r>
            <a:r>
              <a:rPr lang="en-US" altLang="zh-CN" spc="-100" dirty="0">
                <a:solidFill>
                  <a:schemeClr val="accent2">
                    <a:lumMod val="75000"/>
                  </a:schemeClr>
                </a:solidFill>
                <a:latin typeface="Calibri" panose="020F0502020204030204"/>
                <a:ea typeface="宋体" panose="02010600030101010101" pitchFamily="2" charset="-122"/>
              </a:rPr>
              <a:t>mean</a:t>
            </a:r>
            <a:r>
              <a:rPr lang="en-US" altLang="zh-CN" spc="-100" dirty="0">
                <a:solidFill>
                  <a:prstClr val="black"/>
                </a:solidFill>
                <a:latin typeface="Calibri" panose="020F0502020204030204"/>
                <a:ea typeface="宋体" panose="02010600030101010101" pitchFamily="2" charset="-122"/>
              </a:rPr>
              <a:t> and </a:t>
            </a:r>
            <a:r>
              <a:rPr lang="en-US" altLang="zh-CN" spc="-100" dirty="0">
                <a:solidFill>
                  <a:schemeClr val="accent2">
                    <a:lumMod val="75000"/>
                  </a:schemeClr>
                </a:solidFill>
                <a:latin typeface="Calibri" panose="020F0502020204030204"/>
                <a:ea typeface="宋体" panose="02010600030101010101" pitchFamily="2" charset="-122"/>
              </a:rPr>
              <a:t>mean</a:t>
            </a:r>
            <a:r>
              <a:rPr lang="en-US" altLang="zh-CN" spc="-100" dirty="0">
                <a:solidFill>
                  <a:prstClr val="black"/>
                </a:solidFill>
                <a:latin typeface="Calibri" panose="020F0502020204030204"/>
                <a:ea typeface="宋体" panose="02010600030101010101" pitchFamily="2" charset="-122"/>
              </a:rPr>
              <a:t> what they say.</a:t>
            </a:r>
            <a:endParaRPr lang="en-US" altLang="zh-CN" spc="-100" dirty="0">
              <a:solidFill>
                <a:prstClr val="black"/>
              </a:solidFill>
              <a:latin typeface="Calibri" panose="020F0502020204030204"/>
              <a:ea typeface="宋体" panose="02010600030101010101" pitchFamily="2" charset="-122"/>
            </a:endParaRPr>
          </a:p>
          <a:p>
            <a:pPr marL="266700" indent="-266700" algn="just">
              <a:spcBef>
                <a:spcPts val="600"/>
              </a:spcBef>
              <a:buNone/>
              <a:defRPr/>
            </a:pPr>
            <a:r>
              <a:rPr lang="zh-CN" altLang="en-US" sz="2400" dirty="0">
                <a:solidFill>
                  <a:srgbClr val="C00000"/>
                </a:solidFill>
                <a:latin typeface="Calibri" panose="020F0502020204030204" charset="0"/>
                <a:ea typeface="宋体" panose="02010600030101010101" pitchFamily="2" charset="-122"/>
              </a:rPr>
              <a:t>    她是那种心里怎么想就怎么说的人，说的话都算数。</a:t>
            </a:r>
            <a:endParaRPr lang="en-US" altLang="zh-CN" sz="2400" dirty="0">
              <a:solidFill>
                <a:srgbClr val="C00000"/>
              </a:solidFill>
              <a:latin typeface="Calibri" panose="020F0502020204030204" charset="0"/>
              <a:ea typeface="宋体" panose="02010600030101010101" pitchFamily="2" charset="-122"/>
            </a:endParaRPr>
          </a:p>
        </p:txBody>
      </p:sp>
      <p:sp>
        <p:nvSpPr>
          <p:cNvPr id="7" name="文本框 4"/>
          <p:cNvSpPr txBox="1">
            <a:spLocks noChangeArrowheads="1"/>
          </p:cNvSpPr>
          <p:nvPr/>
        </p:nvSpPr>
        <p:spPr bwMode="auto">
          <a:xfrm>
            <a:off x="184150" y="160338"/>
            <a:ext cx="7029450"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r>
              <a:rPr lang="en-US" altLang="zh-CN" sz="2400" dirty="0">
                <a:solidFill>
                  <a:schemeClr val="bg1"/>
                </a:solidFill>
                <a:latin typeface="Arial Black" panose="020B0A04020102020204" pitchFamily="34" charset="0"/>
              </a:rPr>
              <a:t>Exercises · Language Exercises</a:t>
            </a:r>
            <a:endParaRPr lang="en-US" altLang="zh-CN" sz="2400" dirty="0">
              <a:solidFill>
                <a:schemeClr val="bg1"/>
              </a:solidFill>
              <a:latin typeface="Arial Black" panose="020B0A04020102020204" pitchFamily="34" charset="0"/>
            </a:endParaRPr>
          </a:p>
        </p:txBody>
      </p:sp>
      <p:pic>
        <p:nvPicPr>
          <p:cNvPr id="8" name="图片 7">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17946" y="174625"/>
            <a:ext cx="524510" cy="427355"/>
          </a:xfrm>
          <a:prstGeom prst="rect">
            <a:avLst/>
          </a:prstGeom>
        </p:spPr>
      </p:pic>
      <p:pic>
        <p:nvPicPr>
          <p:cNvPr id="9" name="图片 8">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dissolve">
                                      <p:cBhvr>
                                        <p:cTn id="7" dur="500"/>
                                        <p:tgtEl>
                                          <p:spTgt spid="1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1">
                                            <p:txEl>
                                              <p:pRg st="5" end="5"/>
                                            </p:txEl>
                                          </p:spTgt>
                                        </p:tgtEl>
                                        <p:attrNameLst>
                                          <p:attrName>style.visibility</p:attrName>
                                        </p:attrNameLst>
                                      </p:cBhvr>
                                      <p:to>
                                        <p:strVal val="visible"/>
                                      </p:to>
                                    </p:set>
                                    <p:animEffect transition="in" filter="dissolve">
                                      <p:cBhvr>
                                        <p:cTn id="12" dur="500"/>
                                        <p:tgtEl>
                                          <p:spTgt spid="11">
                                            <p:txEl>
                                              <p:pRg st="5" end="5"/>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11">
                                            <p:txEl>
                                              <p:pRg st="6" end="6"/>
                                            </p:txEl>
                                          </p:spTgt>
                                        </p:tgtEl>
                                        <p:attrNameLst>
                                          <p:attrName>style.visibility</p:attrName>
                                        </p:attrNameLst>
                                      </p:cBhvr>
                                      <p:to>
                                        <p:strVal val="visible"/>
                                      </p:to>
                                    </p:set>
                                    <p:animEffect transition="in" filter="dissolve">
                                      <p:cBhvr>
                                        <p:cTn id="15" dur="500"/>
                                        <p:tgtEl>
                                          <p:spTgt spid="11">
                                            <p:txEl>
                                              <p:pRg st="6" end="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1">
                                            <p:txEl>
                                              <p:pRg st="8" end="8"/>
                                            </p:txEl>
                                          </p:spTgt>
                                        </p:tgtEl>
                                        <p:attrNameLst>
                                          <p:attrName>style.visibility</p:attrName>
                                        </p:attrNameLst>
                                      </p:cBhvr>
                                      <p:to>
                                        <p:strVal val="visible"/>
                                      </p:to>
                                    </p:set>
                                    <p:animEffect transition="in" filter="dissolve">
                                      <p:cBhvr>
                                        <p:cTn id="20" dur="500"/>
                                        <p:tgtEl>
                                          <p:spTgt spid="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1"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algn="just">
              <a:buNone/>
              <a:defRPr/>
            </a:pPr>
            <a:r>
              <a:rPr lang="en-US" altLang="zh-CN" b="1" spc="-100" dirty="0">
                <a:latin typeface="Calibri" panose="020F0502020204030204"/>
                <a:ea typeface="宋体" panose="02010600030101010101" pitchFamily="2" charset="-122"/>
              </a:rPr>
              <a:t>2. </a:t>
            </a:r>
            <a:r>
              <a:rPr lang="en-US" altLang="zh-CN" b="1" dirty="0">
                <a:latin typeface="Calibri" panose="020F0502020204030204"/>
                <a:ea typeface="宋体" panose="02010600030101010101" pitchFamily="2" charset="-122"/>
              </a:rPr>
              <a:t>Translate the following sentences, paying attention to the words in bold type which may have different meanings in different contexts.</a:t>
            </a:r>
            <a:endParaRPr lang="en-US" altLang="zh-CN" b="1" dirty="0">
              <a:latin typeface="Calibri" panose="020F0502020204030204"/>
              <a:ea typeface="宋体" panose="02010600030101010101" pitchFamily="2" charset="-122"/>
            </a:endParaRPr>
          </a:p>
          <a:p>
            <a:pPr marL="266700" indent="-266700" algn="just">
              <a:spcBef>
                <a:spcPts val="400"/>
              </a:spcBef>
              <a:buNone/>
              <a:defRPr/>
            </a:pPr>
            <a:r>
              <a:rPr lang="en-US" altLang="zh-CN" dirty="0">
                <a:solidFill>
                  <a:prstClr val="black"/>
                </a:solidFill>
                <a:latin typeface="Calibri" panose="020F0502020204030204"/>
                <a:ea typeface="宋体" panose="02010600030101010101" pitchFamily="2" charset="-122"/>
              </a:rPr>
              <a:t>6. He is now recovering slowly from the bad fall. He walks around three times a day, although he uses a </a:t>
            </a:r>
            <a:r>
              <a:rPr lang="en-US" altLang="zh-CN" spc="-100" dirty="0">
                <a:solidFill>
                  <a:schemeClr val="accent2">
                    <a:lumMod val="75000"/>
                  </a:schemeClr>
                </a:solidFill>
                <a:latin typeface="Calibri" panose="020F0502020204030204"/>
                <a:ea typeface="宋体" panose="02010600030101010101" pitchFamily="2" charset="-122"/>
              </a:rPr>
              <a:t>stick</a:t>
            </a:r>
            <a:r>
              <a:rPr lang="en-US" altLang="zh-CN" dirty="0">
                <a:solidFill>
                  <a:prstClr val="black"/>
                </a:solidFill>
                <a:latin typeface="Calibri" panose="020F0502020204030204"/>
                <a:ea typeface="宋体" panose="02010600030101010101" pitchFamily="2" charset="-122"/>
              </a:rPr>
              <a:t>.</a:t>
            </a:r>
            <a:endParaRPr lang="en-US" altLang="zh-CN" dirty="0">
              <a:solidFill>
                <a:prstClr val="black"/>
              </a:solidFill>
              <a:latin typeface="Calibri" panose="020F0502020204030204"/>
              <a:ea typeface="宋体" panose="02010600030101010101" pitchFamily="2" charset="-122"/>
            </a:endParaRPr>
          </a:p>
          <a:p>
            <a:pPr marL="266700" indent="-266700" algn="just">
              <a:spcBef>
                <a:spcPts val="400"/>
              </a:spcBef>
              <a:buNone/>
              <a:defRPr/>
            </a:pPr>
            <a:r>
              <a:rPr lang="en-US" altLang="zh-CN" dirty="0">
                <a:solidFill>
                  <a:prstClr val="black"/>
                </a:solidFill>
                <a:latin typeface="Calibri" panose="020F0502020204030204"/>
                <a:ea typeface="宋体" panose="02010600030101010101" pitchFamily="2" charset="-122"/>
              </a:rPr>
              <a:t>   </a:t>
            </a:r>
            <a:r>
              <a:rPr lang="zh-CN" altLang="en-US" sz="2400" dirty="0">
                <a:solidFill>
                  <a:srgbClr val="C00000"/>
                </a:solidFill>
                <a:latin typeface="Calibri" panose="020F0502020204030204" charset="0"/>
                <a:ea typeface="宋体" panose="02010600030101010101" pitchFamily="2" charset="-122"/>
              </a:rPr>
              <a:t>他摔了一跤后，正在慢慢恢复。他每天散步三次，但是得用拐杖。</a:t>
            </a:r>
            <a:endParaRPr lang="en-US" altLang="zh-CN" sz="2400" dirty="0">
              <a:solidFill>
                <a:srgbClr val="C00000"/>
              </a:solidFill>
              <a:latin typeface="Calibri" panose="020F0502020204030204" charset="0"/>
              <a:ea typeface="宋体" panose="02010600030101010101" pitchFamily="2" charset="-122"/>
            </a:endParaRPr>
          </a:p>
          <a:p>
            <a:pPr marL="266700" indent="-266700" algn="just">
              <a:spcBef>
                <a:spcPts val="400"/>
              </a:spcBef>
              <a:buNone/>
              <a:defRPr/>
            </a:pPr>
            <a:r>
              <a:rPr lang="en-US" altLang="zh-CN" dirty="0">
                <a:solidFill>
                  <a:prstClr val="black"/>
                </a:solidFill>
                <a:latin typeface="Calibri" panose="020F0502020204030204"/>
                <a:ea typeface="宋体" panose="02010600030101010101" pitchFamily="2" charset="-122"/>
              </a:rPr>
              <a:t>7. I  find that many restaurants have already decided to </a:t>
            </a:r>
            <a:r>
              <a:rPr lang="en-US" altLang="zh-CN" dirty="0">
                <a:solidFill>
                  <a:schemeClr val="accent2">
                    <a:lumMod val="75000"/>
                  </a:schemeClr>
                </a:solidFill>
                <a:latin typeface="Calibri" panose="020F0502020204030204"/>
                <a:ea typeface="宋体" panose="02010600030101010101" pitchFamily="2" charset="-122"/>
              </a:rPr>
              <a:t>stick</a:t>
            </a:r>
            <a:r>
              <a:rPr lang="en-US" altLang="zh-CN" dirty="0">
                <a:solidFill>
                  <a:prstClr val="black"/>
                </a:solidFill>
                <a:latin typeface="Calibri" panose="020F0502020204030204"/>
                <a:ea typeface="宋体" panose="02010600030101010101" pitchFamily="2" charset="-122"/>
              </a:rPr>
              <a:t> up notices on the wall asking customers to use serving chop</a:t>
            </a:r>
            <a:r>
              <a:rPr lang="en-US" altLang="zh-CN" dirty="0">
                <a:solidFill>
                  <a:schemeClr val="accent2">
                    <a:lumMod val="75000"/>
                  </a:schemeClr>
                </a:solidFill>
                <a:latin typeface="Calibri" panose="020F0502020204030204"/>
                <a:ea typeface="宋体" panose="02010600030101010101" pitchFamily="2" charset="-122"/>
              </a:rPr>
              <a:t>sticks</a:t>
            </a:r>
            <a:r>
              <a:rPr lang="en-US" altLang="zh-CN" dirty="0">
                <a:solidFill>
                  <a:prstClr val="black"/>
                </a:solidFill>
                <a:latin typeface="Calibri" panose="020F0502020204030204"/>
                <a:ea typeface="宋体" panose="02010600030101010101" pitchFamily="2" charset="-122"/>
              </a:rPr>
              <a:t>, but some people still tend to </a:t>
            </a:r>
            <a:r>
              <a:rPr lang="en-US" altLang="zh-CN" dirty="0">
                <a:solidFill>
                  <a:schemeClr val="accent2">
                    <a:lumMod val="75000"/>
                  </a:schemeClr>
                </a:solidFill>
                <a:latin typeface="Calibri" panose="020F0502020204030204"/>
                <a:ea typeface="宋体" panose="02010600030101010101" pitchFamily="2" charset="-122"/>
              </a:rPr>
              <a:t>stick</a:t>
            </a:r>
            <a:r>
              <a:rPr lang="en-US" altLang="zh-CN" dirty="0">
                <a:solidFill>
                  <a:prstClr val="black"/>
                </a:solidFill>
                <a:latin typeface="Calibri" panose="020F0502020204030204"/>
                <a:ea typeface="宋体" panose="02010600030101010101" pitchFamily="2" charset="-122"/>
              </a:rPr>
              <a:t> to their old habits.</a:t>
            </a:r>
            <a:endParaRPr lang="en-US" altLang="zh-CN" dirty="0">
              <a:solidFill>
                <a:prstClr val="black"/>
              </a:solidFill>
              <a:latin typeface="Calibri" panose="020F0502020204030204"/>
              <a:ea typeface="宋体" panose="02010600030101010101" pitchFamily="2" charset="-122"/>
            </a:endParaRPr>
          </a:p>
          <a:p>
            <a:pPr marL="266700" indent="-266700" algn="just">
              <a:spcBef>
                <a:spcPts val="400"/>
              </a:spcBef>
              <a:buNone/>
              <a:defRPr/>
            </a:pPr>
            <a:r>
              <a:rPr lang="en-US" altLang="zh-CN" dirty="0">
                <a:solidFill>
                  <a:prstClr val="black"/>
                </a:solidFill>
                <a:latin typeface="Calibri" panose="020F0502020204030204"/>
                <a:ea typeface="宋体" panose="02010600030101010101" pitchFamily="2" charset="-122"/>
              </a:rPr>
              <a:t>   </a:t>
            </a:r>
            <a:r>
              <a:rPr lang="zh-CN" altLang="en-US" sz="2400" dirty="0">
                <a:solidFill>
                  <a:srgbClr val="C00000"/>
                </a:solidFill>
                <a:latin typeface="Calibri" panose="020F0502020204030204" charset="0"/>
                <a:ea typeface="宋体" panose="02010600030101010101" pitchFamily="2" charset="-122"/>
              </a:rPr>
              <a:t>我发现很多餐厅已经在墙上张贴了通知，要求顾客使用公筷，但还有人坚持老习惯（不用公筷）。</a:t>
            </a:r>
            <a:endParaRPr lang="en-US" altLang="zh-CN" sz="2400" dirty="0">
              <a:solidFill>
                <a:srgbClr val="C00000"/>
              </a:solidFill>
              <a:latin typeface="Calibri" panose="020F0502020204030204" charset="0"/>
              <a:ea typeface="宋体" panose="02010600030101010101" pitchFamily="2" charset="-122"/>
            </a:endParaRPr>
          </a:p>
          <a:p>
            <a:pPr marL="266700" indent="-266700" algn="just">
              <a:spcBef>
                <a:spcPts val="400"/>
              </a:spcBef>
              <a:buNone/>
              <a:defRPr/>
            </a:pPr>
            <a:r>
              <a:rPr lang="en-US" altLang="zh-CN" dirty="0">
                <a:solidFill>
                  <a:prstClr val="black"/>
                </a:solidFill>
                <a:latin typeface="Calibri" panose="020F0502020204030204"/>
                <a:ea typeface="宋体" panose="02010600030101010101" pitchFamily="2" charset="-122"/>
              </a:rPr>
              <a:t>8. </a:t>
            </a:r>
            <a:r>
              <a:rPr lang="en-US" altLang="zh-CN" dirty="0">
                <a:solidFill>
                  <a:schemeClr val="accent2">
                    <a:lumMod val="75000"/>
                  </a:schemeClr>
                </a:solidFill>
                <a:latin typeface="Calibri" panose="020F0502020204030204"/>
                <a:ea typeface="宋体" panose="02010600030101010101" pitchFamily="2" charset="-122"/>
              </a:rPr>
              <a:t>Granted</a:t>
            </a:r>
            <a:r>
              <a:rPr lang="en-US" altLang="zh-CN" dirty="0">
                <a:solidFill>
                  <a:prstClr val="black"/>
                </a:solidFill>
                <a:latin typeface="Calibri" panose="020F0502020204030204"/>
                <a:ea typeface="宋体" panose="02010600030101010101" pitchFamily="2" charset="-122"/>
              </a:rPr>
              <a:t> that government </a:t>
            </a:r>
            <a:r>
              <a:rPr lang="en-US" altLang="zh-CN" dirty="0">
                <a:solidFill>
                  <a:schemeClr val="accent2">
                    <a:lumMod val="75000"/>
                  </a:schemeClr>
                </a:solidFill>
                <a:latin typeface="Calibri" panose="020F0502020204030204"/>
                <a:ea typeface="宋体" panose="02010600030101010101" pitchFamily="2" charset="-122"/>
              </a:rPr>
              <a:t>grants</a:t>
            </a:r>
            <a:r>
              <a:rPr lang="en-US" altLang="zh-CN" dirty="0">
                <a:solidFill>
                  <a:prstClr val="black"/>
                </a:solidFill>
                <a:latin typeface="Calibri" panose="020F0502020204030204"/>
                <a:ea typeface="宋体" panose="02010600030101010101" pitchFamily="2" charset="-122"/>
              </a:rPr>
              <a:t> can help scientific development, those </a:t>
            </a:r>
            <a:r>
              <a:rPr lang="en-US" altLang="zh-CN" dirty="0">
                <a:solidFill>
                  <a:schemeClr val="accent2">
                    <a:lumMod val="75000"/>
                  </a:schemeClr>
                </a:solidFill>
                <a:latin typeface="Calibri" panose="020F0502020204030204"/>
                <a:ea typeface="宋体" panose="02010600030101010101" pitchFamily="2" charset="-122"/>
              </a:rPr>
              <a:t>grants</a:t>
            </a:r>
            <a:r>
              <a:rPr lang="en-US" altLang="zh-CN" dirty="0">
                <a:solidFill>
                  <a:prstClr val="black"/>
                </a:solidFill>
                <a:latin typeface="Calibri" panose="020F0502020204030204"/>
                <a:ea typeface="宋体" panose="02010600030101010101" pitchFamily="2" charset="-122"/>
              </a:rPr>
              <a:t> alone are not enough.</a:t>
            </a:r>
            <a:endParaRPr lang="en-US" altLang="zh-CN" dirty="0">
              <a:solidFill>
                <a:prstClr val="black"/>
              </a:solidFill>
              <a:latin typeface="Calibri" panose="020F0502020204030204"/>
              <a:ea typeface="宋体" panose="02010600030101010101" pitchFamily="2" charset="-122"/>
            </a:endParaRPr>
          </a:p>
          <a:p>
            <a:pPr marL="266700" indent="-266700" algn="just">
              <a:spcBef>
                <a:spcPts val="400"/>
              </a:spcBef>
              <a:buNone/>
              <a:defRPr/>
            </a:pPr>
            <a:r>
              <a:rPr lang="en-US" altLang="zh-CN" dirty="0">
                <a:solidFill>
                  <a:prstClr val="black"/>
                </a:solidFill>
                <a:latin typeface="Calibri" panose="020F0502020204030204"/>
                <a:ea typeface="宋体" panose="02010600030101010101" pitchFamily="2" charset="-122"/>
              </a:rPr>
              <a:t>    </a:t>
            </a:r>
            <a:r>
              <a:rPr lang="zh-CN" altLang="en-US" sz="2400" u="sng" dirty="0">
                <a:solidFill>
                  <a:srgbClr val="C00000"/>
                </a:solidFill>
                <a:latin typeface="Calibri" panose="020F0502020204030204" charset="0"/>
                <a:ea typeface="宋体" panose="02010600030101010101" pitchFamily="2" charset="-122"/>
              </a:rPr>
              <a:t>就算</a:t>
            </a:r>
            <a:r>
              <a:rPr lang="zh-CN" altLang="en-US" sz="2400" dirty="0">
                <a:solidFill>
                  <a:srgbClr val="C00000"/>
                </a:solidFill>
                <a:latin typeface="Calibri" panose="020F0502020204030204" charset="0"/>
                <a:ea typeface="宋体" panose="02010600030101010101" pitchFamily="2" charset="-122"/>
              </a:rPr>
              <a:t>政府</a:t>
            </a:r>
            <a:r>
              <a:rPr lang="zh-CN" altLang="en-US" sz="2400" u="sng" dirty="0">
                <a:solidFill>
                  <a:srgbClr val="C00000"/>
                </a:solidFill>
                <a:latin typeface="Calibri" panose="020F0502020204030204" charset="0"/>
                <a:ea typeface="宋体" panose="02010600030101010101" pitchFamily="2" charset="-122"/>
              </a:rPr>
              <a:t>专款</a:t>
            </a:r>
            <a:r>
              <a:rPr lang="zh-CN" altLang="en-US" sz="2400" dirty="0">
                <a:solidFill>
                  <a:srgbClr val="C00000"/>
                </a:solidFill>
                <a:latin typeface="Calibri" panose="020F0502020204030204" charset="0"/>
                <a:ea typeface="宋体" panose="02010600030101010101" pitchFamily="2" charset="-122"/>
              </a:rPr>
              <a:t>能为科学发展提供帮助，仅有这些专款也是不够的。</a:t>
            </a:r>
            <a:endParaRPr lang="en-US" altLang="zh-CN" sz="2400" dirty="0">
              <a:solidFill>
                <a:srgbClr val="C00000"/>
              </a:solidFill>
              <a:latin typeface="Calibri" panose="020F0502020204030204" charset="0"/>
              <a:ea typeface="宋体" panose="02010600030101010101" pitchFamily="2" charset="-122"/>
            </a:endParaRPr>
          </a:p>
        </p:txBody>
      </p:sp>
      <p:sp>
        <p:nvSpPr>
          <p:cNvPr id="7" name="文本框 4"/>
          <p:cNvSpPr txBox="1">
            <a:spLocks noChangeArrowheads="1"/>
          </p:cNvSpPr>
          <p:nvPr/>
        </p:nvSpPr>
        <p:spPr bwMode="auto">
          <a:xfrm>
            <a:off x="184150" y="160338"/>
            <a:ext cx="7029450"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r>
              <a:rPr lang="en-US" altLang="zh-CN" sz="2400" dirty="0">
                <a:solidFill>
                  <a:schemeClr val="bg1"/>
                </a:solidFill>
                <a:latin typeface="Arial Black" panose="020B0A04020102020204" pitchFamily="34" charset="0"/>
              </a:rPr>
              <a:t>Exercises · Language Exercises</a:t>
            </a:r>
            <a:endParaRPr lang="en-US" altLang="zh-CN" sz="2400" dirty="0">
              <a:solidFill>
                <a:schemeClr val="bg1"/>
              </a:solidFill>
              <a:latin typeface="Arial Black" panose="020B0A04020102020204" pitchFamily="34" charset="0"/>
            </a:endParaRPr>
          </a:p>
        </p:txBody>
      </p:sp>
      <p:pic>
        <p:nvPicPr>
          <p:cNvPr id="8" name="图片 7">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17946" y="174625"/>
            <a:ext cx="524510" cy="427355"/>
          </a:xfrm>
          <a:prstGeom prst="rect">
            <a:avLst/>
          </a:prstGeom>
        </p:spPr>
      </p:pic>
      <p:pic>
        <p:nvPicPr>
          <p:cNvPr id="9" name="图片 8">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dissolve">
                                      <p:cBhvr>
                                        <p:cTn id="7" dur="500"/>
                                        <p:tgtEl>
                                          <p:spTgt spid="1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1">
                                            <p:txEl>
                                              <p:pRg st="4" end="4"/>
                                            </p:txEl>
                                          </p:spTgt>
                                        </p:tgtEl>
                                        <p:attrNameLst>
                                          <p:attrName>style.visibility</p:attrName>
                                        </p:attrNameLst>
                                      </p:cBhvr>
                                      <p:to>
                                        <p:strVal val="visible"/>
                                      </p:to>
                                    </p:set>
                                    <p:animEffect transition="in" filter="dissolve">
                                      <p:cBhvr>
                                        <p:cTn id="12" dur="500"/>
                                        <p:tgtEl>
                                          <p:spTgt spid="11">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
                                            <p:txEl>
                                              <p:pRg st="6" end="6"/>
                                            </p:txEl>
                                          </p:spTgt>
                                        </p:tgtEl>
                                        <p:attrNameLst>
                                          <p:attrName>style.visibility</p:attrName>
                                        </p:attrNameLst>
                                      </p:cBhvr>
                                      <p:to>
                                        <p:strVal val="visible"/>
                                      </p:to>
                                    </p:set>
                                    <p:animEffect transition="in" filter="dissolve">
                                      <p:cBhvr>
                                        <p:cTn id="17"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1"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algn="just">
              <a:buNone/>
              <a:defRPr/>
            </a:pPr>
            <a:r>
              <a:rPr lang="en-US" altLang="zh-CN" b="1" spc="-100" dirty="0">
                <a:latin typeface="Calibri" panose="020F0502020204030204"/>
                <a:ea typeface="宋体" panose="02010600030101010101" pitchFamily="2" charset="-122"/>
              </a:rPr>
              <a:t>3. Fill in the blanks with the correct prepositions or adverbs that collocate with the verb “set.” </a:t>
            </a:r>
            <a:endParaRPr lang="en-US" altLang="zh-CN" b="1" spc="-100" dirty="0">
              <a:latin typeface="Calibri" panose="020F0502020204030204"/>
              <a:ea typeface="宋体" panose="02010600030101010101" pitchFamily="2" charset="-122"/>
            </a:endParaRPr>
          </a:p>
          <a:p>
            <a:pPr marL="266700" indent="-266700" algn="just">
              <a:buNone/>
              <a:defRPr/>
            </a:pPr>
            <a:r>
              <a:rPr lang="en-US" altLang="zh-CN" dirty="0">
                <a:solidFill>
                  <a:prstClr val="black"/>
                </a:solidFill>
                <a:latin typeface="Calibri" panose="020F0502020204030204"/>
                <a:ea typeface="宋体" panose="02010600030101010101" pitchFamily="2" charset="-122"/>
              </a:rPr>
              <a:t>1. What set this policy </a:t>
            </a:r>
            <a:r>
              <a:rPr lang="en-US" altLang="zh-CN" spc="-150" dirty="0">
                <a:solidFill>
                  <a:prstClr val="black"/>
                </a:solidFill>
                <a:uFillTx/>
                <a:latin typeface="Calibri" panose="020F0502020204030204"/>
                <a:ea typeface="宋体" panose="02010600030101010101" pitchFamily="2" charset="-122"/>
              </a:rPr>
              <a:t>_____</a:t>
            </a:r>
            <a:r>
              <a:rPr lang="en-US" altLang="zh-CN" dirty="0">
                <a:solidFill>
                  <a:prstClr val="black"/>
                </a:solidFill>
                <a:latin typeface="Calibri" panose="020F0502020204030204"/>
                <a:ea typeface="宋体" panose="02010600030101010101" pitchFamily="2" charset="-122"/>
              </a:rPr>
              <a:t> from(</a:t>
            </a:r>
            <a:r>
              <a:rPr lang="zh-CN" altLang="en-US" dirty="0">
                <a:solidFill>
                  <a:prstClr val="black"/>
                </a:solidFill>
                <a:latin typeface="Calibri" panose="020F0502020204030204"/>
                <a:ea typeface="宋体" panose="02010600030101010101" pitchFamily="2" charset="-122"/>
              </a:rPr>
              <a:t>使与众不同</a:t>
            </a:r>
            <a:r>
              <a:rPr lang="en-US" altLang="zh-CN" dirty="0">
                <a:solidFill>
                  <a:prstClr val="black"/>
                </a:solidFill>
                <a:latin typeface="Calibri" panose="020F0502020204030204"/>
                <a:ea typeface="宋体" panose="02010600030101010101" pitchFamily="2" charset="-122"/>
              </a:rPr>
              <a:t>) the others was that it put a lot more emphasis on home consumption.</a:t>
            </a:r>
            <a:endParaRPr lang="en-US" altLang="zh-CN" dirty="0">
              <a:solidFill>
                <a:prstClr val="black"/>
              </a:solidFill>
              <a:latin typeface="Calibri" panose="020F0502020204030204"/>
              <a:ea typeface="宋体" panose="02010600030101010101" pitchFamily="2" charset="-122"/>
            </a:endParaRPr>
          </a:p>
          <a:p>
            <a:pPr marL="266700" indent="-266700" algn="just">
              <a:buNone/>
              <a:defRPr/>
            </a:pPr>
            <a:r>
              <a:rPr lang="en-US" altLang="zh-CN" dirty="0">
                <a:solidFill>
                  <a:prstClr val="black"/>
                </a:solidFill>
                <a:latin typeface="Calibri" panose="020F0502020204030204"/>
                <a:ea typeface="宋体" panose="02010600030101010101" pitchFamily="2" charset="-122"/>
              </a:rPr>
              <a:t>2. The court’s decision set ____ (</a:t>
            </a:r>
            <a:r>
              <a:rPr lang="zh-CN" altLang="en-US" dirty="0">
                <a:solidFill>
                  <a:prstClr val="black"/>
                </a:solidFill>
                <a:latin typeface="Calibri" panose="020F0502020204030204"/>
                <a:ea typeface="宋体" panose="02010600030101010101" pitchFamily="2" charset="-122"/>
              </a:rPr>
              <a:t>激起</a:t>
            </a:r>
            <a:r>
              <a:rPr lang="en-US" altLang="zh-CN" dirty="0">
                <a:solidFill>
                  <a:prstClr val="black"/>
                </a:solidFill>
                <a:latin typeface="Calibri" panose="020F0502020204030204"/>
                <a:ea typeface="宋体" panose="02010600030101010101" pitchFamily="2" charset="-122"/>
              </a:rPr>
              <a:t>) public protests and threatened law and order in some places.</a:t>
            </a:r>
            <a:endParaRPr lang="en-US" altLang="zh-CN" dirty="0">
              <a:solidFill>
                <a:prstClr val="black"/>
              </a:solidFill>
              <a:latin typeface="Calibri" panose="020F0502020204030204"/>
              <a:ea typeface="宋体" panose="02010600030101010101" pitchFamily="2" charset="-122"/>
            </a:endParaRPr>
          </a:p>
          <a:p>
            <a:pPr marL="266700" indent="-266700" algn="just">
              <a:buNone/>
              <a:defRPr/>
            </a:pPr>
            <a:r>
              <a:rPr lang="en-US" altLang="zh-CN" dirty="0">
                <a:solidFill>
                  <a:prstClr val="black"/>
                </a:solidFill>
                <a:latin typeface="Calibri" panose="020F0502020204030204"/>
                <a:ea typeface="宋体" panose="02010600030101010101" pitchFamily="2" charset="-122"/>
              </a:rPr>
              <a:t>3. Let’s set _____(</a:t>
            </a:r>
            <a:r>
              <a:rPr lang="zh-CN" altLang="en-US" sz="2400" dirty="0">
                <a:solidFill>
                  <a:prstClr val="black"/>
                </a:solidFill>
                <a:latin typeface="Calibri" panose="020F0502020204030204"/>
                <a:ea typeface="宋体" panose="02010600030101010101" pitchFamily="2" charset="-122"/>
              </a:rPr>
              <a:t>搁置；暂时不考虑</a:t>
            </a:r>
            <a:r>
              <a:rPr lang="en-US" altLang="zh-CN" dirty="0">
                <a:solidFill>
                  <a:prstClr val="black"/>
                </a:solidFill>
                <a:latin typeface="Calibri" panose="020F0502020204030204"/>
                <a:ea typeface="宋体" panose="02010600030101010101" pitchFamily="2" charset="-122"/>
              </a:rPr>
              <a:t>) the question of cost for a moment. Do you think it wise to build more nuclear power stations?</a:t>
            </a:r>
            <a:endParaRPr lang="en-US" altLang="zh-CN" dirty="0">
              <a:solidFill>
                <a:prstClr val="black"/>
              </a:solidFill>
              <a:latin typeface="Calibri" panose="020F0502020204030204"/>
              <a:ea typeface="宋体" panose="02010600030101010101" pitchFamily="2" charset="-122"/>
            </a:endParaRPr>
          </a:p>
          <a:p>
            <a:pPr marL="266700" indent="-266700" algn="just">
              <a:buNone/>
              <a:defRPr/>
            </a:pPr>
            <a:r>
              <a:rPr lang="en-US" altLang="zh-CN" dirty="0">
                <a:solidFill>
                  <a:prstClr val="black"/>
                </a:solidFill>
                <a:latin typeface="Calibri" panose="020F0502020204030204"/>
                <a:ea typeface="宋体" panose="02010600030101010101" pitchFamily="2" charset="-122"/>
              </a:rPr>
              <a:t>4. Human history has always had twists and turns. Globalization may be set _____ (</a:t>
            </a:r>
            <a:r>
              <a:rPr lang="zh-CN" altLang="en-US" dirty="0">
                <a:solidFill>
                  <a:prstClr val="black"/>
                </a:solidFill>
                <a:latin typeface="Calibri" panose="020F0502020204030204"/>
                <a:ea typeface="宋体" panose="02010600030101010101" pitchFamily="2" charset="-122"/>
              </a:rPr>
              <a:t>推迟；阻碍</a:t>
            </a:r>
            <a:r>
              <a:rPr lang="en-US" altLang="zh-CN" dirty="0">
                <a:solidFill>
                  <a:prstClr val="black"/>
                </a:solidFill>
                <a:latin typeface="Calibri" panose="020F0502020204030204"/>
                <a:ea typeface="宋体" panose="02010600030101010101" pitchFamily="2" charset="-122"/>
              </a:rPr>
              <a:t>)for some time, but I don’t think it will stop. No one can set the clock _____(</a:t>
            </a:r>
            <a:r>
              <a:rPr lang="zh-CN" altLang="en-US" dirty="0">
                <a:solidFill>
                  <a:prstClr val="black"/>
                </a:solidFill>
                <a:latin typeface="Calibri" panose="020F0502020204030204"/>
                <a:ea typeface="宋体" panose="02010600030101010101" pitchFamily="2" charset="-122"/>
              </a:rPr>
              <a:t>把指针往回拨</a:t>
            </a:r>
            <a:r>
              <a:rPr lang="en-US" altLang="zh-CN" dirty="0">
                <a:solidFill>
                  <a:prstClr val="black"/>
                </a:solidFill>
                <a:latin typeface="Calibri" panose="020F0502020204030204"/>
                <a:ea typeface="宋体" panose="02010600030101010101" pitchFamily="2" charset="-122"/>
              </a:rPr>
              <a:t>) forever.</a:t>
            </a:r>
            <a:endParaRPr lang="en-US" altLang="zh-CN" dirty="0">
              <a:solidFill>
                <a:prstClr val="black"/>
              </a:solidFill>
              <a:latin typeface="Calibri" panose="020F0502020204030204"/>
              <a:ea typeface="宋体" panose="02010600030101010101" pitchFamily="2" charset="-122"/>
            </a:endParaRPr>
          </a:p>
        </p:txBody>
      </p:sp>
      <p:sp>
        <p:nvSpPr>
          <p:cNvPr id="7" name="文本框 4"/>
          <p:cNvSpPr txBox="1">
            <a:spLocks noChangeArrowheads="1"/>
          </p:cNvSpPr>
          <p:nvPr/>
        </p:nvSpPr>
        <p:spPr bwMode="auto">
          <a:xfrm>
            <a:off x="184150" y="160338"/>
            <a:ext cx="7029450"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r>
              <a:rPr lang="en-US" altLang="zh-CN" sz="2400" dirty="0">
                <a:solidFill>
                  <a:schemeClr val="bg1"/>
                </a:solidFill>
                <a:latin typeface="Arial Black" panose="020B0A04020102020204" pitchFamily="34" charset="0"/>
              </a:rPr>
              <a:t>Exercises · Language Exercises</a:t>
            </a:r>
            <a:endParaRPr lang="en-US" altLang="zh-CN" sz="2400" dirty="0">
              <a:solidFill>
                <a:schemeClr val="bg1"/>
              </a:solidFill>
              <a:latin typeface="Arial Black" panose="020B0A04020102020204" pitchFamily="34" charset="0"/>
            </a:endParaRPr>
          </a:p>
        </p:txBody>
      </p:sp>
      <p:sp>
        <p:nvSpPr>
          <p:cNvPr id="8" name="文本框 7"/>
          <p:cNvSpPr txBox="1"/>
          <p:nvPr/>
        </p:nvSpPr>
        <p:spPr>
          <a:xfrm>
            <a:off x="3643733" y="1711450"/>
            <a:ext cx="948298"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apart</a:t>
            </a:r>
            <a:endParaRPr lang="zh-CN" altLang="en-US" sz="2800" spc="-100" dirty="0">
              <a:solidFill>
                <a:srgbClr val="C00000"/>
              </a:solidFill>
              <a:latin typeface="Calibri" panose="020F0502020204030204" charset="0"/>
              <a:ea typeface="宋体" panose="02010600030101010101" pitchFamily="2" charset="-122"/>
            </a:endParaRPr>
          </a:p>
        </p:txBody>
      </p:sp>
      <p:sp>
        <p:nvSpPr>
          <p:cNvPr id="9" name="文本框 8"/>
          <p:cNvSpPr txBox="1"/>
          <p:nvPr/>
        </p:nvSpPr>
        <p:spPr>
          <a:xfrm>
            <a:off x="4335133" y="2645455"/>
            <a:ext cx="629643"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off</a:t>
            </a:r>
            <a:endParaRPr lang="zh-CN" altLang="en-US" sz="2800" spc="-100" dirty="0">
              <a:solidFill>
                <a:srgbClr val="C00000"/>
              </a:solidFill>
              <a:latin typeface="Calibri" panose="020F0502020204030204" charset="0"/>
              <a:ea typeface="宋体" panose="02010600030101010101" pitchFamily="2" charset="-122"/>
            </a:endParaRPr>
          </a:p>
        </p:txBody>
      </p:sp>
      <p:sp>
        <p:nvSpPr>
          <p:cNvPr id="10" name="文本框 9"/>
          <p:cNvSpPr txBox="1"/>
          <p:nvPr/>
        </p:nvSpPr>
        <p:spPr>
          <a:xfrm>
            <a:off x="2051024" y="3519098"/>
            <a:ext cx="948298"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aside</a:t>
            </a:r>
            <a:endParaRPr lang="zh-CN" altLang="en-US" sz="2800" spc="-100" dirty="0">
              <a:solidFill>
                <a:srgbClr val="C00000"/>
              </a:solidFill>
              <a:latin typeface="Calibri" panose="020F0502020204030204" charset="0"/>
              <a:ea typeface="宋体" panose="02010600030101010101" pitchFamily="2" charset="-122"/>
            </a:endParaRPr>
          </a:p>
        </p:txBody>
      </p:sp>
      <p:sp>
        <p:nvSpPr>
          <p:cNvPr id="12" name="文本框 11"/>
          <p:cNvSpPr txBox="1"/>
          <p:nvPr/>
        </p:nvSpPr>
        <p:spPr>
          <a:xfrm>
            <a:off x="650516" y="4799818"/>
            <a:ext cx="948298"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back</a:t>
            </a:r>
            <a:endParaRPr lang="zh-CN" altLang="en-US" sz="2800" spc="-100" dirty="0">
              <a:solidFill>
                <a:srgbClr val="C00000"/>
              </a:solidFill>
              <a:latin typeface="Calibri" panose="020F0502020204030204" charset="0"/>
              <a:ea typeface="宋体" panose="02010600030101010101" pitchFamily="2" charset="-122"/>
            </a:endParaRPr>
          </a:p>
        </p:txBody>
      </p:sp>
      <p:sp>
        <p:nvSpPr>
          <p:cNvPr id="13" name="文本框 12"/>
          <p:cNvSpPr txBox="1"/>
          <p:nvPr/>
        </p:nvSpPr>
        <p:spPr>
          <a:xfrm>
            <a:off x="2460901" y="5146793"/>
            <a:ext cx="948298"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back</a:t>
            </a:r>
            <a:endParaRPr lang="zh-CN" altLang="en-US" sz="2800" spc="-100" dirty="0">
              <a:solidFill>
                <a:srgbClr val="C00000"/>
              </a:solidFill>
              <a:latin typeface="Calibri" panose="020F0502020204030204" charset="0"/>
              <a:ea typeface="宋体" panose="02010600030101010101" pitchFamily="2" charset="-122"/>
            </a:endParaRPr>
          </a:p>
        </p:txBody>
      </p:sp>
      <p:pic>
        <p:nvPicPr>
          <p:cNvPr id="14" name="图片 13">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pic>
        <p:nvPicPr>
          <p:cNvPr id="15" name="图片 14">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t="18378" b="31548"/>
          <a:stretch>
            <a:fillRect/>
          </a:stretch>
        </p:blipFill>
        <p:spPr>
          <a:xfrm>
            <a:off x="10617946" y="174625"/>
            <a:ext cx="524510" cy="4273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dissolv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dissolv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2" grpId="0"/>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1"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algn="just">
              <a:buNone/>
              <a:defRPr/>
            </a:pPr>
            <a:r>
              <a:rPr lang="en-US" altLang="zh-CN" b="1" spc="-100" dirty="0">
                <a:latin typeface="Calibri" panose="020F0502020204030204"/>
                <a:ea typeface="宋体" panose="02010600030101010101" pitchFamily="2" charset="-122"/>
              </a:rPr>
              <a:t>3. Fill in the blanks with the correct prepositions or adverbs that collocate with the verb “set.” </a:t>
            </a:r>
            <a:endParaRPr lang="en-US" altLang="zh-CN" b="1" spc="-100" dirty="0">
              <a:latin typeface="Calibri" panose="020F0502020204030204"/>
              <a:ea typeface="宋体" panose="02010600030101010101" pitchFamily="2" charset="-122"/>
            </a:endParaRPr>
          </a:p>
          <a:p>
            <a:pPr marL="266700" indent="-266700" algn="just">
              <a:buNone/>
              <a:defRPr/>
            </a:pPr>
            <a:r>
              <a:rPr lang="en-US" altLang="zh-CN" dirty="0">
                <a:solidFill>
                  <a:prstClr val="black"/>
                </a:solidFill>
                <a:latin typeface="Calibri" panose="020F0502020204030204"/>
                <a:ea typeface="宋体" panose="02010600030101010101" pitchFamily="2" charset="-122"/>
              </a:rPr>
              <a:t>5. She proposed that we should set _____ a committee to be in charge of the research on how foreign languages should be taught today.</a:t>
            </a:r>
            <a:endParaRPr lang="en-US" altLang="zh-CN" dirty="0">
              <a:solidFill>
                <a:prstClr val="black"/>
              </a:solidFill>
              <a:latin typeface="Calibri" panose="020F0502020204030204"/>
              <a:ea typeface="宋体" panose="02010600030101010101" pitchFamily="2" charset="-122"/>
            </a:endParaRPr>
          </a:p>
          <a:p>
            <a:pPr marL="266700" indent="-266700" algn="just">
              <a:buNone/>
              <a:defRPr/>
            </a:pPr>
            <a:r>
              <a:rPr lang="en-US" altLang="zh-CN" dirty="0">
                <a:solidFill>
                  <a:prstClr val="black"/>
                </a:solidFill>
                <a:latin typeface="Calibri" panose="020F0502020204030204"/>
                <a:ea typeface="宋体" panose="02010600030101010101" pitchFamily="2" charset="-122"/>
              </a:rPr>
              <a:t>6. He set </a:t>
            </a:r>
            <a:r>
              <a:rPr lang="en-US" altLang="zh-CN" spc="-150" dirty="0">
                <a:solidFill>
                  <a:prstClr val="black"/>
                </a:solidFill>
                <a:uFillTx/>
                <a:latin typeface="Calibri" panose="020F0502020204030204"/>
                <a:ea typeface="宋体" panose="02010600030101010101" pitchFamily="2" charset="-122"/>
              </a:rPr>
              <a:t>______</a:t>
            </a:r>
            <a:r>
              <a:rPr lang="en-US" altLang="zh-CN" dirty="0">
                <a:solidFill>
                  <a:prstClr val="black"/>
                </a:solidFill>
                <a:latin typeface="Calibri" panose="020F0502020204030204"/>
                <a:ea typeface="宋体" panose="02010600030101010101" pitchFamily="2" charset="-122"/>
              </a:rPr>
              <a:t> (</a:t>
            </a:r>
            <a:r>
              <a:rPr lang="zh-CN" altLang="en-US" dirty="0">
                <a:solidFill>
                  <a:prstClr val="black"/>
                </a:solidFill>
                <a:latin typeface="Calibri" panose="020F0502020204030204"/>
                <a:ea typeface="宋体" panose="02010600030101010101" pitchFamily="2" charset="-122"/>
              </a:rPr>
              <a:t>出发；启程</a:t>
            </a:r>
            <a:r>
              <a:rPr lang="en-US" altLang="zh-CN" dirty="0">
                <a:solidFill>
                  <a:prstClr val="black"/>
                </a:solidFill>
                <a:latin typeface="Calibri" panose="020F0502020204030204"/>
                <a:ea typeface="宋体" panose="02010600030101010101" pitchFamily="2" charset="-122"/>
              </a:rPr>
              <a:t>)at early dawn, hoping that he could arrive there before sunset.</a:t>
            </a:r>
            <a:endParaRPr lang="en-US" altLang="zh-CN" dirty="0">
              <a:solidFill>
                <a:prstClr val="black"/>
              </a:solidFill>
              <a:latin typeface="Calibri" panose="020F0502020204030204"/>
              <a:ea typeface="宋体" panose="02010600030101010101" pitchFamily="2" charset="-122"/>
            </a:endParaRPr>
          </a:p>
          <a:p>
            <a:pPr marL="266700" indent="-266700" algn="just">
              <a:buNone/>
              <a:defRPr/>
            </a:pPr>
            <a:r>
              <a:rPr lang="en-US" altLang="zh-CN" dirty="0">
                <a:solidFill>
                  <a:prstClr val="black"/>
                </a:solidFill>
                <a:latin typeface="Calibri" panose="020F0502020204030204"/>
                <a:ea typeface="宋体" panose="02010600030101010101" pitchFamily="2" charset="-122"/>
              </a:rPr>
              <a:t>7. The village decided to set _____ a special fund for the job-training programs.</a:t>
            </a:r>
            <a:endParaRPr lang="en-US" altLang="zh-CN" dirty="0">
              <a:solidFill>
                <a:prstClr val="black"/>
              </a:solidFill>
              <a:latin typeface="Calibri" panose="020F0502020204030204"/>
              <a:ea typeface="宋体" panose="02010600030101010101" pitchFamily="2" charset="-122"/>
            </a:endParaRPr>
          </a:p>
          <a:p>
            <a:pPr marL="266700" indent="-266700" algn="just">
              <a:buNone/>
              <a:defRPr/>
            </a:pPr>
            <a:r>
              <a:rPr lang="en-US" altLang="zh-CN" dirty="0">
                <a:solidFill>
                  <a:prstClr val="black"/>
                </a:solidFill>
                <a:latin typeface="Calibri" panose="020F0502020204030204"/>
                <a:ea typeface="宋体" panose="02010600030101010101" pitchFamily="2" charset="-122"/>
              </a:rPr>
              <a:t>8. I still don’t know how to set ______(</a:t>
            </a:r>
            <a:r>
              <a:rPr lang="zh-CN" altLang="en-US" dirty="0">
                <a:solidFill>
                  <a:prstClr val="black"/>
                </a:solidFill>
                <a:latin typeface="Calibri" panose="020F0502020204030204"/>
                <a:ea typeface="宋体" panose="02010600030101010101" pitchFamily="2" charset="-122"/>
              </a:rPr>
              <a:t>着手做</a:t>
            </a:r>
            <a:r>
              <a:rPr lang="en-US" altLang="zh-CN" dirty="0">
                <a:solidFill>
                  <a:prstClr val="black"/>
                </a:solidFill>
                <a:latin typeface="Calibri" panose="020F0502020204030204"/>
                <a:ea typeface="宋体" panose="02010600030101010101" pitchFamily="2" charset="-122"/>
              </a:rPr>
              <a:t>)writing my paper. Can you give me some advice?</a:t>
            </a:r>
            <a:endParaRPr lang="en-US" altLang="zh-CN" dirty="0">
              <a:solidFill>
                <a:prstClr val="black"/>
              </a:solidFill>
              <a:latin typeface="Calibri" panose="020F0502020204030204"/>
              <a:ea typeface="宋体" panose="02010600030101010101" pitchFamily="2" charset="-122"/>
            </a:endParaRPr>
          </a:p>
        </p:txBody>
      </p:sp>
      <p:pic>
        <p:nvPicPr>
          <p:cNvPr id="6" name="图片 5">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17946" y="174625"/>
            <a:ext cx="524510" cy="427355"/>
          </a:xfrm>
          <a:prstGeom prst="rect">
            <a:avLst/>
          </a:prstGeom>
        </p:spPr>
      </p:pic>
      <p:sp>
        <p:nvSpPr>
          <p:cNvPr id="7" name="文本框 4"/>
          <p:cNvSpPr txBox="1">
            <a:spLocks noChangeArrowheads="1"/>
          </p:cNvSpPr>
          <p:nvPr/>
        </p:nvSpPr>
        <p:spPr bwMode="auto">
          <a:xfrm>
            <a:off x="184150" y="160338"/>
            <a:ext cx="7029450"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r>
              <a:rPr lang="en-US" altLang="zh-CN" sz="2400" dirty="0">
                <a:solidFill>
                  <a:schemeClr val="bg1"/>
                </a:solidFill>
                <a:latin typeface="Arial Black" panose="020B0A04020102020204" pitchFamily="34" charset="0"/>
              </a:rPr>
              <a:t>Exercises · Language Exercises</a:t>
            </a:r>
            <a:endParaRPr lang="en-US" altLang="zh-CN" sz="2400" dirty="0">
              <a:solidFill>
                <a:schemeClr val="bg1"/>
              </a:solidFill>
              <a:latin typeface="Arial Black" panose="020B0A04020102020204" pitchFamily="34" charset="0"/>
            </a:endParaRPr>
          </a:p>
        </p:txBody>
      </p:sp>
      <p:sp>
        <p:nvSpPr>
          <p:cNvPr id="8" name="文本框 7"/>
          <p:cNvSpPr txBox="1"/>
          <p:nvPr/>
        </p:nvSpPr>
        <p:spPr>
          <a:xfrm>
            <a:off x="5843847" y="1726947"/>
            <a:ext cx="715542"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up</a:t>
            </a:r>
            <a:endParaRPr lang="zh-CN" altLang="en-US" sz="2800" spc="-100" dirty="0">
              <a:solidFill>
                <a:srgbClr val="C00000"/>
              </a:solidFill>
              <a:latin typeface="Calibri" panose="020F0502020204030204" charset="0"/>
              <a:ea typeface="宋体" panose="02010600030101010101" pitchFamily="2" charset="-122"/>
            </a:endParaRPr>
          </a:p>
        </p:txBody>
      </p:sp>
      <p:sp>
        <p:nvSpPr>
          <p:cNvPr id="9" name="文本框 8"/>
          <p:cNvSpPr txBox="1"/>
          <p:nvPr/>
        </p:nvSpPr>
        <p:spPr>
          <a:xfrm>
            <a:off x="1613030" y="2644461"/>
            <a:ext cx="1264183"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out/off</a:t>
            </a:r>
            <a:endParaRPr lang="zh-CN" altLang="en-US" sz="2800" spc="-100" dirty="0">
              <a:solidFill>
                <a:srgbClr val="C00000"/>
              </a:solidFill>
              <a:latin typeface="Calibri" panose="020F0502020204030204" charset="0"/>
              <a:ea typeface="宋体" panose="02010600030101010101" pitchFamily="2" charset="-122"/>
            </a:endParaRPr>
          </a:p>
        </p:txBody>
      </p:sp>
      <p:sp>
        <p:nvSpPr>
          <p:cNvPr id="10" name="文本框 9"/>
          <p:cNvSpPr txBox="1"/>
          <p:nvPr/>
        </p:nvSpPr>
        <p:spPr>
          <a:xfrm>
            <a:off x="4514126" y="3537530"/>
            <a:ext cx="948298"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up</a:t>
            </a:r>
            <a:endParaRPr lang="zh-CN" altLang="en-US" sz="2800" spc="-100" dirty="0">
              <a:solidFill>
                <a:srgbClr val="C00000"/>
              </a:solidFill>
              <a:latin typeface="Calibri" panose="020F0502020204030204" charset="0"/>
              <a:ea typeface="宋体" panose="02010600030101010101" pitchFamily="2" charset="-122"/>
            </a:endParaRPr>
          </a:p>
        </p:txBody>
      </p:sp>
      <p:sp>
        <p:nvSpPr>
          <p:cNvPr id="12" name="文本框 11"/>
          <p:cNvSpPr txBox="1"/>
          <p:nvPr/>
        </p:nvSpPr>
        <p:spPr>
          <a:xfrm>
            <a:off x="4862850" y="3983290"/>
            <a:ext cx="1078856"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about</a:t>
            </a:r>
            <a:endParaRPr lang="zh-CN" altLang="en-US" sz="2800" spc="-100" dirty="0">
              <a:solidFill>
                <a:srgbClr val="C00000"/>
              </a:solidFill>
              <a:latin typeface="Calibri" panose="020F0502020204030204" charset="0"/>
              <a:ea typeface="宋体" panose="02010600030101010101" pitchFamily="2" charset="-122"/>
            </a:endParaRPr>
          </a:p>
        </p:txBody>
      </p:sp>
      <p:pic>
        <p:nvPicPr>
          <p:cNvPr id="13" name="图片 12">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dissolv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1"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algn="just">
              <a:buNone/>
              <a:defRPr/>
            </a:pPr>
            <a:r>
              <a:rPr lang="en-US" altLang="zh-CN" b="1" spc="-100" dirty="0">
                <a:latin typeface="Calibri" panose="020F0502020204030204"/>
                <a:ea typeface="宋体" panose="02010600030101010101" pitchFamily="2" charset="-122"/>
              </a:rPr>
              <a:t>4. Fill in the blanks with the correct form of the phrases and expressions listed below.</a:t>
            </a:r>
            <a:endParaRPr lang="en-US" altLang="zh-CN" b="1" spc="-100" dirty="0">
              <a:latin typeface="Calibri" panose="020F0502020204030204"/>
              <a:ea typeface="宋体" panose="02010600030101010101" pitchFamily="2" charset="-122"/>
            </a:endParaRPr>
          </a:p>
          <a:p>
            <a:pPr marL="266700" indent="-266700" algn="just">
              <a:buNone/>
              <a:defRPr/>
            </a:pPr>
            <a:endParaRPr lang="en-US" altLang="zh-CN" b="1" spc="-100" dirty="0">
              <a:latin typeface="Calibri" panose="020F0502020204030204"/>
              <a:ea typeface="宋体" panose="02010600030101010101" pitchFamily="2" charset="-122"/>
            </a:endParaRPr>
          </a:p>
          <a:p>
            <a:pPr marL="266700" indent="-266700" algn="just">
              <a:buNone/>
              <a:defRPr/>
            </a:pPr>
            <a:endParaRPr lang="en-US" altLang="zh-CN" b="1" spc="-100" dirty="0">
              <a:latin typeface="Calibri" panose="020F0502020204030204"/>
              <a:ea typeface="宋体" panose="02010600030101010101" pitchFamily="2" charset="-122"/>
            </a:endParaRPr>
          </a:p>
          <a:p>
            <a:pPr marL="266700" indent="-266700" algn="just">
              <a:buNone/>
              <a:defRPr/>
            </a:pPr>
            <a:endParaRPr lang="en-US" altLang="zh-CN" b="1" spc="-100" dirty="0">
              <a:latin typeface="Calibri" panose="020F0502020204030204"/>
              <a:ea typeface="宋体" panose="02010600030101010101" pitchFamily="2" charset="-122"/>
            </a:endParaRPr>
          </a:p>
          <a:p>
            <a:pPr marL="266700" indent="-266700" algn="just">
              <a:buNone/>
              <a:defRPr/>
            </a:pPr>
            <a:r>
              <a:rPr lang="en-US" altLang="zh-CN" spc="-100" dirty="0">
                <a:latin typeface="Calibri" panose="020F0502020204030204"/>
                <a:ea typeface="宋体" panose="02010600030101010101" pitchFamily="2" charset="-122"/>
              </a:rPr>
              <a:t>1. The open debate became pretty fierce at times. Both sides kept </a:t>
            </a:r>
            <a:r>
              <a:rPr lang="en-US" altLang="zh-CN" spc="-100" dirty="0" smtClean="0">
                <a:latin typeface="Calibri" panose="020F0502020204030204"/>
                <a:ea typeface="宋体" panose="02010600030101010101" pitchFamily="2" charset="-122"/>
              </a:rPr>
              <a:t>________ the </a:t>
            </a:r>
            <a:r>
              <a:rPr lang="en-US" altLang="zh-CN" spc="-100" dirty="0">
                <a:latin typeface="Calibri" panose="020F0502020204030204"/>
                <a:ea typeface="宋体" panose="02010600030101010101" pitchFamily="2" charset="-122"/>
              </a:rPr>
              <a:t>opposite side _____.</a:t>
            </a:r>
            <a:endParaRPr lang="en-US" altLang="zh-CN" spc="-100" dirty="0">
              <a:latin typeface="Calibri" panose="020F0502020204030204"/>
              <a:ea typeface="宋体" panose="02010600030101010101" pitchFamily="2" charset="-122"/>
            </a:endParaRPr>
          </a:p>
          <a:p>
            <a:pPr marL="266700" indent="-266700" algn="just">
              <a:buNone/>
              <a:defRPr/>
            </a:pPr>
            <a:r>
              <a:rPr lang="en-US" altLang="zh-CN" spc="-100" dirty="0">
                <a:latin typeface="Calibri" panose="020F0502020204030204"/>
                <a:ea typeface="宋体" panose="02010600030101010101" pitchFamily="2" charset="-122"/>
              </a:rPr>
              <a:t>2. We kept ___________  the multi-hundred-billion-dollar project for years because it roused a hot debate. Both those who were for and against it had very strong reasons. A project like that cannot be decided _________________  by a few people.</a:t>
            </a:r>
            <a:endParaRPr lang="en-US" altLang="zh-CN" spc="-100" dirty="0">
              <a:latin typeface="Calibri" panose="020F0502020204030204"/>
              <a:ea typeface="宋体" panose="02010600030101010101" pitchFamily="2" charset="-122"/>
            </a:endParaRPr>
          </a:p>
          <a:p>
            <a:pPr marL="266700" indent="-266700" algn="just">
              <a:buNone/>
              <a:defRPr/>
            </a:pPr>
            <a:r>
              <a:rPr lang="en-US" altLang="zh-CN" spc="-100" dirty="0">
                <a:latin typeface="Calibri" panose="020F0502020204030204"/>
                <a:ea typeface="宋体" panose="02010600030101010101" pitchFamily="2" charset="-122"/>
              </a:rPr>
              <a:t>3. We’ll need to _______ the summit as soon as the sun rises if we hope to make it back down before dark. </a:t>
            </a:r>
            <a:endParaRPr lang="en-US" altLang="zh-CN" spc="-100" dirty="0">
              <a:latin typeface="Calibri" panose="020F0502020204030204"/>
              <a:ea typeface="宋体" panose="02010600030101010101" pitchFamily="2" charset="-122"/>
            </a:endParaRPr>
          </a:p>
        </p:txBody>
      </p:sp>
      <p:sp>
        <p:nvSpPr>
          <p:cNvPr id="7" name="文本框 4"/>
          <p:cNvSpPr txBox="1">
            <a:spLocks noChangeArrowheads="1"/>
          </p:cNvSpPr>
          <p:nvPr/>
        </p:nvSpPr>
        <p:spPr bwMode="auto">
          <a:xfrm>
            <a:off x="184150" y="160338"/>
            <a:ext cx="7029450"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r>
              <a:rPr lang="en-US" altLang="zh-CN" sz="2400" dirty="0">
                <a:solidFill>
                  <a:schemeClr val="bg1"/>
                </a:solidFill>
                <a:latin typeface="Arial Black" panose="020B0A04020102020204" pitchFamily="34" charset="0"/>
              </a:rPr>
              <a:t>Exercises · Language Exercises</a:t>
            </a:r>
            <a:endParaRPr lang="en-US" altLang="zh-CN" sz="2400" dirty="0">
              <a:solidFill>
                <a:schemeClr val="bg1"/>
              </a:solidFill>
              <a:latin typeface="Arial Black" panose="020B0A04020102020204" pitchFamily="34" charset="0"/>
            </a:endParaRPr>
          </a:p>
        </p:txBody>
      </p:sp>
      <p:sp>
        <p:nvSpPr>
          <p:cNvPr id="8" name="文本框 7"/>
          <p:cNvSpPr txBox="1"/>
          <p:nvPr/>
        </p:nvSpPr>
        <p:spPr>
          <a:xfrm>
            <a:off x="1390385" y="1401010"/>
            <a:ext cx="8754420" cy="1384995"/>
          </a:xfrm>
          <a:prstGeom prst="rect">
            <a:avLst/>
          </a:prstGeom>
          <a:noFill/>
          <a:ln w="31750">
            <a:solidFill>
              <a:schemeClr val="accent2">
                <a:lumMod val="75000"/>
              </a:schemeClr>
            </a:solidFill>
          </a:ln>
        </p:spPr>
        <p:txBody>
          <a:bodyPr wrap="square" rtlCol="0">
            <a:spAutoFit/>
          </a:bodyPr>
          <a:lstStyle/>
          <a:p>
            <a:r>
              <a:rPr lang="en-US" altLang="zh-CN" sz="2800" dirty="0">
                <a:latin typeface="Calibri" panose="020F0502020204030204" charset="0"/>
                <a:cs typeface="Calibri" panose="020F0502020204030204" charset="0"/>
              </a:rPr>
              <a:t>fuss over 	strike ... as        put off	come out with            throb with	cut ... short      start for    behind closed doors</a:t>
            </a:r>
            <a:endParaRPr lang="en-US" altLang="zh-CN" sz="2800" dirty="0">
              <a:latin typeface="Calibri" panose="020F0502020204030204" charset="0"/>
              <a:cs typeface="Calibri" panose="020F0502020204030204" charset="0"/>
            </a:endParaRPr>
          </a:p>
          <a:p>
            <a:r>
              <a:rPr lang="en-US" altLang="zh-CN" sz="2800" dirty="0">
                <a:latin typeface="Calibri" panose="020F0502020204030204" charset="0"/>
                <a:cs typeface="Calibri" panose="020F0502020204030204" charset="0"/>
              </a:rPr>
              <a:t>pay ... off 	out of 	    make it 	</a:t>
            </a:r>
            <a:endParaRPr lang="en-US" altLang="zh-CN" sz="2800" dirty="0">
              <a:latin typeface="Calibri" panose="020F0502020204030204" charset="0"/>
              <a:cs typeface="Calibri" panose="020F0502020204030204" charset="0"/>
            </a:endParaRPr>
          </a:p>
        </p:txBody>
      </p:sp>
      <p:sp>
        <p:nvSpPr>
          <p:cNvPr id="9" name="文本框 8"/>
          <p:cNvSpPr txBox="1"/>
          <p:nvPr/>
        </p:nvSpPr>
        <p:spPr>
          <a:xfrm>
            <a:off x="10106569" y="2877333"/>
            <a:ext cx="1144712"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cutting</a:t>
            </a:r>
            <a:endParaRPr lang="zh-CN" altLang="en-US" sz="2800" spc="-100" dirty="0">
              <a:solidFill>
                <a:srgbClr val="C00000"/>
              </a:solidFill>
              <a:latin typeface="Calibri" panose="020F0502020204030204" charset="0"/>
              <a:ea typeface="宋体" panose="02010600030101010101" pitchFamily="2" charset="-122"/>
            </a:endParaRPr>
          </a:p>
        </p:txBody>
      </p:sp>
      <p:sp>
        <p:nvSpPr>
          <p:cNvPr id="10" name="文本框 9"/>
          <p:cNvSpPr txBox="1"/>
          <p:nvPr/>
        </p:nvSpPr>
        <p:spPr>
          <a:xfrm>
            <a:off x="2413305" y="3268043"/>
            <a:ext cx="1144712"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short</a:t>
            </a:r>
            <a:endParaRPr lang="zh-CN" altLang="en-US" sz="2800" spc="-100" dirty="0">
              <a:solidFill>
                <a:srgbClr val="C00000"/>
              </a:solidFill>
              <a:latin typeface="Calibri" panose="020F0502020204030204" charset="0"/>
              <a:ea typeface="宋体" panose="02010600030101010101" pitchFamily="2" charset="-122"/>
            </a:endParaRPr>
          </a:p>
        </p:txBody>
      </p:sp>
      <p:sp>
        <p:nvSpPr>
          <p:cNvPr id="12" name="文本框 11"/>
          <p:cNvSpPr txBox="1"/>
          <p:nvPr/>
        </p:nvSpPr>
        <p:spPr>
          <a:xfrm>
            <a:off x="1941812" y="3766557"/>
            <a:ext cx="1757063"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putting off</a:t>
            </a:r>
            <a:endParaRPr lang="zh-CN" altLang="en-US" sz="2800" spc="-100" dirty="0">
              <a:solidFill>
                <a:srgbClr val="C00000"/>
              </a:solidFill>
              <a:latin typeface="Calibri" panose="020F0502020204030204" charset="0"/>
              <a:ea typeface="宋体" panose="02010600030101010101" pitchFamily="2" charset="-122"/>
            </a:endParaRPr>
          </a:p>
        </p:txBody>
      </p:sp>
      <p:sp>
        <p:nvSpPr>
          <p:cNvPr id="13" name="文本框 12"/>
          <p:cNvSpPr txBox="1"/>
          <p:nvPr/>
        </p:nvSpPr>
        <p:spPr>
          <a:xfrm>
            <a:off x="5437530" y="4538322"/>
            <a:ext cx="2891822"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behind closed doors</a:t>
            </a:r>
            <a:endParaRPr lang="zh-CN" altLang="en-US" sz="2800" spc="-100" dirty="0">
              <a:solidFill>
                <a:srgbClr val="C00000"/>
              </a:solidFill>
              <a:latin typeface="Calibri" panose="020F0502020204030204" charset="0"/>
              <a:ea typeface="宋体" panose="02010600030101010101" pitchFamily="2" charset="-122"/>
            </a:endParaRPr>
          </a:p>
        </p:txBody>
      </p:sp>
      <p:sp>
        <p:nvSpPr>
          <p:cNvPr id="14" name="文本框 13"/>
          <p:cNvSpPr txBox="1"/>
          <p:nvPr/>
        </p:nvSpPr>
        <p:spPr>
          <a:xfrm>
            <a:off x="2596035" y="5049185"/>
            <a:ext cx="1269094"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start for</a:t>
            </a:r>
            <a:endParaRPr lang="zh-CN" altLang="en-US" sz="2800" spc="-100" dirty="0">
              <a:solidFill>
                <a:srgbClr val="C00000"/>
              </a:solidFill>
              <a:latin typeface="Calibri" panose="020F0502020204030204" charset="0"/>
              <a:ea typeface="宋体" panose="02010600030101010101" pitchFamily="2" charset="-122"/>
            </a:endParaRPr>
          </a:p>
        </p:txBody>
      </p:sp>
      <p:pic>
        <p:nvPicPr>
          <p:cNvPr id="15" name="图片 14">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pic>
        <p:nvPicPr>
          <p:cNvPr id="16" name="图片 15">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t="18378" b="31548"/>
          <a:stretch>
            <a:fillRect/>
          </a:stretch>
        </p:blipFill>
        <p:spPr>
          <a:xfrm>
            <a:off x="10617946" y="174625"/>
            <a:ext cx="524510" cy="4273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dissolv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dissolve">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13" grpId="0"/>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1"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algn="just">
              <a:buNone/>
              <a:defRPr/>
            </a:pPr>
            <a:r>
              <a:rPr lang="en-US" altLang="zh-CN" b="1" spc="-100" dirty="0">
                <a:latin typeface="Calibri" panose="020F0502020204030204"/>
                <a:ea typeface="宋体" panose="02010600030101010101" pitchFamily="2" charset="-122"/>
              </a:rPr>
              <a:t>4. Fill in the blanks with the correct form of the phrases and expressions listed below.</a:t>
            </a:r>
            <a:endParaRPr lang="en-US" altLang="zh-CN" b="1" spc="-100" dirty="0">
              <a:latin typeface="Calibri" panose="020F0502020204030204"/>
              <a:ea typeface="宋体" panose="02010600030101010101" pitchFamily="2" charset="-122"/>
            </a:endParaRPr>
          </a:p>
          <a:p>
            <a:pPr marL="266700" indent="-266700" algn="just">
              <a:buNone/>
              <a:defRPr/>
            </a:pPr>
            <a:endParaRPr lang="en-US" altLang="zh-CN" b="1" spc="-100" dirty="0">
              <a:latin typeface="Calibri" panose="020F0502020204030204"/>
              <a:ea typeface="宋体" panose="02010600030101010101" pitchFamily="2" charset="-122"/>
            </a:endParaRPr>
          </a:p>
          <a:p>
            <a:pPr marL="266700" indent="-266700" algn="just">
              <a:buNone/>
              <a:defRPr/>
            </a:pPr>
            <a:endParaRPr lang="en-US" altLang="zh-CN" b="1" spc="-100" dirty="0">
              <a:latin typeface="Calibri" panose="020F0502020204030204"/>
              <a:ea typeface="宋体" panose="02010600030101010101" pitchFamily="2" charset="-122"/>
            </a:endParaRPr>
          </a:p>
          <a:p>
            <a:pPr marL="266700" indent="-266700" algn="just">
              <a:buNone/>
              <a:defRPr/>
            </a:pPr>
            <a:endParaRPr lang="en-US" altLang="zh-CN" b="1" spc="-100" dirty="0">
              <a:latin typeface="Calibri" panose="020F0502020204030204"/>
              <a:ea typeface="宋体" panose="02010600030101010101" pitchFamily="2" charset="-122"/>
            </a:endParaRPr>
          </a:p>
          <a:p>
            <a:pPr marL="266700" indent="-266700" algn="just">
              <a:spcBef>
                <a:spcPts val="400"/>
              </a:spcBef>
              <a:buNone/>
              <a:defRPr/>
            </a:pPr>
            <a:r>
              <a:rPr lang="en-US" altLang="zh-CN" spc="-100" dirty="0">
                <a:latin typeface="Calibri" panose="020F0502020204030204"/>
                <a:ea typeface="宋体" panose="02010600030101010101" pitchFamily="2" charset="-122"/>
              </a:rPr>
              <a:t>4. You can always count on Alfred _____________ to you like it or not.</a:t>
            </a:r>
            <a:endParaRPr lang="en-US" altLang="zh-CN" spc="-100" dirty="0">
              <a:latin typeface="Calibri" panose="020F0502020204030204"/>
              <a:ea typeface="宋体" panose="02010600030101010101" pitchFamily="2" charset="-122"/>
            </a:endParaRPr>
          </a:p>
          <a:p>
            <a:pPr marL="266700" indent="-266700" algn="just">
              <a:spcBef>
                <a:spcPts val="400"/>
              </a:spcBef>
              <a:buNone/>
              <a:defRPr/>
            </a:pPr>
            <a:r>
              <a:rPr lang="en-US" altLang="zh-CN" spc="-100" dirty="0">
                <a:latin typeface="Calibri" panose="020F0502020204030204"/>
                <a:ea typeface="宋体" panose="02010600030101010101" pitchFamily="2" charset="-122"/>
              </a:rPr>
              <a:t>5. More and more young people are moving _______  curiosity into big cities, which are _____________ life and energy.</a:t>
            </a:r>
            <a:endParaRPr lang="en-US" altLang="zh-CN" spc="-100" dirty="0">
              <a:latin typeface="Calibri" panose="020F0502020204030204"/>
              <a:ea typeface="宋体" panose="02010600030101010101" pitchFamily="2" charset="-122"/>
            </a:endParaRPr>
          </a:p>
          <a:p>
            <a:pPr marL="266700" indent="-266700" algn="just">
              <a:spcBef>
                <a:spcPts val="400"/>
              </a:spcBef>
              <a:buNone/>
              <a:defRPr/>
            </a:pPr>
            <a:r>
              <a:rPr lang="en-US" altLang="zh-CN" spc="-100" dirty="0">
                <a:latin typeface="Calibri" panose="020F0502020204030204"/>
                <a:ea typeface="宋体" panose="02010600030101010101" pitchFamily="2" charset="-122"/>
              </a:rPr>
              <a:t>6. Don’t _________ every detail which might _______ you _____ important — just get the main idea across.</a:t>
            </a:r>
            <a:endParaRPr lang="en-US" altLang="zh-CN" spc="-100" dirty="0">
              <a:latin typeface="Calibri" panose="020F0502020204030204"/>
              <a:ea typeface="宋体" panose="02010600030101010101" pitchFamily="2" charset="-122"/>
            </a:endParaRPr>
          </a:p>
          <a:p>
            <a:pPr marL="266700" indent="-266700" algn="just">
              <a:spcBef>
                <a:spcPts val="400"/>
              </a:spcBef>
              <a:buNone/>
              <a:defRPr/>
            </a:pPr>
            <a:r>
              <a:rPr lang="en-US" altLang="zh-CN" spc="-100" dirty="0">
                <a:latin typeface="Calibri" panose="020F0502020204030204"/>
                <a:ea typeface="宋体" panose="02010600030101010101" pitchFamily="2" charset="-122"/>
              </a:rPr>
              <a:t>7. —You must ____   us ____by the end of this week, or we will see you in court.</a:t>
            </a:r>
            <a:endParaRPr lang="en-US" altLang="zh-CN" spc="-100" dirty="0">
              <a:latin typeface="Calibri" panose="020F0502020204030204"/>
              <a:ea typeface="宋体" panose="02010600030101010101" pitchFamily="2" charset="-122"/>
            </a:endParaRPr>
          </a:p>
          <a:p>
            <a:pPr marL="266700" indent="-266700" algn="just">
              <a:spcBef>
                <a:spcPts val="400"/>
              </a:spcBef>
              <a:buNone/>
              <a:defRPr/>
            </a:pPr>
            <a:r>
              <a:rPr lang="en-US" altLang="zh-CN" spc="-100" dirty="0">
                <a:latin typeface="Calibri" panose="020F0502020204030204"/>
                <a:ea typeface="宋体" panose="02010600030101010101" pitchFamily="2" charset="-122"/>
              </a:rPr>
              <a:t>     —Please _______   10 days, because my pay day is exactly 10 days away.</a:t>
            </a:r>
            <a:endParaRPr lang="en-US" altLang="zh-CN" spc="-100" dirty="0">
              <a:latin typeface="Calibri" panose="020F0502020204030204"/>
              <a:ea typeface="宋体" panose="02010600030101010101" pitchFamily="2" charset="-122"/>
            </a:endParaRPr>
          </a:p>
        </p:txBody>
      </p:sp>
      <p:pic>
        <p:nvPicPr>
          <p:cNvPr id="6" name="图片 5">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17946" y="174625"/>
            <a:ext cx="524510" cy="427355"/>
          </a:xfrm>
          <a:prstGeom prst="rect">
            <a:avLst/>
          </a:prstGeom>
        </p:spPr>
      </p:pic>
      <p:sp>
        <p:nvSpPr>
          <p:cNvPr id="7" name="文本框 4"/>
          <p:cNvSpPr txBox="1">
            <a:spLocks noChangeArrowheads="1"/>
          </p:cNvSpPr>
          <p:nvPr/>
        </p:nvSpPr>
        <p:spPr bwMode="auto">
          <a:xfrm>
            <a:off x="184150" y="160338"/>
            <a:ext cx="7029450"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r>
              <a:rPr lang="en-US" altLang="zh-CN" sz="2400" dirty="0">
                <a:solidFill>
                  <a:schemeClr val="bg1"/>
                </a:solidFill>
                <a:latin typeface="Arial Black" panose="020B0A04020102020204" pitchFamily="34" charset="0"/>
              </a:rPr>
              <a:t>Exercises · Language Exercises</a:t>
            </a:r>
            <a:endParaRPr lang="en-US" altLang="zh-CN" sz="2400" dirty="0">
              <a:solidFill>
                <a:schemeClr val="bg1"/>
              </a:solidFill>
              <a:latin typeface="Arial Black" panose="020B0A04020102020204" pitchFamily="34" charset="0"/>
            </a:endParaRPr>
          </a:p>
        </p:txBody>
      </p:sp>
      <p:sp>
        <p:nvSpPr>
          <p:cNvPr id="8" name="文本框 7"/>
          <p:cNvSpPr txBox="1"/>
          <p:nvPr/>
        </p:nvSpPr>
        <p:spPr>
          <a:xfrm>
            <a:off x="1390385" y="1401010"/>
            <a:ext cx="8754420" cy="1384995"/>
          </a:xfrm>
          <a:prstGeom prst="rect">
            <a:avLst/>
          </a:prstGeom>
          <a:noFill/>
          <a:ln w="31750">
            <a:solidFill>
              <a:schemeClr val="accent2">
                <a:lumMod val="75000"/>
              </a:schemeClr>
            </a:solidFill>
          </a:ln>
        </p:spPr>
        <p:txBody>
          <a:bodyPr wrap="square" rtlCol="0">
            <a:spAutoFit/>
          </a:bodyPr>
          <a:lstStyle/>
          <a:p>
            <a:r>
              <a:rPr lang="en-US" altLang="zh-CN" sz="2800" dirty="0">
                <a:latin typeface="Calibri" panose="020F0502020204030204" charset="0"/>
                <a:cs typeface="Calibri" panose="020F0502020204030204" charset="0"/>
              </a:rPr>
              <a:t>fuss over 	strike ... as        put off	come out with            throb with	cut ... short      start for    behind closed doors</a:t>
            </a:r>
            <a:endParaRPr lang="en-US" altLang="zh-CN" sz="2800" dirty="0">
              <a:latin typeface="Calibri" panose="020F0502020204030204" charset="0"/>
              <a:cs typeface="Calibri" panose="020F0502020204030204" charset="0"/>
            </a:endParaRPr>
          </a:p>
          <a:p>
            <a:r>
              <a:rPr lang="en-US" altLang="zh-CN" sz="2800" dirty="0">
                <a:latin typeface="Calibri" panose="020F0502020204030204" charset="0"/>
                <a:cs typeface="Calibri" panose="020F0502020204030204" charset="0"/>
              </a:rPr>
              <a:t>pay ... off 	out of 	    make it 	</a:t>
            </a:r>
            <a:endParaRPr lang="en-US" altLang="zh-CN" sz="2800" dirty="0">
              <a:latin typeface="Calibri" panose="020F0502020204030204" charset="0"/>
              <a:cs typeface="Calibri" panose="020F0502020204030204" charset="0"/>
            </a:endParaRPr>
          </a:p>
        </p:txBody>
      </p:sp>
      <p:sp>
        <p:nvSpPr>
          <p:cNvPr id="9" name="文本框 8"/>
          <p:cNvSpPr txBox="1"/>
          <p:nvPr>
            <p:custDataLst>
              <p:tags r:id="rId4"/>
            </p:custDataLst>
          </p:nvPr>
        </p:nvSpPr>
        <p:spPr>
          <a:xfrm>
            <a:off x="4786013" y="2831638"/>
            <a:ext cx="2891822"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come out with</a:t>
            </a:r>
            <a:endParaRPr lang="zh-CN" altLang="en-US" sz="2800" spc="-100" dirty="0">
              <a:solidFill>
                <a:srgbClr val="C00000"/>
              </a:solidFill>
              <a:latin typeface="Calibri" panose="020F0502020204030204" charset="0"/>
              <a:ea typeface="宋体" panose="02010600030101010101" pitchFamily="2" charset="-122"/>
            </a:endParaRPr>
          </a:p>
        </p:txBody>
      </p:sp>
      <p:sp>
        <p:nvSpPr>
          <p:cNvPr id="10" name="文本框 9"/>
          <p:cNvSpPr txBox="1"/>
          <p:nvPr>
            <p:custDataLst>
              <p:tags r:id="rId5"/>
            </p:custDataLst>
          </p:nvPr>
        </p:nvSpPr>
        <p:spPr>
          <a:xfrm>
            <a:off x="6729373" y="3241533"/>
            <a:ext cx="1197186"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out of</a:t>
            </a:r>
            <a:endParaRPr lang="zh-CN" altLang="en-US" sz="2800" spc="-100" dirty="0">
              <a:solidFill>
                <a:srgbClr val="C00000"/>
              </a:solidFill>
              <a:latin typeface="Calibri" panose="020F0502020204030204" charset="0"/>
              <a:ea typeface="宋体" panose="02010600030101010101" pitchFamily="2" charset="-122"/>
            </a:endParaRPr>
          </a:p>
        </p:txBody>
      </p:sp>
      <p:sp>
        <p:nvSpPr>
          <p:cNvPr id="12" name="文本框 11"/>
          <p:cNvSpPr txBox="1"/>
          <p:nvPr>
            <p:custDataLst>
              <p:tags r:id="rId6"/>
            </p:custDataLst>
          </p:nvPr>
        </p:nvSpPr>
        <p:spPr>
          <a:xfrm>
            <a:off x="1125414" y="3564113"/>
            <a:ext cx="2272980"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throbbing with</a:t>
            </a:r>
            <a:endParaRPr lang="zh-CN" altLang="en-US" sz="2800" spc="-100" dirty="0">
              <a:solidFill>
                <a:srgbClr val="C00000"/>
              </a:solidFill>
              <a:latin typeface="Calibri" panose="020F0502020204030204" charset="0"/>
              <a:ea typeface="宋体" panose="02010600030101010101" pitchFamily="2" charset="-122"/>
            </a:endParaRPr>
          </a:p>
        </p:txBody>
      </p:sp>
      <p:sp>
        <p:nvSpPr>
          <p:cNvPr id="13" name="文本框 12"/>
          <p:cNvSpPr txBox="1"/>
          <p:nvPr>
            <p:custDataLst>
              <p:tags r:id="rId7"/>
            </p:custDataLst>
          </p:nvPr>
        </p:nvSpPr>
        <p:spPr>
          <a:xfrm>
            <a:off x="1560506" y="4064122"/>
            <a:ext cx="1402884"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fuss over</a:t>
            </a:r>
            <a:endParaRPr lang="zh-CN" altLang="en-US" sz="2800" spc="-100" dirty="0">
              <a:solidFill>
                <a:srgbClr val="C00000"/>
              </a:solidFill>
              <a:latin typeface="Calibri" panose="020F0502020204030204" charset="0"/>
              <a:ea typeface="宋体" panose="02010600030101010101" pitchFamily="2" charset="-122"/>
            </a:endParaRPr>
          </a:p>
        </p:txBody>
      </p:sp>
      <p:sp>
        <p:nvSpPr>
          <p:cNvPr id="14" name="文本框 13"/>
          <p:cNvSpPr txBox="1"/>
          <p:nvPr>
            <p:custDataLst>
              <p:tags r:id="rId8"/>
            </p:custDataLst>
          </p:nvPr>
        </p:nvSpPr>
        <p:spPr>
          <a:xfrm>
            <a:off x="6480649" y="4044153"/>
            <a:ext cx="1197186"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strike</a:t>
            </a:r>
            <a:endParaRPr lang="zh-CN" altLang="en-US" sz="2800" spc="-100" dirty="0">
              <a:solidFill>
                <a:srgbClr val="C00000"/>
              </a:solidFill>
              <a:latin typeface="Calibri" panose="020F0502020204030204" charset="0"/>
              <a:ea typeface="宋体" panose="02010600030101010101" pitchFamily="2" charset="-122"/>
            </a:endParaRPr>
          </a:p>
        </p:txBody>
      </p:sp>
      <p:sp>
        <p:nvSpPr>
          <p:cNvPr id="15" name="文本框 14"/>
          <p:cNvSpPr txBox="1"/>
          <p:nvPr>
            <p:custDataLst>
              <p:tags r:id="rId9"/>
            </p:custDataLst>
          </p:nvPr>
        </p:nvSpPr>
        <p:spPr>
          <a:xfrm>
            <a:off x="8317008" y="4044153"/>
            <a:ext cx="882556"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as</a:t>
            </a:r>
            <a:endParaRPr lang="zh-CN" altLang="en-US" sz="2800" spc="-100" dirty="0">
              <a:solidFill>
                <a:srgbClr val="C00000"/>
              </a:solidFill>
              <a:latin typeface="Calibri" panose="020F0502020204030204" charset="0"/>
              <a:ea typeface="宋体" panose="02010600030101010101" pitchFamily="2" charset="-122"/>
            </a:endParaRPr>
          </a:p>
        </p:txBody>
      </p:sp>
      <p:sp>
        <p:nvSpPr>
          <p:cNvPr id="16" name="文本框 15"/>
          <p:cNvSpPr txBox="1"/>
          <p:nvPr>
            <p:custDataLst>
              <p:tags r:id="rId10"/>
            </p:custDataLst>
          </p:nvPr>
        </p:nvSpPr>
        <p:spPr>
          <a:xfrm>
            <a:off x="2281934" y="4846719"/>
            <a:ext cx="882556"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pay</a:t>
            </a:r>
            <a:endParaRPr lang="zh-CN" altLang="en-US" sz="2800" spc="-100" dirty="0">
              <a:solidFill>
                <a:srgbClr val="C00000"/>
              </a:solidFill>
              <a:latin typeface="Calibri" panose="020F0502020204030204" charset="0"/>
              <a:ea typeface="宋体" panose="02010600030101010101" pitchFamily="2" charset="-122"/>
            </a:endParaRPr>
          </a:p>
        </p:txBody>
      </p:sp>
      <p:sp>
        <p:nvSpPr>
          <p:cNvPr id="17" name="文本框 16"/>
          <p:cNvSpPr txBox="1"/>
          <p:nvPr>
            <p:custDataLst>
              <p:tags r:id="rId11"/>
            </p:custDataLst>
          </p:nvPr>
        </p:nvSpPr>
        <p:spPr>
          <a:xfrm>
            <a:off x="3512278" y="4890779"/>
            <a:ext cx="764530"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off</a:t>
            </a:r>
            <a:endParaRPr lang="zh-CN" altLang="en-US" sz="2800" spc="-100" dirty="0">
              <a:solidFill>
                <a:srgbClr val="C00000"/>
              </a:solidFill>
              <a:latin typeface="Calibri" panose="020F0502020204030204" charset="0"/>
              <a:ea typeface="宋体" panose="02010600030101010101" pitchFamily="2" charset="-122"/>
            </a:endParaRPr>
          </a:p>
        </p:txBody>
      </p:sp>
      <p:sp>
        <p:nvSpPr>
          <p:cNvPr id="18" name="文本框 17"/>
          <p:cNvSpPr txBox="1"/>
          <p:nvPr>
            <p:custDataLst>
              <p:tags r:id="rId12"/>
            </p:custDataLst>
          </p:nvPr>
        </p:nvSpPr>
        <p:spPr>
          <a:xfrm>
            <a:off x="1894191" y="5316290"/>
            <a:ext cx="1282545"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make it</a:t>
            </a:r>
            <a:endParaRPr lang="zh-CN" altLang="en-US" sz="2800" spc="-100" dirty="0">
              <a:solidFill>
                <a:srgbClr val="C00000"/>
              </a:solidFill>
              <a:latin typeface="Calibri" panose="020F0502020204030204" charset="0"/>
              <a:ea typeface="宋体" panose="02010600030101010101" pitchFamily="2" charset="-122"/>
            </a:endParaRPr>
          </a:p>
        </p:txBody>
      </p:sp>
      <p:pic>
        <p:nvPicPr>
          <p:cNvPr id="19" name="图片 18">
            <a:hlinkClick r:id="rId13" action="ppaction://hlinksldjump"/>
          </p:cNvPr>
          <p:cNvPicPr>
            <a:picLocks noChangeAspect="1"/>
          </p:cNvPicPr>
          <p:nvPr/>
        </p:nvPicPr>
        <p:blipFill>
          <a:blip r:embed="rId14">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dissolv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dissolv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dissolve">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dissolve">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dissolve">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dissolve">
                                      <p:cBhvr>
                                        <p:cTn id="4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13" grpId="0"/>
      <p:bldP spid="14" grpId="0"/>
      <p:bldP spid="15" grpId="0"/>
      <p:bldP spid="16" grpId="0"/>
      <p:bldP spid="17" grpId="0"/>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1"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algn="just">
              <a:buNone/>
              <a:defRPr/>
            </a:pPr>
            <a:r>
              <a:rPr lang="en-US" altLang="zh-CN" b="1" dirty="0">
                <a:latin typeface="Calibri" panose="020F0502020204030204"/>
                <a:ea typeface="宋体" panose="02010600030101010101" pitchFamily="2" charset="-122"/>
              </a:rPr>
              <a:t>5. Study the following examples and complete the sentences by translating the Chinese in the brackets. </a:t>
            </a:r>
            <a:endParaRPr lang="en-US" altLang="zh-CN" b="1" dirty="0">
              <a:latin typeface="Calibri" panose="020F0502020204030204"/>
              <a:ea typeface="宋体" panose="02010600030101010101" pitchFamily="2" charset="-122"/>
            </a:endParaRPr>
          </a:p>
          <a:p>
            <a:pPr marL="266700" indent="-266700" algn="just">
              <a:lnSpc>
                <a:spcPct val="100000"/>
              </a:lnSpc>
              <a:buNone/>
              <a:defRPr/>
            </a:pPr>
            <a:r>
              <a:rPr lang="zh-CN" altLang="en-US" b="1" spc="-100" dirty="0">
                <a:latin typeface="Calibri" panose="020F0502020204030204"/>
                <a:ea typeface="宋体" panose="02010600030101010101" pitchFamily="2" charset="-122"/>
              </a:rPr>
              <a:t>    </a:t>
            </a:r>
            <a:r>
              <a:rPr lang="en-US" altLang="zh-CN" b="1" dirty="0" smtClean="0">
                <a:solidFill>
                  <a:schemeClr val="accent2">
                    <a:lumMod val="75000"/>
                  </a:schemeClr>
                </a:solidFill>
                <a:latin typeface="Calibri" panose="020F0502020204030204"/>
                <a:ea typeface="宋体" panose="02010600030101010101" pitchFamily="2" charset="-122"/>
              </a:rPr>
              <a:t>Examples</a:t>
            </a:r>
            <a:r>
              <a:rPr lang="zh-CN" altLang="en-US" b="1" dirty="0" smtClean="0">
                <a:solidFill>
                  <a:schemeClr val="accent2">
                    <a:lumMod val="75000"/>
                  </a:schemeClr>
                </a:solidFill>
                <a:latin typeface="Calibri" panose="020F0502020204030204"/>
                <a:ea typeface="宋体" panose="02010600030101010101" pitchFamily="2" charset="-122"/>
              </a:rPr>
              <a:t>：</a:t>
            </a:r>
            <a:endParaRPr lang="en-US" altLang="zh-CN" b="1" spc="-100" dirty="0" smtClean="0">
              <a:latin typeface="Calibri" panose="020F0502020204030204"/>
              <a:ea typeface="宋体" panose="02010600030101010101" pitchFamily="2" charset="-122"/>
            </a:endParaRPr>
          </a:p>
          <a:p>
            <a:pPr marL="266700" indent="-266700" algn="just">
              <a:lnSpc>
                <a:spcPct val="100000"/>
              </a:lnSpc>
              <a:buNone/>
              <a:defRPr/>
            </a:pPr>
            <a:r>
              <a:rPr lang="zh-CN" altLang="en-US" dirty="0" smtClean="0">
                <a:solidFill>
                  <a:prstClr val="black"/>
                </a:solidFill>
                <a:latin typeface="Calibri" panose="020F0502020204030204"/>
                <a:ea typeface="宋体" panose="02010600030101010101" pitchFamily="2" charset="-122"/>
              </a:rPr>
              <a:t>   </a:t>
            </a:r>
            <a:r>
              <a:rPr lang="en-US" altLang="zh-CN" dirty="0" smtClean="0">
                <a:solidFill>
                  <a:prstClr val="black"/>
                </a:solidFill>
                <a:latin typeface="Calibri" panose="020F0502020204030204"/>
                <a:ea typeface="宋体" panose="02010600030101010101" pitchFamily="2" charset="-122"/>
              </a:rPr>
              <a:t>At other times he would have said, </a:t>
            </a:r>
            <a:r>
              <a:rPr lang="en-US" altLang="zh-CN" dirty="0" smtClean="0">
                <a:solidFill>
                  <a:schemeClr val="accent2">
                    <a:lumMod val="75000"/>
                  </a:schemeClr>
                </a:solidFill>
                <a:latin typeface="Calibri" panose="020F0502020204030204"/>
                <a:ea typeface="宋体" panose="02010600030101010101" pitchFamily="2" charset="-122"/>
              </a:rPr>
              <a:t>considering her feelings in the matter</a:t>
            </a:r>
            <a:r>
              <a:rPr lang="en-US" altLang="zh-CN" dirty="0" smtClean="0">
                <a:solidFill>
                  <a:prstClr val="black"/>
                </a:solidFill>
                <a:latin typeface="Calibri" panose="020F0502020204030204"/>
                <a:ea typeface="宋体" panose="02010600030101010101" pitchFamily="2" charset="-122"/>
              </a:rPr>
              <a:t>, “I feel full up, that’s all.” (para. 2)</a:t>
            </a:r>
            <a:endParaRPr lang="en-US" altLang="zh-CN" dirty="0" smtClean="0">
              <a:solidFill>
                <a:prstClr val="black"/>
              </a:solidFill>
              <a:latin typeface="Calibri" panose="020F0502020204030204"/>
              <a:ea typeface="宋体" panose="02010600030101010101" pitchFamily="2" charset="-122"/>
            </a:endParaRPr>
          </a:p>
          <a:p>
            <a:pPr marL="266700" indent="-266700" algn="just">
              <a:lnSpc>
                <a:spcPct val="100000"/>
              </a:lnSpc>
              <a:buNone/>
              <a:defRPr/>
            </a:pPr>
            <a:r>
              <a:rPr lang="zh-CN" altLang="en-US" dirty="0" smtClean="0">
                <a:solidFill>
                  <a:prstClr val="black"/>
                </a:solidFill>
                <a:latin typeface="Calibri" panose="020F0502020204030204"/>
                <a:ea typeface="宋体" panose="02010600030101010101" pitchFamily="2" charset="-122"/>
              </a:rPr>
              <a:t>   </a:t>
            </a:r>
            <a:r>
              <a:rPr lang="en-US" altLang="zh-CN" dirty="0">
                <a:solidFill>
                  <a:prstClr val="black"/>
                </a:solidFill>
                <a:latin typeface="Calibri" panose="020F0502020204030204"/>
                <a:ea typeface="宋体" panose="02010600030101010101" pitchFamily="2" charset="-122"/>
              </a:rPr>
              <a:t>He had kept putting the work off for weeks, feeling all the time as if a </a:t>
            </a:r>
            <a:r>
              <a:rPr lang="en-US" altLang="zh-CN" dirty="0">
                <a:solidFill>
                  <a:schemeClr val="accent2">
                    <a:lumMod val="75000"/>
                  </a:schemeClr>
                </a:solidFill>
                <a:latin typeface="Calibri" panose="020F0502020204030204"/>
                <a:ea typeface="宋体" panose="02010600030101010101" pitchFamily="2" charset="-122"/>
              </a:rPr>
              <a:t>sword were hanging over his head</a:t>
            </a:r>
            <a:r>
              <a:rPr lang="en-US" altLang="zh-CN" dirty="0">
                <a:latin typeface="Calibri" panose="020F0502020204030204"/>
                <a:ea typeface="宋体" panose="02010600030101010101" pitchFamily="2" charset="-122"/>
              </a:rPr>
              <a:t>.</a:t>
            </a:r>
            <a:r>
              <a:rPr lang="en-US" altLang="zh-CN" b="1" dirty="0">
                <a:solidFill>
                  <a:schemeClr val="accent2">
                    <a:lumMod val="75000"/>
                  </a:schemeClr>
                </a:solidFill>
                <a:latin typeface="Calibri" panose="020F0502020204030204"/>
                <a:ea typeface="宋体" panose="02010600030101010101" pitchFamily="2" charset="-122"/>
              </a:rPr>
              <a:t> </a:t>
            </a:r>
            <a:r>
              <a:rPr lang="en-US" altLang="zh-CN" dirty="0">
                <a:solidFill>
                  <a:prstClr val="black"/>
                </a:solidFill>
                <a:latin typeface="Calibri" panose="020F0502020204030204"/>
                <a:ea typeface="宋体" panose="02010600030101010101" pitchFamily="2" charset="-122"/>
              </a:rPr>
              <a:t>(para. 6)</a:t>
            </a:r>
            <a:endParaRPr lang="en-US" altLang="zh-CN" dirty="0">
              <a:solidFill>
                <a:prstClr val="black"/>
              </a:solidFill>
              <a:latin typeface="Calibri" panose="020F0502020204030204"/>
              <a:ea typeface="宋体" panose="02010600030101010101" pitchFamily="2" charset="-122"/>
            </a:endParaRPr>
          </a:p>
          <a:p>
            <a:pPr marL="266700" indent="-266700" algn="just">
              <a:lnSpc>
                <a:spcPct val="100000"/>
              </a:lnSpc>
              <a:buNone/>
              <a:defRPr/>
            </a:pPr>
            <a:r>
              <a:rPr lang="zh-CN" altLang="en-US" dirty="0">
                <a:solidFill>
                  <a:prstClr val="black"/>
                </a:solidFill>
                <a:latin typeface="Calibri" panose="020F0502020204030204"/>
                <a:ea typeface="宋体" panose="02010600030101010101" pitchFamily="2" charset="-122"/>
              </a:rPr>
              <a:t>   </a:t>
            </a:r>
            <a:r>
              <a:rPr lang="en-US" altLang="zh-CN" dirty="0">
                <a:solidFill>
                  <a:prstClr val="black"/>
                </a:solidFill>
                <a:latin typeface="Calibri" panose="020F0502020204030204"/>
                <a:ea typeface="宋体" panose="02010600030101010101" pitchFamily="2" charset="-122"/>
              </a:rPr>
              <a:t>“Yes,” replied the headmaster, </a:t>
            </a:r>
            <a:r>
              <a:rPr lang="en-US" altLang="zh-CN" dirty="0">
                <a:solidFill>
                  <a:schemeClr val="accent2">
                    <a:lumMod val="75000"/>
                  </a:schemeClr>
                </a:solidFill>
                <a:latin typeface="Calibri" panose="020F0502020204030204"/>
                <a:ea typeface="宋体" panose="02010600030101010101" pitchFamily="2" charset="-122"/>
              </a:rPr>
              <a:t>smiling to himself</a:t>
            </a:r>
            <a:r>
              <a:rPr lang="en-US" altLang="zh-CN" dirty="0">
                <a:solidFill>
                  <a:prstClr val="black"/>
                </a:solidFill>
                <a:latin typeface="Calibri" panose="020F0502020204030204"/>
                <a:ea typeface="宋体" panose="02010600030101010101" pitchFamily="2" charset="-122"/>
              </a:rPr>
              <a:t>. (para. 14)</a:t>
            </a:r>
            <a:endParaRPr lang="en-US" altLang="zh-CN" dirty="0">
              <a:solidFill>
                <a:prstClr val="black"/>
              </a:solidFill>
              <a:latin typeface="Calibri" panose="020F0502020204030204"/>
              <a:ea typeface="宋体" panose="02010600030101010101" pitchFamily="2" charset="-122"/>
            </a:endParaRPr>
          </a:p>
          <a:p>
            <a:pPr marL="625475" indent="-625475" algn="just">
              <a:lnSpc>
                <a:spcPct val="100000"/>
              </a:lnSpc>
              <a:buNone/>
              <a:defRPr/>
            </a:pPr>
            <a:r>
              <a:rPr lang="zh-CN" altLang="en-US" dirty="0">
                <a:solidFill>
                  <a:prstClr val="black"/>
                </a:solidFill>
                <a:latin typeface="Calibri" panose="020F0502020204030204"/>
                <a:ea typeface="宋体" panose="02010600030101010101" pitchFamily="2" charset="-122"/>
              </a:rPr>
              <a:t>   </a:t>
            </a:r>
            <a:r>
              <a:rPr lang="en-US" altLang="zh-CN" dirty="0">
                <a:solidFill>
                  <a:prstClr val="black"/>
                </a:solidFill>
                <a:latin typeface="Calibri" panose="020F0502020204030204"/>
                <a:ea typeface="宋体" panose="02010600030101010101" pitchFamily="2" charset="-122"/>
              </a:rPr>
              <a:t>1.</a:t>
            </a:r>
            <a:r>
              <a:rPr lang="zh-CN" altLang="en-US" dirty="0">
                <a:solidFill>
                  <a:prstClr val="black"/>
                </a:solidFill>
                <a:latin typeface="Calibri" panose="020F0502020204030204"/>
                <a:ea typeface="宋体" panose="02010600030101010101" pitchFamily="2" charset="-122"/>
              </a:rPr>
              <a:t> </a:t>
            </a:r>
            <a:r>
              <a:rPr lang="en-GB" altLang="zh-CN" spc="-140" dirty="0">
                <a:solidFill>
                  <a:prstClr val="black"/>
                </a:solidFill>
                <a:uFillTx/>
                <a:latin typeface="Calibri" panose="020F0502020204030204"/>
                <a:ea typeface="宋体" panose="02010600030101010101" pitchFamily="2" charset="-122"/>
              </a:rPr>
              <a:t>The bank robber  finally decided to turn himself in </a:t>
            </a:r>
            <a:r>
              <a:rPr lang="en-US" altLang="zh-CN" spc="-140" dirty="0" smtClean="0">
                <a:solidFill>
                  <a:prstClr val="black"/>
                </a:solidFill>
                <a:uFillTx/>
                <a:latin typeface="Calibri" panose="020F0502020204030204"/>
                <a:ea typeface="宋体" panose="02010600030101010101" pitchFamily="2" charset="-122"/>
                <a:sym typeface="+mn-ea"/>
              </a:rPr>
              <a:t>________________________</a:t>
            </a:r>
            <a:r>
              <a:rPr lang="en-GB" altLang="zh-CN" spc="-200" dirty="0">
                <a:solidFill>
                  <a:prstClr val="black"/>
                </a:solidFill>
                <a:uFillTx/>
                <a:latin typeface="Calibri" panose="020F0502020204030204"/>
                <a:ea typeface="宋体" panose="02010600030101010101" pitchFamily="2" charset="-122"/>
              </a:rPr>
              <a:t>,</a:t>
            </a:r>
            <a:r>
              <a:rPr lang="zh-CN" altLang="en-US" spc="-200" dirty="0">
                <a:solidFill>
                  <a:prstClr val="black"/>
                </a:solidFill>
                <a:uFillTx/>
                <a:latin typeface="Calibri" panose="020F0502020204030204"/>
                <a:ea typeface="宋体" panose="02010600030101010101" pitchFamily="2" charset="-122"/>
              </a:rPr>
              <a:t> </a:t>
            </a:r>
            <a:r>
              <a:rPr lang="en-US" altLang="zh-CN" dirty="0">
                <a:solidFill>
                  <a:prstClr val="black"/>
                </a:solidFill>
                <a:latin typeface="Calibri" panose="020F0502020204030204"/>
                <a:ea typeface="宋体" panose="02010600030101010101" pitchFamily="2" charset="-122"/>
              </a:rPr>
              <a:t>_________________ </a:t>
            </a:r>
            <a:r>
              <a:rPr lang="zh-CN" altLang="en-US" sz="2400" dirty="0">
                <a:solidFill>
                  <a:schemeClr val="accent2">
                    <a:lumMod val="75000"/>
                  </a:schemeClr>
                </a:solidFill>
                <a:latin typeface="Calibri" panose="020F0502020204030204"/>
                <a:ea typeface="宋体" panose="02010600030101010101" pitchFamily="2" charset="-122"/>
              </a:rPr>
              <a:t>（省的警察们费劲抓捕他）</a:t>
            </a:r>
            <a:r>
              <a:rPr lang="en-US" altLang="zh-CN" dirty="0">
                <a:latin typeface="Calibri" panose="020F0502020204030204"/>
                <a:ea typeface="宋体" panose="02010600030101010101" pitchFamily="2" charset="-122"/>
              </a:rPr>
              <a:t>.</a:t>
            </a:r>
            <a:endParaRPr lang="en-US" altLang="zh-CN" dirty="0">
              <a:latin typeface="Calibri" panose="020F0502020204030204"/>
              <a:ea typeface="宋体" panose="02010600030101010101" pitchFamily="2" charset="-122"/>
            </a:endParaRPr>
          </a:p>
        </p:txBody>
      </p:sp>
      <p:sp>
        <p:nvSpPr>
          <p:cNvPr id="7" name="文本框 4"/>
          <p:cNvSpPr txBox="1">
            <a:spLocks noChangeArrowheads="1"/>
          </p:cNvSpPr>
          <p:nvPr/>
        </p:nvSpPr>
        <p:spPr bwMode="auto">
          <a:xfrm>
            <a:off x="184150" y="160338"/>
            <a:ext cx="7029450"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r>
              <a:rPr lang="en-US" altLang="zh-CN" sz="2400" dirty="0">
                <a:solidFill>
                  <a:schemeClr val="bg1"/>
                </a:solidFill>
                <a:latin typeface="Arial Black" panose="020B0A04020102020204" pitchFamily="34" charset="0"/>
              </a:rPr>
              <a:t>Exercises · Language Exercises</a:t>
            </a:r>
            <a:endParaRPr lang="en-US" altLang="zh-CN" sz="2400" dirty="0">
              <a:solidFill>
                <a:schemeClr val="bg1"/>
              </a:solidFill>
              <a:latin typeface="Arial Black" panose="020B0A04020102020204" pitchFamily="34" charset="0"/>
            </a:endParaRPr>
          </a:p>
        </p:txBody>
      </p:sp>
      <p:sp>
        <p:nvSpPr>
          <p:cNvPr id="8" name="文本框 7"/>
          <p:cNvSpPr txBox="1"/>
          <p:nvPr/>
        </p:nvSpPr>
        <p:spPr>
          <a:xfrm>
            <a:off x="7887730" y="4813300"/>
            <a:ext cx="4224895" cy="52197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saving the police the trouble </a:t>
            </a:r>
            <a:endParaRPr lang="zh-CN" altLang="en-US" sz="2800" spc="-100" dirty="0">
              <a:solidFill>
                <a:srgbClr val="C00000"/>
              </a:solidFill>
              <a:latin typeface="Calibri" panose="020F0502020204030204" charset="0"/>
              <a:ea typeface="宋体" panose="02010600030101010101" pitchFamily="2" charset="-122"/>
            </a:endParaRPr>
          </a:p>
        </p:txBody>
      </p:sp>
      <p:pic>
        <p:nvPicPr>
          <p:cNvPr id="9" name="图片 8">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pic>
        <p:nvPicPr>
          <p:cNvPr id="10" name="图片 9">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t="18378" b="31548"/>
          <a:stretch>
            <a:fillRect/>
          </a:stretch>
        </p:blipFill>
        <p:spPr>
          <a:xfrm>
            <a:off x="10617946" y="174625"/>
            <a:ext cx="524510" cy="427355"/>
          </a:xfrm>
          <a:prstGeom prst="rect">
            <a:avLst/>
          </a:prstGeom>
        </p:spPr>
      </p:pic>
      <p:sp>
        <p:nvSpPr>
          <p:cNvPr id="2" name="文本框 1"/>
          <p:cNvSpPr txBox="1"/>
          <p:nvPr/>
        </p:nvSpPr>
        <p:spPr>
          <a:xfrm>
            <a:off x="918518" y="5228590"/>
            <a:ext cx="3134497"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of tracking him down</a:t>
            </a:r>
            <a:endParaRPr lang="zh-CN" altLang="en-US" sz="2800" spc="-100" dirty="0">
              <a:solidFill>
                <a:srgbClr val="C00000"/>
              </a:solidFill>
              <a:latin typeface="Calibri" panose="020F050202020403020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dissolv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1" name="内容占位符 2"/>
          <p:cNvSpPr>
            <a:spLocks noGrp="1"/>
          </p:cNvSpPr>
          <p:nvPr/>
        </p:nvSpPr>
        <p:spPr>
          <a:xfrm>
            <a:off x="244475" y="881380"/>
            <a:ext cx="11684000" cy="507174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algn="just">
              <a:buNone/>
              <a:defRPr/>
            </a:pPr>
            <a:r>
              <a:rPr lang="en-US" altLang="zh-CN" b="1" dirty="0">
                <a:latin typeface="Calibri" panose="020F0502020204030204"/>
                <a:ea typeface="宋体" panose="02010600030101010101" pitchFamily="2" charset="-122"/>
              </a:rPr>
              <a:t>5. Study the following examples and complete the sentences by translating the Chinese in the brackets. </a:t>
            </a:r>
            <a:endParaRPr lang="en-US" altLang="zh-CN" b="1" dirty="0">
              <a:latin typeface="Calibri" panose="020F0502020204030204"/>
              <a:ea typeface="宋体" panose="02010600030101010101" pitchFamily="2" charset="-122"/>
            </a:endParaRPr>
          </a:p>
          <a:p>
            <a:pPr marL="625475" indent="-625475" algn="just">
              <a:lnSpc>
                <a:spcPct val="100000"/>
              </a:lnSpc>
              <a:buNone/>
              <a:defRPr/>
            </a:pPr>
            <a:r>
              <a:rPr lang="zh-CN" altLang="en-US" dirty="0">
                <a:solidFill>
                  <a:prstClr val="black"/>
                </a:solidFill>
                <a:latin typeface="Calibri" panose="020F0502020204030204"/>
                <a:ea typeface="宋体" panose="02010600030101010101" pitchFamily="2" charset="-122"/>
              </a:rPr>
              <a:t>   </a:t>
            </a:r>
            <a:r>
              <a:rPr lang="en-US" altLang="zh-CN" dirty="0">
                <a:solidFill>
                  <a:prstClr val="black"/>
                </a:solidFill>
                <a:latin typeface="Calibri" panose="020F0502020204030204"/>
                <a:ea typeface="宋体" panose="02010600030101010101" pitchFamily="2" charset="-122"/>
              </a:rPr>
              <a:t>2. ______________</a:t>
            </a:r>
            <a:r>
              <a:rPr lang="zh-CN" altLang="en-US" sz="2400" dirty="0">
                <a:solidFill>
                  <a:schemeClr val="accent2">
                    <a:lumMod val="75000"/>
                  </a:schemeClr>
                </a:solidFill>
                <a:latin typeface="Calibri" panose="020F0502020204030204"/>
                <a:ea typeface="宋体" panose="02010600030101010101" pitchFamily="2" charset="-122"/>
              </a:rPr>
              <a:t>（冒着生命危险）</a:t>
            </a:r>
            <a:r>
              <a:rPr lang="en-US" altLang="zh-CN" dirty="0">
                <a:solidFill>
                  <a:prstClr val="black"/>
                </a:solidFill>
                <a:latin typeface="Calibri" panose="020F0502020204030204"/>
                <a:ea typeface="宋体" panose="02010600030101010101" pitchFamily="2" charset="-122"/>
              </a:rPr>
              <a:t>, the  firefighters forced their way into the burning house to rescue the missing kids.</a:t>
            </a:r>
            <a:endParaRPr lang="en-US" altLang="zh-CN" dirty="0">
              <a:solidFill>
                <a:prstClr val="black"/>
              </a:solidFill>
              <a:latin typeface="Calibri" panose="020F0502020204030204"/>
              <a:ea typeface="宋体" panose="02010600030101010101" pitchFamily="2" charset="-122"/>
            </a:endParaRPr>
          </a:p>
          <a:p>
            <a:pPr marL="625475" indent="-625475" algn="just">
              <a:lnSpc>
                <a:spcPct val="100000"/>
              </a:lnSpc>
              <a:buNone/>
              <a:defRPr/>
            </a:pPr>
            <a:r>
              <a:rPr lang="en-US" altLang="zh-CN" dirty="0">
                <a:solidFill>
                  <a:prstClr val="black"/>
                </a:solidFill>
                <a:latin typeface="Calibri" panose="020F0502020204030204"/>
                <a:ea typeface="宋体" panose="02010600030101010101" pitchFamily="2" charset="-122"/>
                <a:sym typeface="+mn-ea"/>
              </a:rPr>
              <a:t>3. She has been training for this competition for two years, thus   _________________________________________ </a:t>
            </a:r>
            <a:r>
              <a:rPr lang="zh-CN" altLang="en-US" dirty="0">
                <a:solidFill>
                  <a:schemeClr val="accent2">
                    <a:lumMod val="75000"/>
                  </a:schemeClr>
                </a:solidFill>
                <a:latin typeface="Calibri" panose="020F0502020204030204"/>
                <a:ea typeface="宋体" panose="02010600030101010101" pitchFamily="2" charset="-122"/>
                <a:sym typeface="+mn-ea"/>
              </a:rPr>
              <a:t>（很有可能赢得冠军）</a:t>
            </a:r>
            <a:r>
              <a:rPr lang="en-US" altLang="zh-CN" dirty="0">
                <a:solidFill>
                  <a:prstClr val="black"/>
                </a:solidFill>
                <a:latin typeface="Calibri" panose="020F0502020204030204"/>
                <a:ea typeface="宋体" panose="02010600030101010101" pitchFamily="2" charset="-122"/>
                <a:sym typeface="+mn-ea"/>
              </a:rPr>
              <a:t>.</a:t>
            </a:r>
            <a:endParaRPr lang="en-US" altLang="zh-CN" dirty="0">
              <a:solidFill>
                <a:prstClr val="black"/>
              </a:solidFill>
              <a:latin typeface="Calibri" panose="020F0502020204030204"/>
              <a:ea typeface="宋体" panose="02010600030101010101" pitchFamily="2" charset="-122"/>
              <a:sym typeface="+mn-ea"/>
            </a:endParaRPr>
          </a:p>
          <a:p>
            <a:pPr marL="625475" indent="-625475" algn="just">
              <a:lnSpc>
                <a:spcPct val="100000"/>
              </a:lnSpc>
              <a:buNone/>
              <a:defRPr/>
            </a:pPr>
            <a:r>
              <a:rPr lang="en-GB" altLang="zh-CN" dirty="0">
                <a:latin typeface="Calibri" panose="020F0502020204030204"/>
                <a:ea typeface="宋体" panose="02010600030101010101" pitchFamily="2" charset="-122"/>
                <a:sym typeface="+mn-ea"/>
              </a:rPr>
              <a:t>4.</a:t>
            </a:r>
            <a:r>
              <a:rPr lang="zh-CN" altLang="en-US" dirty="0">
                <a:latin typeface="Calibri" panose="020F0502020204030204"/>
                <a:ea typeface="宋体" panose="02010600030101010101" pitchFamily="2" charset="-122"/>
                <a:sym typeface="+mn-ea"/>
              </a:rPr>
              <a:t> </a:t>
            </a:r>
            <a:r>
              <a:rPr lang="en-US" altLang="zh-CN" dirty="0">
                <a:latin typeface="Calibri" panose="020F0502020204030204"/>
                <a:ea typeface="宋体" panose="02010600030101010101" pitchFamily="2" charset="-122"/>
                <a:sym typeface="+mn-ea"/>
              </a:rPr>
              <a:t>___________ </a:t>
            </a:r>
            <a:r>
              <a:rPr lang="zh-CN" altLang="en-US" dirty="0">
                <a:solidFill>
                  <a:schemeClr val="accent2">
                    <a:lumMod val="75000"/>
                  </a:schemeClr>
                </a:solidFill>
                <a:latin typeface="Calibri" panose="020F0502020204030204"/>
                <a:ea typeface="宋体" panose="02010600030101010101" pitchFamily="2" charset="-122"/>
                <a:sym typeface="+mn-ea"/>
              </a:rPr>
              <a:t>（前几天）</a:t>
            </a:r>
            <a:r>
              <a:rPr lang="en-US" altLang="zh-CN" dirty="0">
                <a:solidFill>
                  <a:schemeClr val="accent2">
                    <a:lumMod val="75000"/>
                  </a:schemeClr>
                </a:solidFill>
                <a:latin typeface="Calibri" panose="020F0502020204030204"/>
                <a:ea typeface="宋体" panose="02010600030101010101" pitchFamily="2" charset="-122"/>
                <a:sym typeface="+mn-ea"/>
              </a:rPr>
              <a:t> </a:t>
            </a:r>
            <a:r>
              <a:rPr lang="en-GB" altLang="zh-CN" dirty="0">
                <a:solidFill>
                  <a:schemeClr val="accent2">
                    <a:lumMod val="75000"/>
                  </a:schemeClr>
                </a:solidFill>
                <a:latin typeface="Calibri" panose="020F0502020204030204"/>
                <a:ea typeface="宋体" panose="02010600030101010101" pitchFamily="2" charset="-122"/>
                <a:sym typeface="+mn-ea"/>
              </a:rPr>
              <a:t> </a:t>
            </a:r>
            <a:r>
              <a:rPr lang="en-GB" altLang="zh-CN" dirty="0">
                <a:latin typeface="Calibri" panose="020F0502020204030204"/>
                <a:ea typeface="宋体" panose="02010600030101010101" pitchFamily="2" charset="-122"/>
                <a:sym typeface="+mn-ea"/>
              </a:rPr>
              <a:t>I ran into an old classmate I hadn’t seen for a few years, but I couldn’t recall his name. I am getting terribly forgetful </a:t>
            </a:r>
            <a:r>
              <a:rPr lang="zh-CN" altLang="en-US" dirty="0">
                <a:latin typeface="Calibri" panose="020F0502020204030204"/>
                <a:ea typeface="宋体" panose="02010600030101010101" pitchFamily="2" charset="-122"/>
                <a:sym typeface="+mn-ea"/>
              </a:rPr>
              <a:t>  </a:t>
            </a:r>
            <a:r>
              <a:rPr lang="en-GB" altLang="zh-CN" dirty="0">
                <a:latin typeface="Calibri" panose="020F0502020204030204"/>
                <a:ea typeface="宋体" panose="02010600030101010101" pitchFamily="2" charset="-122"/>
                <a:sym typeface="+mn-ea"/>
              </a:rPr>
              <a:t>_________</a:t>
            </a:r>
            <a:r>
              <a:rPr lang="zh-CN" altLang="en-US" dirty="0">
                <a:solidFill>
                  <a:schemeClr val="accent2">
                    <a:lumMod val="75000"/>
                  </a:schemeClr>
                </a:solidFill>
                <a:latin typeface="Calibri" panose="020F0502020204030204"/>
                <a:ea typeface="宋体" panose="02010600030101010101" pitchFamily="2" charset="-122"/>
                <a:sym typeface="+mn-ea"/>
              </a:rPr>
              <a:t>（最近这些日子）</a:t>
            </a:r>
            <a:r>
              <a:rPr lang="en-US" altLang="zh-CN" dirty="0">
                <a:latin typeface="Calibri" panose="020F0502020204030204" charset="0"/>
                <a:ea typeface="宋体" panose="02010600030101010101" pitchFamily="2" charset="-122"/>
                <a:cs typeface="Calibri" panose="020F0502020204030204" charset="0"/>
                <a:sym typeface="+mn-ea"/>
              </a:rPr>
              <a:t>.</a:t>
            </a:r>
            <a:endParaRPr lang="en-US" altLang="zh-CN" dirty="0">
              <a:solidFill>
                <a:prstClr val="black"/>
              </a:solidFill>
              <a:latin typeface="Calibri" panose="020F0502020204030204"/>
              <a:ea typeface="宋体" panose="02010600030101010101" pitchFamily="2" charset="-122"/>
            </a:endParaRPr>
          </a:p>
          <a:p>
            <a:pPr marL="625475" indent="-625475" algn="just">
              <a:lnSpc>
                <a:spcPct val="100000"/>
              </a:lnSpc>
              <a:buNone/>
              <a:defRPr/>
            </a:pPr>
            <a:endParaRPr lang="en-US" altLang="zh-CN" dirty="0">
              <a:solidFill>
                <a:prstClr val="black"/>
              </a:solidFill>
              <a:latin typeface="Calibri" panose="020F0502020204030204"/>
              <a:ea typeface="宋体" panose="02010600030101010101" pitchFamily="2" charset="-122"/>
            </a:endParaRPr>
          </a:p>
        </p:txBody>
      </p:sp>
      <p:sp>
        <p:nvSpPr>
          <p:cNvPr id="7" name="文本框 4"/>
          <p:cNvSpPr txBox="1">
            <a:spLocks noChangeArrowheads="1"/>
          </p:cNvSpPr>
          <p:nvPr/>
        </p:nvSpPr>
        <p:spPr bwMode="auto">
          <a:xfrm>
            <a:off x="184150" y="160338"/>
            <a:ext cx="7029450"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r>
              <a:rPr lang="en-US" altLang="zh-CN" sz="2400" dirty="0">
                <a:solidFill>
                  <a:schemeClr val="bg1"/>
                </a:solidFill>
                <a:latin typeface="Arial Black" panose="020B0A04020102020204" pitchFamily="34" charset="0"/>
              </a:rPr>
              <a:t>Exercises · Language Exercises</a:t>
            </a:r>
            <a:endParaRPr lang="en-US" altLang="zh-CN" sz="2400" dirty="0">
              <a:solidFill>
                <a:schemeClr val="bg1"/>
              </a:solidFill>
              <a:latin typeface="Arial Black" panose="020B0A04020102020204" pitchFamily="34" charset="0"/>
            </a:endParaRPr>
          </a:p>
        </p:txBody>
      </p:sp>
      <p:pic>
        <p:nvPicPr>
          <p:cNvPr id="9" name="图片 8">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pic>
        <p:nvPicPr>
          <p:cNvPr id="10" name="图片 9">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t="18378" b="31548"/>
          <a:stretch>
            <a:fillRect/>
          </a:stretch>
        </p:blipFill>
        <p:spPr>
          <a:xfrm>
            <a:off x="10617946" y="174625"/>
            <a:ext cx="524510" cy="427355"/>
          </a:xfrm>
          <a:prstGeom prst="rect">
            <a:avLst/>
          </a:prstGeom>
        </p:spPr>
      </p:pic>
      <p:sp>
        <p:nvSpPr>
          <p:cNvPr id="14" name="文本框 13"/>
          <p:cNvSpPr txBox="1"/>
          <p:nvPr/>
        </p:nvSpPr>
        <p:spPr>
          <a:xfrm>
            <a:off x="890922" y="1702627"/>
            <a:ext cx="2700638"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Risking their lives</a:t>
            </a:r>
            <a:endParaRPr lang="zh-CN" altLang="en-US" sz="2800" spc="-100" dirty="0">
              <a:solidFill>
                <a:srgbClr val="C00000"/>
              </a:solidFill>
              <a:latin typeface="Calibri" panose="020F0502020204030204" charset="0"/>
              <a:ea typeface="宋体" panose="02010600030101010101" pitchFamily="2" charset="-122"/>
            </a:endParaRPr>
          </a:p>
        </p:txBody>
      </p:sp>
      <p:sp>
        <p:nvSpPr>
          <p:cNvPr id="8" name="文本框 7"/>
          <p:cNvSpPr txBox="1"/>
          <p:nvPr/>
        </p:nvSpPr>
        <p:spPr>
          <a:xfrm>
            <a:off x="935937" y="3167400"/>
            <a:ext cx="7631413" cy="523220"/>
          </a:xfrm>
          <a:prstGeom prst="rect">
            <a:avLst/>
          </a:prstGeom>
          <a:noFill/>
        </p:spPr>
        <p:txBody>
          <a:bodyPr wrap="square" rtlCol="0">
            <a:spAutoFit/>
          </a:bodyPr>
          <a:p>
            <a:r>
              <a:rPr lang="en-US" altLang="zh-CN" sz="2800" spc="-100" dirty="0">
                <a:solidFill>
                  <a:srgbClr val="C00000"/>
                </a:solidFill>
                <a:latin typeface="Calibri" panose="020F0502020204030204" charset="0"/>
                <a:ea typeface="宋体" panose="02010600030101010101" pitchFamily="2" charset="-122"/>
              </a:rPr>
              <a:t>standing a good chance of winning the championship</a:t>
            </a:r>
            <a:endParaRPr lang="zh-CN" altLang="en-US" sz="2800" spc="-100" dirty="0">
              <a:solidFill>
                <a:srgbClr val="C00000"/>
              </a:solidFill>
              <a:latin typeface="Calibri" panose="020F0502020204030204" charset="0"/>
              <a:ea typeface="宋体" panose="02010600030101010101" pitchFamily="2" charset="-122"/>
            </a:endParaRPr>
          </a:p>
        </p:txBody>
      </p:sp>
      <p:sp>
        <p:nvSpPr>
          <p:cNvPr id="2" name="文本框 1"/>
          <p:cNvSpPr txBox="1"/>
          <p:nvPr/>
        </p:nvSpPr>
        <p:spPr>
          <a:xfrm>
            <a:off x="879303" y="4036393"/>
            <a:ext cx="2183113" cy="523220"/>
          </a:xfrm>
          <a:prstGeom prst="rect">
            <a:avLst/>
          </a:prstGeom>
          <a:noFill/>
        </p:spPr>
        <p:txBody>
          <a:bodyPr wrap="square" rtlCol="0">
            <a:spAutoFit/>
          </a:bodyPr>
          <a:p>
            <a:r>
              <a:rPr lang="en-US" altLang="zh-CN" sz="2800" spc="-100" dirty="0">
                <a:solidFill>
                  <a:srgbClr val="C00000"/>
                </a:solidFill>
                <a:latin typeface="Calibri" panose="020F0502020204030204" charset="0"/>
                <a:ea typeface="宋体" panose="02010600030101010101" pitchFamily="2" charset="-122"/>
              </a:rPr>
              <a:t>The other day</a:t>
            </a:r>
            <a:endParaRPr lang="zh-CN" altLang="en-US" sz="2800" spc="-100" dirty="0">
              <a:solidFill>
                <a:srgbClr val="C00000"/>
              </a:solidFill>
              <a:latin typeface="Calibri" panose="020F0502020204030204" charset="0"/>
              <a:ea typeface="宋体" panose="02010600030101010101" pitchFamily="2" charset="-122"/>
            </a:endParaRPr>
          </a:p>
        </p:txBody>
      </p:sp>
      <p:sp>
        <p:nvSpPr>
          <p:cNvPr id="3" name="文本框 2"/>
          <p:cNvSpPr txBox="1"/>
          <p:nvPr/>
        </p:nvSpPr>
        <p:spPr>
          <a:xfrm>
            <a:off x="799164" y="4980694"/>
            <a:ext cx="1660346" cy="523220"/>
          </a:xfrm>
          <a:prstGeom prst="rect">
            <a:avLst/>
          </a:prstGeom>
          <a:noFill/>
        </p:spPr>
        <p:txBody>
          <a:bodyPr wrap="square" rtlCol="0">
            <a:spAutoFit/>
          </a:bodyPr>
          <a:p>
            <a:r>
              <a:rPr lang="en-US" altLang="zh-CN" sz="2800" spc="-100" dirty="0">
                <a:solidFill>
                  <a:srgbClr val="C00000"/>
                </a:solidFill>
                <a:latin typeface="Calibri" panose="020F0502020204030204" charset="0"/>
                <a:ea typeface="宋体" panose="02010600030101010101" pitchFamily="2" charset="-122"/>
              </a:rPr>
              <a:t>these days</a:t>
            </a:r>
            <a:endParaRPr lang="zh-CN" altLang="en-US" sz="2800" spc="-100" dirty="0">
              <a:solidFill>
                <a:srgbClr val="C00000"/>
              </a:solidFill>
              <a:latin typeface="Calibri" panose="020F050202020403020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dissolv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8" grpId="0"/>
      <p:bldP spid="2" grpId="0"/>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1"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algn="just">
              <a:lnSpc>
                <a:spcPct val="100000"/>
              </a:lnSpc>
              <a:spcBef>
                <a:spcPts val="0"/>
              </a:spcBef>
              <a:buNone/>
              <a:defRPr/>
            </a:pPr>
            <a:r>
              <a:rPr lang="en-US" altLang="zh-CN" b="1" dirty="0">
                <a:latin typeface="Calibri" panose="020F0502020204030204"/>
                <a:ea typeface="宋体" panose="02010600030101010101" pitchFamily="2" charset="-122"/>
              </a:rPr>
              <a:t>5. Study the following examples and complete the sentences by translating the Chinese in the brackets. </a:t>
            </a:r>
            <a:endParaRPr lang="en-US" altLang="zh-CN" b="1" dirty="0">
              <a:latin typeface="Calibri" panose="020F0502020204030204"/>
              <a:ea typeface="宋体" panose="02010600030101010101" pitchFamily="2" charset="-122"/>
            </a:endParaRPr>
          </a:p>
          <a:p>
            <a:pPr marL="266700" indent="-266700" algn="just">
              <a:lnSpc>
                <a:spcPct val="100000"/>
              </a:lnSpc>
              <a:spcBef>
                <a:spcPts val="0"/>
              </a:spcBef>
              <a:buNone/>
              <a:defRPr/>
            </a:pPr>
            <a:r>
              <a:rPr lang="en-US" altLang="zh-CN" b="1" dirty="0" smtClean="0">
                <a:solidFill>
                  <a:schemeClr val="accent2">
                    <a:lumMod val="75000"/>
                  </a:schemeClr>
                </a:solidFill>
                <a:latin typeface="Calibri" panose="020F0502020204030204"/>
                <a:ea typeface="宋体" panose="02010600030101010101" pitchFamily="2" charset="-122"/>
              </a:rPr>
              <a:t>  </a:t>
            </a:r>
            <a:r>
              <a:rPr lang="en-US" altLang="zh-CN" dirty="0" smtClean="0">
                <a:latin typeface="Calibri" panose="020F0502020204030204"/>
                <a:ea typeface="宋体" panose="02010600030101010101" pitchFamily="2" charset="-122"/>
              </a:rPr>
              <a:t>   </a:t>
            </a:r>
            <a:r>
              <a:rPr lang="en-US" altLang="zh-CN" dirty="0">
                <a:latin typeface="Calibri" panose="020F0502020204030204"/>
                <a:ea typeface="宋体" panose="02010600030101010101" pitchFamily="2" charset="-122"/>
              </a:rPr>
              <a:t>5. </a:t>
            </a:r>
            <a:r>
              <a:rPr lang="en-US" altLang="zh-CN" dirty="0" smtClean="0">
                <a:latin typeface="Calibri" panose="020F0502020204030204"/>
                <a:ea typeface="宋体" panose="02010600030101010101" pitchFamily="2" charset="-122"/>
              </a:rPr>
              <a:t>_________________________________</a:t>
            </a:r>
            <a:r>
              <a:rPr lang="zh-CN" altLang="en-US" sz="2400" dirty="0" smtClean="0">
                <a:solidFill>
                  <a:schemeClr val="accent2">
                    <a:lumMod val="75000"/>
                  </a:schemeClr>
                </a:solidFill>
                <a:latin typeface="Calibri" panose="020F0502020204030204"/>
                <a:ea typeface="宋体" panose="02010600030101010101" pitchFamily="2" charset="-122"/>
              </a:rPr>
              <a:t>（</a:t>
            </a:r>
            <a:r>
              <a:rPr lang="zh-CN" altLang="en-US" sz="2400" dirty="0">
                <a:solidFill>
                  <a:schemeClr val="accent2">
                    <a:lumMod val="75000"/>
                  </a:schemeClr>
                </a:solidFill>
                <a:latin typeface="Calibri" panose="020F0502020204030204"/>
                <a:ea typeface="宋体" panose="02010600030101010101" pitchFamily="2" charset="-122"/>
              </a:rPr>
              <a:t>瞧他那个样子</a:t>
            </a:r>
            <a:r>
              <a:rPr lang="zh-CN" altLang="en-US" sz="2400" dirty="0" smtClean="0">
                <a:solidFill>
                  <a:schemeClr val="accent2">
                    <a:lumMod val="75000"/>
                  </a:schemeClr>
                </a:solidFill>
                <a:latin typeface="Calibri" panose="020F0502020204030204"/>
                <a:ea typeface="宋体" panose="02010600030101010101" pitchFamily="2" charset="-122"/>
              </a:rPr>
              <a:t>）</a:t>
            </a:r>
            <a:r>
              <a:rPr lang="en-US" altLang="zh-CN" dirty="0" smtClean="0">
                <a:latin typeface="Calibri" panose="020F0502020204030204"/>
                <a:ea typeface="宋体" panose="02010600030101010101" pitchFamily="2" charset="-122"/>
              </a:rPr>
              <a:t>, </a:t>
            </a:r>
            <a:r>
              <a:rPr lang="en-GB" altLang="zh-CN" dirty="0">
                <a:latin typeface="Calibri" panose="020F0502020204030204"/>
                <a:ea typeface="宋体" panose="02010600030101010101" pitchFamily="2" charset="-122"/>
              </a:rPr>
              <a:t>you could easily take him for your next- door happy-go-lucky old </a:t>
            </a:r>
            <a:r>
              <a:rPr lang="en-GB" altLang="zh-CN" dirty="0" err="1">
                <a:latin typeface="Calibri" panose="020F0502020204030204"/>
                <a:ea typeface="宋体" panose="02010600030101010101" pitchFamily="2" charset="-122"/>
              </a:rPr>
              <a:t>neighbor</a:t>
            </a:r>
            <a:r>
              <a:rPr lang="en-GB" altLang="zh-CN" dirty="0">
                <a:latin typeface="Calibri" panose="020F0502020204030204"/>
                <a:ea typeface="宋体" panose="02010600030101010101" pitchFamily="2" charset="-122"/>
              </a:rPr>
              <a:t>. You would never guess that he is actually a most dangerous foreign spy.</a:t>
            </a:r>
            <a:endParaRPr lang="en-GB" altLang="zh-CN" dirty="0">
              <a:latin typeface="Calibri" panose="020F0502020204030204"/>
              <a:ea typeface="宋体" panose="02010600030101010101" pitchFamily="2" charset="-122"/>
            </a:endParaRPr>
          </a:p>
          <a:p>
            <a:pPr marL="266700" indent="-266700" algn="just">
              <a:lnSpc>
                <a:spcPct val="100000"/>
              </a:lnSpc>
              <a:spcBef>
                <a:spcPts val="0"/>
              </a:spcBef>
              <a:buNone/>
              <a:defRPr/>
            </a:pPr>
            <a:r>
              <a:rPr lang="en-GB" altLang="zh-CN" dirty="0">
                <a:latin typeface="Calibri" panose="020F0502020204030204"/>
                <a:ea typeface="宋体" panose="02010600030101010101" pitchFamily="2" charset="-122"/>
                <a:sym typeface="+mn-ea"/>
              </a:rPr>
              <a:t>6.</a:t>
            </a:r>
            <a:r>
              <a:rPr lang="zh-CN" altLang="en-US" dirty="0">
                <a:latin typeface="Calibri" panose="020F0502020204030204"/>
                <a:ea typeface="宋体" panose="02010600030101010101" pitchFamily="2" charset="-122"/>
                <a:sym typeface="+mn-ea"/>
              </a:rPr>
              <a:t> </a:t>
            </a:r>
            <a:r>
              <a:rPr lang="en-US" altLang="zh-CN" dirty="0">
                <a:latin typeface="Calibri" panose="020F0502020204030204"/>
                <a:ea typeface="宋体" panose="02010600030101010101" pitchFamily="2" charset="-122"/>
                <a:sym typeface="+mn-ea"/>
              </a:rPr>
              <a:t>______________</a:t>
            </a:r>
            <a:r>
              <a:rPr lang="zh-CN" altLang="en-US" dirty="0">
                <a:solidFill>
                  <a:schemeClr val="accent2">
                    <a:lumMod val="75000"/>
                  </a:schemeClr>
                </a:solidFill>
                <a:latin typeface="Calibri" panose="020F0502020204030204"/>
                <a:ea typeface="宋体" panose="02010600030101010101" pitchFamily="2" charset="-122"/>
                <a:sym typeface="+mn-ea"/>
              </a:rPr>
              <a:t>（回家路上）</a:t>
            </a:r>
            <a:r>
              <a:rPr lang="en-US" altLang="zh-CN" dirty="0">
                <a:solidFill>
                  <a:schemeClr val="accent2">
                    <a:lumMod val="75000"/>
                  </a:schemeClr>
                </a:solidFill>
                <a:latin typeface="Calibri" panose="020F0502020204030204"/>
                <a:ea typeface="宋体" panose="02010600030101010101" pitchFamily="2" charset="-122"/>
                <a:sym typeface="+mn-ea"/>
              </a:rPr>
              <a:t> </a:t>
            </a:r>
            <a:r>
              <a:rPr lang="en-GB" altLang="zh-CN" dirty="0">
                <a:latin typeface="Calibri" panose="020F0502020204030204"/>
                <a:ea typeface="宋体" panose="02010600030101010101" pitchFamily="2" charset="-122"/>
                <a:sym typeface="+mn-ea"/>
              </a:rPr>
              <a:t>I was thinking of how I could respond to my</a:t>
            </a:r>
            <a:r>
              <a:rPr lang="zh-CN" altLang="en-US" dirty="0">
                <a:latin typeface="Calibri" panose="020F0502020204030204"/>
                <a:ea typeface="宋体" panose="02010600030101010101" pitchFamily="2" charset="-122"/>
                <a:sym typeface="+mn-ea"/>
              </a:rPr>
              <a:t> </a:t>
            </a:r>
            <a:r>
              <a:rPr lang="en-US" altLang="zh-CN" dirty="0">
                <a:latin typeface="Calibri" panose="020F0502020204030204"/>
                <a:ea typeface="宋体" panose="02010600030101010101" pitchFamily="2" charset="-122"/>
                <a:sym typeface="+mn-ea"/>
              </a:rPr>
              <a:t>parents</a:t>
            </a:r>
            <a:r>
              <a:rPr lang="en-GB" altLang="zh-CN" dirty="0">
                <a:latin typeface="Calibri" panose="020F0502020204030204"/>
                <a:ea typeface="宋体" panose="02010600030101010101" pitchFamily="2" charset="-122"/>
                <a:sym typeface="+mn-ea"/>
              </a:rPr>
              <a:t>. </a:t>
            </a:r>
            <a:r>
              <a:rPr lang="en-GB" altLang="zh-CN" spc="-120" dirty="0">
                <a:latin typeface="Calibri" panose="020F0502020204030204"/>
                <a:ea typeface="宋体" panose="02010600030101010101" pitchFamily="2" charset="-122"/>
                <a:sym typeface="+mn-ea"/>
              </a:rPr>
              <a:t>_____________</a:t>
            </a:r>
            <a:r>
              <a:rPr lang="en-US" altLang="en-GB" spc="-120" dirty="0">
                <a:latin typeface="Calibri" panose="020F0502020204030204"/>
                <a:ea typeface="宋体" panose="02010600030101010101" pitchFamily="2" charset="-122"/>
                <a:sym typeface="+mn-ea"/>
              </a:rPr>
              <a:t>__</a:t>
            </a:r>
            <a:r>
              <a:rPr lang="en-GB" altLang="zh-CN" spc="-120" dirty="0">
                <a:latin typeface="Calibri" panose="020F0502020204030204"/>
                <a:ea typeface="宋体" panose="02010600030101010101" pitchFamily="2" charset="-122"/>
                <a:sym typeface="+mn-ea"/>
              </a:rPr>
              <a:t>_____</a:t>
            </a:r>
            <a:r>
              <a:rPr lang="zh-CN" altLang="en-US" dirty="0">
                <a:solidFill>
                  <a:schemeClr val="accent2">
                    <a:lumMod val="75000"/>
                  </a:schemeClr>
                </a:solidFill>
                <a:latin typeface="Calibri" panose="020F0502020204030204"/>
                <a:ea typeface="宋体" panose="02010600030101010101" pitchFamily="2" charset="-122"/>
                <a:sym typeface="+mn-ea"/>
              </a:rPr>
              <a:t>（他们一看到我）</a:t>
            </a:r>
            <a:r>
              <a:rPr lang="en-US" altLang="zh-CN" dirty="0">
                <a:latin typeface="Calibri" panose="020F0502020204030204" charset="0"/>
                <a:ea typeface="宋体" panose="02010600030101010101" pitchFamily="2" charset="-122"/>
                <a:cs typeface="Calibri" panose="020F0502020204030204" charset="0"/>
                <a:sym typeface="+mn-ea"/>
              </a:rPr>
              <a:t>, they will want to know when I can bring a boyfriend home.</a:t>
            </a:r>
            <a:endParaRPr lang="en-US" altLang="zh-CN" dirty="0">
              <a:latin typeface="Calibri" panose="020F0502020204030204" charset="0"/>
              <a:ea typeface="宋体" panose="02010600030101010101" pitchFamily="2" charset="-122"/>
              <a:cs typeface="Calibri" panose="020F0502020204030204" charset="0"/>
              <a:sym typeface="+mn-ea"/>
            </a:endParaRPr>
          </a:p>
          <a:p>
            <a:pPr marL="266700" indent="-266700" algn="just">
              <a:lnSpc>
                <a:spcPct val="100000"/>
              </a:lnSpc>
              <a:spcBef>
                <a:spcPts val="0"/>
              </a:spcBef>
              <a:buNone/>
              <a:defRPr/>
            </a:pPr>
            <a:r>
              <a:rPr lang="en-US" altLang="zh-CN" dirty="0">
                <a:latin typeface="Calibri" panose="020F0502020204030204" charset="0"/>
                <a:ea typeface="宋体" panose="02010600030101010101" pitchFamily="2" charset="-122"/>
                <a:cs typeface="Calibri" panose="020F0502020204030204" charset="0"/>
                <a:sym typeface="+mn-ea"/>
              </a:rPr>
              <a:t>7. </a:t>
            </a:r>
            <a:r>
              <a:rPr lang="en-US" altLang="zh-CN" dirty="0" smtClean="0">
                <a:latin typeface="Calibri" panose="020F0502020204030204" charset="0"/>
                <a:ea typeface="宋体" panose="02010600030101010101" pitchFamily="2" charset="-122"/>
                <a:cs typeface="Calibri" panose="020F0502020204030204" charset="0"/>
                <a:sym typeface="+mn-ea"/>
              </a:rPr>
              <a:t>__________________________</a:t>
            </a:r>
            <a:r>
              <a:rPr lang="zh-CN" altLang="en-US" dirty="0" smtClean="0">
                <a:solidFill>
                  <a:schemeClr val="accent2">
                    <a:lumMod val="75000"/>
                  </a:schemeClr>
                </a:solidFill>
                <a:latin typeface="Calibri" panose="020F0502020204030204"/>
                <a:ea typeface="宋体" panose="02010600030101010101" pitchFamily="2" charset="-122"/>
                <a:sym typeface="+mn-ea"/>
              </a:rPr>
              <a:t>（</a:t>
            </a:r>
            <a:r>
              <a:rPr lang="zh-CN" altLang="en-US" dirty="0">
                <a:solidFill>
                  <a:schemeClr val="accent2">
                    <a:lumMod val="75000"/>
                  </a:schemeClr>
                </a:solidFill>
                <a:latin typeface="Calibri" panose="020F0502020204030204"/>
                <a:ea typeface="宋体" panose="02010600030101010101" pitchFamily="2" charset="-122"/>
                <a:sym typeface="+mn-ea"/>
              </a:rPr>
              <a:t>上午，下午，晚上）</a:t>
            </a:r>
            <a:r>
              <a:rPr lang="en-US" altLang="zh-CN" dirty="0">
                <a:latin typeface="Calibri" panose="020F0502020204030204" charset="0"/>
                <a:ea typeface="宋体" panose="02010600030101010101" pitchFamily="2" charset="-122"/>
                <a:cs typeface="Calibri" panose="020F0502020204030204" charset="0"/>
                <a:sym typeface="+mn-ea"/>
              </a:rPr>
              <a:t>, I have been thinking about this lesson the whole day. But I can assure you, ________</a:t>
            </a:r>
            <a:r>
              <a:rPr lang="zh-CN" altLang="en-US" dirty="0">
                <a:solidFill>
                  <a:schemeClr val="accent2">
                    <a:lumMod val="75000"/>
                  </a:schemeClr>
                </a:solidFill>
                <a:latin typeface="宋体" panose="02010600030101010101" pitchFamily="2" charset="-122"/>
                <a:ea typeface="宋体" panose="02010600030101010101" pitchFamily="2" charset="-122"/>
                <a:sym typeface="+mn-ea"/>
              </a:rPr>
              <a:t>（下一次）</a:t>
            </a:r>
            <a:r>
              <a:rPr lang="en-GB" altLang="zh-CN" dirty="0">
                <a:latin typeface="Calibri" panose="020F0502020204030204" charset="0"/>
                <a:ea typeface="宋体" panose="02010600030101010101" pitchFamily="2" charset="-122"/>
                <a:cs typeface="Calibri" panose="020F0502020204030204" charset="0"/>
                <a:sym typeface="+mn-ea"/>
              </a:rPr>
              <a:t>, if this should happen to me again, I won’t be so foolish</a:t>
            </a:r>
            <a:r>
              <a:rPr lang="en-GB" altLang="zh-CN" dirty="0" smtClean="0">
                <a:latin typeface="Calibri" panose="020F0502020204030204" charset="0"/>
                <a:ea typeface="宋体" panose="02010600030101010101" pitchFamily="2" charset="-122"/>
                <a:cs typeface="Calibri" panose="020F0502020204030204" charset="0"/>
                <a:sym typeface="+mn-ea"/>
              </a:rPr>
              <a:t>.</a:t>
            </a:r>
            <a:endParaRPr lang="en-GB" altLang="zh-CN" dirty="0" smtClean="0">
              <a:latin typeface="Calibri" panose="020F0502020204030204" charset="0"/>
              <a:ea typeface="宋体" panose="02010600030101010101" pitchFamily="2" charset="-122"/>
              <a:cs typeface="Calibri" panose="020F0502020204030204" charset="0"/>
              <a:sym typeface="+mn-ea"/>
            </a:endParaRPr>
          </a:p>
          <a:p>
            <a:pPr marL="266700" indent="-266700" algn="just">
              <a:lnSpc>
                <a:spcPct val="100000"/>
              </a:lnSpc>
              <a:spcBef>
                <a:spcPts val="0"/>
              </a:spcBef>
              <a:buNone/>
              <a:defRPr/>
            </a:pPr>
            <a:r>
              <a:rPr lang="en-GB" altLang="zh-CN" dirty="0">
                <a:latin typeface="Calibri" panose="020F0502020204030204" charset="0"/>
                <a:ea typeface="宋体" panose="02010600030101010101" pitchFamily="2" charset="-122"/>
                <a:cs typeface="Calibri" panose="020F0502020204030204" charset="0"/>
                <a:sym typeface="+mn-ea"/>
              </a:rPr>
              <a:t>8</a:t>
            </a:r>
            <a:r>
              <a:rPr lang="en-GB" altLang="zh-CN" dirty="0" smtClean="0">
                <a:latin typeface="Calibri" panose="020F0502020204030204" charset="0"/>
                <a:ea typeface="宋体" panose="02010600030101010101" pitchFamily="2" charset="-122"/>
                <a:cs typeface="Calibri" panose="020F0502020204030204" charset="0"/>
                <a:sym typeface="+mn-ea"/>
              </a:rPr>
              <a:t>. ______________</a:t>
            </a:r>
            <a:r>
              <a:rPr lang="zh-CN" altLang="en-US" dirty="0">
                <a:solidFill>
                  <a:schemeClr val="accent2">
                    <a:lumMod val="75000"/>
                  </a:schemeClr>
                </a:solidFill>
                <a:latin typeface="宋体" panose="02010600030101010101" pitchFamily="2" charset="-122"/>
                <a:ea typeface="宋体" panose="02010600030101010101" pitchFamily="2" charset="-122"/>
                <a:sym typeface="+mn-ea"/>
              </a:rPr>
              <a:t>（我一拿到）</a:t>
            </a:r>
            <a:r>
              <a:rPr lang="en-GB" altLang="zh-CN" dirty="0">
                <a:latin typeface="Calibri" panose="020F0502020204030204" charset="0"/>
                <a:ea typeface="宋体" panose="02010600030101010101" pitchFamily="2" charset="-122"/>
                <a:cs typeface="Calibri" panose="020F0502020204030204" charset="0"/>
                <a:sym typeface="+mn-ea"/>
              </a:rPr>
              <a:t> what you want, I will bring it to you.</a:t>
            </a:r>
            <a:endParaRPr lang="en-US" altLang="zh-CN" dirty="0">
              <a:latin typeface="Calibri" panose="020F0502020204030204"/>
              <a:ea typeface="宋体" panose="02010600030101010101" pitchFamily="2" charset="-122"/>
            </a:endParaRPr>
          </a:p>
        </p:txBody>
      </p:sp>
      <p:pic>
        <p:nvPicPr>
          <p:cNvPr id="6" name="图片 5">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17946" y="174625"/>
            <a:ext cx="524510" cy="427355"/>
          </a:xfrm>
          <a:prstGeom prst="rect">
            <a:avLst/>
          </a:prstGeom>
        </p:spPr>
      </p:pic>
      <p:sp>
        <p:nvSpPr>
          <p:cNvPr id="7" name="文本框 4"/>
          <p:cNvSpPr txBox="1">
            <a:spLocks noChangeArrowheads="1"/>
          </p:cNvSpPr>
          <p:nvPr/>
        </p:nvSpPr>
        <p:spPr bwMode="auto">
          <a:xfrm>
            <a:off x="184150" y="160338"/>
            <a:ext cx="7029450"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r>
              <a:rPr lang="en-US" altLang="zh-CN" sz="2400" dirty="0">
                <a:solidFill>
                  <a:schemeClr val="bg1"/>
                </a:solidFill>
                <a:latin typeface="Arial Black" panose="020B0A04020102020204" pitchFamily="34" charset="0"/>
              </a:rPr>
              <a:t>Exercises · Language Exercises</a:t>
            </a:r>
            <a:endParaRPr lang="en-US" altLang="zh-CN" sz="2400" dirty="0">
              <a:solidFill>
                <a:schemeClr val="bg1"/>
              </a:solidFill>
              <a:latin typeface="Arial Black" panose="020B0A04020102020204" pitchFamily="34" charset="0"/>
            </a:endParaRPr>
          </a:p>
        </p:txBody>
      </p:sp>
      <p:pic>
        <p:nvPicPr>
          <p:cNvPr id="10" name="图片 9">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9" name="文本框 8"/>
          <p:cNvSpPr txBox="1"/>
          <p:nvPr/>
        </p:nvSpPr>
        <p:spPr>
          <a:xfrm>
            <a:off x="1070882" y="1639456"/>
            <a:ext cx="6022618"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By the way/Judging from the way he looks</a:t>
            </a:r>
            <a:endParaRPr lang="zh-CN" altLang="en-US" sz="2800" spc="-100" dirty="0">
              <a:solidFill>
                <a:srgbClr val="C00000"/>
              </a:solidFill>
              <a:latin typeface="Calibri" panose="020F0502020204030204" charset="0"/>
              <a:ea typeface="宋体" panose="02010600030101010101" pitchFamily="2" charset="-122"/>
            </a:endParaRPr>
          </a:p>
        </p:txBody>
      </p:sp>
      <p:sp>
        <p:nvSpPr>
          <p:cNvPr id="8" name="文本框 7"/>
          <p:cNvSpPr txBox="1"/>
          <p:nvPr/>
        </p:nvSpPr>
        <p:spPr>
          <a:xfrm>
            <a:off x="795480" y="2989561"/>
            <a:ext cx="2574567" cy="523220"/>
          </a:xfrm>
          <a:prstGeom prst="rect">
            <a:avLst/>
          </a:prstGeom>
          <a:noFill/>
        </p:spPr>
        <p:txBody>
          <a:bodyPr wrap="square" rtlCol="0">
            <a:spAutoFit/>
          </a:bodyPr>
          <a:p>
            <a:r>
              <a:rPr lang="en-US" altLang="zh-CN" sz="2800" spc="-100" dirty="0">
                <a:solidFill>
                  <a:srgbClr val="C00000"/>
                </a:solidFill>
                <a:latin typeface="Calibri" panose="020F0502020204030204" charset="0"/>
                <a:ea typeface="宋体" panose="02010600030101010101" pitchFamily="2" charset="-122"/>
              </a:rPr>
              <a:t>All the way home</a:t>
            </a:r>
            <a:endParaRPr lang="zh-CN" altLang="en-US" sz="2800" spc="-100" dirty="0">
              <a:solidFill>
                <a:srgbClr val="C00000"/>
              </a:solidFill>
              <a:latin typeface="Calibri" panose="020F0502020204030204" charset="0"/>
              <a:ea typeface="宋体" panose="02010600030101010101" pitchFamily="2" charset="-122"/>
            </a:endParaRPr>
          </a:p>
        </p:txBody>
      </p:sp>
      <p:sp>
        <p:nvSpPr>
          <p:cNvPr id="12" name="文本框 11"/>
          <p:cNvSpPr txBox="1"/>
          <p:nvPr/>
        </p:nvSpPr>
        <p:spPr>
          <a:xfrm>
            <a:off x="2014646" y="3412894"/>
            <a:ext cx="3469917" cy="523220"/>
          </a:xfrm>
          <a:prstGeom prst="rect">
            <a:avLst/>
          </a:prstGeom>
          <a:noFill/>
        </p:spPr>
        <p:txBody>
          <a:bodyPr wrap="square" rtlCol="0">
            <a:spAutoFit/>
          </a:bodyPr>
          <a:p>
            <a:r>
              <a:rPr lang="en-US" altLang="zh-CN" sz="2800" spc="-100" dirty="0">
                <a:solidFill>
                  <a:srgbClr val="C00000"/>
                </a:solidFill>
                <a:latin typeface="Calibri" panose="020F0502020204030204" charset="0"/>
                <a:ea typeface="宋体" panose="02010600030101010101" pitchFamily="2" charset="-122"/>
              </a:rPr>
              <a:t>The instant they see me</a:t>
            </a:r>
            <a:endParaRPr lang="zh-CN" altLang="en-US" sz="2800" spc="-100" dirty="0">
              <a:solidFill>
                <a:srgbClr val="C00000"/>
              </a:solidFill>
              <a:latin typeface="Calibri" panose="020F0502020204030204" charset="0"/>
              <a:ea typeface="宋体" panose="02010600030101010101" pitchFamily="2" charset="-122"/>
            </a:endParaRPr>
          </a:p>
        </p:txBody>
      </p:sp>
      <p:sp>
        <p:nvSpPr>
          <p:cNvPr id="2" name="文本框 1"/>
          <p:cNvSpPr txBox="1"/>
          <p:nvPr/>
        </p:nvSpPr>
        <p:spPr>
          <a:xfrm>
            <a:off x="973108" y="4207150"/>
            <a:ext cx="4687709" cy="523220"/>
          </a:xfrm>
          <a:prstGeom prst="rect">
            <a:avLst/>
          </a:prstGeom>
          <a:noFill/>
        </p:spPr>
        <p:txBody>
          <a:bodyPr wrap="square" rtlCol="0">
            <a:spAutoFit/>
          </a:bodyPr>
          <a:p>
            <a:r>
              <a:rPr lang="en-US" altLang="zh-CN" sz="2800" spc="-100" dirty="0">
                <a:solidFill>
                  <a:srgbClr val="C00000"/>
                </a:solidFill>
                <a:latin typeface="Calibri" panose="020F0502020204030204" charset="0"/>
                <a:ea typeface="宋体" panose="02010600030101010101" pitchFamily="2" charset="-122"/>
              </a:rPr>
              <a:t>Morning, afternoon, and evening</a:t>
            </a:r>
            <a:endParaRPr lang="zh-CN" altLang="en-US" sz="2800" spc="-100" dirty="0">
              <a:solidFill>
                <a:srgbClr val="C00000"/>
              </a:solidFill>
              <a:latin typeface="Calibri" panose="020F0502020204030204" charset="0"/>
              <a:ea typeface="宋体" panose="02010600030101010101" pitchFamily="2" charset="-122"/>
            </a:endParaRPr>
          </a:p>
        </p:txBody>
      </p:sp>
      <p:sp>
        <p:nvSpPr>
          <p:cNvPr id="13" name="文本框 12"/>
          <p:cNvSpPr txBox="1"/>
          <p:nvPr/>
        </p:nvSpPr>
        <p:spPr>
          <a:xfrm>
            <a:off x="9542780" y="4653280"/>
            <a:ext cx="1536065" cy="521970"/>
          </a:xfrm>
          <a:prstGeom prst="rect">
            <a:avLst/>
          </a:prstGeom>
          <a:noFill/>
        </p:spPr>
        <p:txBody>
          <a:bodyPr wrap="square" rtlCol="0">
            <a:spAutoFit/>
          </a:bodyPr>
          <a:p>
            <a:r>
              <a:rPr lang="en-US" altLang="zh-CN" sz="2800" spc="-100" dirty="0">
                <a:solidFill>
                  <a:srgbClr val="C00000"/>
                </a:solidFill>
                <a:latin typeface="Calibri" panose="020F0502020204030204" charset="0"/>
                <a:ea typeface="宋体" panose="02010600030101010101" pitchFamily="2" charset="-122"/>
              </a:rPr>
              <a:t>next time</a:t>
            </a:r>
            <a:endParaRPr lang="zh-CN" altLang="en-US" sz="2800" spc="-100" dirty="0">
              <a:solidFill>
                <a:srgbClr val="C00000"/>
              </a:solidFill>
              <a:latin typeface="Calibri" panose="020F0502020204030204" charset="0"/>
              <a:ea typeface="宋体" panose="02010600030101010101" pitchFamily="2" charset="-122"/>
            </a:endParaRPr>
          </a:p>
        </p:txBody>
      </p:sp>
      <p:sp>
        <p:nvSpPr>
          <p:cNvPr id="3" name="文本框 2"/>
          <p:cNvSpPr txBox="1"/>
          <p:nvPr/>
        </p:nvSpPr>
        <p:spPr>
          <a:xfrm>
            <a:off x="676515" y="5518681"/>
            <a:ext cx="2693413" cy="523220"/>
          </a:xfrm>
          <a:prstGeom prst="rect">
            <a:avLst/>
          </a:prstGeom>
          <a:noFill/>
        </p:spPr>
        <p:txBody>
          <a:bodyPr wrap="square" rtlCol="0">
            <a:spAutoFit/>
          </a:bodyPr>
          <a:p>
            <a:r>
              <a:rPr lang="en-US" altLang="zh-CN" sz="2800" spc="-100" dirty="0">
                <a:solidFill>
                  <a:srgbClr val="C00000"/>
                </a:solidFill>
                <a:latin typeface="Calibri" panose="020F0502020204030204" charset="0"/>
                <a:ea typeface="宋体" panose="02010600030101010101" pitchFamily="2" charset="-122"/>
              </a:rPr>
              <a:t>The moment I get</a:t>
            </a:r>
            <a:endParaRPr lang="zh-CN" altLang="en-US" sz="2800" spc="-100" dirty="0">
              <a:solidFill>
                <a:srgbClr val="C00000"/>
              </a:solidFill>
              <a:latin typeface="Calibri" panose="020F050202020403020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dissolv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dissolv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dissolve">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8" grpId="0"/>
      <p:bldP spid="12" grpId="0"/>
      <p:bldP spid="2" grpId="0"/>
      <p:bldP spid="13" grpId="0"/>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1" name="内容占位符 2"/>
          <p:cNvSpPr>
            <a:spLocks noGrp="1"/>
          </p:cNvSpPr>
          <p:nvPr/>
        </p:nvSpPr>
        <p:spPr>
          <a:xfrm>
            <a:off x="244475" y="881380"/>
            <a:ext cx="11684000" cy="4638040"/>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algn="just">
              <a:buNone/>
              <a:defRPr/>
            </a:pPr>
            <a:r>
              <a:rPr lang="en-US" altLang="zh-CN" b="1" spc="-100" dirty="0">
                <a:latin typeface="Calibri" panose="020F0502020204030204"/>
                <a:ea typeface="宋体" panose="02010600030101010101" pitchFamily="2" charset="-122"/>
              </a:rPr>
              <a:t>6. Translate the following sentences, using the words in the brackets. </a:t>
            </a:r>
            <a:endParaRPr lang="en-US" altLang="zh-CN" b="1" spc="-100" dirty="0">
              <a:latin typeface="Calibri" panose="020F0502020204030204"/>
              <a:ea typeface="宋体" panose="02010600030101010101" pitchFamily="2" charset="-122"/>
            </a:endParaRPr>
          </a:p>
          <a:p>
            <a:pPr marL="266700" indent="-266700" algn="just">
              <a:buNone/>
              <a:defRPr/>
            </a:pPr>
            <a:r>
              <a:rPr lang="en-US" altLang="zh-CN" sz="2400" dirty="0">
                <a:solidFill>
                  <a:prstClr val="black"/>
                </a:solidFill>
                <a:latin typeface="宋体" panose="02010600030101010101" pitchFamily="2" charset="-122"/>
                <a:ea typeface="宋体" panose="02010600030101010101" pitchFamily="2" charset="-122"/>
              </a:rPr>
              <a:t>1.</a:t>
            </a:r>
            <a:r>
              <a:rPr lang="zh-CN" altLang="en-US" sz="2400" dirty="0">
                <a:solidFill>
                  <a:prstClr val="black"/>
                </a:solidFill>
                <a:latin typeface="宋体" panose="02010600030101010101" pitchFamily="2" charset="-122"/>
                <a:ea typeface="宋体" panose="02010600030101010101" pitchFamily="2" charset="-122"/>
              </a:rPr>
              <a:t>等我干完活的时候，我的头在抽痛，心也狂跳不已，浑身都疼。</a:t>
            </a:r>
            <a:r>
              <a:rPr lang="en-US" altLang="zh-CN" dirty="0">
                <a:solidFill>
                  <a:schemeClr val="accent2">
                    <a:lumMod val="75000"/>
                  </a:schemeClr>
                </a:solidFill>
                <a:latin typeface="Calibri" panose="020F0502020204030204" charset="0"/>
                <a:ea typeface="宋体" panose="02010600030101010101" pitchFamily="2" charset="-122"/>
                <a:cs typeface="Calibri" panose="020F0502020204030204" charset="0"/>
              </a:rPr>
              <a:t>(throb)</a:t>
            </a:r>
            <a:endParaRPr lang="en-US" altLang="zh-CN" sz="2400" dirty="0">
              <a:solidFill>
                <a:schemeClr val="accent2">
                  <a:lumMod val="75000"/>
                </a:schemeClr>
              </a:solidFill>
              <a:latin typeface="宋体" panose="02010600030101010101" pitchFamily="2" charset="-122"/>
              <a:ea typeface="宋体" panose="02010600030101010101" pitchFamily="2" charset="-122"/>
            </a:endParaRPr>
          </a:p>
          <a:p>
            <a:pPr marL="266700" indent="-266700" algn="just">
              <a:buNone/>
              <a:defRPr/>
            </a:pPr>
            <a:r>
              <a:rPr lang="en-US" altLang="zh-CN" dirty="0">
                <a:solidFill>
                  <a:prstClr val="black"/>
                </a:solidFill>
                <a:latin typeface="Calibri" panose="020F0502020204030204" charset="0"/>
                <a:ea typeface="宋体" panose="02010600030101010101" pitchFamily="2" charset="-122"/>
                <a:cs typeface="Calibri" panose="020F0502020204030204" charset="0"/>
              </a:rPr>
              <a:t>   </a:t>
            </a:r>
            <a:r>
              <a:rPr lang="en-US" altLang="zh-CN" spc="-100" dirty="0">
                <a:solidFill>
                  <a:srgbClr val="C00000"/>
                </a:solidFill>
                <a:latin typeface="Calibri" panose="020F0502020204030204" charset="0"/>
                <a:ea typeface="宋体" panose="02010600030101010101" pitchFamily="2" charset="-122"/>
              </a:rPr>
              <a:t>By the time I finished the job, my head was throbbing, my heart racing, and my whole body aching.</a:t>
            </a:r>
            <a:endParaRPr lang="zh-CN" altLang="en-US" spc="-100" dirty="0">
              <a:solidFill>
                <a:srgbClr val="C00000"/>
              </a:solidFill>
              <a:latin typeface="Calibri" panose="020F0502020204030204" charset="0"/>
              <a:ea typeface="宋体" panose="02010600030101010101" pitchFamily="2" charset="-122"/>
            </a:endParaRPr>
          </a:p>
          <a:p>
            <a:pPr marL="266700" indent="-266700" algn="just">
              <a:buNone/>
              <a:defRPr/>
            </a:pPr>
            <a:r>
              <a:rPr lang="en-US" altLang="zh-CN" sz="2400" dirty="0">
                <a:solidFill>
                  <a:prstClr val="black"/>
                </a:solidFill>
                <a:latin typeface="宋体" panose="02010600030101010101" pitchFamily="2" charset="-122"/>
                <a:ea typeface="宋体" panose="02010600030101010101" pitchFamily="2" charset="-122"/>
              </a:rPr>
              <a:t>2.</a:t>
            </a:r>
            <a:r>
              <a:rPr lang="zh-CN" altLang="en-US" sz="2400" dirty="0">
                <a:solidFill>
                  <a:prstClr val="black"/>
                </a:solidFill>
                <a:latin typeface="宋体" panose="02010600030101010101" pitchFamily="2" charset="-122"/>
                <a:ea typeface="宋体" panose="02010600030101010101" pitchFamily="2" charset="-122"/>
              </a:rPr>
              <a:t>坐在这里担心有什么用？我们得做点什么。</a:t>
            </a:r>
            <a:r>
              <a:rPr lang="en-US" altLang="zh-CN" dirty="0">
                <a:solidFill>
                  <a:schemeClr val="accent2">
                    <a:lumMod val="75000"/>
                  </a:schemeClr>
                </a:solidFill>
                <a:latin typeface="Calibri" panose="020F0502020204030204" charset="0"/>
                <a:ea typeface="宋体" panose="02010600030101010101" pitchFamily="2" charset="-122"/>
                <a:cs typeface="Calibri" panose="020F0502020204030204" charset="0"/>
              </a:rPr>
              <a:t>(use)</a:t>
            </a:r>
            <a:endParaRPr lang="en-US" altLang="zh-CN" dirty="0">
              <a:solidFill>
                <a:schemeClr val="accent2">
                  <a:lumMod val="75000"/>
                </a:schemeClr>
              </a:solidFill>
              <a:latin typeface="Calibri" panose="020F0502020204030204" charset="0"/>
              <a:ea typeface="宋体" panose="02010600030101010101" pitchFamily="2" charset="-122"/>
              <a:cs typeface="Calibri" panose="020F0502020204030204" charset="0"/>
            </a:endParaRPr>
          </a:p>
          <a:p>
            <a:pPr marL="266700" indent="-266700" algn="just">
              <a:buNone/>
              <a:defRPr/>
            </a:pPr>
            <a:r>
              <a:rPr lang="en-US" altLang="zh-CN" sz="2400" dirty="0">
                <a:solidFill>
                  <a:prstClr val="black"/>
                </a:solidFill>
                <a:latin typeface="宋体" panose="02010600030101010101" pitchFamily="2" charset="-122"/>
                <a:ea typeface="宋体" panose="02010600030101010101" pitchFamily="2" charset="-122"/>
              </a:rPr>
              <a:t>  </a:t>
            </a:r>
            <a:r>
              <a:rPr lang="en-US" altLang="zh-CN" spc="-100" dirty="0">
                <a:solidFill>
                  <a:srgbClr val="C00000"/>
                </a:solidFill>
                <a:latin typeface="Calibri" panose="020F0502020204030204" charset="0"/>
                <a:ea typeface="宋体" panose="02010600030101010101" pitchFamily="2" charset="-122"/>
                <a:cs typeface="Calibri" panose="020F0502020204030204" charset="0"/>
              </a:rPr>
              <a:t>What use is there in sitting here worrying? We must do something about it.</a:t>
            </a:r>
            <a:endParaRPr lang="zh-CN" altLang="en-US" spc="-100" dirty="0">
              <a:solidFill>
                <a:srgbClr val="C00000"/>
              </a:solidFill>
              <a:latin typeface="Calibri" panose="020F0502020204030204" charset="0"/>
              <a:ea typeface="宋体" panose="02010600030101010101" pitchFamily="2" charset="-122"/>
              <a:cs typeface="Calibri" panose="020F0502020204030204" charset="0"/>
            </a:endParaRPr>
          </a:p>
          <a:p>
            <a:pPr marL="266700" indent="-266700" algn="just">
              <a:buNone/>
              <a:defRPr/>
            </a:pPr>
            <a:r>
              <a:rPr lang="en-US" altLang="zh-CN" sz="2400" dirty="0">
                <a:solidFill>
                  <a:prstClr val="black"/>
                </a:solidFill>
                <a:latin typeface="宋体" panose="02010600030101010101" pitchFamily="2" charset="-122"/>
                <a:ea typeface="宋体" panose="02010600030101010101" pitchFamily="2" charset="-122"/>
              </a:rPr>
              <a:t>3.</a:t>
            </a:r>
            <a:r>
              <a:rPr lang="zh-CN" altLang="en-US" sz="2400" b="1" dirty="0">
                <a:solidFill>
                  <a:prstClr val="black"/>
                </a:solidFill>
                <a:latin typeface="宋体" panose="02010600030101010101" pitchFamily="2" charset="-122"/>
                <a:ea typeface="宋体" panose="02010600030101010101" pitchFamily="2" charset="-122"/>
              </a:rPr>
              <a:t>他在家乡的所见所闻更加坚定了他报告这里形势的决心。</a:t>
            </a:r>
            <a:r>
              <a:rPr lang="en-US" altLang="zh-CN" dirty="0">
                <a:solidFill>
                  <a:schemeClr val="accent2">
                    <a:lumMod val="75000"/>
                  </a:schemeClr>
                </a:solidFill>
                <a:latin typeface="Calibri" panose="020F0502020204030204" charset="0"/>
                <a:ea typeface="宋体" panose="02010600030101010101" pitchFamily="2" charset="-122"/>
                <a:cs typeface="Calibri" panose="020F0502020204030204" charset="0"/>
              </a:rPr>
              <a:t>(resolve)</a:t>
            </a:r>
            <a:endParaRPr lang="en-US" altLang="zh-CN" sz="2400" dirty="0">
              <a:solidFill>
                <a:schemeClr val="accent2">
                  <a:lumMod val="75000"/>
                </a:schemeClr>
              </a:solidFill>
              <a:latin typeface="宋体" panose="02010600030101010101" pitchFamily="2" charset="-122"/>
              <a:ea typeface="宋体" panose="02010600030101010101" pitchFamily="2" charset="-122"/>
            </a:endParaRPr>
          </a:p>
          <a:p>
            <a:pPr marL="266700" indent="-266700" algn="just">
              <a:buNone/>
              <a:defRPr/>
            </a:pPr>
            <a:r>
              <a:rPr lang="en-US" altLang="zh-CN" sz="2400" dirty="0">
                <a:solidFill>
                  <a:prstClr val="black"/>
                </a:solidFill>
                <a:latin typeface="宋体" panose="02010600030101010101" pitchFamily="2" charset="-122"/>
                <a:ea typeface="宋体" panose="02010600030101010101" pitchFamily="2" charset="-122"/>
              </a:rPr>
              <a:t>  </a:t>
            </a:r>
            <a:r>
              <a:rPr lang="en-US" altLang="zh-CN" spc="-100" dirty="0">
                <a:solidFill>
                  <a:srgbClr val="C00000"/>
                </a:solidFill>
                <a:latin typeface="Calibri" panose="020F0502020204030204" charset="0"/>
                <a:ea typeface="宋体" panose="02010600030101010101" pitchFamily="2" charset="-122"/>
                <a:cs typeface="Calibri" panose="020F0502020204030204" charset="0"/>
              </a:rPr>
              <a:t>What he saw in his hometown strengthened his resolve to report the true situation.</a:t>
            </a:r>
            <a:endParaRPr lang="zh-CN" altLang="en-US" spc="-100" dirty="0">
              <a:solidFill>
                <a:srgbClr val="C00000"/>
              </a:solidFill>
              <a:latin typeface="Calibri" panose="020F0502020204030204" charset="0"/>
              <a:ea typeface="宋体" panose="02010600030101010101" pitchFamily="2" charset="-122"/>
              <a:cs typeface="Calibri" panose="020F0502020204030204" charset="0"/>
            </a:endParaRPr>
          </a:p>
          <a:p>
            <a:pPr marL="266700" indent="-266700" algn="just">
              <a:buNone/>
              <a:defRPr/>
            </a:pPr>
            <a:endParaRPr lang="zh-CN" altLang="en-US" sz="2400" dirty="0">
              <a:solidFill>
                <a:prstClr val="black"/>
              </a:solidFill>
              <a:latin typeface="宋体" panose="02010600030101010101" pitchFamily="2" charset="-122"/>
              <a:ea typeface="宋体" panose="02010600030101010101" pitchFamily="2" charset="-122"/>
            </a:endParaRPr>
          </a:p>
        </p:txBody>
      </p:sp>
      <p:sp>
        <p:nvSpPr>
          <p:cNvPr id="7" name="文本框 4"/>
          <p:cNvSpPr txBox="1">
            <a:spLocks noChangeArrowheads="1"/>
          </p:cNvSpPr>
          <p:nvPr/>
        </p:nvSpPr>
        <p:spPr bwMode="auto">
          <a:xfrm>
            <a:off x="184150" y="160338"/>
            <a:ext cx="7029450"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r>
              <a:rPr lang="en-US" altLang="zh-CN" sz="2400" dirty="0">
                <a:solidFill>
                  <a:schemeClr val="bg1"/>
                </a:solidFill>
                <a:latin typeface="Arial Black" panose="020B0A04020102020204" pitchFamily="34" charset="0"/>
              </a:rPr>
              <a:t>Exercises · Language Exercises</a:t>
            </a:r>
            <a:endParaRPr lang="en-US" altLang="zh-CN" sz="2400" dirty="0">
              <a:solidFill>
                <a:schemeClr val="bg1"/>
              </a:solidFill>
              <a:latin typeface="Arial Black" panose="020B0A04020102020204" pitchFamily="34" charset="0"/>
            </a:endParaRPr>
          </a:p>
        </p:txBody>
      </p:sp>
      <p:pic>
        <p:nvPicPr>
          <p:cNvPr id="9" name="图片 8">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pic>
        <p:nvPicPr>
          <p:cNvPr id="10" name="图片 9">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t="18378" b="31548"/>
          <a:stretch>
            <a:fillRect/>
          </a:stretch>
        </p:blipFill>
        <p:spPr>
          <a:xfrm>
            <a:off x="10617946" y="174625"/>
            <a:ext cx="524510" cy="4273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dissolve">
                                      <p:cBhvr>
                                        <p:cTn id="7" dur="500"/>
                                        <p:tgtEl>
                                          <p:spTgt spid="1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1">
                                            <p:txEl>
                                              <p:pRg st="4" end="4"/>
                                            </p:txEl>
                                          </p:spTgt>
                                        </p:tgtEl>
                                        <p:attrNameLst>
                                          <p:attrName>style.visibility</p:attrName>
                                        </p:attrNameLst>
                                      </p:cBhvr>
                                      <p:to>
                                        <p:strVal val="visible"/>
                                      </p:to>
                                    </p:set>
                                    <p:animEffect transition="in" filter="dissolve">
                                      <p:cBhvr>
                                        <p:cTn id="12" dur="500"/>
                                        <p:tgtEl>
                                          <p:spTgt spid="11">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
                                            <p:txEl>
                                              <p:pRg st="6" end="6"/>
                                            </p:txEl>
                                          </p:spTgt>
                                        </p:tgtEl>
                                        <p:attrNameLst>
                                          <p:attrName>style.visibility</p:attrName>
                                        </p:attrNameLst>
                                      </p:cBhvr>
                                      <p:to>
                                        <p:strVal val="visible"/>
                                      </p:to>
                                    </p:set>
                                    <p:animEffect transition="in" filter="dissolve">
                                      <p:cBhvr>
                                        <p:cTn id="17"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1" name="内容占位符 2"/>
          <p:cNvSpPr>
            <a:spLocks noGrp="1"/>
          </p:cNvSpPr>
          <p:nvPr/>
        </p:nvSpPr>
        <p:spPr>
          <a:xfrm>
            <a:off x="244475" y="881380"/>
            <a:ext cx="11684000" cy="522795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algn="just">
              <a:buNone/>
              <a:defRPr/>
            </a:pPr>
            <a:r>
              <a:rPr lang="en-US" altLang="zh-CN" b="1" spc="-100" dirty="0">
                <a:latin typeface="Calibri" panose="020F0502020204030204"/>
                <a:ea typeface="宋体" panose="02010600030101010101" pitchFamily="2" charset="-122"/>
              </a:rPr>
              <a:t>6. Translate the following sentences, using the words in the brackets. </a:t>
            </a:r>
            <a:endParaRPr lang="zh-CN" altLang="en-US" sz="2400" dirty="0">
              <a:solidFill>
                <a:prstClr val="black"/>
              </a:solidFill>
              <a:latin typeface="宋体" panose="02010600030101010101" pitchFamily="2" charset="-122"/>
              <a:ea typeface="宋体" panose="02010600030101010101" pitchFamily="2" charset="-122"/>
            </a:endParaRPr>
          </a:p>
          <a:p>
            <a:pPr marL="266700" indent="-266700" algn="just">
              <a:spcBef>
                <a:spcPts val="600"/>
              </a:spcBef>
              <a:buNone/>
              <a:defRPr/>
            </a:pPr>
            <a:r>
              <a:rPr lang="en-US" altLang="zh-CN" sz="2400" dirty="0">
                <a:solidFill>
                  <a:prstClr val="black"/>
                </a:solidFill>
                <a:latin typeface="宋体" panose="02010600030101010101" pitchFamily="2" charset="-122"/>
                <a:ea typeface="宋体" panose="02010600030101010101" pitchFamily="2" charset="-122"/>
              </a:rPr>
              <a:t>4.</a:t>
            </a:r>
            <a:r>
              <a:rPr lang="zh-CN" altLang="en-US" sz="2400" dirty="0">
                <a:solidFill>
                  <a:prstClr val="black"/>
                </a:solidFill>
                <a:latin typeface="宋体" panose="02010600030101010101" pitchFamily="2" charset="-122"/>
                <a:ea typeface="宋体" panose="02010600030101010101" pitchFamily="2" charset="-122"/>
              </a:rPr>
              <a:t>那三个骑士见到那匹瘦马，不禁放声大笑。那骑在马上的年轻人冷冷地问道：“三位先生在笑什么？说出来大家一起笑笑如何？</a:t>
            </a:r>
            <a:r>
              <a:rPr lang="en-US" altLang="zh-CN" sz="2400" dirty="0">
                <a:solidFill>
                  <a:prstClr val="black"/>
                </a:solidFill>
                <a:latin typeface="宋体" panose="02010600030101010101" pitchFamily="2" charset="-122"/>
                <a:ea typeface="宋体" panose="02010600030101010101" pitchFamily="2" charset="-122"/>
              </a:rPr>
              <a:t>”</a:t>
            </a:r>
            <a:r>
              <a:rPr lang="en-US" altLang="zh-CN" dirty="0">
                <a:solidFill>
                  <a:schemeClr val="accent2">
                    <a:lumMod val="75000"/>
                  </a:schemeClr>
                </a:solidFill>
                <a:latin typeface="Calibri" panose="020F0502020204030204" charset="0"/>
                <a:ea typeface="宋体" panose="02010600030101010101" pitchFamily="2" charset="-122"/>
                <a:cs typeface="Calibri" panose="020F0502020204030204" charset="0"/>
              </a:rPr>
              <a:t>(burst)</a:t>
            </a:r>
            <a:endParaRPr lang="en-US" altLang="zh-CN" dirty="0">
              <a:solidFill>
                <a:schemeClr val="accent2">
                  <a:lumMod val="75000"/>
                </a:schemeClr>
              </a:solidFill>
              <a:latin typeface="宋体" panose="02010600030101010101" pitchFamily="2" charset="-122"/>
              <a:ea typeface="宋体" panose="02010600030101010101" pitchFamily="2" charset="-122"/>
            </a:endParaRPr>
          </a:p>
          <a:p>
            <a:pPr marL="266700" indent="-266700" algn="just">
              <a:spcBef>
                <a:spcPts val="600"/>
              </a:spcBef>
              <a:buNone/>
              <a:defRPr/>
            </a:pPr>
            <a:r>
              <a:rPr lang="en-US" altLang="zh-CN" sz="2400" dirty="0">
                <a:solidFill>
                  <a:prstClr val="black"/>
                </a:solidFill>
                <a:latin typeface="宋体" panose="02010600030101010101" pitchFamily="2" charset="-122"/>
                <a:ea typeface="宋体" panose="02010600030101010101" pitchFamily="2" charset="-122"/>
              </a:rPr>
              <a:t>  </a:t>
            </a:r>
            <a:r>
              <a:rPr lang="en-US" altLang="zh-CN" spc="-100" dirty="0">
                <a:solidFill>
                  <a:srgbClr val="C00000"/>
                </a:solidFill>
                <a:latin typeface="Calibri" panose="020F0502020204030204" charset="0"/>
                <a:ea typeface="宋体" panose="02010600030101010101" pitchFamily="2" charset="-122"/>
                <a:cs typeface="Calibri" panose="020F0502020204030204" charset="0"/>
              </a:rPr>
              <a:t>The three knights burst into laughter at the sight of the skinny horse. The young man sitting on the horse coldly asked, “What are you gentlemen laughing at? Perhaps we can laugh together.”</a:t>
            </a:r>
            <a:endParaRPr lang="en-US" altLang="zh-CN" spc="-100" dirty="0">
              <a:solidFill>
                <a:srgbClr val="C00000"/>
              </a:solidFill>
              <a:latin typeface="Calibri" panose="020F0502020204030204" charset="0"/>
              <a:ea typeface="宋体" panose="02010600030101010101" pitchFamily="2" charset="-122"/>
              <a:cs typeface="Calibri" panose="020F0502020204030204" charset="0"/>
            </a:endParaRPr>
          </a:p>
          <a:p>
            <a:pPr marL="266700" indent="-266700" algn="just">
              <a:spcBef>
                <a:spcPts val="600"/>
              </a:spcBef>
              <a:buNone/>
              <a:defRPr/>
            </a:pPr>
            <a:r>
              <a:rPr lang="en-US" altLang="zh-CN" sz="2400" dirty="0">
                <a:solidFill>
                  <a:prstClr val="black"/>
                </a:solidFill>
                <a:latin typeface="宋体" panose="02010600030101010101" pitchFamily="2" charset="-122"/>
                <a:ea typeface="宋体" panose="02010600030101010101" pitchFamily="2" charset="-122"/>
              </a:rPr>
              <a:t>5.</a:t>
            </a:r>
            <a:r>
              <a:rPr lang="zh-CN" altLang="en-US" sz="2400" b="1" dirty="0">
                <a:solidFill>
                  <a:prstClr val="black"/>
                </a:solidFill>
                <a:latin typeface="宋体" panose="02010600030101010101" pitchFamily="2" charset="-122"/>
                <a:ea typeface="宋体" panose="02010600030101010101" pitchFamily="2" charset="-122"/>
              </a:rPr>
              <a:t>尽管这只是一次短期的工作出差，大家还是希望能腾出一天时间来观光一下。</a:t>
            </a:r>
            <a:r>
              <a:rPr lang="en-US" altLang="zh-CN" dirty="0">
                <a:solidFill>
                  <a:schemeClr val="accent2">
                    <a:lumMod val="75000"/>
                  </a:schemeClr>
                </a:solidFill>
                <a:latin typeface="Calibri" panose="020F0502020204030204" charset="0"/>
                <a:ea typeface="宋体" panose="02010600030101010101" pitchFamily="2" charset="-122"/>
                <a:cs typeface="Calibri" panose="020F0502020204030204" charset="0"/>
              </a:rPr>
              <a:t>(set</a:t>
            </a:r>
            <a:r>
              <a:rPr lang="en-US" altLang="zh-CN" dirty="0" smtClean="0">
                <a:solidFill>
                  <a:schemeClr val="accent2">
                    <a:lumMod val="75000"/>
                  </a:schemeClr>
                </a:solidFill>
                <a:latin typeface="Calibri" panose="020F0502020204030204" charset="0"/>
                <a:ea typeface="宋体" panose="02010600030101010101" pitchFamily="2" charset="-122"/>
                <a:cs typeface="Calibri" panose="020F0502020204030204" charset="0"/>
              </a:rPr>
              <a:t>)</a:t>
            </a:r>
            <a:r>
              <a:rPr lang="en-US" altLang="zh-CN" spc="-100" dirty="0" smtClean="0">
                <a:solidFill>
                  <a:schemeClr val="accent2">
                    <a:lumMod val="75000"/>
                  </a:schemeClr>
                </a:solidFill>
                <a:latin typeface="Calibri" panose="020F0502020204030204" charset="0"/>
                <a:ea typeface="宋体" panose="02010600030101010101" pitchFamily="2" charset="-122"/>
                <a:cs typeface="Calibri" panose="020F0502020204030204" charset="0"/>
              </a:rPr>
              <a:t>   </a:t>
            </a:r>
            <a:endParaRPr lang="en-US" altLang="zh-CN" spc="-100" dirty="0" smtClean="0">
              <a:solidFill>
                <a:schemeClr val="accent2">
                  <a:lumMod val="75000"/>
                </a:schemeClr>
              </a:solidFill>
              <a:latin typeface="Calibri" panose="020F0502020204030204" charset="0"/>
              <a:ea typeface="宋体" panose="02010600030101010101" pitchFamily="2" charset="-122"/>
              <a:cs typeface="Calibri" panose="020F0502020204030204" charset="0"/>
            </a:endParaRPr>
          </a:p>
          <a:p>
            <a:pPr marL="266700" indent="-266700" algn="just">
              <a:spcBef>
                <a:spcPts val="600"/>
              </a:spcBef>
              <a:buNone/>
              <a:defRPr/>
            </a:pPr>
            <a:r>
              <a:rPr lang="en-US" altLang="zh-CN" spc="-100" dirty="0">
                <a:solidFill>
                  <a:schemeClr val="accent2">
                    <a:lumMod val="75000"/>
                  </a:schemeClr>
                </a:solidFill>
                <a:latin typeface="Calibri" panose="020F0502020204030204" charset="0"/>
                <a:ea typeface="宋体" panose="02010600030101010101" pitchFamily="2" charset="-122"/>
                <a:cs typeface="Calibri" panose="020F0502020204030204" charset="0"/>
              </a:rPr>
              <a:t> </a:t>
            </a:r>
            <a:r>
              <a:rPr lang="en-US" altLang="zh-CN" spc="-100" dirty="0" smtClean="0">
                <a:solidFill>
                  <a:schemeClr val="accent2">
                    <a:lumMod val="75000"/>
                  </a:schemeClr>
                </a:solidFill>
                <a:latin typeface="Calibri" panose="020F0502020204030204" charset="0"/>
                <a:ea typeface="宋体" panose="02010600030101010101" pitchFamily="2" charset="-122"/>
                <a:cs typeface="Calibri" panose="020F0502020204030204" charset="0"/>
              </a:rPr>
              <a:t>   </a:t>
            </a:r>
            <a:r>
              <a:rPr lang="en-US" altLang="zh-CN" spc="-100" dirty="0" smtClean="0">
                <a:solidFill>
                  <a:srgbClr val="C00000"/>
                </a:solidFill>
                <a:latin typeface="Calibri" panose="020F0502020204030204" charset="0"/>
                <a:ea typeface="宋体" panose="02010600030101010101" pitchFamily="2" charset="-122"/>
                <a:cs typeface="Calibri" panose="020F0502020204030204" charset="0"/>
              </a:rPr>
              <a:t>Although </a:t>
            </a:r>
            <a:r>
              <a:rPr lang="en-US" altLang="zh-CN" spc="-100" dirty="0">
                <a:solidFill>
                  <a:srgbClr val="C00000"/>
                </a:solidFill>
                <a:latin typeface="Calibri" panose="020F0502020204030204" charset="0"/>
                <a:ea typeface="宋体" panose="02010600030101010101" pitchFamily="2" charset="-122"/>
                <a:cs typeface="Calibri" panose="020F0502020204030204" charset="0"/>
              </a:rPr>
              <a:t>it was a short business trip, everyone hoped that one day could be set aside/apart for sightseeing.</a:t>
            </a:r>
            <a:endParaRPr lang="en-US" altLang="zh-CN" spc="-100" dirty="0">
              <a:solidFill>
                <a:srgbClr val="C00000"/>
              </a:solidFill>
              <a:latin typeface="Calibri" panose="020F0502020204030204" charset="0"/>
              <a:ea typeface="宋体" panose="02010600030101010101" pitchFamily="2" charset="-122"/>
              <a:cs typeface="Calibri" panose="020F0502020204030204" charset="0"/>
            </a:endParaRPr>
          </a:p>
          <a:p>
            <a:pPr marL="266700" indent="-266700" algn="just">
              <a:spcBef>
                <a:spcPts val="600"/>
              </a:spcBef>
              <a:buNone/>
              <a:defRPr/>
            </a:pPr>
            <a:r>
              <a:rPr lang="en-US" altLang="zh-CN" sz="2400" dirty="0">
                <a:solidFill>
                  <a:prstClr val="black"/>
                </a:solidFill>
                <a:latin typeface="宋体" panose="02010600030101010101" pitchFamily="2" charset="-122"/>
                <a:ea typeface="宋体" panose="02010600030101010101" pitchFamily="2" charset="-122"/>
              </a:rPr>
              <a:t>6.</a:t>
            </a:r>
            <a:r>
              <a:rPr lang="zh-CN" altLang="en-US" sz="2400" b="1" dirty="0">
                <a:solidFill>
                  <a:prstClr val="black"/>
                </a:solidFill>
                <a:latin typeface="宋体" panose="02010600030101010101" pitchFamily="2" charset="-122"/>
                <a:ea typeface="宋体" panose="02010600030101010101" pitchFamily="2" charset="-122"/>
              </a:rPr>
              <a:t>据报道，巴西的热带雨林正以每分钟两万平方米的速度遭到破坏。</a:t>
            </a:r>
            <a:r>
              <a:rPr lang="en-US" altLang="zh-CN" dirty="0">
                <a:solidFill>
                  <a:schemeClr val="accent2">
                    <a:lumMod val="75000"/>
                  </a:schemeClr>
                </a:solidFill>
                <a:latin typeface="Calibri" panose="020F0502020204030204" charset="0"/>
                <a:ea typeface="宋体" panose="02010600030101010101" pitchFamily="2" charset="-122"/>
                <a:cs typeface="Calibri" panose="020F0502020204030204" charset="0"/>
              </a:rPr>
              <a:t>(rate)</a:t>
            </a:r>
            <a:endParaRPr lang="zh-CN" altLang="en-US" dirty="0">
              <a:solidFill>
                <a:schemeClr val="accent2">
                  <a:lumMod val="75000"/>
                </a:schemeClr>
              </a:solidFill>
              <a:latin typeface="宋体" panose="02010600030101010101" pitchFamily="2" charset="-122"/>
              <a:ea typeface="宋体" panose="02010600030101010101" pitchFamily="2" charset="-122"/>
            </a:endParaRPr>
          </a:p>
          <a:p>
            <a:pPr marL="266700" indent="-266700" algn="just">
              <a:spcBef>
                <a:spcPts val="600"/>
              </a:spcBef>
              <a:buNone/>
              <a:defRPr/>
            </a:pPr>
            <a:r>
              <a:rPr lang="en-US" altLang="zh-CN" spc="-100" dirty="0">
                <a:solidFill>
                  <a:srgbClr val="C00000"/>
                </a:solidFill>
                <a:latin typeface="Calibri" panose="020F0502020204030204" charset="0"/>
                <a:ea typeface="宋体" panose="02010600030101010101" pitchFamily="2" charset="-122"/>
                <a:cs typeface="Calibri" panose="020F0502020204030204" charset="0"/>
              </a:rPr>
              <a:t>    It is reported that Brazil’s tropical rainforest is being destroyed at the rate of 20,000 square meters a minute.</a:t>
            </a:r>
            <a:endParaRPr lang="en-US" altLang="zh-CN" spc="-100" dirty="0">
              <a:solidFill>
                <a:srgbClr val="C00000"/>
              </a:solidFill>
              <a:latin typeface="Calibri" panose="020F0502020204030204" charset="0"/>
              <a:ea typeface="宋体" panose="02010600030101010101" pitchFamily="2" charset="-122"/>
              <a:cs typeface="Calibri" panose="020F0502020204030204" charset="0"/>
            </a:endParaRPr>
          </a:p>
        </p:txBody>
      </p:sp>
      <p:pic>
        <p:nvPicPr>
          <p:cNvPr id="6" name="图片 5">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17946" y="174625"/>
            <a:ext cx="524510" cy="427355"/>
          </a:xfrm>
          <a:prstGeom prst="rect">
            <a:avLst/>
          </a:prstGeom>
        </p:spPr>
      </p:pic>
      <p:sp>
        <p:nvSpPr>
          <p:cNvPr id="7" name="文本框 4"/>
          <p:cNvSpPr txBox="1">
            <a:spLocks noChangeArrowheads="1"/>
          </p:cNvSpPr>
          <p:nvPr/>
        </p:nvSpPr>
        <p:spPr bwMode="auto">
          <a:xfrm>
            <a:off x="184150" y="160338"/>
            <a:ext cx="7029450"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r>
              <a:rPr lang="en-US" altLang="zh-CN" sz="2400" dirty="0">
                <a:solidFill>
                  <a:schemeClr val="bg1"/>
                </a:solidFill>
                <a:latin typeface="Arial Black" panose="020B0A04020102020204" pitchFamily="34" charset="0"/>
              </a:rPr>
              <a:t>Exercises · Language Exercises</a:t>
            </a:r>
            <a:endParaRPr lang="en-US" altLang="zh-CN" sz="2400" dirty="0">
              <a:solidFill>
                <a:schemeClr val="bg1"/>
              </a:solidFill>
              <a:latin typeface="Arial Black" panose="020B0A04020102020204" pitchFamily="34" charset="0"/>
            </a:endParaRPr>
          </a:p>
        </p:txBody>
      </p:sp>
      <p:pic>
        <p:nvPicPr>
          <p:cNvPr id="8" name="图片 7">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dissolve">
                                      <p:cBhvr>
                                        <p:cTn id="7" dur="500"/>
                                        <p:tgtEl>
                                          <p:spTgt spid="1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1">
                                            <p:txEl>
                                              <p:pRg st="4" end="4"/>
                                            </p:txEl>
                                          </p:spTgt>
                                        </p:tgtEl>
                                        <p:attrNameLst>
                                          <p:attrName>style.visibility</p:attrName>
                                        </p:attrNameLst>
                                      </p:cBhvr>
                                      <p:to>
                                        <p:strVal val="visible"/>
                                      </p:to>
                                    </p:set>
                                    <p:animEffect transition="in" filter="dissolve">
                                      <p:cBhvr>
                                        <p:cTn id="12" dur="500"/>
                                        <p:tgtEl>
                                          <p:spTgt spid="11">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
                                            <p:txEl>
                                              <p:pRg st="6" end="6"/>
                                            </p:txEl>
                                          </p:spTgt>
                                        </p:tgtEl>
                                        <p:attrNameLst>
                                          <p:attrName>style.visibility</p:attrName>
                                        </p:attrNameLst>
                                      </p:cBhvr>
                                      <p:to>
                                        <p:strVal val="visible"/>
                                      </p:to>
                                    </p:set>
                                    <p:animEffect transition="in" filter="dissolve">
                                      <p:cBhvr>
                                        <p:cTn id="17"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1" name="内容占位符 2"/>
          <p:cNvSpPr>
            <a:spLocks noGrp="1"/>
          </p:cNvSpPr>
          <p:nvPr/>
        </p:nvSpPr>
        <p:spPr>
          <a:xfrm>
            <a:off x="244475" y="881380"/>
            <a:ext cx="11684000" cy="538924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algn="just">
              <a:buNone/>
              <a:defRPr/>
            </a:pPr>
            <a:r>
              <a:rPr lang="en-US" altLang="zh-CN" b="1" spc="-100" dirty="0">
                <a:latin typeface="Calibri" panose="020F0502020204030204"/>
                <a:ea typeface="宋体" panose="02010600030101010101" pitchFamily="2" charset="-122"/>
              </a:rPr>
              <a:t>6. Translate the following sentences, using the words in the brackets. </a:t>
            </a:r>
            <a:endParaRPr lang="en-US" altLang="zh-CN" sz="2400" dirty="0">
              <a:solidFill>
                <a:prstClr val="black"/>
              </a:solidFill>
              <a:latin typeface="宋体" panose="02010600030101010101" pitchFamily="2" charset="-122"/>
              <a:ea typeface="宋体" panose="02010600030101010101" pitchFamily="2" charset="-122"/>
            </a:endParaRPr>
          </a:p>
          <a:p>
            <a:pPr marL="266700" indent="-266700" algn="just">
              <a:spcBef>
                <a:spcPts val="300"/>
              </a:spcBef>
              <a:buNone/>
              <a:defRPr/>
            </a:pPr>
            <a:r>
              <a:rPr lang="en-US" altLang="zh-CN" sz="2400" dirty="0">
                <a:solidFill>
                  <a:prstClr val="black"/>
                </a:solidFill>
                <a:latin typeface="宋体" panose="02010600030101010101" pitchFamily="2" charset="-122"/>
                <a:ea typeface="宋体" panose="02010600030101010101" pitchFamily="2" charset="-122"/>
              </a:rPr>
              <a:t>7.</a:t>
            </a:r>
            <a:r>
              <a:rPr lang="zh-CN" altLang="en-US" sz="2400" b="1" dirty="0">
                <a:solidFill>
                  <a:prstClr val="black"/>
                </a:solidFill>
                <a:latin typeface="宋体" panose="02010600030101010101" pitchFamily="2" charset="-122"/>
                <a:ea typeface="宋体" panose="02010600030101010101" pitchFamily="2" charset="-122"/>
              </a:rPr>
              <a:t>我一回到家，爸妈就立刻为我忙碌起来，好像忘记了我已经是两个孩子的父亲。</a:t>
            </a:r>
            <a:r>
              <a:rPr lang="en-US" altLang="zh-CN" dirty="0">
                <a:solidFill>
                  <a:schemeClr val="accent2">
                    <a:lumMod val="75000"/>
                  </a:schemeClr>
                </a:solidFill>
                <a:latin typeface="Calibri" panose="020F0502020204030204" charset="0"/>
                <a:ea typeface="宋体" panose="02010600030101010101" pitchFamily="2" charset="-122"/>
                <a:cs typeface="Calibri" panose="020F0502020204030204" charset="0"/>
              </a:rPr>
              <a:t>(fuss)</a:t>
            </a:r>
            <a:endParaRPr lang="en-US" altLang="zh-CN" dirty="0">
              <a:solidFill>
                <a:schemeClr val="accent2">
                  <a:lumMod val="75000"/>
                </a:schemeClr>
              </a:solidFill>
              <a:latin typeface="Calibri" panose="020F0502020204030204" charset="0"/>
              <a:ea typeface="宋体" panose="02010600030101010101" pitchFamily="2" charset="-122"/>
              <a:cs typeface="Calibri" panose="020F0502020204030204" charset="0"/>
            </a:endParaRPr>
          </a:p>
          <a:p>
            <a:pPr marL="266700" indent="-266700" algn="just">
              <a:spcBef>
                <a:spcPts val="300"/>
              </a:spcBef>
              <a:buNone/>
              <a:defRPr/>
            </a:pPr>
            <a:r>
              <a:rPr lang="zh-CN" altLang="en-US" sz="2400" dirty="0">
                <a:solidFill>
                  <a:prstClr val="black"/>
                </a:solidFill>
                <a:latin typeface="宋体" panose="02010600030101010101" pitchFamily="2" charset="-122"/>
                <a:ea typeface="宋体" panose="02010600030101010101" pitchFamily="2" charset="-122"/>
              </a:rPr>
              <a:t>  </a:t>
            </a:r>
            <a:r>
              <a:rPr lang="en-GB" altLang="zh-CN" spc="-100" dirty="0">
                <a:solidFill>
                  <a:srgbClr val="C00000"/>
                </a:solidFill>
                <a:latin typeface="Calibri" panose="020F0502020204030204" charset="0"/>
                <a:ea typeface="宋体" panose="02010600030101010101" pitchFamily="2" charset="-122"/>
                <a:cs typeface="Calibri" panose="020F0502020204030204" charset="0"/>
              </a:rPr>
              <a:t>When I got home, my parents immediately started to fuss over me, forgetting that I was a father of two kids myself.</a:t>
            </a:r>
            <a:r>
              <a:rPr lang="zh-CN" altLang="en-US" spc="-100" dirty="0">
                <a:solidFill>
                  <a:srgbClr val="C00000"/>
                </a:solidFill>
                <a:latin typeface="Calibri" panose="020F0502020204030204" charset="0"/>
                <a:ea typeface="宋体" panose="02010600030101010101" pitchFamily="2" charset="-122"/>
                <a:cs typeface="Calibri" panose="020F0502020204030204" charset="0"/>
              </a:rPr>
              <a:t>                                                                                                    </a:t>
            </a:r>
            <a:endParaRPr lang="en-US" altLang="zh-CN" spc="-100" dirty="0">
              <a:solidFill>
                <a:srgbClr val="C00000"/>
              </a:solidFill>
              <a:latin typeface="Calibri" panose="020F0502020204030204" charset="0"/>
              <a:ea typeface="宋体" panose="02010600030101010101" pitchFamily="2" charset="-122"/>
              <a:cs typeface="Calibri" panose="020F0502020204030204" charset="0"/>
            </a:endParaRPr>
          </a:p>
          <a:p>
            <a:pPr marL="266700" indent="-266700" algn="just">
              <a:spcBef>
                <a:spcPts val="300"/>
              </a:spcBef>
              <a:buNone/>
              <a:defRPr/>
            </a:pPr>
            <a:r>
              <a:rPr lang="en-US" altLang="zh-CN" sz="2400" dirty="0">
                <a:solidFill>
                  <a:prstClr val="black"/>
                </a:solidFill>
                <a:latin typeface="宋体" panose="02010600030101010101" pitchFamily="2" charset="-122"/>
                <a:ea typeface="宋体" panose="02010600030101010101" pitchFamily="2" charset="-122"/>
              </a:rPr>
              <a:t>8.</a:t>
            </a:r>
            <a:r>
              <a:rPr lang="zh-CN" altLang="en-US" sz="2400" dirty="0">
                <a:solidFill>
                  <a:prstClr val="black"/>
                </a:solidFill>
                <a:latin typeface="宋体" panose="02010600030101010101" pitchFamily="2" charset="-122"/>
                <a:ea typeface="宋体" panose="02010600030101010101" pitchFamily="2" charset="-122"/>
              </a:rPr>
              <a:t>记者欣喜地发现，那个村庄没有一个人无所事事，每个人都在紧张忙碌着。</a:t>
            </a:r>
            <a:r>
              <a:rPr lang="en-US" altLang="zh-CN" dirty="0">
                <a:solidFill>
                  <a:schemeClr val="accent2">
                    <a:lumMod val="75000"/>
                  </a:schemeClr>
                </a:solidFill>
                <a:latin typeface="Calibri" panose="020F0502020204030204" charset="0"/>
                <a:ea typeface="宋体" panose="02010600030101010101" pitchFamily="2" charset="-122"/>
                <a:cs typeface="Calibri" panose="020F0502020204030204" charset="0"/>
              </a:rPr>
              <a:t>(engage)</a:t>
            </a:r>
            <a:r>
              <a:rPr lang="zh-CN" altLang="en-US" sz="2400" dirty="0">
                <a:solidFill>
                  <a:schemeClr val="accent2">
                    <a:lumMod val="75000"/>
                  </a:schemeClr>
                </a:solidFill>
                <a:latin typeface="宋体" panose="02010600030101010101" pitchFamily="2" charset="-122"/>
                <a:ea typeface="宋体" panose="02010600030101010101" pitchFamily="2" charset="-122"/>
              </a:rPr>
              <a:t>  </a:t>
            </a:r>
            <a:endParaRPr lang="en-US" altLang="zh-CN" sz="2400" dirty="0">
              <a:solidFill>
                <a:schemeClr val="accent2">
                  <a:lumMod val="75000"/>
                </a:schemeClr>
              </a:solidFill>
              <a:latin typeface="宋体" panose="02010600030101010101" pitchFamily="2" charset="-122"/>
              <a:ea typeface="宋体" panose="02010600030101010101" pitchFamily="2" charset="-122"/>
            </a:endParaRPr>
          </a:p>
          <a:p>
            <a:pPr marL="266700" indent="-266700" algn="just">
              <a:spcBef>
                <a:spcPts val="300"/>
              </a:spcBef>
              <a:buNone/>
              <a:defRPr/>
            </a:pPr>
            <a:r>
              <a:rPr lang="zh-CN" altLang="en-US" sz="2400" dirty="0">
                <a:solidFill>
                  <a:prstClr val="black"/>
                </a:solidFill>
                <a:latin typeface="宋体" panose="02010600030101010101" pitchFamily="2" charset="-122"/>
                <a:ea typeface="宋体" panose="02010600030101010101" pitchFamily="2" charset="-122"/>
              </a:rPr>
              <a:t>  </a:t>
            </a:r>
            <a:r>
              <a:rPr lang="en-GB" altLang="zh-CN" spc="-100" dirty="0">
                <a:solidFill>
                  <a:srgbClr val="C00000"/>
                </a:solidFill>
                <a:latin typeface="Calibri" panose="020F0502020204030204" charset="0"/>
                <a:ea typeface="宋体" panose="02010600030101010101" pitchFamily="2" charset="-122"/>
                <a:cs typeface="Calibri" panose="020F0502020204030204" charset="0"/>
              </a:rPr>
              <a:t>The reporter was glad to find that nobody was idle in that village. Everybody was </a:t>
            </a:r>
            <a:r>
              <a:rPr lang="en-US" altLang="en-GB" spc="-100" dirty="0">
                <a:solidFill>
                  <a:srgbClr val="C00000"/>
                </a:solidFill>
                <a:latin typeface="Calibri" panose="020F0502020204030204" charset="0"/>
                <a:ea typeface="宋体" panose="02010600030101010101" pitchFamily="2" charset="-122"/>
                <a:cs typeface="Calibri" panose="020F0502020204030204" charset="0"/>
              </a:rPr>
              <a:t>intensely</a:t>
            </a:r>
            <a:r>
              <a:rPr lang="en-GB" altLang="zh-CN" spc="-100" dirty="0">
                <a:solidFill>
                  <a:srgbClr val="C00000"/>
                </a:solidFill>
                <a:latin typeface="Calibri" panose="020F0502020204030204" charset="0"/>
                <a:ea typeface="宋体" panose="02010600030101010101" pitchFamily="2" charset="-122"/>
                <a:cs typeface="Calibri" panose="020F0502020204030204" charset="0"/>
              </a:rPr>
              <a:t> engaged.</a:t>
            </a:r>
            <a:r>
              <a:rPr lang="zh-CN" altLang="en-US" spc="-100" dirty="0">
                <a:solidFill>
                  <a:srgbClr val="C00000"/>
                </a:solidFill>
                <a:latin typeface="Calibri" panose="020F0502020204030204" charset="0"/>
                <a:ea typeface="宋体" panose="02010600030101010101" pitchFamily="2" charset="-122"/>
                <a:cs typeface="Calibri" panose="020F0502020204030204" charset="0"/>
              </a:rPr>
              <a:t>                                                                                                </a:t>
            </a:r>
            <a:endParaRPr lang="en-US" altLang="zh-CN" spc="-100" dirty="0">
              <a:solidFill>
                <a:srgbClr val="C00000"/>
              </a:solidFill>
              <a:latin typeface="Calibri" panose="020F0502020204030204" charset="0"/>
              <a:ea typeface="宋体" panose="02010600030101010101" pitchFamily="2" charset="-122"/>
              <a:cs typeface="Calibri" panose="020F0502020204030204" charset="0"/>
            </a:endParaRPr>
          </a:p>
          <a:p>
            <a:pPr marL="266700" indent="-266700" algn="just">
              <a:spcBef>
                <a:spcPts val="300"/>
              </a:spcBef>
              <a:buNone/>
              <a:defRPr/>
            </a:pPr>
            <a:r>
              <a:rPr lang="en-US" altLang="zh-CN" sz="2400" dirty="0">
                <a:solidFill>
                  <a:prstClr val="black"/>
                </a:solidFill>
                <a:latin typeface="宋体" panose="02010600030101010101" pitchFamily="2" charset="-122"/>
                <a:ea typeface="宋体" panose="02010600030101010101" pitchFamily="2" charset="-122"/>
              </a:rPr>
              <a:t>9.</a:t>
            </a:r>
            <a:r>
              <a:rPr lang="zh-CN" altLang="en-US" sz="2400" dirty="0">
                <a:solidFill>
                  <a:prstClr val="black"/>
                </a:solidFill>
                <a:latin typeface="宋体" panose="02010600030101010101" pitchFamily="2" charset="-122"/>
                <a:ea typeface="宋体" panose="02010600030101010101" pitchFamily="2" charset="-122"/>
              </a:rPr>
              <a:t>有人主张对开会迟到的人处以罚款。我觉得这样的提案颇为荒唐，似乎罚款是解决问题的万能药。</a:t>
            </a:r>
            <a:r>
              <a:rPr lang="en-US" altLang="zh-CN" dirty="0">
                <a:solidFill>
                  <a:schemeClr val="accent2">
                    <a:lumMod val="75000"/>
                  </a:schemeClr>
                </a:solidFill>
                <a:latin typeface="Calibri" panose="020F0502020204030204" charset="0"/>
                <a:ea typeface="宋体" panose="02010600030101010101" pitchFamily="2" charset="-122"/>
                <a:cs typeface="Calibri" panose="020F0502020204030204" charset="0"/>
              </a:rPr>
              <a:t>(strike)</a:t>
            </a:r>
            <a:endParaRPr lang="en-US" altLang="zh-CN" dirty="0">
              <a:solidFill>
                <a:schemeClr val="accent2">
                  <a:lumMod val="75000"/>
                </a:schemeClr>
              </a:solidFill>
              <a:latin typeface="Calibri" panose="020F0502020204030204" charset="0"/>
              <a:ea typeface="宋体" panose="02010600030101010101" pitchFamily="2" charset="-122"/>
              <a:cs typeface="Calibri" panose="020F0502020204030204" charset="0"/>
            </a:endParaRPr>
          </a:p>
          <a:p>
            <a:pPr marL="266700" indent="-266700" algn="just">
              <a:spcBef>
                <a:spcPts val="300"/>
              </a:spcBef>
              <a:buNone/>
              <a:defRPr/>
            </a:pPr>
            <a:r>
              <a:rPr lang="en-US" altLang="zh-CN" sz="2400" dirty="0">
                <a:solidFill>
                  <a:prstClr val="black"/>
                </a:solidFill>
                <a:latin typeface="Calibri" panose="020F0502020204030204" charset="0"/>
                <a:ea typeface="宋体" panose="02010600030101010101" pitchFamily="2" charset="-122"/>
                <a:cs typeface="Calibri" panose="020F0502020204030204" charset="0"/>
              </a:rPr>
              <a:t>    </a:t>
            </a:r>
            <a:r>
              <a:rPr lang="en-US" altLang="zh-CN" spc="-100" dirty="0">
                <a:solidFill>
                  <a:srgbClr val="C00000"/>
                </a:solidFill>
                <a:latin typeface="Calibri" panose="020F0502020204030204" charset="0"/>
                <a:ea typeface="宋体" panose="02010600030101010101" pitchFamily="2" charset="-122"/>
                <a:cs typeface="Calibri" panose="020F0502020204030204" charset="0"/>
              </a:rPr>
              <a:t>Someone proposed that we should fine those who are late for the meeting. This proposal strikes me as rather ridiculous, as if fining is a magic bullet /panacea.</a:t>
            </a:r>
            <a:endParaRPr lang="en-US" altLang="zh-CN" spc="-100" dirty="0">
              <a:solidFill>
                <a:srgbClr val="C00000"/>
              </a:solidFill>
              <a:latin typeface="Calibri" panose="020F0502020204030204" charset="0"/>
              <a:ea typeface="宋体" panose="02010600030101010101" pitchFamily="2" charset="-122"/>
              <a:cs typeface="Calibri" panose="020F0502020204030204" charset="0"/>
            </a:endParaRPr>
          </a:p>
        </p:txBody>
      </p:sp>
      <p:sp>
        <p:nvSpPr>
          <p:cNvPr id="7" name="文本框 4"/>
          <p:cNvSpPr txBox="1">
            <a:spLocks noChangeArrowheads="1"/>
          </p:cNvSpPr>
          <p:nvPr/>
        </p:nvSpPr>
        <p:spPr bwMode="auto">
          <a:xfrm>
            <a:off x="184150" y="160338"/>
            <a:ext cx="7029450"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r>
              <a:rPr lang="en-US" altLang="zh-CN" sz="2400" dirty="0">
                <a:solidFill>
                  <a:schemeClr val="bg1"/>
                </a:solidFill>
                <a:latin typeface="Arial Black" panose="020B0A04020102020204" pitchFamily="34" charset="0"/>
              </a:rPr>
              <a:t>Exercises · Language Exercises</a:t>
            </a:r>
            <a:endParaRPr lang="en-US" altLang="zh-CN" sz="2400" dirty="0">
              <a:solidFill>
                <a:schemeClr val="bg1"/>
              </a:solidFill>
              <a:latin typeface="Arial Black" panose="020B0A04020102020204" pitchFamily="34" charset="0"/>
            </a:endParaRPr>
          </a:p>
        </p:txBody>
      </p:sp>
      <p:pic>
        <p:nvPicPr>
          <p:cNvPr id="8" name="图片 7">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17946" y="174625"/>
            <a:ext cx="524510" cy="427355"/>
          </a:xfrm>
          <a:prstGeom prst="rect">
            <a:avLst/>
          </a:prstGeom>
        </p:spPr>
      </p:pic>
      <p:pic>
        <p:nvPicPr>
          <p:cNvPr id="9" name="图片 8">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dissolve">
                                      <p:cBhvr>
                                        <p:cTn id="7" dur="500"/>
                                        <p:tgtEl>
                                          <p:spTgt spid="1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1">
                                            <p:txEl>
                                              <p:pRg st="4" end="4"/>
                                            </p:txEl>
                                          </p:spTgt>
                                        </p:tgtEl>
                                        <p:attrNameLst>
                                          <p:attrName>style.visibility</p:attrName>
                                        </p:attrNameLst>
                                      </p:cBhvr>
                                      <p:to>
                                        <p:strVal val="visible"/>
                                      </p:to>
                                    </p:set>
                                    <p:animEffect transition="in" filter="dissolve">
                                      <p:cBhvr>
                                        <p:cTn id="12" dur="500"/>
                                        <p:tgtEl>
                                          <p:spTgt spid="11">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
                                            <p:txEl>
                                              <p:pRg st="6" end="6"/>
                                            </p:txEl>
                                          </p:spTgt>
                                        </p:tgtEl>
                                        <p:attrNameLst>
                                          <p:attrName>style.visibility</p:attrName>
                                        </p:attrNameLst>
                                      </p:cBhvr>
                                      <p:to>
                                        <p:strVal val="visible"/>
                                      </p:to>
                                    </p:set>
                                    <p:animEffect transition="in" filter="dissolve">
                                      <p:cBhvr>
                                        <p:cTn id="17"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1" name="内容占位符 2"/>
          <p:cNvSpPr>
            <a:spLocks noGrp="1"/>
          </p:cNvSpPr>
          <p:nvPr/>
        </p:nvSpPr>
        <p:spPr>
          <a:xfrm>
            <a:off x="244475" y="881380"/>
            <a:ext cx="11684000" cy="473773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algn="just">
              <a:buNone/>
              <a:defRPr/>
            </a:pPr>
            <a:r>
              <a:rPr lang="en-US" altLang="zh-CN" b="1" spc="-100" dirty="0">
                <a:latin typeface="Calibri" panose="020F0502020204030204"/>
                <a:ea typeface="宋体" panose="02010600030101010101" pitchFamily="2" charset="-122"/>
              </a:rPr>
              <a:t>7. Fill in each blank of the passage with ONE suitable word. </a:t>
            </a:r>
            <a:endParaRPr lang="en-US" altLang="zh-CN" b="1" spc="-100" dirty="0">
              <a:latin typeface="Calibri" panose="020F0502020204030204"/>
              <a:ea typeface="宋体" panose="02010600030101010101" pitchFamily="2" charset="-122"/>
            </a:endParaRPr>
          </a:p>
          <a:p>
            <a:pPr marL="266700" indent="-266700" algn="just">
              <a:buNone/>
              <a:defRPr/>
            </a:pPr>
            <a:r>
              <a:rPr lang="zh-CN" altLang="en-US" dirty="0">
                <a:solidFill>
                  <a:prstClr val="black"/>
                </a:solidFill>
                <a:latin typeface="Calibri" panose="020F0502020204030204"/>
                <a:ea typeface="宋体" panose="02010600030101010101" pitchFamily="2" charset="-122"/>
              </a:rPr>
              <a:t>          </a:t>
            </a:r>
            <a:r>
              <a:rPr lang="en-US" altLang="zh-CN" dirty="0">
                <a:solidFill>
                  <a:prstClr val="black"/>
                </a:solidFill>
                <a:latin typeface="Calibri" panose="020F0502020204030204"/>
                <a:ea typeface="宋体" panose="02010600030101010101" pitchFamily="2" charset="-122"/>
              </a:rPr>
              <a:t>Most of us fear making mistakes or being (1)</a:t>
            </a:r>
            <a:r>
              <a:rPr lang="en-US" altLang="zh-CN" spc="-120" dirty="0">
                <a:solidFill>
                  <a:prstClr val="black"/>
                </a:solidFill>
                <a:uFillTx/>
                <a:latin typeface="Calibri" panose="020F0502020204030204"/>
                <a:ea typeface="宋体" panose="02010600030101010101" pitchFamily="2" charset="-122"/>
              </a:rPr>
              <a:t>____</a:t>
            </a:r>
            <a:r>
              <a:rPr lang="en-US" altLang="zh-CN" dirty="0">
                <a:solidFill>
                  <a:prstClr val="black"/>
                </a:solidFill>
                <a:latin typeface="Calibri" panose="020F0502020204030204"/>
                <a:ea typeface="宋体" panose="02010600030101010101" pitchFamily="2" charset="-122"/>
              </a:rPr>
              <a:t> responsible for a big  failure. We fear that mistakes could (2) ____ us grades, relationships, money, or even careers. However, it’s possible to (3) </a:t>
            </a:r>
            <a:r>
              <a:rPr lang="en-US" altLang="zh-CN" spc="-150" dirty="0">
                <a:solidFill>
                  <a:prstClr val="black"/>
                </a:solidFill>
                <a:uFillTx/>
                <a:latin typeface="Calibri" panose="020F0502020204030204"/>
                <a:ea typeface="宋体" panose="02010600030101010101" pitchFamily="2" charset="-122"/>
              </a:rPr>
              <a:t>____</a:t>
            </a:r>
            <a:r>
              <a:rPr lang="en-US" altLang="zh-CN" dirty="0">
                <a:solidFill>
                  <a:prstClr val="black"/>
                </a:solidFill>
                <a:latin typeface="Calibri" panose="020F0502020204030204"/>
                <a:ea typeface="宋体" panose="02010600030101010101" pitchFamily="2" charset="-122"/>
              </a:rPr>
              <a:t> an entirely different attitude toward mistakes. (4) </a:t>
            </a:r>
            <a:r>
              <a:rPr lang="en-US" altLang="zh-CN" spc="-150" dirty="0">
                <a:solidFill>
                  <a:prstClr val="black"/>
                </a:solidFill>
                <a:uFillTx/>
                <a:latin typeface="Calibri" panose="020F0502020204030204"/>
                <a:ea typeface="宋体" panose="02010600030101010101" pitchFamily="2" charset="-122"/>
              </a:rPr>
              <a:t>______</a:t>
            </a:r>
            <a:r>
              <a:rPr lang="en-US" altLang="zh-CN" dirty="0">
                <a:solidFill>
                  <a:prstClr val="black"/>
                </a:solidFill>
                <a:latin typeface="Calibri" panose="020F0502020204030204"/>
                <a:ea typeface="宋体" panose="02010600030101010101" pitchFamily="2" charset="-122"/>
              </a:rPr>
              <a:t> of fearing them, we could actually celebrate them. </a:t>
            </a:r>
            <a:endParaRPr lang="en-US" altLang="zh-CN" dirty="0">
              <a:solidFill>
                <a:prstClr val="black"/>
              </a:solidFill>
              <a:latin typeface="Calibri" panose="020F0502020204030204"/>
              <a:ea typeface="宋体" panose="02010600030101010101" pitchFamily="2" charset="-122"/>
            </a:endParaRPr>
          </a:p>
          <a:p>
            <a:pPr marL="266700" indent="-266700" algn="just">
              <a:buNone/>
              <a:defRPr/>
            </a:pPr>
            <a:r>
              <a:rPr lang="en-US" altLang="zh-CN" dirty="0">
                <a:solidFill>
                  <a:prstClr val="black"/>
                </a:solidFill>
                <a:latin typeface="Calibri" panose="020F0502020204030204"/>
                <a:ea typeface="宋体" panose="02010600030101010101" pitchFamily="2" charset="-122"/>
              </a:rPr>
              <a:t>   </a:t>
            </a:r>
            <a:r>
              <a:rPr lang="zh-CN" altLang="en-US" dirty="0">
                <a:solidFill>
                  <a:prstClr val="black"/>
                </a:solidFill>
                <a:latin typeface="Calibri" panose="020F0502020204030204"/>
                <a:ea typeface="宋体" panose="02010600030101010101" pitchFamily="2" charset="-122"/>
              </a:rPr>
              <a:t>      </a:t>
            </a:r>
            <a:r>
              <a:rPr lang="en-US" altLang="zh-CN" dirty="0">
                <a:solidFill>
                  <a:prstClr val="black"/>
                </a:solidFill>
                <a:latin typeface="Calibri" panose="020F0502020204030204"/>
                <a:ea typeface="宋体" panose="02010600030101010101" pitchFamily="2" charset="-122"/>
              </a:rPr>
              <a:t>A creative environment is one in (5) _____   failure is not fatal. Businesses strive to be competitive, (6) _____means they all desperately seek innovative changes. Yet innovation (7) </a:t>
            </a:r>
            <a:r>
              <a:rPr lang="en-US" altLang="zh-CN" spc="-150" dirty="0">
                <a:solidFill>
                  <a:prstClr val="black"/>
                </a:solidFill>
                <a:uFillTx/>
                <a:latin typeface="Calibri" panose="020F0502020204030204"/>
                <a:ea typeface="宋体" panose="02010600030101010101" pitchFamily="2" charset="-122"/>
              </a:rPr>
              <a:t>_______</a:t>
            </a:r>
            <a:r>
              <a:rPr lang="en-US" altLang="zh-CN" dirty="0">
                <a:solidFill>
                  <a:prstClr val="black"/>
                </a:solidFill>
                <a:latin typeface="Calibri" panose="020F0502020204030204"/>
                <a:ea typeface="宋体" panose="02010600030101010101" pitchFamily="2" charset="-122"/>
              </a:rPr>
              <a:t> risk-taking—and along with it, the chance of failing.</a:t>
            </a:r>
            <a:r>
              <a:rPr lang="zh-CN" altLang="en-US" dirty="0">
                <a:solidFill>
                  <a:prstClr val="black"/>
                </a:solidFill>
                <a:latin typeface="Calibri" panose="020F0502020204030204"/>
                <a:ea typeface="宋体" panose="02010600030101010101" pitchFamily="2" charset="-122"/>
              </a:rPr>
              <a:t>          </a:t>
            </a:r>
            <a:endParaRPr lang="en-US" altLang="zh-CN" dirty="0">
              <a:solidFill>
                <a:prstClr val="black"/>
              </a:solidFill>
              <a:latin typeface="Calibri" panose="020F0502020204030204"/>
              <a:ea typeface="宋体" panose="02010600030101010101" pitchFamily="2" charset="-122"/>
            </a:endParaRPr>
          </a:p>
        </p:txBody>
      </p:sp>
      <p:sp>
        <p:nvSpPr>
          <p:cNvPr id="7" name="文本框 4"/>
          <p:cNvSpPr txBox="1">
            <a:spLocks noChangeArrowheads="1"/>
          </p:cNvSpPr>
          <p:nvPr/>
        </p:nvSpPr>
        <p:spPr bwMode="auto">
          <a:xfrm>
            <a:off x="184150" y="160338"/>
            <a:ext cx="7029450"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r>
              <a:rPr lang="en-US" altLang="zh-CN" sz="2400" dirty="0">
                <a:solidFill>
                  <a:schemeClr val="bg1"/>
                </a:solidFill>
                <a:latin typeface="Arial Black" panose="020B0A04020102020204" pitchFamily="34" charset="0"/>
              </a:rPr>
              <a:t>Exercises · Language Exercises</a:t>
            </a:r>
            <a:endParaRPr lang="en-US" altLang="zh-CN" sz="2400" dirty="0">
              <a:solidFill>
                <a:schemeClr val="bg1"/>
              </a:solidFill>
              <a:latin typeface="Arial Black" panose="020B0A04020102020204" pitchFamily="34" charset="0"/>
            </a:endParaRPr>
          </a:p>
        </p:txBody>
      </p:sp>
      <p:sp>
        <p:nvSpPr>
          <p:cNvPr id="9" name="文本框 8"/>
          <p:cNvSpPr txBox="1"/>
          <p:nvPr/>
        </p:nvSpPr>
        <p:spPr>
          <a:xfrm>
            <a:off x="7891849" y="1355090"/>
            <a:ext cx="900996"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held</a:t>
            </a:r>
            <a:endParaRPr lang="zh-CN" altLang="en-US" sz="2800" spc="-100" dirty="0">
              <a:solidFill>
                <a:srgbClr val="C00000"/>
              </a:solidFill>
              <a:latin typeface="Calibri" panose="020F0502020204030204" charset="0"/>
              <a:ea typeface="宋体" panose="02010600030101010101" pitchFamily="2" charset="-122"/>
            </a:endParaRPr>
          </a:p>
        </p:txBody>
      </p:sp>
      <p:sp>
        <p:nvSpPr>
          <p:cNvPr id="10" name="文本框 9"/>
          <p:cNvSpPr txBox="1"/>
          <p:nvPr/>
        </p:nvSpPr>
        <p:spPr>
          <a:xfrm>
            <a:off x="6309631" y="1728392"/>
            <a:ext cx="942069"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cost</a:t>
            </a:r>
            <a:endParaRPr lang="zh-CN" altLang="en-US" sz="2800" spc="-100" dirty="0">
              <a:solidFill>
                <a:srgbClr val="C00000"/>
              </a:solidFill>
              <a:latin typeface="Calibri" panose="020F0502020204030204" charset="0"/>
              <a:ea typeface="宋体" panose="02010600030101010101" pitchFamily="2" charset="-122"/>
            </a:endParaRPr>
          </a:p>
        </p:txBody>
      </p:sp>
      <p:sp>
        <p:nvSpPr>
          <p:cNvPr id="12" name="文本框 11"/>
          <p:cNvSpPr txBox="1"/>
          <p:nvPr/>
        </p:nvSpPr>
        <p:spPr>
          <a:xfrm>
            <a:off x="7850412" y="2141180"/>
            <a:ext cx="942069"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take</a:t>
            </a:r>
            <a:endParaRPr lang="zh-CN" altLang="en-US" sz="2800" spc="-100" dirty="0">
              <a:solidFill>
                <a:srgbClr val="C00000"/>
              </a:solidFill>
              <a:latin typeface="Calibri" panose="020F0502020204030204" charset="0"/>
              <a:ea typeface="宋体" panose="02010600030101010101" pitchFamily="2" charset="-122"/>
            </a:endParaRPr>
          </a:p>
        </p:txBody>
      </p:sp>
      <p:sp>
        <p:nvSpPr>
          <p:cNvPr id="13" name="文本框 12"/>
          <p:cNvSpPr txBox="1"/>
          <p:nvPr/>
        </p:nvSpPr>
        <p:spPr>
          <a:xfrm>
            <a:off x="5234123" y="2511980"/>
            <a:ext cx="1399269"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Instead</a:t>
            </a:r>
            <a:endParaRPr lang="zh-CN" altLang="en-US" sz="2800" spc="-100" dirty="0">
              <a:solidFill>
                <a:srgbClr val="C00000"/>
              </a:solidFill>
              <a:latin typeface="Calibri" panose="020F0502020204030204" charset="0"/>
              <a:ea typeface="宋体" panose="02010600030101010101" pitchFamily="2" charset="-122"/>
            </a:endParaRPr>
          </a:p>
        </p:txBody>
      </p:sp>
      <p:sp>
        <p:nvSpPr>
          <p:cNvPr id="14" name="文本框 13"/>
          <p:cNvSpPr txBox="1"/>
          <p:nvPr/>
        </p:nvSpPr>
        <p:spPr>
          <a:xfrm>
            <a:off x="6309631" y="3410297"/>
            <a:ext cx="1026888"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which</a:t>
            </a:r>
            <a:endParaRPr lang="zh-CN" altLang="en-US" sz="2800" spc="-100" dirty="0">
              <a:solidFill>
                <a:srgbClr val="C00000"/>
              </a:solidFill>
              <a:latin typeface="Calibri" panose="020F0502020204030204" charset="0"/>
              <a:ea typeface="宋体" panose="02010600030101010101" pitchFamily="2" charset="-122"/>
            </a:endParaRPr>
          </a:p>
        </p:txBody>
      </p:sp>
      <p:sp>
        <p:nvSpPr>
          <p:cNvPr id="15" name="文本框 14"/>
          <p:cNvSpPr txBox="1"/>
          <p:nvPr/>
        </p:nvSpPr>
        <p:spPr>
          <a:xfrm>
            <a:off x="4616949" y="3759882"/>
            <a:ext cx="1212033"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which</a:t>
            </a:r>
            <a:endParaRPr lang="zh-CN" altLang="en-US" sz="2800" spc="-100" dirty="0">
              <a:solidFill>
                <a:srgbClr val="C00000"/>
              </a:solidFill>
              <a:latin typeface="Calibri" panose="020F0502020204030204" charset="0"/>
              <a:ea typeface="宋体" panose="02010600030101010101" pitchFamily="2" charset="-122"/>
            </a:endParaRPr>
          </a:p>
        </p:txBody>
      </p:sp>
      <p:sp>
        <p:nvSpPr>
          <p:cNvPr id="16" name="文本框 15"/>
          <p:cNvSpPr txBox="1"/>
          <p:nvPr/>
        </p:nvSpPr>
        <p:spPr>
          <a:xfrm>
            <a:off x="4523538" y="4161860"/>
            <a:ext cx="1399269"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requires</a:t>
            </a:r>
            <a:endParaRPr lang="zh-CN" altLang="en-US" sz="2800" spc="-100" dirty="0">
              <a:solidFill>
                <a:srgbClr val="C00000"/>
              </a:solidFill>
              <a:latin typeface="Calibri" panose="020F0502020204030204" charset="0"/>
              <a:ea typeface="宋体" panose="02010600030101010101" pitchFamily="2" charset="-122"/>
            </a:endParaRPr>
          </a:p>
        </p:txBody>
      </p:sp>
      <p:pic>
        <p:nvPicPr>
          <p:cNvPr id="17" name="图片 16">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pic>
        <p:nvPicPr>
          <p:cNvPr id="18" name="图片 17">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t="18378" b="31548"/>
          <a:stretch>
            <a:fillRect/>
          </a:stretch>
        </p:blipFill>
        <p:spPr>
          <a:xfrm>
            <a:off x="10617946" y="174625"/>
            <a:ext cx="524510" cy="4273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dissolv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dissolv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dissolve">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dissolve">
                                      <p:cBhvr>
                                        <p:cTn id="3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13" grpId="0"/>
      <p:bldP spid="14" grpId="0"/>
      <p:bldP spid="15" grpId="0"/>
      <p:bldP spid="16"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1" name="内容占位符 2"/>
          <p:cNvSpPr>
            <a:spLocks noGrp="1"/>
          </p:cNvSpPr>
          <p:nvPr/>
        </p:nvSpPr>
        <p:spPr>
          <a:xfrm>
            <a:off x="244475" y="881380"/>
            <a:ext cx="11684000" cy="453199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algn="just">
              <a:buNone/>
              <a:defRPr/>
            </a:pPr>
            <a:r>
              <a:rPr lang="en-US" altLang="zh-CN" b="1" spc="-100" dirty="0">
                <a:latin typeface="Calibri" panose="020F0502020204030204"/>
                <a:ea typeface="宋体" panose="02010600030101010101" pitchFamily="2" charset="-122"/>
              </a:rPr>
              <a:t>7. Fill in each blank of the passage with ONE suitable word. </a:t>
            </a:r>
            <a:endParaRPr lang="en-US" altLang="zh-CN" b="1" spc="-100" dirty="0">
              <a:latin typeface="Calibri" panose="020F0502020204030204"/>
              <a:ea typeface="宋体" panose="02010600030101010101" pitchFamily="2" charset="-122"/>
            </a:endParaRPr>
          </a:p>
          <a:p>
            <a:pPr marL="266700" indent="-266700" algn="just">
              <a:buNone/>
              <a:defRPr/>
            </a:pPr>
            <a:r>
              <a:rPr lang="en-US" altLang="zh-CN" dirty="0" smtClean="0">
                <a:solidFill>
                  <a:prstClr val="black"/>
                </a:solidFill>
                <a:latin typeface="Calibri" panose="020F0502020204030204"/>
                <a:ea typeface="宋体" panose="02010600030101010101" pitchFamily="2" charset="-122"/>
              </a:rPr>
              <a:t>          This </a:t>
            </a:r>
            <a:r>
              <a:rPr lang="en-US" altLang="zh-CN" dirty="0">
                <a:solidFill>
                  <a:prstClr val="black"/>
                </a:solidFill>
                <a:latin typeface="Calibri" panose="020F0502020204030204"/>
                <a:ea typeface="宋体" panose="02010600030101010101" pitchFamily="2" charset="-122"/>
              </a:rPr>
              <a:t>is not idle talk. There are real places (8) ______ people celebrate mistakes. The chief executive of officer of one company sometimes opens meetings by (9) _____ managers to describe their biggest mistakes. The person with the “best” mistake gets a $100 (10) ______ .</a:t>
            </a:r>
            <a:endParaRPr lang="en-US" altLang="zh-CN" dirty="0">
              <a:solidFill>
                <a:prstClr val="black"/>
              </a:solidFill>
              <a:latin typeface="Calibri" panose="020F0502020204030204"/>
              <a:ea typeface="宋体" panose="02010600030101010101" pitchFamily="2" charset="-122"/>
            </a:endParaRPr>
          </a:p>
          <a:p>
            <a:pPr marL="266700" indent="-266700" algn="just">
              <a:buNone/>
              <a:defRPr/>
            </a:pPr>
            <a:r>
              <a:rPr lang="en-US" altLang="zh-CN" dirty="0">
                <a:solidFill>
                  <a:prstClr val="black"/>
                </a:solidFill>
                <a:latin typeface="Calibri" panose="020F0502020204030204"/>
                <a:ea typeface="宋体" panose="02010600030101010101" pitchFamily="2" charset="-122"/>
              </a:rPr>
              <a:t>    </a:t>
            </a:r>
            <a:r>
              <a:rPr lang="en-US" altLang="zh-CN" dirty="0" smtClean="0">
                <a:solidFill>
                  <a:prstClr val="black"/>
                </a:solidFill>
                <a:latin typeface="Calibri" panose="020F0502020204030204"/>
                <a:ea typeface="宋体" panose="02010600030101010101" pitchFamily="2" charset="-122"/>
              </a:rPr>
              <a:t>      One </a:t>
            </a:r>
            <a:r>
              <a:rPr lang="en-US" altLang="zh-CN" dirty="0">
                <a:solidFill>
                  <a:prstClr val="black"/>
                </a:solidFill>
                <a:latin typeface="Calibri" panose="020F0502020204030204"/>
                <a:ea typeface="宋体" panose="02010600030101010101" pitchFamily="2" charset="-122"/>
              </a:rPr>
              <a:t>manager of a major company (11) _____ made a mistake that cost his company $1,000,000. He predicted that he would be (12) </a:t>
            </a:r>
            <a:r>
              <a:rPr lang="en-US" altLang="zh-CN" spc="-150" dirty="0">
                <a:solidFill>
                  <a:prstClr val="black"/>
                </a:solidFill>
                <a:uFillTx/>
                <a:latin typeface="Calibri" panose="020F0502020204030204"/>
                <a:ea typeface="宋体" panose="02010600030101010101" pitchFamily="2" charset="-122"/>
              </a:rPr>
              <a:t>_____</a:t>
            </a:r>
            <a:r>
              <a:rPr lang="en-US" altLang="zh-CN" dirty="0">
                <a:solidFill>
                  <a:prstClr val="black"/>
                </a:solidFill>
                <a:latin typeface="Calibri" panose="020F0502020204030204"/>
                <a:ea typeface="宋体" panose="02010600030101010101" pitchFamily="2" charset="-122"/>
              </a:rPr>
              <a:t> for sure when his boss found out. (13) _______ , his boss responded, “Fire you? I can’t (14) </a:t>
            </a:r>
            <a:r>
              <a:rPr lang="en-US" altLang="zh-CN" spc="-120" dirty="0">
                <a:solidFill>
                  <a:prstClr val="black"/>
                </a:solidFill>
                <a:uFillTx/>
                <a:latin typeface="Calibri" panose="020F0502020204030204"/>
                <a:ea typeface="宋体" panose="02010600030101010101" pitchFamily="2" charset="-122"/>
              </a:rPr>
              <a:t>_____</a:t>
            </a:r>
            <a:r>
              <a:rPr lang="en-US" altLang="zh-CN" dirty="0">
                <a:solidFill>
                  <a:prstClr val="black"/>
                </a:solidFill>
                <a:latin typeface="Calibri" panose="020F0502020204030204"/>
                <a:ea typeface="宋体" panose="02010600030101010101" pitchFamily="2" charset="-122"/>
              </a:rPr>
              <a:t> to do that. I just spent $1,000,000 training you.” Mistakes are part of the learning process.</a:t>
            </a:r>
            <a:endParaRPr lang="en-US" altLang="zh-CN" dirty="0">
              <a:solidFill>
                <a:prstClr val="black"/>
              </a:solidFill>
              <a:latin typeface="Calibri" panose="020F0502020204030204"/>
              <a:ea typeface="宋体" panose="02010600030101010101" pitchFamily="2" charset="-122"/>
            </a:endParaRPr>
          </a:p>
        </p:txBody>
      </p:sp>
      <p:sp>
        <p:nvSpPr>
          <p:cNvPr id="7" name="文本框 4"/>
          <p:cNvSpPr txBox="1">
            <a:spLocks noChangeArrowheads="1"/>
          </p:cNvSpPr>
          <p:nvPr/>
        </p:nvSpPr>
        <p:spPr bwMode="auto">
          <a:xfrm>
            <a:off x="184150" y="160338"/>
            <a:ext cx="7029450"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r>
              <a:rPr lang="en-US" altLang="zh-CN" sz="2400" dirty="0">
                <a:solidFill>
                  <a:schemeClr val="bg1"/>
                </a:solidFill>
                <a:latin typeface="Arial Black" panose="020B0A04020102020204" pitchFamily="34" charset="0"/>
              </a:rPr>
              <a:t>Exercises · Language Exercises</a:t>
            </a:r>
            <a:endParaRPr lang="en-US" altLang="zh-CN" sz="2400" dirty="0">
              <a:solidFill>
                <a:schemeClr val="bg1"/>
              </a:solidFill>
              <a:latin typeface="Arial Black" panose="020B0A04020102020204" pitchFamily="34" charset="0"/>
            </a:endParaRPr>
          </a:p>
        </p:txBody>
      </p:sp>
      <p:pic>
        <p:nvPicPr>
          <p:cNvPr id="8" name="图片 7">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17946" y="174625"/>
            <a:ext cx="524510" cy="427355"/>
          </a:xfrm>
          <a:prstGeom prst="rect">
            <a:avLst/>
          </a:prstGeom>
        </p:spPr>
      </p:pic>
      <p:sp>
        <p:nvSpPr>
          <p:cNvPr id="6" name="文本框 5"/>
          <p:cNvSpPr txBox="1"/>
          <p:nvPr/>
        </p:nvSpPr>
        <p:spPr>
          <a:xfrm>
            <a:off x="8157742" y="1357900"/>
            <a:ext cx="1234388"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where</a:t>
            </a:r>
            <a:endParaRPr lang="zh-CN" altLang="en-US" sz="2800" spc="-100" dirty="0">
              <a:solidFill>
                <a:srgbClr val="C00000"/>
              </a:solidFill>
              <a:latin typeface="Calibri" panose="020F0502020204030204" charset="0"/>
              <a:ea typeface="宋体" panose="02010600030101010101" pitchFamily="2" charset="-122"/>
            </a:endParaRPr>
          </a:p>
        </p:txBody>
      </p:sp>
      <p:sp>
        <p:nvSpPr>
          <p:cNvPr id="9" name="文本框 8"/>
          <p:cNvSpPr txBox="1"/>
          <p:nvPr/>
        </p:nvSpPr>
        <p:spPr>
          <a:xfrm>
            <a:off x="3121095" y="2128525"/>
            <a:ext cx="1155560"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asking</a:t>
            </a:r>
            <a:endParaRPr lang="zh-CN" altLang="en-US" sz="2800" spc="-100" dirty="0">
              <a:solidFill>
                <a:srgbClr val="C00000"/>
              </a:solidFill>
              <a:latin typeface="Calibri" panose="020F0502020204030204" charset="0"/>
              <a:ea typeface="宋体" panose="02010600030101010101" pitchFamily="2" charset="-122"/>
            </a:endParaRPr>
          </a:p>
        </p:txBody>
      </p:sp>
      <p:sp>
        <p:nvSpPr>
          <p:cNvPr id="10" name="文本框 9"/>
          <p:cNvSpPr txBox="1"/>
          <p:nvPr/>
        </p:nvSpPr>
        <p:spPr>
          <a:xfrm>
            <a:off x="7497969" y="2484200"/>
            <a:ext cx="1319545"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reward</a:t>
            </a:r>
            <a:endParaRPr lang="zh-CN" altLang="en-US" sz="2800" spc="-100" dirty="0">
              <a:solidFill>
                <a:srgbClr val="C00000"/>
              </a:solidFill>
              <a:latin typeface="Calibri" panose="020F0502020204030204" charset="0"/>
              <a:ea typeface="宋体" panose="02010600030101010101" pitchFamily="2" charset="-122"/>
            </a:endParaRPr>
          </a:p>
        </p:txBody>
      </p:sp>
      <p:sp>
        <p:nvSpPr>
          <p:cNvPr id="12" name="文本框 11"/>
          <p:cNvSpPr txBox="1"/>
          <p:nvPr/>
        </p:nvSpPr>
        <p:spPr>
          <a:xfrm>
            <a:off x="7087204" y="3025210"/>
            <a:ext cx="942069"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once</a:t>
            </a:r>
            <a:endParaRPr lang="zh-CN" altLang="en-US" sz="2800" spc="-100" dirty="0">
              <a:solidFill>
                <a:srgbClr val="C00000"/>
              </a:solidFill>
              <a:latin typeface="Calibri" panose="020F0502020204030204" charset="0"/>
              <a:ea typeface="宋体" panose="02010600030101010101" pitchFamily="2" charset="-122"/>
            </a:endParaRPr>
          </a:p>
        </p:txBody>
      </p:sp>
      <p:sp>
        <p:nvSpPr>
          <p:cNvPr id="13" name="文本框 12"/>
          <p:cNvSpPr txBox="1"/>
          <p:nvPr/>
        </p:nvSpPr>
        <p:spPr>
          <a:xfrm>
            <a:off x="9738885" y="3395842"/>
            <a:ext cx="942069"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fired</a:t>
            </a:r>
            <a:endParaRPr lang="zh-CN" altLang="en-US" sz="2800" spc="-100" dirty="0">
              <a:solidFill>
                <a:srgbClr val="C00000"/>
              </a:solidFill>
              <a:latin typeface="Calibri" panose="020F0502020204030204" charset="0"/>
              <a:ea typeface="宋体" panose="02010600030101010101" pitchFamily="2" charset="-122"/>
            </a:endParaRPr>
          </a:p>
        </p:txBody>
      </p:sp>
      <p:sp>
        <p:nvSpPr>
          <p:cNvPr id="14" name="文本框 13"/>
          <p:cNvSpPr txBox="1"/>
          <p:nvPr/>
        </p:nvSpPr>
        <p:spPr>
          <a:xfrm>
            <a:off x="4895843" y="3792573"/>
            <a:ext cx="1513986"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However</a:t>
            </a:r>
            <a:endParaRPr lang="zh-CN" altLang="en-US" sz="2800" spc="-100" dirty="0">
              <a:solidFill>
                <a:srgbClr val="C00000"/>
              </a:solidFill>
              <a:latin typeface="Calibri" panose="020F0502020204030204" charset="0"/>
              <a:ea typeface="宋体" panose="02010600030101010101" pitchFamily="2" charset="-122"/>
            </a:endParaRPr>
          </a:p>
        </p:txBody>
      </p:sp>
      <p:sp>
        <p:nvSpPr>
          <p:cNvPr id="15" name="文本框 14"/>
          <p:cNvSpPr txBox="1"/>
          <p:nvPr/>
        </p:nvSpPr>
        <p:spPr>
          <a:xfrm>
            <a:off x="1187348" y="4168551"/>
            <a:ext cx="1155560" cy="523220"/>
          </a:xfrm>
          <a:prstGeom prst="rect">
            <a:avLst/>
          </a:prstGeom>
          <a:noFill/>
        </p:spPr>
        <p:txBody>
          <a:bodyPr wrap="square" rtlCol="0">
            <a:spAutoFit/>
          </a:bodyPr>
          <a:lstStyle/>
          <a:p>
            <a:r>
              <a:rPr lang="en-US" altLang="zh-CN" sz="2800" spc="-100" dirty="0">
                <a:solidFill>
                  <a:srgbClr val="C00000"/>
                </a:solidFill>
                <a:latin typeface="Calibri" panose="020F0502020204030204" charset="0"/>
                <a:ea typeface="宋体" panose="02010600030101010101" pitchFamily="2" charset="-122"/>
              </a:rPr>
              <a:t>afford</a:t>
            </a:r>
            <a:endParaRPr lang="zh-CN" altLang="en-US" sz="2800" spc="-100" dirty="0">
              <a:solidFill>
                <a:srgbClr val="C00000"/>
              </a:solidFill>
              <a:latin typeface="Calibri" panose="020F0502020204030204" charset="0"/>
              <a:ea typeface="宋体" panose="02010600030101010101" pitchFamily="2" charset="-122"/>
            </a:endParaRPr>
          </a:p>
        </p:txBody>
      </p:sp>
      <p:pic>
        <p:nvPicPr>
          <p:cNvPr id="16" name="图片 15">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dissolv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dissolv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dissolv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dissolve">
                                      <p:cBhvr>
                                        <p:cTn id="3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2" grpId="0"/>
      <p:bldP spid="13" grpId="0"/>
      <p:bldP spid="14" grpId="0"/>
      <p:bldP spid="15"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1"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algn="just">
              <a:buNone/>
              <a:defRPr/>
            </a:pPr>
            <a:r>
              <a:rPr lang="en-US" altLang="zh-CN" b="1" spc="-100" dirty="0">
                <a:latin typeface="Calibri" panose="020F0502020204030204"/>
                <a:ea typeface="宋体" panose="02010600030101010101" pitchFamily="2" charset="-122"/>
              </a:rPr>
              <a:t>8. Find and correct the TWO mistakes in each exercise. </a:t>
            </a:r>
            <a:endParaRPr lang="en-US" altLang="zh-CN" b="1" spc="-100" dirty="0">
              <a:latin typeface="Calibri" panose="020F0502020204030204"/>
              <a:ea typeface="宋体" panose="02010600030101010101" pitchFamily="2" charset="-122"/>
            </a:endParaRPr>
          </a:p>
          <a:p>
            <a:pPr marL="266700" indent="-266700" algn="just">
              <a:spcBef>
                <a:spcPts val="600"/>
              </a:spcBef>
              <a:buNone/>
              <a:defRPr/>
            </a:pPr>
            <a:r>
              <a:rPr lang="en-US" altLang="zh-CN" dirty="0">
                <a:solidFill>
                  <a:prstClr val="black"/>
                </a:solidFill>
                <a:latin typeface="Calibri" panose="020F0502020204030204"/>
                <a:ea typeface="宋体" panose="02010600030101010101" pitchFamily="2" charset="-122"/>
              </a:rPr>
              <a:t>1. Difficulties are paper tigers. No matter whenever you come across them, just look at them straight in the face, and they will not dare to stand in your way.</a:t>
            </a:r>
            <a:endParaRPr lang="en-US" altLang="zh-CN" dirty="0">
              <a:solidFill>
                <a:prstClr val="black"/>
              </a:solidFill>
              <a:latin typeface="Calibri" panose="020F0502020204030204"/>
              <a:ea typeface="宋体" panose="02010600030101010101" pitchFamily="2" charset="-122"/>
            </a:endParaRPr>
          </a:p>
          <a:p>
            <a:pPr marL="266700" indent="-266700" algn="just">
              <a:spcBef>
                <a:spcPts val="600"/>
              </a:spcBef>
              <a:buNone/>
              <a:defRPr/>
            </a:pPr>
            <a:r>
              <a:rPr lang="en-US" altLang="zh-CN" dirty="0">
                <a:solidFill>
                  <a:prstClr val="black"/>
                </a:solidFill>
                <a:latin typeface="Calibri" panose="020F0502020204030204"/>
                <a:ea typeface="宋体" panose="02010600030101010101" pitchFamily="2" charset="-122"/>
              </a:rPr>
              <a:t>    </a:t>
            </a:r>
            <a:r>
              <a:rPr lang="en-US" altLang="zh-CN" dirty="0">
                <a:solidFill>
                  <a:srgbClr val="C00000"/>
                </a:solidFill>
                <a:latin typeface="Calibri" panose="020F0502020204030204"/>
                <a:ea typeface="宋体" panose="02010600030101010101" pitchFamily="2" charset="-122"/>
              </a:rPr>
              <a:t>Difficulties are paper tigers. </a:t>
            </a:r>
            <a:r>
              <a:rPr lang="en-US" altLang="zh-CN" b="1" u="sng" spc="-100" dirty="0">
                <a:solidFill>
                  <a:srgbClr val="C00000"/>
                </a:solidFill>
                <a:latin typeface="Calibri" panose="020F0502020204030204" charset="0"/>
                <a:ea typeface="宋体" panose="02010600030101010101" pitchFamily="2" charset="-122"/>
                <a:cs typeface="Calibri" panose="020F0502020204030204" charset="0"/>
              </a:rPr>
              <a:t>No matter when/Whenever</a:t>
            </a:r>
            <a:r>
              <a:rPr lang="en-US" altLang="zh-CN" b="1" spc="-100" dirty="0">
                <a:solidFill>
                  <a:srgbClr val="C00000"/>
                </a:solidFill>
                <a:latin typeface="Calibri" panose="020F0502020204030204" charset="0"/>
                <a:ea typeface="宋体" panose="02010600030101010101" pitchFamily="2" charset="-122"/>
                <a:cs typeface="Calibri" panose="020F0502020204030204" charset="0"/>
              </a:rPr>
              <a:t> </a:t>
            </a:r>
            <a:r>
              <a:rPr lang="en-US" altLang="zh-CN" dirty="0">
                <a:solidFill>
                  <a:srgbClr val="C00000"/>
                </a:solidFill>
                <a:latin typeface="Calibri" panose="020F0502020204030204"/>
                <a:ea typeface="宋体" panose="02010600030101010101" pitchFamily="2" charset="-122"/>
              </a:rPr>
              <a:t>you come across them, just look </a:t>
            </a:r>
            <a:r>
              <a:rPr lang="en-US" altLang="zh-CN" b="1" u="sng" strike="sngStrike" spc="-100" dirty="0">
                <a:solidFill>
                  <a:srgbClr val="C00000"/>
                </a:solidFill>
                <a:latin typeface="Calibri" panose="020F0502020204030204" charset="0"/>
                <a:ea typeface="宋体" panose="02010600030101010101" pitchFamily="2" charset="-122"/>
                <a:cs typeface="Calibri" panose="020F0502020204030204" charset="0"/>
              </a:rPr>
              <a:t>at</a:t>
            </a:r>
            <a:r>
              <a:rPr lang="en-US" altLang="zh-CN" dirty="0">
                <a:solidFill>
                  <a:srgbClr val="C00000"/>
                </a:solidFill>
                <a:latin typeface="Calibri" panose="020F0502020204030204"/>
                <a:ea typeface="宋体" panose="02010600030101010101" pitchFamily="2" charset="-122"/>
              </a:rPr>
              <a:t> them straight in the face, and they will not dare to stand in your way.</a:t>
            </a:r>
            <a:endParaRPr lang="en-US" altLang="zh-CN" dirty="0">
              <a:solidFill>
                <a:srgbClr val="C00000"/>
              </a:solidFill>
              <a:latin typeface="Calibri" panose="020F0502020204030204"/>
              <a:ea typeface="宋体" panose="02010600030101010101" pitchFamily="2" charset="-122"/>
            </a:endParaRPr>
          </a:p>
          <a:p>
            <a:pPr marL="266700" indent="-266700" algn="just">
              <a:spcBef>
                <a:spcPts val="600"/>
              </a:spcBef>
              <a:buNone/>
              <a:defRPr/>
            </a:pPr>
            <a:r>
              <a:rPr lang="en-US" altLang="zh-CN" dirty="0">
                <a:solidFill>
                  <a:prstClr val="black"/>
                </a:solidFill>
                <a:latin typeface="Calibri" panose="020F0502020204030204"/>
                <a:ea typeface="宋体" panose="02010600030101010101" pitchFamily="2" charset="-122"/>
              </a:rPr>
              <a:t>2. We were still discussing whether we should plead the local government to build the bridge then the news came that the project was already well under way.</a:t>
            </a:r>
            <a:endParaRPr lang="en-US" altLang="zh-CN" dirty="0">
              <a:solidFill>
                <a:prstClr val="black"/>
              </a:solidFill>
              <a:latin typeface="Calibri" panose="020F0502020204030204"/>
              <a:ea typeface="宋体" panose="02010600030101010101" pitchFamily="2" charset="-122"/>
            </a:endParaRPr>
          </a:p>
          <a:p>
            <a:pPr marL="266700" indent="-266700" algn="just">
              <a:spcBef>
                <a:spcPts val="600"/>
              </a:spcBef>
              <a:buNone/>
              <a:defRPr/>
            </a:pPr>
            <a:r>
              <a:rPr lang="en-US" altLang="zh-CN" dirty="0">
                <a:solidFill>
                  <a:prstClr val="black"/>
                </a:solidFill>
                <a:latin typeface="Calibri" panose="020F0502020204030204"/>
                <a:ea typeface="宋体" panose="02010600030101010101" pitchFamily="2" charset="-122"/>
              </a:rPr>
              <a:t>   </a:t>
            </a:r>
            <a:r>
              <a:rPr lang="en-US" altLang="zh-CN" dirty="0">
                <a:solidFill>
                  <a:srgbClr val="C00000"/>
                </a:solidFill>
                <a:latin typeface="Calibri" panose="020F0502020204030204"/>
                <a:ea typeface="宋体" panose="02010600030101010101" pitchFamily="2" charset="-122"/>
              </a:rPr>
              <a:t>We were still discussing whether we should plead </a:t>
            </a:r>
            <a:r>
              <a:rPr lang="en-US" altLang="zh-CN" b="1" u="sng" spc="-100" dirty="0">
                <a:solidFill>
                  <a:srgbClr val="C00000"/>
                </a:solidFill>
                <a:latin typeface="Calibri" panose="020F0502020204030204" charset="0"/>
                <a:ea typeface="宋体" panose="02010600030101010101" pitchFamily="2" charset="-122"/>
                <a:cs typeface="Calibri" panose="020F0502020204030204" charset="0"/>
              </a:rPr>
              <a:t>with</a:t>
            </a:r>
            <a:r>
              <a:rPr lang="en-US" altLang="zh-CN" dirty="0">
                <a:solidFill>
                  <a:srgbClr val="C00000"/>
                </a:solidFill>
                <a:latin typeface="Calibri" panose="020F0502020204030204"/>
                <a:ea typeface="宋体" panose="02010600030101010101" pitchFamily="2" charset="-122"/>
              </a:rPr>
              <a:t> the local government to build the bridge </a:t>
            </a:r>
            <a:r>
              <a:rPr lang="en-US" altLang="zh-CN" b="1" u="sng" spc="-100" dirty="0">
                <a:solidFill>
                  <a:srgbClr val="C00000"/>
                </a:solidFill>
                <a:latin typeface="Calibri" panose="020F0502020204030204" charset="0"/>
                <a:ea typeface="宋体" panose="02010600030101010101" pitchFamily="2" charset="-122"/>
                <a:cs typeface="Calibri" panose="020F0502020204030204" charset="0"/>
              </a:rPr>
              <a:t>when</a:t>
            </a:r>
            <a:r>
              <a:rPr lang="en-US" altLang="zh-CN" dirty="0">
                <a:solidFill>
                  <a:srgbClr val="C00000"/>
                </a:solidFill>
                <a:latin typeface="Calibri" panose="020F0502020204030204"/>
                <a:ea typeface="宋体" panose="02010600030101010101" pitchFamily="2" charset="-122"/>
              </a:rPr>
              <a:t> the news came that the project was already well under way.</a:t>
            </a:r>
            <a:endParaRPr lang="en-US" altLang="zh-CN" dirty="0">
              <a:solidFill>
                <a:srgbClr val="C00000"/>
              </a:solidFill>
              <a:latin typeface="Calibri" panose="020F0502020204030204"/>
              <a:ea typeface="宋体" panose="02010600030101010101" pitchFamily="2" charset="-122"/>
            </a:endParaRPr>
          </a:p>
          <a:p>
            <a:pPr marL="266700" indent="-266700" algn="just">
              <a:buNone/>
              <a:defRPr/>
            </a:pPr>
            <a:endParaRPr lang="en-US" altLang="zh-CN" dirty="0">
              <a:solidFill>
                <a:prstClr val="black"/>
              </a:solidFill>
              <a:latin typeface="Calibri" panose="020F0502020204030204"/>
              <a:ea typeface="宋体" panose="02010600030101010101" pitchFamily="2" charset="-122"/>
            </a:endParaRPr>
          </a:p>
          <a:p>
            <a:pPr marL="266700" indent="-266700" algn="just">
              <a:buNone/>
              <a:defRPr/>
            </a:pPr>
            <a:endParaRPr lang="en-US" altLang="zh-CN" dirty="0">
              <a:solidFill>
                <a:prstClr val="black"/>
              </a:solidFill>
              <a:latin typeface="Calibri" panose="020F0502020204030204"/>
              <a:ea typeface="宋体" panose="02010600030101010101" pitchFamily="2" charset="-122"/>
            </a:endParaRPr>
          </a:p>
        </p:txBody>
      </p:sp>
      <p:sp>
        <p:nvSpPr>
          <p:cNvPr id="7" name="文本框 4"/>
          <p:cNvSpPr txBox="1">
            <a:spLocks noChangeArrowheads="1"/>
          </p:cNvSpPr>
          <p:nvPr/>
        </p:nvSpPr>
        <p:spPr bwMode="auto">
          <a:xfrm>
            <a:off x="184150" y="160338"/>
            <a:ext cx="7029450"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r>
              <a:rPr lang="en-US" altLang="zh-CN" sz="2400" dirty="0">
                <a:solidFill>
                  <a:schemeClr val="bg1"/>
                </a:solidFill>
                <a:latin typeface="Arial Black" panose="020B0A04020102020204" pitchFamily="34" charset="0"/>
              </a:rPr>
              <a:t>Exercises · Language Exercises</a:t>
            </a:r>
            <a:endParaRPr lang="en-US" altLang="zh-CN" sz="2400" dirty="0">
              <a:solidFill>
                <a:schemeClr val="bg1"/>
              </a:solidFill>
              <a:latin typeface="Arial Black" panose="020B0A04020102020204" pitchFamily="34" charset="0"/>
            </a:endParaRPr>
          </a:p>
        </p:txBody>
      </p:sp>
      <p:pic>
        <p:nvPicPr>
          <p:cNvPr id="9" name="图片 8">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pic>
        <p:nvPicPr>
          <p:cNvPr id="10" name="图片 9">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t="18378" b="31548"/>
          <a:stretch>
            <a:fillRect/>
          </a:stretch>
        </p:blipFill>
        <p:spPr>
          <a:xfrm>
            <a:off x="10617946" y="174625"/>
            <a:ext cx="524510" cy="4273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dissolve">
                                      <p:cBhvr>
                                        <p:cTn id="7" dur="500"/>
                                        <p:tgtEl>
                                          <p:spTgt spid="1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1">
                                            <p:txEl>
                                              <p:pRg st="4" end="4"/>
                                            </p:txEl>
                                          </p:spTgt>
                                        </p:tgtEl>
                                        <p:attrNameLst>
                                          <p:attrName>style.visibility</p:attrName>
                                        </p:attrNameLst>
                                      </p:cBhvr>
                                      <p:to>
                                        <p:strVal val="visible"/>
                                      </p:to>
                                    </p:set>
                                    <p:animEffect transition="in" filter="dissolve">
                                      <p:cBhvr>
                                        <p:cTn id="12" dur="5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1" name="内容占位符 2"/>
          <p:cNvSpPr>
            <a:spLocks noGrp="1"/>
          </p:cNvSpPr>
          <p:nvPr/>
        </p:nvSpPr>
        <p:spPr>
          <a:xfrm>
            <a:off x="184150" y="818318"/>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algn="just">
              <a:buNone/>
              <a:defRPr/>
            </a:pPr>
            <a:r>
              <a:rPr lang="en-US" altLang="zh-CN" b="1" spc="-100" dirty="0">
                <a:latin typeface="Calibri" panose="020F0502020204030204"/>
                <a:ea typeface="宋体" panose="02010600030101010101" pitchFamily="2" charset="-122"/>
              </a:rPr>
              <a:t>8. Find and correct the TWO mistakes in each exercise. </a:t>
            </a:r>
            <a:endParaRPr lang="en-US" altLang="zh-CN" b="1" spc="-100" dirty="0">
              <a:latin typeface="Calibri" panose="020F0502020204030204"/>
              <a:ea typeface="宋体" panose="02010600030101010101" pitchFamily="2" charset="-122"/>
            </a:endParaRPr>
          </a:p>
          <a:p>
            <a:pPr marL="266700" indent="-266700" algn="just">
              <a:spcBef>
                <a:spcPts val="300"/>
              </a:spcBef>
              <a:buNone/>
              <a:defRPr/>
            </a:pPr>
            <a:r>
              <a:rPr lang="en-US" altLang="zh-CN" dirty="0">
                <a:solidFill>
                  <a:prstClr val="black"/>
                </a:solidFill>
                <a:latin typeface="Calibri" panose="020F0502020204030204"/>
                <a:ea typeface="宋体" panose="02010600030101010101" pitchFamily="2" charset="-122"/>
              </a:rPr>
              <a:t>3. The stranger treated Aladdin</a:t>
            </a:r>
            <a:r>
              <a:rPr lang="zh-CN" altLang="en-US" dirty="0">
                <a:solidFill>
                  <a:prstClr val="black"/>
                </a:solidFill>
                <a:latin typeface="Calibri" panose="020F0502020204030204"/>
                <a:ea typeface="宋体" panose="02010600030101010101" pitchFamily="2" charset="-122"/>
              </a:rPr>
              <a:t> </a:t>
            </a:r>
            <a:r>
              <a:rPr lang="en-US" altLang="zh-CN" dirty="0">
                <a:solidFill>
                  <a:prstClr val="black"/>
                </a:solidFill>
                <a:latin typeface="Calibri" panose="020F0502020204030204"/>
                <a:ea typeface="宋体" panose="02010600030101010101" pitchFamily="2" charset="-122"/>
              </a:rPr>
              <a:t>very friendly and told him that he was actually his long-lost uncle who had returned home to see his beloved brother. Aladdin told him that his father had died. When the stranger heard this, he burst out into tears.</a:t>
            </a:r>
            <a:endParaRPr lang="en-US" altLang="zh-CN" dirty="0">
              <a:solidFill>
                <a:prstClr val="black"/>
              </a:solidFill>
              <a:latin typeface="Calibri" panose="020F0502020204030204"/>
              <a:ea typeface="宋体" panose="02010600030101010101" pitchFamily="2" charset="-122"/>
            </a:endParaRPr>
          </a:p>
          <a:p>
            <a:pPr marL="266700" indent="-266700" algn="just">
              <a:spcBef>
                <a:spcPts val="300"/>
              </a:spcBef>
              <a:buNone/>
              <a:defRPr/>
            </a:pPr>
            <a:r>
              <a:rPr lang="en-US" altLang="zh-CN" dirty="0">
                <a:solidFill>
                  <a:prstClr val="black"/>
                </a:solidFill>
                <a:latin typeface="Calibri" panose="020F0502020204030204"/>
                <a:ea typeface="宋体" panose="02010600030101010101" pitchFamily="2" charset="-122"/>
              </a:rPr>
              <a:t>   </a:t>
            </a:r>
            <a:r>
              <a:rPr lang="en-US" altLang="zh-CN" dirty="0">
                <a:solidFill>
                  <a:srgbClr val="C00000"/>
                </a:solidFill>
                <a:latin typeface="Calibri" panose="020F0502020204030204"/>
                <a:ea typeface="宋体" panose="02010600030101010101" pitchFamily="2" charset="-122"/>
              </a:rPr>
              <a:t>The stranger treated Aladdin very </a:t>
            </a:r>
            <a:r>
              <a:rPr lang="en-US" altLang="zh-CN" b="1" u="sng" spc="-100" dirty="0">
                <a:solidFill>
                  <a:srgbClr val="C00000"/>
                </a:solidFill>
                <a:latin typeface="Calibri" panose="020F0502020204030204" charset="0"/>
                <a:ea typeface="宋体" panose="02010600030101010101" pitchFamily="2" charset="-122"/>
                <a:cs typeface="Calibri" panose="020F0502020204030204" charset="0"/>
              </a:rPr>
              <a:t>kindly (was very friendly to Aladdin) </a:t>
            </a:r>
            <a:r>
              <a:rPr lang="en-US" altLang="zh-CN" dirty="0">
                <a:solidFill>
                  <a:srgbClr val="C00000"/>
                </a:solidFill>
                <a:latin typeface="Calibri" panose="020F0502020204030204"/>
                <a:ea typeface="宋体" panose="02010600030101010101" pitchFamily="2" charset="-122"/>
              </a:rPr>
              <a:t>and told him that he was actually his long-lost uncle who had returned home to see his beloved brother. Aladdin told him that his father had died. When the stranger heard this, he burst </a:t>
            </a:r>
            <a:r>
              <a:rPr lang="en-US" altLang="zh-CN" b="1" u="sng" strike="sngStrike" spc="-100" dirty="0">
                <a:solidFill>
                  <a:srgbClr val="C00000"/>
                </a:solidFill>
                <a:latin typeface="Calibri" panose="020F0502020204030204" charset="0"/>
                <a:ea typeface="宋体" panose="02010600030101010101" pitchFamily="2" charset="-122"/>
                <a:cs typeface="Calibri" panose="020F0502020204030204" charset="0"/>
              </a:rPr>
              <a:t>out</a:t>
            </a:r>
            <a:r>
              <a:rPr lang="en-US" altLang="zh-CN" dirty="0">
                <a:solidFill>
                  <a:srgbClr val="C00000"/>
                </a:solidFill>
                <a:latin typeface="Calibri" panose="020F0502020204030204"/>
                <a:ea typeface="宋体" panose="02010600030101010101" pitchFamily="2" charset="-122"/>
              </a:rPr>
              <a:t> into tears </a:t>
            </a:r>
            <a:r>
              <a:rPr lang="en-US" altLang="zh-CN" b="1" u="sng" spc="-100" dirty="0">
                <a:solidFill>
                  <a:srgbClr val="C00000"/>
                </a:solidFill>
                <a:latin typeface="Calibri" panose="020F0502020204030204" charset="0"/>
                <a:ea typeface="宋体" panose="02010600030101010101" pitchFamily="2" charset="-122"/>
                <a:cs typeface="Calibri" panose="020F0502020204030204" charset="0"/>
              </a:rPr>
              <a:t>(burst out crying)</a:t>
            </a:r>
            <a:r>
              <a:rPr lang="en-US" altLang="zh-CN" dirty="0">
                <a:solidFill>
                  <a:srgbClr val="C00000"/>
                </a:solidFill>
                <a:latin typeface="Calibri" panose="020F0502020204030204"/>
                <a:ea typeface="宋体" panose="02010600030101010101" pitchFamily="2" charset="-122"/>
              </a:rPr>
              <a:t>.</a:t>
            </a:r>
            <a:endParaRPr lang="en-US" altLang="zh-CN" u="sng" dirty="0">
              <a:solidFill>
                <a:srgbClr val="C00000"/>
              </a:solidFill>
              <a:latin typeface="Calibri" panose="020F0502020204030204"/>
              <a:ea typeface="宋体" panose="02010600030101010101" pitchFamily="2" charset="-122"/>
            </a:endParaRPr>
          </a:p>
          <a:p>
            <a:pPr marL="266700" indent="-266700" algn="just">
              <a:spcBef>
                <a:spcPts val="300"/>
              </a:spcBef>
              <a:buNone/>
              <a:defRPr/>
            </a:pPr>
            <a:r>
              <a:rPr lang="en-US" altLang="zh-CN" dirty="0">
                <a:solidFill>
                  <a:prstClr val="black"/>
                </a:solidFill>
                <a:latin typeface="Calibri" panose="020F0502020204030204"/>
                <a:ea typeface="宋体" panose="02010600030101010101" pitchFamily="2" charset="-122"/>
              </a:rPr>
              <a:t>4. You know my weakness in Shaoxing opera. I feel the movie is worth to be seen over and over again. I never get bored.</a:t>
            </a:r>
            <a:endParaRPr lang="en-US" altLang="zh-CN" dirty="0">
              <a:solidFill>
                <a:prstClr val="black"/>
              </a:solidFill>
              <a:latin typeface="Calibri" panose="020F0502020204030204"/>
              <a:ea typeface="宋体" panose="02010600030101010101" pitchFamily="2" charset="-122"/>
            </a:endParaRPr>
          </a:p>
          <a:p>
            <a:pPr marL="266700" indent="-266700" algn="just">
              <a:spcBef>
                <a:spcPts val="300"/>
              </a:spcBef>
              <a:buNone/>
              <a:defRPr/>
            </a:pPr>
            <a:r>
              <a:rPr lang="en-US" altLang="zh-CN" dirty="0">
                <a:solidFill>
                  <a:prstClr val="black"/>
                </a:solidFill>
                <a:latin typeface="Calibri" panose="020F0502020204030204"/>
                <a:ea typeface="宋体" panose="02010600030101010101" pitchFamily="2" charset="-122"/>
              </a:rPr>
              <a:t>    </a:t>
            </a:r>
            <a:r>
              <a:rPr lang="en-US" altLang="zh-CN" dirty="0">
                <a:solidFill>
                  <a:srgbClr val="C00000"/>
                </a:solidFill>
                <a:latin typeface="Calibri" panose="020F0502020204030204"/>
                <a:ea typeface="宋体" panose="02010600030101010101" pitchFamily="2" charset="-122"/>
              </a:rPr>
              <a:t>You know my weakness </a:t>
            </a:r>
            <a:r>
              <a:rPr lang="en-US" altLang="zh-CN" b="1" u="sng" spc="-100" dirty="0">
                <a:solidFill>
                  <a:srgbClr val="C00000"/>
                </a:solidFill>
                <a:latin typeface="Calibri" panose="020F0502020204030204" charset="0"/>
                <a:ea typeface="宋体" panose="02010600030101010101" pitchFamily="2" charset="-122"/>
                <a:cs typeface="Calibri" panose="020F0502020204030204" charset="0"/>
              </a:rPr>
              <a:t>for</a:t>
            </a:r>
            <a:r>
              <a:rPr lang="en-US" altLang="zh-CN" dirty="0">
                <a:solidFill>
                  <a:srgbClr val="C00000"/>
                </a:solidFill>
                <a:latin typeface="Calibri" panose="020F0502020204030204"/>
                <a:ea typeface="宋体" panose="02010600030101010101" pitchFamily="2" charset="-122"/>
              </a:rPr>
              <a:t> Shaoxing opera. I feel the movie is worth </a:t>
            </a:r>
            <a:r>
              <a:rPr lang="en-US" altLang="zh-CN" b="1" u="sng" spc="-100" dirty="0">
                <a:solidFill>
                  <a:srgbClr val="C00000"/>
                </a:solidFill>
                <a:latin typeface="Calibri" panose="020F0502020204030204" charset="0"/>
                <a:ea typeface="宋体" panose="02010600030101010101" pitchFamily="2" charset="-122"/>
                <a:cs typeface="Calibri" panose="020F0502020204030204" charset="0"/>
              </a:rPr>
              <a:t>seeing</a:t>
            </a:r>
            <a:r>
              <a:rPr lang="en-US" altLang="zh-CN" dirty="0">
                <a:solidFill>
                  <a:srgbClr val="C00000"/>
                </a:solidFill>
                <a:latin typeface="Calibri" panose="020F0502020204030204"/>
                <a:ea typeface="宋体" panose="02010600030101010101" pitchFamily="2" charset="-122"/>
              </a:rPr>
              <a:t> over and over again. I never get bored.</a:t>
            </a:r>
            <a:endParaRPr lang="en-US" altLang="zh-CN" dirty="0">
              <a:solidFill>
                <a:srgbClr val="C00000"/>
              </a:solidFill>
              <a:latin typeface="Calibri" panose="020F0502020204030204"/>
              <a:ea typeface="宋体" panose="02010600030101010101" pitchFamily="2" charset="-122"/>
            </a:endParaRPr>
          </a:p>
          <a:p>
            <a:pPr marL="266700" indent="-266700" algn="just">
              <a:buNone/>
              <a:defRPr/>
            </a:pPr>
            <a:endParaRPr lang="en-US" altLang="zh-CN" dirty="0">
              <a:solidFill>
                <a:prstClr val="black"/>
              </a:solidFill>
              <a:latin typeface="Calibri" panose="020F0502020204030204"/>
              <a:ea typeface="宋体" panose="02010600030101010101" pitchFamily="2" charset="-122"/>
            </a:endParaRPr>
          </a:p>
        </p:txBody>
      </p:sp>
      <p:sp>
        <p:nvSpPr>
          <p:cNvPr id="7" name="文本框 4"/>
          <p:cNvSpPr txBox="1">
            <a:spLocks noChangeArrowheads="1"/>
          </p:cNvSpPr>
          <p:nvPr/>
        </p:nvSpPr>
        <p:spPr bwMode="auto">
          <a:xfrm>
            <a:off x="184150" y="160338"/>
            <a:ext cx="7029450"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r>
              <a:rPr lang="en-US" altLang="zh-CN" sz="2400" dirty="0">
                <a:solidFill>
                  <a:schemeClr val="bg1"/>
                </a:solidFill>
                <a:latin typeface="Arial Black" panose="020B0A04020102020204" pitchFamily="34" charset="0"/>
              </a:rPr>
              <a:t>Exercises · Language Exercises</a:t>
            </a:r>
            <a:endParaRPr lang="en-US" altLang="zh-CN" sz="2400" dirty="0">
              <a:solidFill>
                <a:schemeClr val="bg1"/>
              </a:solidFill>
              <a:latin typeface="Arial Black" panose="020B0A04020102020204" pitchFamily="34" charset="0"/>
            </a:endParaRPr>
          </a:p>
        </p:txBody>
      </p:sp>
      <p:pic>
        <p:nvPicPr>
          <p:cNvPr id="8" name="图片 7">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17946" y="174625"/>
            <a:ext cx="524510" cy="427355"/>
          </a:xfrm>
          <a:prstGeom prst="rect">
            <a:avLst/>
          </a:prstGeom>
        </p:spPr>
      </p:pic>
      <p:pic>
        <p:nvPicPr>
          <p:cNvPr id="6" name="图片 5">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dissolve">
                                      <p:cBhvr>
                                        <p:cTn id="7" dur="500"/>
                                        <p:tgtEl>
                                          <p:spTgt spid="1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1">
                                            <p:txEl>
                                              <p:pRg st="4" end="4"/>
                                            </p:txEl>
                                          </p:spTgt>
                                        </p:tgtEl>
                                        <p:attrNameLst>
                                          <p:attrName>style.visibility</p:attrName>
                                        </p:attrNameLst>
                                      </p:cBhvr>
                                      <p:to>
                                        <p:strVal val="visible"/>
                                      </p:to>
                                    </p:set>
                                    <p:animEffect transition="in" filter="dissolve">
                                      <p:cBhvr>
                                        <p:cTn id="12" dur="5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1"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algn="just">
              <a:buNone/>
              <a:defRPr/>
            </a:pPr>
            <a:r>
              <a:rPr lang="en-US" altLang="zh-CN" b="1" spc="-100" dirty="0">
                <a:latin typeface="Calibri" panose="020F0502020204030204"/>
                <a:ea typeface="宋体" panose="02010600030101010101" pitchFamily="2" charset="-122"/>
              </a:rPr>
              <a:t>8. Find and correct the TWO mistakes in each exercise. </a:t>
            </a:r>
            <a:endParaRPr lang="en-US" altLang="zh-CN" dirty="0">
              <a:solidFill>
                <a:prstClr val="black"/>
              </a:solidFill>
              <a:latin typeface="Calibri" panose="020F0502020204030204"/>
              <a:ea typeface="宋体" panose="02010600030101010101" pitchFamily="2" charset="-122"/>
            </a:endParaRPr>
          </a:p>
          <a:p>
            <a:pPr marL="266700" indent="-266700" algn="just">
              <a:buNone/>
              <a:defRPr/>
            </a:pPr>
            <a:r>
              <a:rPr lang="en-US" altLang="zh-CN" dirty="0">
                <a:solidFill>
                  <a:prstClr val="black"/>
                </a:solidFill>
                <a:latin typeface="Calibri" panose="020F0502020204030204"/>
                <a:ea typeface="宋体" panose="02010600030101010101" pitchFamily="2" charset="-122"/>
              </a:rPr>
              <a:t>5. Shortly after the emperor died, two poor peasants led people to the fight against the powerful Qin Dynasty, and not long afterward, the uprising led in the end of the dynasty.</a:t>
            </a:r>
            <a:endParaRPr lang="en-US" altLang="zh-CN" dirty="0">
              <a:solidFill>
                <a:prstClr val="black"/>
              </a:solidFill>
              <a:latin typeface="Calibri" panose="020F0502020204030204"/>
              <a:ea typeface="宋体" panose="02010600030101010101" pitchFamily="2" charset="-122"/>
            </a:endParaRPr>
          </a:p>
          <a:p>
            <a:pPr marL="266700" indent="-266700" algn="just">
              <a:buNone/>
              <a:defRPr/>
            </a:pPr>
            <a:r>
              <a:rPr lang="en-US" altLang="zh-CN" dirty="0">
                <a:solidFill>
                  <a:prstClr val="black"/>
                </a:solidFill>
                <a:latin typeface="Calibri" panose="020F0502020204030204"/>
                <a:ea typeface="宋体" panose="02010600030101010101" pitchFamily="2" charset="-122"/>
              </a:rPr>
              <a:t>   </a:t>
            </a:r>
            <a:r>
              <a:rPr lang="en-US" altLang="zh-CN" dirty="0">
                <a:solidFill>
                  <a:srgbClr val="C00000"/>
                </a:solidFill>
                <a:latin typeface="Calibri" panose="020F0502020204030204"/>
                <a:ea typeface="宋体" panose="02010600030101010101" pitchFamily="2" charset="-122"/>
              </a:rPr>
              <a:t>Shortly after the king died, two poor peasants led people </a:t>
            </a:r>
            <a:r>
              <a:rPr lang="en-US" altLang="zh-CN" b="1" u="sng" spc="-100" dirty="0">
                <a:solidFill>
                  <a:srgbClr val="C00000"/>
                </a:solidFill>
                <a:latin typeface="Calibri" panose="020F0502020204030204" charset="0"/>
                <a:ea typeface="宋体" panose="02010600030101010101" pitchFamily="2" charset="-122"/>
                <a:cs typeface="Calibri" panose="020F0502020204030204" charset="0"/>
              </a:rPr>
              <a:t>in</a:t>
            </a:r>
            <a:r>
              <a:rPr lang="en-US" altLang="zh-CN" dirty="0">
                <a:solidFill>
                  <a:srgbClr val="C00000"/>
                </a:solidFill>
                <a:latin typeface="Calibri" panose="020F0502020204030204"/>
                <a:ea typeface="宋体" panose="02010600030101010101" pitchFamily="2" charset="-122"/>
              </a:rPr>
              <a:t> the fight against the powerful Qin Dynasty, and not long afterward, the uprising led </a:t>
            </a:r>
            <a:r>
              <a:rPr lang="en-US" altLang="zh-CN" b="1" u="sng" spc="-100" dirty="0">
                <a:solidFill>
                  <a:srgbClr val="C00000"/>
                </a:solidFill>
                <a:latin typeface="Calibri" panose="020F0502020204030204" charset="0"/>
                <a:ea typeface="宋体" panose="02010600030101010101" pitchFamily="2" charset="-122"/>
                <a:cs typeface="Calibri" panose="020F0502020204030204" charset="0"/>
              </a:rPr>
              <a:t>to</a:t>
            </a:r>
            <a:r>
              <a:rPr lang="en-US" altLang="zh-CN" dirty="0">
                <a:solidFill>
                  <a:srgbClr val="C00000"/>
                </a:solidFill>
                <a:latin typeface="Calibri" panose="020F0502020204030204"/>
                <a:ea typeface="宋体" panose="02010600030101010101" pitchFamily="2" charset="-122"/>
              </a:rPr>
              <a:t> the end of the dynasty.</a:t>
            </a:r>
            <a:endParaRPr lang="en-US" altLang="zh-CN" dirty="0">
              <a:solidFill>
                <a:srgbClr val="C00000"/>
              </a:solidFill>
              <a:latin typeface="Calibri" panose="020F0502020204030204"/>
              <a:ea typeface="宋体" panose="02010600030101010101" pitchFamily="2" charset="-122"/>
            </a:endParaRPr>
          </a:p>
          <a:p>
            <a:pPr marL="266700" indent="-266700" algn="just">
              <a:buNone/>
              <a:defRPr/>
            </a:pPr>
            <a:r>
              <a:rPr lang="en-US" altLang="zh-CN" dirty="0">
                <a:solidFill>
                  <a:prstClr val="black"/>
                </a:solidFill>
                <a:latin typeface="Calibri" panose="020F0502020204030204"/>
                <a:ea typeface="宋体" panose="02010600030101010101" pitchFamily="2" charset="-122"/>
              </a:rPr>
              <a:t>6. The boss promised to us full payment at the moment he returned from his business trip to London.</a:t>
            </a:r>
            <a:endParaRPr lang="en-US" altLang="zh-CN" dirty="0">
              <a:solidFill>
                <a:prstClr val="black"/>
              </a:solidFill>
              <a:latin typeface="Calibri" panose="020F0502020204030204"/>
              <a:ea typeface="宋体" panose="02010600030101010101" pitchFamily="2" charset="-122"/>
            </a:endParaRPr>
          </a:p>
          <a:p>
            <a:pPr marL="266700" indent="-266700" algn="just">
              <a:buNone/>
              <a:defRPr/>
            </a:pPr>
            <a:r>
              <a:rPr lang="en-US" altLang="zh-CN" dirty="0">
                <a:solidFill>
                  <a:prstClr val="black"/>
                </a:solidFill>
                <a:latin typeface="Calibri" panose="020F0502020204030204"/>
                <a:ea typeface="宋体" panose="02010600030101010101" pitchFamily="2" charset="-122"/>
              </a:rPr>
              <a:t>   </a:t>
            </a:r>
            <a:r>
              <a:rPr lang="en-US" altLang="zh-CN" dirty="0">
                <a:solidFill>
                  <a:srgbClr val="C00000"/>
                </a:solidFill>
                <a:latin typeface="Calibri" panose="020F0502020204030204"/>
                <a:ea typeface="宋体" panose="02010600030101010101" pitchFamily="2" charset="-122"/>
              </a:rPr>
              <a:t>The boss promised </a:t>
            </a:r>
            <a:r>
              <a:rPr lang="en-US" altLang="zh-CN" b="1" u="sng" strike="sngStrike" spc="-100" dirty="0">
                <a:solidFill>
                  <a:srgbClr val="C00000"/>
                </a:solidFill>
                <a:latin typeface="Calibri" panose="020F0502020204030204" charset="0"/>
                <a:ea typeface="宋体" panose="02010600030101010101" pitchFamily="2" charset="-122"/>
                <a:cs typeface="Calibri" panose="020F0502020204030204" charset="0"/>
              </a:rPr>
              <a:t>to</a:t>
            </a:r>
            <a:r>
              <a:rPr lang="en-US" altLang="zh-CN" dirty="0">
                <a:solidFill>
                  <a:srgbClr val="C00000"/>
                </a:solidFill>
                <a:latin typeface="Calibri" panose="020F0502020204030204"/>
                <a:ea typeface="宋体" panose="02010600030101010101" pitchFamily="2" charset="-122"/>
              </a:rPr>
              <a:t> us full payment </a:t>
            </a:r>
            <a:r>
              <a:rPr lang="en-US" altLang="zh-CN" b="1" u="sng" strike="sngStrike" spc="-100" dirty="0">
                <a:solidFill>
                  <a:srgbClr val="C00000"/>
                </a:solidFill>
                <a:latin typeface="Calibri" panose="020F0502020204030204" charset="0"/>
                <a:ea typeface="宋体" panose="02010600030101010101" pitchFamily="2" charset="-122"/>
                <a:cs typeface="Calibri" panose="020F0502020204030204" charset="0"/>
              </a:rPr>
              <a:t>at</a:t>
            </a:r>
            <a:r>
              <a:rPr lang="en-US" altLang="zh-CN" dirty="0">
                <a:solidFill>
                  <a:srgbClr val="C00000"/>
                </a:solidFill>
                <a:latin typeface="Calibri" panose="020F0502020204030204"/>
                <a:ea typeface="宋体" panose="02010600030101010101" pitchFamily="2" charset="-122"/>
              </a:rPr>
              <a:t> the moment he returned from his business trip to London.</a:t>
            </a:r>
            <a:endParaRPr lang="en-US" altLang="zh-CN" dirty="0">
              <a:solidFill>
                <a:srgbClr val="C00000"/>
              </a:solidFill>
              <a:latin typeface="Calibri" panose="020F0502020204030204"/>
              <a:ea typeface="宋体" panose="02010600030101010101" pitchFamily="2" charset="-122"/>
            </a:endParaRPr>
          </a:p>
        </p:txBody>
      </p:sp>
      <p:sp>
        <p:nvSpPr>
          <p:cNvPr id="7" name="文本框 4"/>
          <p:cNvSpPr txBox="1">
            <a:spLocks noChangeArrowheads="1"/>
          </p:cNvSpPr>
          <p:nvPr/>
        </p:nvSpPr>
        <p:spPr bwMode="auto">
          <a:xfrm>
            <a:off x="184150" y="160338"/>
            <a:ext cx="7029450"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r>
              <a:rPr lang="en-US" altLang="zh-CN" sz="2400" dirty="0">
                <a:solidFill>
                  <a:schemeClr val="bg1"/>
                </a:solidFill>
                <a:latin typeface="Arial Black" panose="020B0A04020102020204" pitchFamily="34" charset="0"/>
              </a:rPr>
              <a:t>Exercises · Language Exercises</a:t>
            </a:r>
            <a:endParaRPr lang="en-US" altLang="zh-CN" sz="2400" dirty="0">
              <a:solidFill>
                <a:schemeClr val="bg1"/>
              </a:solidFill>
              <a:latin typeface="Arial Black" panose="020B0A04020102020204" pitchFamily="34" charset="0"/>
            </a:endParaRPr>
          </a:p>
        </p:txBody>
      </p:sp>
      <p:pic>
        <p:nvPicPr>
          <p:cNvPr id="6" name="图片 5">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17946" y="174625"/>
            <a:ext cx="524510" cy="427355"/>
          </a:xfrm>
          <a:prstGeom prst="rect">
            <a:avLst/>
          </a:prstGeom>
        </p:spPr>
      </p:pic>
      <p:pic>
        <p:nvPicPr>
          <p:cNvPr id="9" name="图片 8">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dissolve">
                                      <p:cBhvr>
                                        <p:cTn id="7" dur="500"/>
                                        <p:tgtEl>
                                          <p:spTgt spid="1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1">
                                            <p:txEl>
                                              <p:pRg st="4" end="4"/>
                                            </p:txEl>
                                          </p:spTgt>
                                        </p:tgtEl>
                                        <p:attrNameLst>
                                          <p:attrName>style.visibility</p:attrName>
                                        </p:attrNameLst>
                                      </p:cBhvr>
                                      <p:to>
                                        <p:strVal val="visible"/>
                                      </p:to>
                                    </p:set>
                                    <p:animEffect transition="in" filter="dissolve">
                                      <p:cBhvr>
                                        <p:cTn id="12" dur="5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1" name="内容占位符 2"/>
          <p:cNvSpPr>
            <a:spLocks noGrp="1"/>
          </p:cNvSpPr>
          <p:nvPr/>
        </p:nvSpPr>
        <p:spPr>
          <a:xfrm>
            <a:off x="244475" y="881380"/>
            <a:ext cx="11683822" cy="562927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6700" indent="-266700" algn="just">
              <a:buNone/>
              <a:defRPr/>
            </a:pPr>
            <a:r>
              <a:rPr lang="en-US" altLang="zh-CN" b="1" spc="-100" dirty="0">
                <a:latin typeface="Calibri" panose="020F0502020204030204"/>
                <a:ea typeface="宋体" panose="02010600030101010101" pitchFamily="2" charset="-122"/>
              </a:rPr>
              <a:t>8. Find and correct the TWO mistakes in each exercise. </a:t>
            </a:r>
            <a:endParaRPr lang="en-US" altLang="zh-CN" dirty="0">
              <a:solidFill>
                <a:prstClr val="black"/>
              </a:solidFill>
              <a:latin typeface="Calibri" panose="020F0502020204030204"/>
              <a:ea typeface="宋体" panose="02010600030101010101" pitchFamily="2" charset="-122"/>
            </a:endParaRPr>
          </a:p>
          <a:p>
            <a:pPr marL="266700" indent="-266700" algn="just">
              <a:buNone/>
              <a:defRPr/>
            </a:pPr>
            <a:r>
              <a:rPr lang="en-US" altLang="zh-CN" dirty="0">
                <a:solidFill>
                  <a:prstClr val="black"/>
                </a:solidFill>
                <a:latin typeface="Calibri" panose="020F0502020204030204"/>
                <a:ea typeface="宋体" panose="02010600030101010101" pitchFamily="2" charset="-122"/>
              </a:rPr>
              <a:t>7. The poor young woman had to work as a slave all her life in order to pay for the necklace she had lost. When finally the poor old woman (she was no longer young) paid off the debt, she was told that the one she had borrowed was actually artificial and quite invaluable.</a:t>
            </a:r>
            <a:endParaRPr lang="en-US" altLang="zh-CN" dirty="0">
              <a:solidFill>
                <a:prstClr val="black"/>
              </a:solidFill>
              <a:latin typeface="Calibri" panose="020F0502020204030204"/>
              <a:ea typeface="宋体" panose="02010600030101010101" pitchFamily="2" charset="-122"/>
            </a:endParaRPr>
          </a:p>
          <a:p>
            <a:pPr marL="266700" indent="-266700" algn="just">
              <a:buNone/>
              <a:defRPr/>
            </a:pPr>
            <a:r>
              <a:rPr lang="en-US" altLang="zh-CN" dirty="0">
                <a:solidFill>
                  <a:prstClr val="black"/>
                </a:solidFill>
                <a:latin typeface="Calibri" panose="020F0502020204030204"/>
                <a:ea typeface="宋体" panose="02010600030101010101" pitchFamily="2" charset="-122"/>
              </a:rPr>
              <a:t>   </a:t>
            </a:r>
            <a:r>
              <a:rPr lang="en-US" altLang="zh-CN" dirty="0">
                <a:solidFill>
                  <a:srgbClr val="C00000"/>
                </a:solidFill>
                <a:latin typeface="Calibri" panose="020F0502020204030204"/>
                <a:ea typeface="宋体" panose="02010600030101010101" pitchFamily="2" charset="-122"/>
              </a:rPr>
              <a:t>The poor young woman had to work </a:t>
            </a:r>
            <a:r>
              <a:rPr lang="en-US" altLang="zh-CN" b="1" u="sng" spc="-100" dirty="0">
                <a:solidFill>
                  <a:srgbClr val="C00000"/>
                </a:solidFill>
                <a:latin typeface="Calibri" panose="020F0502020204030204" charset="0"/>
                <a:ea typeface="宋体" panose="02010600030101010101" pitchFamily="2" charset="-122"/>
                <a:cs typeface="Calibri" panose="020F0502020204030204" charset="0"/>
              </a:rPr>
              <a:t>like</a:t>
            </a:r>
            <a:r>
              <a:rPr lang="en-US" altLang="zh-CN" dirty="0">
                <a:solidFill>
                  <a:srgbClr val="C00000"/>
                </a:solidFill>
                <a:latin typeface="Calibri" panose="020F0502020204030204"/>
                <a:ea typeface="宋体" panose="02010600030101010101" pitchFamily="2" charset="-122"/>
              </a:rPr>
              <a:t> a slave all her life in order to pay for the necklace she had lost. When finally the poor old woman (she was no longer young) paid off the debt, she was told that the one she had borrowed was actually artificial and quite </a:t>
            </a:r>
            <a:r>
              <a:rPr lang="en-US" altLang="zh-CN" b="1" u="sng" spc="-100" dirty="0">
                <a:solidFill>
                  <a:srgbClr val="C00000"/>
                </a:solidFill>
                <a:latin typeface="Calibri" panose="020F0502020204030204" charset="0"/>
                <a:ea typeface="宋体" panose="02010600030101010101" pitchFamily="2" charset="-122"/>
                <a:cs typeface="Calibri" panose="020F0502020204030204" charset="0"/>
              </a:rPr>
              <a:t>valueless</a:t>
            </a:r>
            <a:r>
              <a:rPr lang="en-US" altLang="zh-CN" dirty="0">
                <a:solidFill>
                  <a:srgbClr val="C00000"/>
                </a:solidFill>
                <a:latin typeface="Calibri" panose="020F0502020204030204"/>
                <a:ea typeface="宋体" panose="02010600030101010101" pitchFamily="2" charset="-122"/>
              </a:rPr>
              <a:t>.</a:t>
            </a:r>
            <a:endParaRPr lang="en-US" altLang="zh-CN" dirty="0">
              <a:solidFill>
                <a:srgbClr val="C00000"/>
              </a:solidFill>
              <a:latin typeface="Calibri" panose="020F0502020204030204"/>
              <a:ea typeface="宋体" panose="02010600030101010101" pitchFamily="2" charset="-122"/>
            </a:endParaRPr>
          </a:p>
        </p:txBody>
      </p:sp>
      <p:sp>
        <p:nvSpPr>
          <p:cNvPr id="7" name="文本框 4"/>
          <p:cNvSpPr txBox="1">
            <a:spLocks noChangeArrowheads="1"/>
          </p:cNvSpPr>
          <p:nvPr/>
        </p:nvSpPr>
        <p:spPr bwMode="auto">
          <a:xfrm>
            <a:off x="184150" y="160338"/>
            <a:ext cx="7029450" cy="46166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r>
              <a:rPr lang="en-US" altLang="zh-CN" sz="2400" dirty="0">
                <a:solidFill>
                  <a:schemeClr val="bg1"/>
                </a:solidFill>
                <a:latin typeface="Arial Black" panose="020B0A04020102020204" pitchFamily="34" charset="0"/>
              </a:rPr>
              <a:t>Exercises · Language Exercises</a:t>
            </a:r>
            <a:endParaRPr lang="en-US" altLang="zh-CN" sz="2400" dirty="0">
              <a:solidFill>
                <a:schemeClr val="bg1"/>
              </a:solidFill>
              <a:latin typeface="Arial Black" panose="020B0A04020102020204" pitchFamily="34" charset="0"/>
            </a:endParaRPr>
          </a:p>
        </p:txBody>
      </p:sp>
      <p:pic>
        <p:nvPicPr>
          <p:cNvPr id="6" name="图片 5">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17946" y="174625"/>
            <a:ext cx="524510" cy="427355"/>
          </a:xfrm>
          <a:prstGeom prst="rect">
            <a:avLst/>
          </a:prstGeom>
        </p:spPr>
      </p:pic>
      <p:pic>
        <p:nvPicPr>
          <p:cNvPr id="10" name="图片 9">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dissolve">
                                      <p:cBhvr>
                                        <p:cTn id="7"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PLACING_PICTURE_USER_VIEWPORT" val="{&quot;height&quot;:8910,&quot;width&quot;:15840}"/>
</p:tagLst>
</file>

<file path=ppt/tags/tag2.xml><?xml version="1.0" encoding="utf-8"?>
<p:tagLst xmlns:p="http://schemas.openxmlformats.org/presentationml/2006/main">
  <p:tag name="RAINPROBLEM" val="ProblemBody"/>
</p:tagLst>
</file>

<file path=ppt/tags/tag3.xml><?xml version="1.0" encoding="utf-8"?>
<p:tagLst xmlns:p="http://schemas.openxmlformats.org/presentationml/2006/main">
  <p:tag name="RAINPROBLEM" val="ProblemSubmit"/>
  <p:tag name="RAINPROBLEMTYPE" val="FillBlank"/>
</p:tagLst>
</file>

<file path=ppt/tags/tag4.xml><?xml version="1.0" encoding="utf-8"?>
<p:tagLst xmlns:p="http://schemas.openxmlformats.org/presentationml/2006/main">
  <p:tag name="RAINPROBLEMTYPE" val="ProblemTypeMarker"/>
</p:tagLst>
</file>

<file path=ppt/tags/tag5.xml><?xml version="1.0" encoding="utf-8"?>
<p:tagLst xmlns:p="http://schemas.openxmlformats.org/presentationml/2006/main">
  <p:tag name="RAINPROBLEMTYPE" val="ProblemTypeMarker"/>
</p:tagLst>
</file>

<file path=ppt/tags/tag6.xml><?xml version="1.0" encoding="utf-8"?>
<p:tagLst xmlns:p="http://schemas.openxmlformats.org/presentationml/2006/main">
  <p:tag name="RAINPROBLEMTYPE" val="ProblemTypeMarker"/>
</p:tagLst>
</file>

<file path=ppt/tags/tag7.xml><?xml version="1.0" encoding="utf-8"?>
<p:tagLst xmlns:p="http://schemas.openxmlformats.org/presentationml/2006/main">
  <p:tag name="RAINPROBLEMTYPE" val="ProblemTypeMarker"/>
</p:tagLst>
</file>

<file path=ppt/tags/tag8.xml><?xml version="1.0" encoding="utf-8"?>
<p:tagLst xmlns:p="http://schemas.openxmlformats.org/presentationml/2006/main">
  <p:tag name="RAINPROBLEMTYPE" val="ProblemTypeMarker"/>
</p:tagLst>
</file>

<file path=ppt/tags/tag9.xml><?xml version="1.0" encoding="utf-8"?>
<p:tagLst xmlns:p="http://schemas.openxmlformats.org/presentationml/2006/main">
  <p:tag name="RAINPROBLEM" val="ProblemSetting"/>
  <p:tag name="RAINPROBLEMTYPE" val="FillBlank"/>
</p:tagLst>
</file>

<file path=ppt/tags/tag10.xml><?xml version="1.0" encoding="utf-8"?>
<p:tagLst xmlns:p="http://schemas.openxmlformats.org/presentationml/2006/main">
  <p:tag name="RAINPROBLEM" val="FillBlank"/>
  <p:tag name="PROBLEMSCORE" val="30.0"/>
  <p:tag name="PROBLEMBLANK" val="[{&quot;num&quot;:1,&quot;caseSensitive&quot;:false,&quot;fuzzyMatch&quot;:false,&quot;Score&quot;:6.0,&quot;answers&quot;:[&quot;assail&quot;]},{&quot;num&quot;:2,&quot;caseSensitive&quot;:false,&quot;fuzzyMatch&quot;:false,&quot;Score&quot;:6.0,&quot;answers&quot;:[&quot;throbbing&quot;]},{&quot;num&quot;:3,&quot;caseSensitive&quot;:false,&quot;fuzzyMatch&quot;:false,&quot;Score&quot;:6.0,&quot;answers&quot;:[&quot;sheer&quot;]},{&quot;num&quot;:4,&quot;caseSensitive&quot;:false,&quot;fuzzyMatch&quot;:false,&quot;Score&quot;:6.0,&quot;answers&quot;:[&quot;accompanied&quot;]},{&quot;num&quot;:5,&quot;caseSensitive&quot;:false,&quot;fuzzyMatch&quot;:false,&quot;Score&quot;:6.0,&quot;answers&quot;:[&quot;soothe&quot;]}]"/>
  <p:tag name="PROBLEMBLANKKEYWORD" val="填空"/>
</p:tagLst>
</file>

<file path=ppt/tags/tag11.xml><?xml version="1.0" encoding="utf-8"?>
<p:tagLst xmlns:p="http://schemas.openxmlformats.org/presentationml/2006/main">
  <p:tag name="RAINPROBLEM" val="ProblemBody"/>
</p:tagLst>
</file>

<file path=ppt/tags/tag12.xml><?xml version="1.0" encoding="utf-8"?>
<p:tagLst xmlns:p="http://schemas.openxmlformats.org/presentationml/2006/main">
  <p:tag name="RAINPROBLEM" val="ProblemSubmit"/>
  <p:tag name="RAINPROBLEMTYPE" val="FillBlank"/>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TYPE" val="ProblemTypeMarker"/>
</p:tagLst>
</file>

<file path=ppt/tags/tag16.xml><?xml version="1.0" encoding="utf-8"?>
<p:tagLst xmlns:p="http://schemas.openxmlformats.org/presentationml/2006/main">
  <p:tag name="RAINPROBLEMTYPE" val="ProblemTypeMarker"/>
</p:tagLst>
</file>

<file path=ppt/tags/tag17.xml><?xml version="1.0" encoding="utf-8"?>
<p:tagLst xmlns:p="http://schemas.openxmlformats.org/presentationml/2006/main">
  <p:tag name="RAINPROBLEMTYPE" val="ProblemTypeMarker"/>
</p:tagLst>
</file>

<file path=ppt/tags/tag18.xml><?xml version="1.0" encoding="utf-8"?>
<p:tagLst xmlns:p="http://schemas.openxmlformats.org/presentationml/2006/main">
  <p:tag name="RAINPROBLEM" val="ProblemSetting"/>
  <p:tag name="RAINPROBLEMTYPE" val="FillBlank"/>
</p:tagLst>
</file>

<file path=ppt/tags/tag19.xml><?xml version="1.0" encoding="utf-8"?>
<p:tagLst xmlns:p="http://schemas.openxmlformats.org/presentationml/2006/main">
  <p:tag name="RAINPROBLEM" val="FillBlank"/>
  <p:tag name="PROBLEMSCORE" val="20.0"/>
  <p:tag name="PROBLEMBLANK" val="[{&quot;num&quot;:1,&quot;caseSensitive&quot;:false,&quot;fuzzyMatch&quot;:false,&quot;Score&quot;:5.0,&quot;answers&quot;:[&quot;inspiration&quot;]},{&quot;num&quot;:2,&quot;caseSensitive&quot;:false,&quot;fuzzyMatch&quot;:false,&quot;Score&quot;:5.0,&quot;answers&quot;:[&quot;perspiration&quot;]},{&quot;num&quot;:3,&quot;caseSensitive&quot;:false,&quot;fuzzyMatch&quot;:false,&quot;Score&quot;:5.0,&quot;answers&quot;:[&quot;aspiration&quot;]},{&quot;num&quot;:4,&quot;caseSensitive&quot;:false,&quot;fuzzyMatch&quot;:false,&quot;Score&quot;:5.0,&quot;answers&quot;:[&quot;expiration&quot;]}]"/>
  <p:tag name="PROBLEMBLANKKEYWORD" val="填空"/>
</p:tagLst>
</file>

<file path=ppt/tags/tag20.xml><?xml version="1.0" encoding="utf-8"?>
<p:tagLst xmlns:p="http://schemas.openxmlformats.org/presentationml/2006/main">
  <p:tag name="RAINPROBLEM" val="ProblemBody"/>
</p:tagLst>
</file>

<file path=ppt/tags/tag21.xml><?xml version="1.0" encoding="utf-8"?>
<p:tagLst xmlns:p="http://schemas.openxmlformats.org/presentationml/2006/main">
  <p:tag name="RAINPROBLEM" val="ProblemSubmit"/>
  <p:tag name="RAINPROBLEMTYPE" val="ShortAnswer"/>
</p:tagLst>
</file>

<file path=ppt/tags/tag22.xml><?xml version="1.0" encoding="utf-8"?>
<p:tagLst xmlns:p="http://schemas.openxmlformats.org/presentationml/2006/main">
  <p:tag name="RAINPROBLEMTYPE" val="ProblemTypeMarker"/>
</p:tagLst>
</file>

<file path=ppt/tags/tag23.xml><?xml version="1.0" encoding="utf-8"?>
<p:tagLst xmlns:p="http://schemas.openxmlformats.org/presentationml/2006/main">
  <p:tag name="RAINPROBLEMTYPE" val="ProblemTypeMarker"/>
</p:tagLst>
</file>

<file path=ppt/tags/tag24.xml><?xml version="1.0" encoding="utf-8"?>
<p:tagLst xmlns:p="http://schemas.openxmlformats.org/presentationml/2006/main">
  <p:tag name="RAINPROBLEMTYPE" val="ProblemTypeMarker"/>
</p:tagLst>
</file>

<file path=ppt/tags/tag25.xml><?xml version="1.0" encoding="utf-8"?>
<p:tagLst xmlns:p="http://schemas.openxmlformats.org/presentationml/2006/main">
  <p:tag name="RAINPROBLEMTYPE" val="ProblemTypeMarker"/>
</p:tagLst>
</file>

<file path=ppt/tags/tag26.xml><?xml version="1.0" encoding="utf-8"?>
<p:tagLst xmlns:p="http://schemas.openxmlformats.org/presentationml/2006/main">
  <p:tag name="RAINPROBLEMTYPE" val="ProblemTypeMarker"/>
</p:tagLst>
</file>

<file path=ppt/tags/tag27.xml><?xml version="1.0" encoding="utf-8"?>
<p:tagLst xmlns:p="http://schemas.openxmlformats.org/presentationml/2006/main">
  <p:tag name="RAINPROBLEM" val="ProblemSetting"/>
  <p:tag name="RAINPROBLEMTYPE" val="ShortAnswer"/>
</p:tagLst>
</file>

<file path=ppt/tags/tag28.xml><?xml version="1.0" encoding="utf-8"?>
<p:tagLst xmlns:p="http://schemas.openxmlformats.org/presentationml/2006/main">
  <p:tag name="RAINPROBLEM" val="ShortAnswer"/>
  <p:tag name="PROBLEMSCORE" val="30.0"/>
  <p:tag name="PROBLEMVOICEALLOWED" val="False"/>
</p:tagLst>
</file>

<file path=ppt/tags/tag29.xml><?xml version="1.0" encoding="utf-8"?>
<p:tagLst xmlns:p="http://schemas.openxmlformats.org/presentationml/2006/main">
  <p:tag name="RAINPROBLEM" val="ProblemBody"/>
</p:tagLst>
</file>

<file path=ppt/tags/tag30.xml><?xml version="1.0" encoding="utf-8"?>
<p:tagLst xmlns:p="http://schemas.openxmlformats.org/presentationml/2006/main">
  <p:tag name="RAINPROBLEM" val="ProblemSubmit"/>
  <p:tag name="RAINPROBLEMTYPE" val="FillBlank"/>
</p:tagLst>
</file>

<file path=ppt/tags/tag31.xml><?xml version="1.0" encoding="utf-8"?>
<p:tagLst xmlns:p="http://schemas.openxmlformats.org/presentationml/2006/main">
  <p:tag name="RAINPROBLEMTYPE" val="ProblemTypeMarker"/>
</p:tagLst>
</file>

<file path=ppt/tags/tag32.xml><?xml version="1.0" encoding="utf-8"?>
<p:tagLst xmlns:p="http://schemas.openxmlformats.org/presentationml/2006/main">
  <p:tag name="RAINPROBLEMTYPE" val="ProblemTypeMarker"/>
</p:tagLst>
</file>

<file path=ppt/tags/tag33.xml><?xml version="1.0" encoding="utf-8"?>
<p:tagLst xmlns:p="http://schemas.openxmlformats.org/presentationml/2006/main">
  <p:tag name="RAINPROBLEMTYPE" val="ProblemTypeMarker"/>
</p:tagLst>
</file>

<file path=ppt/tags/tag34.xml><?xml version="1.0" encoding="utf-8"?>
<p:tagLst xmlns:p="http://schemas.openxmlformats.org/presentationml/2006/main">
  <p:tag name="RAINPROBLEMTYPE" val="ProblemTypeMarker"/>
</p:tagLst>
</file>

<file path=ppt/tags/tag35.xml><?xml version="1.0" encoding="utf-8"?>
<p:tagLst xmlns:p="http://schemas.openxmlformats.org/presentationml/2006/main">
  <p:tag name="RAINPROBLEMTYPE" val="ProblemTypeMarker"/>
</p:tagLst>
</file>

<file path=ppt/tags/tag36.xml><?xml version="1.0" encoding="utf-8"?>
<p:tagLst xmlns:p="http://schemas.openxmlformats.org/presentationml/2006/main">
  <p:tag name="RAINPROBLEM" val="ProblemSetting"/>
  <p:tag name="RAINPROBLEMTYPE" val="FillBlank"/>
</p:tagLst>
</file>

<file path=ppt/tags/tag37.xml><?xml version="1.0" encoding="utf-8"?>
<p:tagLst xmlns:p="http://schemas.openxmlformats.org/presentationml/2006/main">
  <p:tag name="RAINPROBLEM" val="FillBlank"/>
  <p:tag name="PROBLEMSCORE" val="20.0"/>
  <p:tag name="PROBLEMBLANK" val="[{&quot;num&quot;:1,&quot;caseSensitive&quot;:false,&quot;fuzzyMatch&quot;:false,&quot;Score&quot;:4.0,&quot;answers&quot;:[&quot;official&quot;]},{&quot;num&quot;:2,&quot;caseSensitive&quot;:false,&quot;fuzzyMatch&quot;:false,&quot;Score&quot;:4.0,&quot;answers&quot;:[&quot;hereafter&quot;]},{&quot;num&quot;:3,&quot;caseSensitive&quot;:false,&quot;fuzzyMatch&quot;:false,&quot;Score&quot;:4.0,&quot;answers&quot;:[&quot;goodwill&quot;,&quot;good will&quot;]},{&quot;num&quot;:4,&quot;caseSensitive&quot;:false,&quot;fuzzyMatch&quot;:false,&quot;Score&quot;:4.0,&quot;answers&quot;:[&quot;throne&quot;]},{&quot;num&quot;:5,&quot;caseSensitive&quot;:false,&quot;fuzzyMatch&quot;:false,&quot;Score&quot;:4.0,&quot;answers&quot;:[&quot;absolute&quot;]}]"/>
  <p:tag name="PROBLEMBLANKKEYWORD" val="填空"/>
</p:tagLst>
</file>

<file path=ppt/tags/tag38.xml><?xml version="1.0" encoding="utf-8"?>
<p:tagLst xmlns:p="http://schemas.openxmlformats.org/presentationml/2006/main">
  <p:tag name="KSO_WM_DIAGRAM_VIRTUALLY_FRAME" val="{&quot;height&quot;:236.84031496063,&quot;left&quot;:88.61527559055122,&quot;top&quot;:222.9636220472441,&quot;width&quot;:762.9748031496063}"/>
</p:tagLst>
</file>

<file path=ppt/tags/tag39.xml><?xml version="1.0" encoding="utf-8"?>
<p:tagLst xmlns:p="http://schemas.openxmlformats.org/presentationml/2006/main">
  <p:tag name="KSO_WM_DIAGRAM_VIRTUALLY_FRAME" val="{&quot;height&quot;:236.84031496063,&quot;left&quot;:88.61527559055122,&quot;top&quot;:222.9636220472441,&quot;width&quot;:762.9748031496063}"/>
</p:tagLst>
</file>

<file path=ppt/tags/tag40.xml><?xml version="1.0" encoding="utf-8"?>
<p:tagLst xmlns:p="http://schemas.openxmlformats.org/presentationml/2006/main">
  <p:tag name="KSO_WM_DIAGRAM_VIRTUALLY_FRAME" val="{&quot;height&quot;:236.84031496063,&quot;left&quot;:88.61527559055122,&quot;top&quot;:222.9636220472441,&quot;width&quot;:762.9748031496063}"/>
</p:tagLst>
</file>

<file path=ppt/tags/tag41.xml><?xml version="1.0" encoding="utf-8"?>
<p:tagLst xmlns:p="http://schemas.openxmlformats.org/presentationml/2006/main">
  <p:tag name="KSO_WM_DIAGRAM_VIRTUALLY_FRAME" val="{&quot;height&quot;:236.84031496063,&quot;left&quot;:88.61527559055122,&quot;top&quot;:222.9636220472441,&quot;width&quot;:762.9748031496063}"/>
</p:tagLst>
</file>

<file path=ppt/tags/tag42.xml><?xml version="1.0" encoding="utf-8"?>
<p:tagLst xmlns:p="http://schemas.openxmlformats.org/presentationml/2006/main">
  <p:tag name="KSO_WM_DIAGRAM_VIRTUALLY_FRAME" val="{&quot;height&quot;:236.84031496063,&quot;left&quot;:88.61527559055122,&quot;top&quot;:222.9636220472441,&quot;width&quot;:762.9748031496063}"/>
</p:tagLst>
</file>

<file path=ppt/tags/tag43.xml><?xml version="1.0" encoding="utf-8"?>
<p:tagLst xmlns:p="http://schemas.openxmlformats.org/presentationml/2006/main">
  <p:tag name="KSO_WM_DIAGRAM_VIRTUALLY_FRAME" val="{&quot;height&quot;:236.84031496063,&quot;left&quot;:88.61527559055122,&quot;top&quot;:222.9636220472441,&quot;width&quot;:762.9748031496063}"/>
</p:tagLst>
</file>

<file path=ppt/tags/tag44.xml><?xml version="1.0" encoding="utf-8"?>
<p:tagLst xmlns:p="http://schemas.openxmlformats.org/presentationml/2006/main">
  <p:tag name="KSO_WM_DIAGRAM_VIRTUALLY_FRAME" val="{&quot;height&quot;:236.84031496063,&quot;left&quot;:88.61527559055122,&quot;top&quot;:222.9636220472441,&quot;width&quot;:762.9748031496063}"/>
</p:tagLst>
</file>

<file path=ppt/tags/tag45.xml><?xml version="1.0" encoding="utf-8"?>
<p:tagLst xmlns:p="http://schemas.openxmlformats.org/presentationml/2006/main">
  <p:tag name="KSO_WM_DIAGRAM_VIRTUALLY_FRAME" val="{&quot;height&quot;:236.84031496063,&quot;left&quot;:88.61527559055122,&quot;top&quot;:222.9636220472441,&quot;width&quot;:762.9748031496063}"/>
</p:tagLst>
</file>

<file path=ppt/tags/tag46.xml><?xml version="1.0" encoding="utf-8"?>
<p:tagLst xmlns:p="http://schemas.openxmlformats.org/presentationml/2006/main">
  <p:tag name="KSO_WM_DIAGRAM_VIRTUALLY_FRAME" val="{&quot;height&quot;:236.84031496063,&quot;left&quot;:88.61527559055122,&quot;top&quot;:222.9636220472441,&quot;width&quot;:762.9748031496063}"/>
</p:tagLst>
</file>

<file path=ppt/tags/tag47.xml><?xml version="1.0" encoding="utf-8"?>
<p:tagLst xmlns:p="http://schemas.openxmlformats.org/presentationml/2006/main">
  <p:tag name="commondata" val="eyJoZGlkIjoiZTY1NThmYzJlMWRjMDNhYzFmMTdkNmU1NThkNTc3ODEifQ=="/>
</p:tagLst>
</file>

<file path=ppt/theme/theme1.xml><?xml version="1.0" encoding="utf-8"?>
<a:theme xmlns:a="http://schemas.openxmlformats.org/drawingml/2006/main" name="2_Office 主题​​">
  <a:themeElements>
    <a:clrScheme name="自定义 4">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3B74C4"/>
      </a:hlink>
      <a:folHlink>
        <a:srgbClr val="904D6F"/>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extLst>
      <a:ext uri="{D81B5157-A7B6-4480-A006-42BB1BC3E7BB}">
        <wpsdc:hlinkScheme xmlns:wpsdc="http://www.wps.cn/officeDocument/2017/drawingmlCustomData" underline="false"/>
      </a:ext>
    </a:extLst>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4472C4"/>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extLst>
      <a:ext uri="{D81B5157-A7B6-4480-A006-42BB1BC3E7BB}">
        <wpsdc:hlinkScheme xmlns:wpsdc="http://www.wps.cn/officeDocument/2017/drawingmlCustomData" underline="false"/>
      </a:ext>
    </a:extLst>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17418</Words>
  <Application>WPS 演示</Application>
  <PresentationFormat>宽屏</PresentationFormat>
  <Paragraphs>493</Paragraphs>
  <Slides>32</Slides>
  <Notes>100</Notes>
  <HiddenSlides>0</HiddenSlides>
  <MMClips>0</MMClips>
  <ScaleCrop>false</ScaleCrop>
  <HeadingPairs>
    <vt:vector size="6" baseType="variant">
      <vt:variant>
        <vt:lpstr>已用的字体</vt:lpstr>
      </vt:variant>
      <vt:variant>
        <vt:i4>26</vt:i4>
      </vt:variant>
      <vt:variant>
        <vt:lpstr>主题</vt:lpstr>
      </vt:variant>
      <vt:variant>
        <vt:i4>2</vt:i4>
      </vt:variant>
      <vt:variant>
        <vt:lpstr>幻灯片标题</vt:lpstr>
      </vt:variant>
      <vt:variant>
        <vt:i4>32</vt:i4>
      </vt:variant>
    </vt:vector>
  </HeadingPairs>
  <TitlesOfParts>
    <vt:vector size="60" baseType="lpstr">
      <vt:lpstr>Arial</vt:lpstr>
      <vt:lpstr>宋体</vt:lpstr>
      <vt:lpstr>Wingdings</vt:lpstr>
      <vt:lpstr>Arial Black</vt:lpstr>
      <vt:lpstr>思源黑体 CN Regular</vt:lpstr>
      <vt:lpstr>黑体</vt:lpstr>
      <vt:lpstr>等线</vt:lpstr>
      <vt:lpstr>楷体</vt:lpstr>
      <vt:lpstr>Arial Narrow</vt:lpstr>
      <vt:lpstr>华文中宋</vt:lpstr>
      <vt:lpstr>Times New Roman</vt:lpstr>
      <vt:lpstr>Cooper Black</vt:lpstr>
      <vt:lpstr>微软雅黑</vt:lpstr>
      <vt:lpstr>Calibri</vt:lpstr>
      <vt:lpstr>Calibri</vt:lpstr>
      <vt:lpstr>-apple-system</vt:lpstr>
      <vt:lpstr>Segoe Print</vt:lpstr>
      <vt:lpstr>Arial Unicode MS</vt:lpstr>
      <vt:lpstr>等线 Light</vt:lpstr>
      <vt:lpstr>Inter</vt:lpstr>
      <vt:lpstr>-apple-system</vt:lpstr>
      <vt:lpstr>Inter</vt:lpstr>
      <vt:lpstr>思源黑体 CN Regular</vt:lpstr>
      <vt:lpstr>文道潮黑体</vt:lpstr>
      <vt:lpstr>Be Happy</vt:lpstr>
      <vt:lpstr>Ink Free</vt:lpstr>
      <vt:lpstr>2_Office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Dilys</dc:creator>
  <cp:lastModifiedBy>Cooper</cp:lastModifiedBy>
  <cp:revision>537</cp:revision>
  <dcterms:created xsi:type="dcterms:W3CDTF">2021-05-22T03:56:00Z</dcterms:created>
  <dcterms:modified xsi:type="dcterms:W3CDTF">2025-12-07T15:43:49Z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B4F66E726A73409AAB150BE75DBF5A71_12</vt:lpwstr>
  </property>
</Properties>
</file>